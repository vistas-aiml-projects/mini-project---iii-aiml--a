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Poppins Italics" charset="1" panose="00000500000000000000"/>
      <p:regular r:id="rId22"/>
    </p:embeddedFont>
    <p:embeddedFont>
      <p:font typeface="Poppins Bold Italics" charset="1" panose="00000800000000000000"/>
      <p:regular r:id="rId23"/>
    </p:embeddedFont>
    <p:embeddedFont>
      <p:font typeface="Canva Sans Bold" charset="1" panose="020B0803030501040103"/>
      <p:regular r:id="rId24"/>
    </p:embeddedFont>
    <p:embeddedFont>
      <p:font typeface="Helvetica World" charset="1" panose="020B0500040000020004"/>
      <p:regular r:id="rId25"/>
    </p:embeddedFont>
    <p:embeddedFont>
      <p:font typeface="Helvetica World Bold" charset="1" panose="020B0800040000020004"/>
      <p:regular r:id="rId26"/>
    </p:embeddedFont>
    <p:embeddedFont>
      <p:font typeface="Anton" charset="1" panose="000005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10.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11.jpeg" Type="http://schemas.openxmlformats.org/officeDocument/2006/relationships/image"/><Relationship Id="rId6" Target="../media/image12.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13.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77" r="0" b="-9277"/>
            </a:stretch>
          </a:blipFill>
        </p:spPr>
      </p:sp>
      <p:sp>
        <p:nvSpPr>
          <p:cNvPr name="Freeform 3" id="3"/>
          <p:cNvSpPr/>
          <p:nvPr/>
        </p:nvSpPr>
        <p:spPr>
          <a:xfrm flipH="false" flipV="false" rot="0">
            <a:off x="1946944" y="-2567463"/>
            <a:ext cx="13708378" cy="7710963"/>
          </a:xfrm>
          <a:custGeom>
            <a:avLst/>
            <a:gdLst/>
            <a:ahLst/>
            <a:cxnLst/>
            <a:rect r="r" b="b" t="t" l="l"/>
            <a:pathLst>
              <a:path h="7710963" w="13708378">
                <a:moveTo>
                  <a:pt x="0" y="0"/>
                </a:moveTo>
                <a:lnTo>
                  <a:pt x="13708378" y="0"/>
                </a:lnTo>
                <a:lnTo>
                  <a:pt x="13708378" y="7710963"/>
                </a:lnTo>
                <a:lnTo>
                  <a:pt x="0" y="7710963"/>
                </a:lnTo>
                <a:lnTo>
                  <a:pt x="0" y="0"/>
                </a:lnTo>
                <a:close/>
              </a:path>
            </a:pathLst>
          </a:custGeom>
          <a:blipFill>
            <a:blip r:embed="rId3"/>
            <a:stretch>
              <a:fillRect l="0" t="0" r="0" b="0"/>
            </a:stretch>
          </a:blipFill>
        </p:spPr>
      </p:sp>
      <p:sp>
        <p:nvSpPr>
          <p:cNvPr name="TextBox 4" id="4"/>
          <p:cNvSpPr txBox="true"/>
          <p:nvPr/>
        </p:nvSpPr>
        <p:spPr>
          <a:xfrm rot="0">
            <a:off x="13332242" y="2245388"/>
            <a:ext cx="3382243" cy="310475"/>
          </a:xfrm>
          <a:prstGeom prst="rect">
            <a:avLst/>
          </a:prstGeom>
        </p:spPr>
        <p:txBody>
          <a:bodyPr anchor="t" rtlCol="false" tIns="0" lIns="0" bIns="0" rIns="0">
            <a:spAutoFit/>
          </a:bodyPr>
          <a:lstStyle/>
          <a:p>
            <a:pPr algn="r">
              <a:lnSpc>
                <a:spcPts val="2361"/>
              </a:lnSpc>
            </a:pPr>
            <a:r>
              <a:rPr lang="en-US" sz="1686" i="true">
                <a:solidFill>
                  <a:srgbClr val="000000"/>
                </a:solidFill>
                <a:latin typeface="Poppins Italics"/>
                <a:ea typeface="Poppins Italics"/>
                <a:cs typeface="Poppins Italics"/>
                <a:sym typeface="Poppins Italics"/>
              </a:rPr>
              <a:t>PROJECT - PHASE 1 | BATCH-9</a:t>
            </a:r>
          </a:p>
        </p:txBody>
      </p:sp>
      <p:sp>
        <p:nvSpPr>
          <p:cNvPr name="TextBox 5" id="5"/>
          <p:cNvSpPr txBox="true"/>
          <p:nvPr/>
        </p:nvSpPr>
        <p:spPr>
          <a:xfrm rot="0">
            <a:off x="1578749" y="8444172"/>
            <a:ext cx="9582877" cy="1305164"/>
          </a:xfrm>
          <a:prstGeom prst="rect">
            <a:avLst/>
          </a:prstGeom>
        </p:spPr>
        <p:txBody>
          <a:bodyPr anchor="t" rtlCol="false" tIns="0" lIns="0" bIns="0" rIns="0">
            <a:spAutoFit/>
          </a:bodyPr>
          <a:lstStyle/>
          <a:p>
            <a:pPr algn="just">
              <a:lnSpc>
                <a:spcPts val="2611"/>
              </a:lnSpc>
            </a:pPr>
            <a:r>
              <a:rPr lang="en-US" b="true" sz="1865" i="true">
                <a:solidFill>
                  <a:srgbClr val="000000"/>
                </a:solidFill>
                <a:latin typeface="Poppins Bold Italics"/>
                <a:ea typeface="Poppins Bold Italics"/>
                <a:cs typeface="Poppins Bold Italics"/>
                <a:sym typeface="Poppins Bold Italics"/>
              </a:rPr>
              <a:t>Submitted by </a:t>
            </a:r>
          </a:p>
          <a:p>
            <a:pPr algn="l">
              <a:lnSpc>
                <a:spcPts val="2611"/>
              </a:lnSpc>
            </a:pPr>
            <a:r>
              <a:rPr lang="en-US" sz="1865" i="true">
                <a:solidFill>
                  <a:srgbClr val="000000"/>
                </a:solidFill>
                <a:latin typeface="Poppins Italics"/>
                <a:ea typeface="Poppins Italics"/>
                <a:cs typeface="Poppins Italics"/>
                <a:sym typeface="Poppins Italics"/>
              </a:rPr>
              <a:t>Gokula kannaan M (24619113)</a:t>
            </a:r>
          </a:p>
          <a:p>
            <a:pPr algn="l">
              <a:lnSpc>
                <a:spcPts val="2611"/>
              </a:lnSpc>
            </a:pPr>
            <a:r>
              <a:rPr lang="en-US" sz="1865" i="true">
                <a:solidFill>
                  <a:srgbClr val="000000"/>
                </a:solidFill>
                <a:latin typeface="Poppins Italics"/>
                <a:ea typeface="Poppins Italics"/>
                <a:cs typeface="Poppins Italics"/>
                <a:sym typeface="Poppins Italics"/>
              </a:rPr>
              <a:t>Umesh R (24619161)</a:t>
            </a:r>
          </a:p>
          <a:p>
            <a:pPr algn="l">
              <a:lnSpc>
                <a:spcPts val="2611"/>
              </a:lnSpc>
            </a:pPr>
            <a:r>
              <a:rPr lang="en-US" sz="1865" i="true">
                <a:solidFill>
                  <a:srgbClr val="000000"/>
                </a:solidFill>
                <a:latin typeface="Poppins Italics"/>
                <a:ea typeface="Poppins Italics"/>
                <a:cs typeface="Poppins Italics"/>
                <a:sym typeface="Poppins Italics"/>
              </a:rPr>
              <a:t>Vignesh S (24619157)</a:t>
            </a:r>
          </a:p>
        </p:txBody>
      </p:sp>
      <p:sp>
        <p:nvSpPr>
          <p:cNvPr name="TextBox 6" id="6"/>
          <p:cNvSpPr txBox="true"/>
          <p:nvPr/>
        </p:nvSpPr>
        <p:spPr>
          <a:xfrm rot="0">
            <a:off x="1578749" y="3546263"/>
            <a:ext cx="14444768" cy="2293366"/>
          </a:xfrm>
          <a:prstGeom prst="rect">
            <a:avLst/>
          </a:prstGeom>
        </p:spPr>
        <p:txBody>
          <a:bodyPr anchor="t" rtlCol="false" tIns="0" lIns="0" bIns="0" rIns="0">
            <a:spAutoFit/>
          </a:bodyPr>
          <a:lstStyle/>
          <a:p>
            <a:pPr algn="l">
              <a:lnSpc>
                <a:spcPts val="6031"/>
              </a:lnSpc>
            </a:pPr>
            <a:r>
              <a:rPr lang="en-US" sz="5199" b="true">
                <a:solidFill>
                  <a:srgbClr val="000000"/>
                </a:solidFill>
                <a:latin typeface="Canva Sans Bold"/>
                <a:ea typeface="Canva Sans Bold"/>
                <a:cs typeface="Canva Sans Bold"/>
                <a:sym typeface="Canva Sans Bold"/>
              </a:rPr>
              <a:t>Smart Grain Storage Condition</a:t>
            </a:r>
          </a:p>
          <a:p>
            <a:pPr algn="l">
              <a:lnSpc>
                <a:spcPts val="6031"/>
              </a:lnSpc>
            </a:pPr>
            <a:r>
              <a:rPr lang="en-US" sz="5199" b="true">
                <a:solidFill>
                  <a:srgbClr val="000000"/>
                </a:solidFill>
                <a:latin typeface="Canva Sans Bold"/>
                <a:ea typeface="Canva Sans Bold"/>
                <a:cs typeface="Canva Sans Bold"/>
                <a:sym typeface="Canva Sans Bold"/>
              </a:rPr>
              <a:t>Monitoring and Spoilage Risk</a:t>
            </a:r>
          </a:p>
          <a:p>
            <a:pPr algn="l">
              <a:lnSpc>
                <a:spcPts val="6031"/>
              </a:lnSpc>
            </a:pPr>
            <a:r>
              <a:rPr lang="en-US" sz="5199" b="true">
                <a:solidFill>
                  <a:srgbClr val="000000"/>
                </a:solidFill>
                <a:latin typeface="Canva Sans Bold"/>
                <a:ea typeface="Canva Sans Bold"/>
                <a:cs typeface="Canva Sans Bold"/>
                <a:sym typeface="Canva Sans Bold"/>
              </a:rPr>
              <a:t>Prediction for PDS using Al and loT</a:t>
            </a:r>
          </a:p>
        </p:txBody>
      </p:sp>
      <p:sp>
        <p:nvSpPr>
          <p:cNvPr name="TextBox 7" id="7"/>
          <p:cNvSpPr txBox="true"/>
          <p:nvPr/>
        </p:nvSpPr>
        <p:spPr>
          <a:xfrm rot="0">
            <a:off x="1578749" y="6549492"/>
            <a:ext cx="10460770" cy="604704"/>
          </a:xfrm>
          <a:prstGeom prst="rect">
            <a:avLst/>
          </a:prstGeom>
        </p:spPr>
        <p:txBody>
          <a:bodyPr anchor="t" rtlCol="false" tIns="0" lIns="0" bIns="0" rIns="0">
            <a:spAutoFit/>
          </a:bodyPr>
          <a:lstStyle/>
          <a:p>
            <a:pPr algn="just">
              <a:lnSpc>
                <a:spcPts val="2369"/>
              </a:lnSpc>
            </a:pPr>
            <a:r>
              <a:rPr lang="en-US" sz="1692" i="true">
                <a:solidFill>
                  <a:srgbClr val="000000"/>
                </a:solidFill>
                <a:latin typeface="Poppins Italics"/>
                <a:ea typeface="Poppins Italics"/>
                <a:cs typeface="Poppins Italics"/>
                <a:sym typeface="Poppins Italics"/>
              </a:rPr>
              <a:t>A low.cost, realtime loT ond Machine Learning system to predlict groin spoilage risk before it happens.</a:t>
            </a:r>
          </a:p>
        </p:txBody>
      </p:sp>
      <p:sp>
        <p:nvSpPr>
          <p:cNvPr name="TextBox 8" id="8"/>
          <p:cNvSpPr txBox="true"/>
          <p:nvPr/>
        </p:nvSpPr>
        <p:spPr>
          <a:xfrm rot="0">
            <a:off x="12763177" y="8444172"/>
            <a:ext cx="4139252" cy="981354"/>
          </a:xfrm>
          <a:prstGeom prst="rect">
            <a:avLst/>
          </a:prstGeom>
        </p:spPr>
        <p:txBody>
          <a:bodyPr anchor="t" rtlCol="false" tIns="0" lIns="0" bIns="0" rIns="0">
            <a:spAutoFit/>
          </a:bodyPr>
          <a:lstStyle/>
          <a:p>
            <a:pPr algn="r">
              <a:lnSpc>
                <a:spcPts val="2609"/>
              </a:lnSpc>
            </a:pPr>
            <a:r>
              <a:rPr lang="en-US" b="true" sz="1864" i="true">
                <a:solidFill>
                  <a:srgbClr val="000000"/>
                </a:solidFill>
                <a:latin typeface="Poppins Bold Italics"/>
                <a:ea typeface="Poppins Bold Italics"/>
                <a:cs typeface="Poppins Bold Italics"/>
                <a:sym typeface="Poppins Bold Italics"/>
              </a:rPr>
              <a:t>project Guide</a:t>
            </a:r>
            <a:r>
              <a:rPr lang="en-US" sz="1864" i="true">
                <a:solidFill>
                  <a:srgbClr val="000000"/>
                </a:solidFill>
                <a:latin typeface="Poppins Italics"/>
                <a:ea typeface="Poppins Italics"/>
                <a:cs typeface="Poppins Italics"/>
                <a:sym typeface="Poppins Italics"/>
              </a:rPr>
              <a:t> </a:t>
            </a:r>
          </a:p>
          <a:p>
            <a:pPr algn="r">
              <a:lnSpc>
                <a:spcPts val="2609"/>
              </a:lnSpc>
            </a:pPr>
          </a:p>
          <a:p>
            <a:pPr algn="r">
              <a:lnSpc>
                <a:spcPts val="2609"/>
              </a:lnSpc>
            </a:pPr>
          </a:p>
        </p:txBody>
      </p:sp>
      <p:sp>
        <p:nvSpPr>
          <p:cNvPr name="TextBox 9" id="9"/>
          <p:cNvSpPr txBox="true"/>
          <p:nvPr/>
        </p:nvSpPr>
        <p:spPr>
          <a:xfrm rot="0">
            <a:off x="13378976" y="8948713"/>
            <a:ext cx="3382243" cy="309587"/>
          </a:xfrm>
          <a:prstGeom prst="rect">
            <a:avLst/>
          </a:prstGeom>
        </p:spPr>
        <p:txBody>
          <a:bodyPr anchor="t" rtlCol="false" tIns="0" lIns="0" bIns="0" rIns="0">
            <a:spAutoFit/>
          </a:bodyPr>
          <a:lstStyle/>
          <a:p>
            <a:pPr algn="r">
              <a:lnSpc>
                <a:spcPts val="2361"/>
              </a:lnSpc>
            </a:pPr>
            <a:r>
              <a:rPr lang="en-US" sz="1686" i="true">
                <a:solidFill>
                  <a:srgbClr val="000000"/>
                </a:solidFill>
                <a:latin typeface="Poppins Italics"/>
                <a:ea typeface="Poppins Italics"/>
                <a:cs typeface="Poppins Italics"/>
                <a:sym typeface="Poppins Italics"/>
              </a:rPr>
              <a:t>Ms. S. J.kavitha</a:t>
            </a:r>
          </a:p>
        </p:txBody>
      </p:sp>
      <p:sp>
        <p:nvSpPr>
          <p:cNvPr name="AutoShape 10" id="10"/>
          <p:cNvSpPr/>
          <p:nvPr/>
        </p:nvSpPr>
        <p:spPr>
          <a:xfrm>
            <a:off x="1578749" y="7827759"/>
            <a:ext cx="6492240" cy="0"/>
          </a:xfrm>
          <a:prstGeom prst="line">
            <a:avLst/>
          </a:prstGeom>
          <a:ln cap="flat" w="38100">
            <a:solidFill>
              <a:srgbClr val="000000"/>
            </a:solidFill>
            <a:prstDash val="solid"/>
            <a:headEnd type="none" len="sm" w="sm"/>
            <a:tailEnd type="none" len="sm" w="sm"/>
          </a:ln>
        </p:spPr>
      </p:sp>
      <p:sp>
        <p:nvSpPr>
          <p:cNvPr name="Freeform 11" id="11"/>
          <p:cNvSpPr/>
          <p:nvPr/>
        </p:nvSpPr>
        <p:spPr>
          <a:xfrm flipH="true" flipV="true" rot="0">
            <a:off x="15655322" y="7654322"/>
            <a:ext cx="2632678" cy="2632678"/>
          </a:xfrm>
          <a:custGeom>
            <a:avLst/>
            <a:gdLst/>
            <a:ahLst/>
            <a:cxnLst/>
            <a:rect r="r" b="b" t="t" l="l"/>
            <a:pathLst>
              <a:path h="2632678" w="2632678">
                <a:moveTo>
                  <a:pt x="2632678" y="2632678"/>
                </a:moveTo>
                <a:lnTo>
                  <a:pt x="0" y="2632678"/>
                </a:lnTo>
                <a:lnTo>
                  <a:pt x="0" y="0"/>
                </a:lnTo>
                <a:lnTo>
                  <a:pt x="2632678" y="0"/>
                </a:lnTo>
                <a:lnTo>
                  <a:pt x="2632678" y="2632678"/>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true" rot="-10800000">
            <a:off x="0" y="0"/>
            <a:ext cx="2884563" cy="2884563"/>
          </a:xfrm>
          <a:custGeom>
            <a:avLst/>
            <a:gdLst/>
            <a:ahLst/>
            <a:cxnLst/>
            <a:rect r="r" b="b" t="t" l="l"/>
            <a:pathLst>
              <a:path h="2884563" w="2884563">
                <a:moveTo>
                  <a:pt x="2884563" y="2884563"/>
                </a:moveTo>
                <a:lnTo>
                  <a:pt x="0" y="2884563"/>
                </a:lnTo>
                <a:lnTo>
                  <a:pt x="0" y="0"/>
                </a:lnTo>
                <a:lnTo>
                  <a:pt x="2884563" y="0"/>
                </a:lnTo>
                <a:lnTo>
                  <a:pt x="2884563" y="2884563"/>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77" r="0" b="-9277"/>
            </a:stretch>
          </a:blipFill>
        </p:spPr>
      </p:sp>
      <p:sp>
        <p:nvSpPr>
          <p:cNvPr name="TextBox 3" id="3"/>
          <p:cNvSpPr txBox="true"/>
          <p:nvPr/>
        </p:nvSpPr>
        <p:spPr>
          <a:xfrm rot="0">
            <a:off x="-2382513" y="1152196"/>
            <a:ext cx="9401982" cy="679191"/>
          </a:xfrm>
          <a:prstGeom prst="rect">
            <a:avLst/>
          </a:prstGeom>
        </p:spPr>
        <p:txBody>
          <a:bodyPr anchor="t" rtlCol="false" tIns="0" lIns="0" bIns="0" rIns="0">
            <a:spAutoFit/>
          </a:bodyPr>
          <a:lstStyle/>
          <a:p>
            <a:pPr algn="ctr">
              <a:lnSpc>
                <a:spcPts val="5614"/>
              </a:lnSpc>
            </a:pPr>
          </a:p>
        </p:txBody>
      </p:sp>
      <p:sp>
        <p:nvSpPr>
          <p:cNvPr name="TextBox 4" id="4"/>
          <p:cNvSpPr txBox="true"/>
          <p:nvPr/>
        </p:nvSpPr>
        <p:spPr>
          <a:xfrm rot="0">
            <a:off x="518217" y="2558565"/>
            <a:ext cx="17251565" cy="5112720"/>
          </a:xfrm>
          <a:prstGeom prst="rect">
            <a:avLst/>
          </a:prstGeom>
        </p:spPr>
        <p:txBody>
          <a:bodyPr anchor="t" rtlCol="false" tIns="0" lIns="0" bIns="0" rIns="0">
            <a:spAutoFit/>
          </a:bodyPr>
          <a:lstStyle/>
          <a:p>
            <a:pPr algn="just">
              <a:lnSpc>
                <a:spcPts val="3736"/>
              </a:lnSpc>
            </a:pPr>
            <a:r>
              <a:rPr lang="en-US" sz="2668" b="true">
                <a:solidFill>
                  <a:srgbClr val="000000"/>
                </a:solidFill>
                <a:latin typeface="Canva Sans Bold"/>
                <a:ea typeface="Canva Sans Bold"/>
                <a:cs typeface="Canva Sans Bold"/>
                <a:sym typeface="Canva Sans Bold"/>
              </a:rPr>
              <a:t>Public Distribution System (PDS) warehouses store essential food grains such as rice, wheat, and dhal for long periods before distribution to the public. During storage, environmental factors such as high temperature, excessive humidity, increased grain moisture, and poor air quality can lead to fungal growth, insect infestation, bad odor, and grain spoilage. Existing storage systems mainly rely on manual inspection, which is time-consuming and cannot continuously monitor storage conditions. This may result in food wastage, reduced grain quality, and economic loss.</a:t>
            </a:r>
          </a:p>
          <a:p>
            <a:pPr algn="l">
              <a:lnSpc>
                <a:spcPts val="3736"/>
              </a:lnSpc>
            </a:pPr>
          </a:p>
          <a:p>
            <a:pPr algn="l">
              <a:lnSpc>
                <a:spcPts val="3736"/>
              </a:lnSpc>
            </a:pPr>
            <a:r>
              <a:rPr lang="en-US" sz="2668" b="true">
                <a:solidFill>
                  <a:srgbClr val="000000"/>
                </a:solidFill>
                <a:latin typeface="Canva Sans Bold"/>
                <a:ea typeface="Canva Sans Bold"/>
                <a:cs typeface="Canva Sans Bold"/>
                <a:sym typeface="Canva Sans Bold"/>
              </a:rPr>
              <a:t>To overcome these challenges, a low-cost AI and IoT-based smart monitoring system is proposed. The system continuously monitors environmental conditions inside a PDS grain warehouse and predicts the storage condition as Safe, Moderate Risk, or High Risk using AI. Real-time alerts are displayed through an IoT dashboard, helping warehouse staff take preventive action before grain spoilage occurs.</a:t>
            </a:r>
          </a:p>
        </p:txBody>
      </p:sp>
      <p:sp>
        <p:nvSpPr>
          <p:cNvPr name="TextBox 5" id="5"/>
          <p:cNvSpPr txBox="true"/>
          <p:nvPr/>
        </p:nvSpPr>
        <p:spPr>
          <a:xfrm rot="0">
            <a:off x="5080519" y="1142671"/>
            <a:ext cx="8126963" cy="815050"/>
          </a:xfrm>
          <a:prstGeom prst="rect">
            <a:avLst/>
          </a:prstGeom>
        </p:spPr>
        <p:txBody>
          <a:bodyPr anchor="t" rtlCol="false" tIns="0" lIns="0" bIns="0" rIns="0">
            <a:spAutoFit/>
          </a:bodyPr>
          <a:lstStyle/>
          <a:p>
            <a:pPr algn="ctr">
              <a:lnSpc>
                <a:spcPts val="6713"/>
              </a:lnSpc>
            </a:pPr>
            <a:r>
              <a:rPr lang="en-US" sz="4795" b="true">
                <a:solidFill>
                  <a:srgbClr val="000000"/>
                </a:solidFill>
                <a:latin typeface="Canva Sans Bold"/>
                <a:ea typeface="Canva Sans Bold"/>
                <a:cs typeface="Canva Sans Bold"/>
                <a:sym typeface="Canva Sans Bold"/>
              </a:rPr>
              <a:t>PROBLEM STATEMENT</a:t>
            </a:r>
          </a:p>
        </p:txBody>
      </p:sp>
      <p:sp>
        <p:nvSpPr>
          <p:cNvPr name="Freeform 6" id="6"/>
          <p:cNvSpPr/>
          <p:nvPr/>
        </p:nvSpPr>
        <p:spPr>
          <a:xfrm flipH="true" flipV="true" rot="0">
            <a:off x="15403437" y="7402437"/>
            <a:ext cx="2884563" cy="2884563"/>
          </a:xfrm>
          <a:custGeom>
            <a:avLst/>
            <a:gdLst/>
            <a:ahLst/>
            <a:cxnLst/>
            <a:rect r="r" b="b" t="t" l="l"/>
            <a:pathLst>
              <a:path h="2884563" w="2884563">
                <a:moveTo>
                  <a:pt x="2884563" y="2884563"/>
                </a:moveTo>
                <a:lnTo>
                  <a:pt x="0" y="2884563"/>
                </a:lnTo>
                <a:lnTo>
                  <a:pt x="0" y="0"/>
                </a:lnTo>
                <a:lnTo>
                  <a:pt x="2884563" y="0"/>
                </a:lnTo>
                <a:lnTo>
                  <a:pt x="2884563" y="2884563"/>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true" rot="-10800000">
            <a:off x="0" y="0"/>
            <a:ext cx="2720672" cy="2720672"/>
          </a:xfrm>
          <a:custGeom>
            <a:avLst/>
            <a:gdLst/>
            <a:ahLst/>
            <a:cxnLst/>
            <a:rect r="r" b="b" t="t" l="l"/>
            <a:pathLst>
              <a:path h="2720672" w="2720672">
                <a:moveTo>
                  <a:pt x="2720672" y="2720672"/>
                </a:moveTo>
                <a:lnTo>
                  <a:pt x="0" y="2720672"/>
                </a:lnTo>
                <a:lnTo>
                  <a:pt x="0" y="0"/>
                </a:lnTo>
                <a:lnTo>
                  <a:pt x="2720672" y="0"/>
                </a:lnTo>
                <a:lnTo>
                  <a:pt x="2720672" y="2720672"/>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77" r="0" b="-9277"/>
            </a:stretch>
          </a:blipFill>
        </p:spPr>
      </p:sp>
      <p:sp>
        <p:nvSpPr>
          <p:cNvPr name="TextBox 3" id="3"/>
          <p:cNvSpPr txBox="true"/>
          <p:nvPr/>
        </p:nvSpPr>
        <p:spPr>
          <a:xfrm rot="0">
            <a:off x="-2382513" y="1152196"/>
            <a:ext cx="9401982" cy="679191"/>
          </a:xfrm>
          <a:prstGeom prst="rect">
            <a:avLst/>
          </a:prstGeom>
        </p:spPr>
        <p:txBody>
          <a:bodyPr anchor="t" rtlCol="false" tIns="0" lIns="0" bIns="0" rIns="0">
            <a:spAutoFit/>
          </a:bodyPr>
          <a:lstStyle/>
          <a:p>
            <a:pPr algn="ctr">
              <a:lnSpc>
                <a:spcPts val="5614"/>
              </a:lnSpc>
            </a:pPr>
          </a:p>
        </p:txBody>
      </p:sp>
      <p:sp>
        <p:nvSpPr>
          <p:cNvPr name="TextBox 4" id="4"/>
          <p:cNvSpPr txBox="true"/>
          <p:nvPr/>
        </p:nvSpPr>
        <p:spPr>
          <a:xfrm rot="0">
            <a:off x="2907994" y="1190296"/>
            <a:ext cx="12472011" cy="8713276"/>
          </a:xfrm>
          <a:prstGeom prst="rect">
            <a:avLst/>
          </a:prstGeom>
        </p:spPr>
        <p:txBody>
          <a:bodyPr anchor="t" rtlCol="false" tIns="0" lIns="0" bIns="0" rIns="0">
            <a:spAutoFit/>
          </a:bodyPr>
          <a:lstStyle/>
          <a:p>
            <a:pPr algn="just">
              <a:lnSpc>
                <a:spcPts val="3158"/>
              </a:lnSpc>
            </a:pPr>
          </a:p>
          <a:p>
            <a:pPr algn="just">
              <a:lnSpc>
                <a:spcPts val="2178"/>
              </a:lnSpc>
            </a:pPr>
          </a:p>
          <a:p>
            <a:pPr algn="just">
              <a:lnSpc>
                <a:spcPts val="3033"/>
              </a:lnSpc>
            </a:pPr>
            <a:r>
              <a:rPr lang="en-US" sz="2166" b="true">
                <a:solidFill>
                  <a:srgbClr val="000000"/>
                </a:solidFill>
                <a:latin typeface="Canva Sans Bold"/>
                <a:ea typeface="Canva Sans Bold"/>
                <a:cs typeface="Canva Sans Bold"/>
                <a:sym typeface="Canva Sans Bold"/>
              </a:rPr>
              <a:t>Develop an AI and IoT-based smart grain </a:t>
            </a:r>
          </a:p>
          <a:p>
            <a:pPr algn="just">
              <a:lnSpc>
                <a:spcPts val="3033"/>
              </a:lnSpc>
            </a:pPr>
            <a:r>
              <a:rPr lang="en-US" sz="2166" b="true">
                <a:solidFill>
                  <a:srgbClr val="000000"/>
                </a:solidFill>
                <a:latin typeface="Canva Sans Bold"/>
                <a:ea typeface="Canva Sans Bold"/>
                <a:cs typeface="Canva Sans Bold"/>
                <a:sym typeface="Canva Sans Bold"/>
              </a:rPr>
              <a:t>storage monitoring system for PDS warehouses.</a:t>
            </a:r>
          </a:p>
          <a:p>
            <a:pPr algn="just">
              <a:lnSpc>
                <a:spcPts val="2178"/>
              </a:lnSpc>
            </a:pPr>
          </a:p>
          <a:p>
            <a:pPr algn="just">
              <a:lnSpc>
                <a:spcPts val="2738"/>
              </a:lnSpc>
            </a:pPr>
            <a:r>
              <a:rPr lang="en-US" sz="1956" b="true">
                <a:solidFill>
                  <a:srgbClr val="000000"/>
                </a:solidFill>
                <a:latin typeface="Canva Sans Bold"/>
                <a:ea typeface="Canva Sans Bold"/>
                <a:cs typeface="Canva Sans Bold"/>
                <a:sym typeface="Canva Sans Bold"/>
              </a:rPr>
              <a:t>Specific Objectives:</a:t>
            </a:r>
          </a:p>
          <a:p>
            <a:pPr algn="just">
              <a:lnSpc>
                <a:spcPts val="3092"/>
              </a:lnSpc>
            </a:pPr>
          </a:p>
          <a:p>
            <a:pPr algn="l" marL="520100" indent="-260050" lvl="1">
              <a:lnSpc>
                <a:spcPts val="3372"/>
              </a:lnSpc>
              <a:buFont typeface="Arial"/>
              <a:buChar char="•"/>
            </a:pPr>
            <a:r>
              <a:rPr lang="en-US" b="true" sz="2408">
                <a:solidFill>
                  <a:srgbClr val="000000"/>
                </a:solidFill>
                <a:latin typeface="Canva Sans Bold"/>
                <a:ea typeface="Canva Sans Bold"/>
                <a:cs typeface="Canva Sans Bold"/>
                <a:sym typeface="Canva Sans Bold"/>
              </a:rPr>
              <a:t>Monitor temperature inside the grain storage warehouse.</a:t>
            </a:r>
          </a:p>
          <a:p>
            <a:pPr algn="l">
              <a:lnSpc>
                <a:spcPts val="3372"/>
              </a:lnSpc>
            </a:pPr>
          </a:p>
          <a:p>
            <a:pPr algn="l" marL="520100" indent="-260050" lvl="1">
              <a:lnSpc>
                <a:spcPts val="3372"/>
              </a:lnSpc>
              <a:buFont typeface="Arial"/>
              <a:buChar char="•"/>
            </a:pPr>
            <a:r>
              <a:rPr lang="en-US" b="true" sz="2408">
                <a:solidFill>
                  <a:srgbClr val="000000"/>
                </a:solidFill>
                <a:latin typeface="Canva Sans Bold"/>
                <a:ea typeface="Canva Sans Bold"/>
                <a:cs typeface="Canva Sans Bold"/>
                <a:sym typeface="Canva Sans Bold"/>
              </a:rPr>
              <a:t>Monitor humidity continuously.</a:t>
            </a:r>
          </a:p>
          <a:p>
            <a:pPr algn="l">
              <a:lnSpc>
                <a:spcPts val="3372"/>
              </a:lnSpc>
            </a:pPr>
          </a:p>
          <a:p>
            <a:pPr algn="l" marL="520100" indent="-260050" lvl="1">
              <a:lnSpc>
                <a:spcPts val="3372"/>
              </a:lnSpc>
              <a:buFont typeface="Arial"/>
              <a:buChar char="•"/>
            </a:pPr>
            <a:r>
              <a:rPr lang="en-US" b="true" sz="2408">
                <a:solidFill>
                  <a:srgbClr val="000000"/>
                </a:solidFill>
                <a:latin typeface="Canva Sans Bold"/>
                <a:ea typeface="Canva Sans Bold"/>
                <a:cs typeface="Canva Sans Bold"/>
                <a:sym typeface="Canva Sans Bold"/>
              </a:rPr>
              <a:t>Measure grain moisture level.</a:t>
            </a:r>
          </a:p>
          <a:p>
            <a:pPr algn="l">
              <a:lnSpc>
                <a:spcPts val="3372"/>
              </a:lnSpc>
            </a:pPr>
          </a:p>
          <a:p>
            <a:pPr algn="l" marL="520100" indent="-260050" lvl="1">
              <a:lnSpc>
                <a:spcPts val="3372"/>
              </a:lnSpc>
              <a:buFont typeface="Arial"/>
              <a:buChar char="•"/>
            </a:pPr>
            <a:r>
              <a:rPr lang="en-US" b="true" sz="2408">
                <a:solidFill>
                  <a:srgbClr val="000000"/>
                </a:solidFill>
                <a:latin typeface="Canva Sans Bold"/>
                <a:ea typeface="Canva Sans Bold"/>
                <a:cs typeface="Canva Sans Bold"/>
                <a:sym typeface="Canva Sans Bold"/>
              </a:rPr>
              <a:t>Detect harmful gases using MQ135 sensor.</a:t>
            </a:r>
          </a:p>
          <a:p>
            <a:pPr algn="l">
              <a:lnSpc>
                <a:spcPts val="3372"/>
              </a:lnSpc>
            </a:pPr>
          </a:p>
          <a:p>
            <a:pPr algn="l" marL="520100" indent="-260050" lvl="1">
              <a:lnSpc>
                <a:spcPts val="3372"/>
              </a:lnSpc>
              <a:buFont typeface="Arial"/>
              <a:buChar char="•"/>
            </a:pPr>
            <a:r>
              <a:rPr lang="en-US" b="true" sz="2408">
                <a:solidFill>
                  <a:srgbClr val="000000"/>
                </a:solidFill>
                <a:latin typeface="Canva Sans Bold"/>
                <a:ea typeface="Canva Sans Bold"/>
                <a:cs typeface="Canva Sans Bold"/>
                <a:sym typeface="Canva Sans Bold"/>
              </a:rPr>
              <a:t>Send sensor data to an IoT dashboard.</a:t>
            </a:r>
          </a:p>
          <a:p>
            <a:pPr algn="l">
              <a:lnSpc>
                <a:spcPts val="3372"/>
              </a:lnSpc>
            </a:pPr>
          </a:p>
          <a:p>
            <a:pPr algn="l" marL="520100" indent="-260050" lvl="1">
              <a:lnSpc>
                <a:spcPts val="3372"/>
              </a:lnSpc>
              <a:buFont typeface="Arial"/>
              <a:buChar char="•"/>
            </a:pPr>
            <a:r>
              <a:rPr lang="en-US" b="true" sz="2408">
                <a:solidFill>
                  <a:srgbClr val="000000"/>
                </a:solidFill>
                <a:latin typeface="Canva Sans Bold"/>
                <a:ea typeface="Canva Sans Bold"/>
                <a:cs typeface="Canva Sans Bold"/>
                <a:sym typeface="Canva Sans Bold"/>
              </a:rPr>
              <a:t>Predict grain storage condition using AI.</a:t>
            </a:r>
          </a:p>
          <a:p>
            <a:pPr algn="l">
              <a:lnSpc>
                <a:spcPts val="3372"/>
              </a:lnSpc>
            </a:pPr>
          </a:p>
          <a:p>
            <a:pPr algn="l" marL="520100" indent="-260050" lvl="1">
              <a:lnSpc>
                <a:spcPts val="3372"/>
              </a:lnSpc>
              <a:buFont typeface="Arial"/>
              <a:buChar char="•"/>
            </a:pPr>
            <a:r>
              <a:rPr lang="en-US" b="true" sz="2408">
                <a:solidFill>
                  <a:srgbClr val="000000"/>
                </a:solidFill>
                <a:latin typeface="Canva Sans Bold"/>
                <a:ea typeface="Canva Sans Bold"/>
                <a:cs typeface="Canva Sans Bold"/>
                <a:sym typeface="Canva Sans Bold"/>
              </a:rPr>
              <a:t>Generate Safe, Moderate Risk, and High Risk alerts.</a:t>
            </a:r>
          </a:p>
          <a:p>
            <a:pPr algn="l">
              <a:lnSpc>
                <a:spcPts val="3372"/>
              </a:lnSpc>
            </a:pPr>
          </a:p>
          <a:p>
            <a:pPr algn="l" marL="520100" indent="-260050" lvl="1">
              <a:lnSpc>
                <a:spcPts val="3372"/>
              </a:lnSpc>
              <a:buFont typeface="Arial"/>
              <a:buChar char="•"/>
            </a:pPr>
            <a:r>
              <a:rPr lang="en-US" b="true" sz="2408">
                <a:solidFill>
                  <a:srgbClr val="000000"/>
                </a:solidFill>
                <a:latin typeface="Canva Sans Bold"/>
                <a:ea typeface="Canva Sans Bold"/>
                <a:cs typeface="Canva Sans Bold"/>
                <a:sym typeface="Canva Sans Bold"/>
              </a:rPr>
              <a:t>Reduce grain spoilage and food wastage in PDS warehouses.</a:t>
            </a:r>
          </a:p>
        </p:txBody>
      </p:sp>
      <p:sp>
        <p:nvSpPr>
          <p:cNvPr name="TextBox 5" id="5"/>
          <p:cNvSpPr txBox="true"/>
          <p:nvPr/>
        </p:nvSpPr>
        <p:spPr>
          <a:xfrm rot="0">
            <a:off x="5080519" y="413346"/>
            <a:ext cx="8126963" cy="815050"/>
          </a:xfrm>
          <a:prstGeom prst="rect">
            <a:avLst/>
          </a:prstGeom>
        </p:spPr>
        <p:txBody>
          <a:bodyPr anchor="t" rtlCol="false" tIns="0" lIns="0" bIns="0" rIns="0">
            <a:spAutoFit/>
          </a:bodyPr>
          <a:lstStyle/>
          <a:p>
            <a:pPr algn="ctr">
              <a:lnSpc>
                <a:spcPts val="6713"/>
              </a:lnSpc>
            </a:pPr>
            <a:r>
              <a:rPr lang="en-US" sz="4795" b="true">
                <a:solidFill>
                  <a:srgbClr val="000000"/>
                </a:solidFill>
                <a:latin typeface="Canva Sans Bold"/>
                <a:ea typeface="Canva Sans Bold"/>
                <a:cs typeface="Canva Sans Bold"/>
                <a:sym typeface="Canva Sans Bold"/>
              </a:rPr>
              <a:t>OBJECTIVES</a:t>
            </a:r>
          </a:p>
        </p:txBody>
      </p:sp>
      <p:sp>
        <p:nvSpPr>
          <p:cNvPr name="Freeform 6" id="6"/>
          <p:cNvSpPr/>
          <p:nvPr/>
        </p:nvSpPr>
        <p:spPr>
          <a:xfrm flipH="true" flipV="true" rot="0">
            <a:off x="15403437" y="7402437"/>
            <a:ext cx="2884563" cy="2884563"/>
          </a:xfrm>
          <a:custGeom>
            <a:avLst/>
            <a:gdLst/>
            <a:ahLst/>
            <a:cxnLst/>
            <a:rect r="r" b="b" t="t" l="l"/>
            <a:pathLst>
              <a:path h="2884563" w="2884563">
                <a:moveTo>
                  <a:pt x="2884563" y="2884563"/>
                </a:moveTo>
                <a:lnTo>
                  <a:pt x="0" y="2884563"/>
                </a:lnTo>
                <a:lnTo>
                  <a:pt x="0" y="0"/>
                </a:lnTo>
                <a:lnTo>
                  <a:pt x="2884563" y="0"/>
                </a:lnTo>
                <a:lnTo>
                  <a:pt x="2884563" y="2884563"/>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true" rot="-10800000">
            <a:off x="0" y="0"/>
            <a:ext cx="2884563" cy="2884563"/>
          </a:xfrm>
          <a:custGeom>
            <a:avLst/>
            <a:gdLst/>
            <a:ahLst/>
            <a:cxnLst/>
            <a:rect r="r" b="b" t="t" l="l"/>
            <a:pathLst>
              <a:path h="2884563" w="2884563">
                <a:moveTo>
                  <a:pt x="2884563" y="2884563"/>
                </a:moveTo>
                <a:lnTo>
                  <a:pt x="0" y="2884563"/>
                </a:lnTo>
                <a:lnTo>
                  <a:pt x="0" y="0"/>
                </a:lnTo>
                <a:lnTo>
                  <a:pt x="2884563" y="0"/>
                </a:lnTo>
                <a:lnTo>
                  <a:pt x="2884563" y="2884563"/>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1676" y="1504601"/>
            <a:ext cx="17672473" cy="7656928"/>
            <a:chOff x="0" y="0"/>
            <a:chExt cx="23563298" cy="10209237"/>
          </a:xfrm>
        </p:grpSpPr>
        <p:sp>
          <p:nvSpPr>
            <p:cNvPr name="Freeform 3" id="3"/>
            <p:cNvSpPr/>
            <p:nvPr/>
          </p:nvSpPr>
          <p:spPr>
            <a:xfrm flipH="false" flipV="false" rot="0">
              <a:off x="0" y="517854"/>
              <a:ext cx="23563298" cy="9691383"/>
            </a:xfrm>
            <a:custGeom>
              <a:avLst/>
              <a:gdLst/>
              <a:ahLst/>
              <a:cxnLst/>
              <a:rect r="r" b="b" t="t" l="l"/>
              <a:pathLst>
                <a:path h="9691383" w="23563298">
                  <a:moveTo>
                    <a:pt x="0" y="0"/>
                  </a:moveTo>
                  <a:lnTo>
                    <a:pt x="23563298" y="0"/>
                  </a:lnTo>
                  <a:lnTo>
                    <a:pt x="23563298" y="9691383"/>
                  </a:lnTo>
                  <a:lnTo>
                    <a:pt x="0" y="96913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6796833" y="-28575"/>
              <a:ext cx="64387" cy="404108"/>
            </a:xfrm>
            <a:prstGeom prst="rect">
              <a:avLst/>
            </a:prstGeom>
          </p:spPr>
          <p:txBody>
            <a:bodyPr anchor="t" rtlCol="false" tIns="0" lIns="0" bIns="0" rIns="0">
              <a:spAutoFit/>
            </a:bodyPr>
            <a:lstStyle/>
            <a:p>
              <a:pPr algn="l">
                <a:lnSpc>
                  <a:spcPts val="1877"/>
                </a:lnSpc>
              </a:pPr>
              <a:r>
                <a:rPr lang="en-US" sz="1340">
                  <a:solidFill>
                    <a:srgbClr val="000000"/>
                  </a:solidFill>
                  <a:latin typeface="Helvetica World"/>
                  <a:ea typeface="Helvetica World"/>
                  <a:cs typeface="Helvetica World"/>
                  <a:sym typeface="Helvetica World"/>
                </a:rPr>
                <a:t> </a:t>
              </a:r>
            </a:p>
          </p:txBody>
        </p:sp>
        <p:sp>
          <p:nvSpPr>
            <p:cNvPr name="TextBox 5" id="5"/>
            <p:cNvSpPr txBox="true"/>
            <p:nvPr/>
          </p:nvSpPr>
          <p:spPr>
            <a:xfrm rot="0">
              <a:off x="339044" y="607635"/>
              <a:ext cx="484337" cy="364228"/>
            </a:xfrm>
            <a:prstGeom prst="rect">
              <a:avLst/>
            </a:prstGeom>
          </p:spPr>
          <p:txBody>
            <a:bodyPr anchor="t" rtlCol="false" tIns="0" lIns="0" bIns="0" rIns="0">
              <a:spAutoFit/>
            </a:bodyPr>
            <a:lstStyle/>
            <a:p>
              <a:pPr algn="l">
                <a:lnSpc>
                  <a:spcPts val="1535"/>
                </a:lnSpc>
              </a:pPr>
              <a:r>
                <a:rPr lang="en-US" b="true" sz="1097">
                  <a:solidFill>
                    <a:srgbClr val="000000"/>
                  </a:solidFill>
                  <a:latin typeface="Helvetica World Bold"/>
                  <a:ea typeface="Helvetica World Bold"/>
                  <a:cs typeface="Helvetica World Bold"/>
                  <a:sym typeface="Helvetica World Bold"/>
                </a:rPr>
                <a:t>S.No.</a:t>
              </a:r>
            </a:p>
          </p:txBody>
        </p:sp>
        <p:sp>
          <p:nvSpPr>
            <p:cNvPr name="TextBox 6" id="6"/>
            <p:cNvSpPr txBox="true"/>
            <p:nvPr/>
          </p:nvSpPr>
          <p:spPr>
            <a:xfrm rot="0">
              <a:off x="3252620" y="607635"/>
              <a:ext cx="389591" cy="364228"/>
            </a:xfrm>
            <a:prstGeom prst="rect">
              <a:avLst/>
            </a:prstGeom>
          </p:spPr>
          <p:txBody>
            <a:bodyPr anchor="t" rtlCol="false" tIns="0" lIns="0" bIns="0" rIns="0">
              <a:spAutoFit/>
            </a:bodyPr>
            <a:lstStyle/>
            <a:p>
              <a:pPr algn="l">
                <a:lnSpc>
                  <a:spcPts val="1535"/>
                </a:lnSpc>
              </a:pPr>
              <a:r>
                <a:rPr lang="en-US" b="true" sz="1097">
                  <a:solidFill>
                    <a:srgbClr val="000000"/>
                  </a:solidFill>
                  <a:latin typeface="Helvetica World Bold"/>
                  <a:ea typeface="Helvetica World Bold"/>
                  <a:cs typeface="Helvetica World Bold"/>
                  <a:sym typeface="Helvetica World Bold"/>
                </a:rPr>
                <a:t>Title</a:t>
              </a:r>
            </a:p>
          </p:txBody>
        </p:sp>
        <p:sp>
          <p:nvSpPr>
            <p:cNvPr name="TextBox 7" id="7"/>
            <p:cNvSpPr txBox="true"/>
            <p:nvPr/>
          </p:nvSpPr>
          <p:spPr>
            <a:xfrm rot="0">
              <a:off x="7059522" y="607635"/>
              <a:ext cx="620961" cy="364228"/>
            </a:xfrm>
            <a:prstGeom prst="rect">
              <a:avLst/>
            </a:prstGeom>
          </p:spPr>
          <p:txBody>
            <a:bodyPr anchor="t" rtlCol="false" tIns="0" lIns="0" bIns="0" rIns="0">
              <a:spAutoFit/>
            </a:bodyPr>
            <a:lstStyle/>
            <a:p>
              <a:pPr algn="l">
                <a:lnSpc>
                  <a:spcPts val="1535"/>
                </a:lnSpc>
              </a:pPr>
              <a:r>
                <a:rPr lang="en-US" b="true" sz="1097">
                  <a:solidFill>
                    <a:srgbClr val="000000"/>
                  </a:solidFill>
                  <a:latin typeface="Helvetica World Bold"/>
                  <a:ea typeface="Helvetica World Bold"/>
                  <a:cs typeface="Helvetica World Bold"/>
                  <a:sym typeface="Helvetica World Bold"/>
                </a:rPr>
                <a:t>Author</a:t>
              </a:r>
            </a:p>
          </p:txBody>
        </p:sp>
        <p:sp>
          <p:nvSpPr>
            <p:cNvPr name="TextBox 8" id="8"/>
            <p:cNvSpPr txBox="true"/>
            <p:nvPr/>
          </p:nvSpPr>
          <p:spPr>
            <a:xfrm rot="0">
              <a:off x="10735560" y="607635"/>
              <a:ext cx="1179020" cy="364228"/>
            </a:xfrm>
            <a:prstGeom prst="rect">
              <a:avLst/>
            </a:prstGeom>
          </p:spPr>
          <p:txBody>
            <a:bodyPr anchor="t" rtlCol="false" tIns="0" lIns="0" bIns="0" rIns="0">
              <a:spAutoFit/>
            </a:bodyPr>
            <a:lstStyle/>
            <a:p>
              <a:pPr algn="l">
                <a:lnSpc>
                  <a:spcPts val="1535"/>
                </a:lnSpc>
              </a:pPr>
              <a:r>
                <a:rPr lang="en-US" b="true" sz="1097">
                  <a:solidFill>
                    <a:srgbClr val="000000"/>
                  </a:solidFill>
                  <a:latin typeface="Helvetica World Bold"/>
                  <a:ea typeface="Helvetica World Bold"/>
                  <a:cs typeface="Helvetica World Bold"/>
                  <a:sym typeface="Helvetica World Bold"/>
                </a:rPr>
                <a:t>Methodology</a:t>
              </a:r>
            </a:p>
          </p:txBody>
        </p:sp>
        <p:sp>
          <p:nvSpPr>
            <p:cNvPr name="TextBox 9" id="9"/>
            <p:cNvSpPr txBox="true"/>
            <p:nvPr/>
          </p:nvSpPr>
          <p:spPr>
            <a:xfrm rot="0">
              <a:off x="15695118" y="607635"/>
              <a:ext cx="968875" cy="364228"/>
            </a:xfrm>
            <a:prstGeom prst="rect">
              <a:avLst/>
            </a:prstGeom>
          </p:spPr>
          <p:txBody>
            <a:bodyPr anchor="t" rtlCol="false" tIns="0" lIns="0" bIns="0" rIns="0">
              <a:spAutoFit/>
            </a:bodyPr>
            <a:lstStyle/>
            <a:p>
              <a:pPr algn="l">
                <a:lnSpc>
                  <a:spcPts val="1535"/>
                </a:lnSpc>
              </a:pPr>
              <a:r>
                <a:rPr lang="en-US" b="true" sz="1097">
                  <a:solidFill>
                    <a:srgbClr val="000000"/>
                  </a:solidFill>
                  <a:latin typeface="Helvetica World Bold"/>
                  <a:ea typeface="Helvetica World Bold"/>
                  <a:cs typeface="Helvetica World Bold"/>
                  <a:sym typeface="Helvetica World Bold"/>
                </a:rPr>
                <a:t>Addresses</a:t>
              </a:r>
            </a:p>
          </p:txBody>
        </p:sp>
        <p:sp>
          <p:nvSpPr>
            <p:cNvPr name="TextBox 10" id="10"/>
            <p:cNvSpPr txBox="true"/>
            <p:nvPr/>
          </p:nvSpPr>
          <p:spPr>
            <a:xfrm rot="0">
              <a:off x="19856089" y="607635"/>
              <a:ext cx="2337775" cy="263893"/>
            </a:xfrm>
            <a:prstGeom prst="rect">
              <a:avLst/>
            </a:prstGeom>
          </p:spPr>
          <p:txBody>
            <a:bodyPr anchor="t" rtlCol="false" tIns="0" lIns="0" bIns="0" rIns="0">
              <a:spAutoFit/>
            </a:bodyPr>
            <a:lstStyle/>
            <a:p>
              <a:pPr algn="l">
                <a:lnSpc>
                  <a:spcPts val="1535"/>
                </a:lnSpc>
              </a:pPr>
              <a:r>
                <a:rPr lang="en-US" b="true" sz="1097">
                  <a:solidFill>
                    <a:srgbClr val="000000"/>
                  </a:solidFill>
                  <a:latin typeface="Helvetica World Bold"/>
                  <a:ea typeface="Helvetica World Bold"/>
                  <a:cs typeface="Helvetica World Bold"/>
                  <a:sym typeface="Helvetica World Bold"/>
                </a:rPr>
                <a:t>         </a:t>
              </a:r>
              <a:r>
                <a:rPr lang="en-US" b="true" sz="1097">
                  <a:solidFill>
                    <a:srgbClr val="000000"/>
                  </a:solidFill>
                  <a:latin typeface="Helvetica World Bold"/>
                  <a:ea typeface="Helvetica World Bold"/>
                  <a:cs typeface="Helvetica World Bold"/>
                  <a:sym typeface="Helvetica World Bold"/>
                </a:rPr>
                <a:t>Limitation  </a:t>
              </a:r>
            </a:p>
          </p:txBody>
        </p:sp>
        <p:sp>
          <p:nvSpPr>
            <p:cNvPr name="TextBox 11" id="11"/>
            <p:cNvSpPr txBox="true"/>
            <p:nvPr/>
          </p:nvSpPr>
          <p:spPr>
            <a:xfrm rot="0">
              <a:off x="190948" y="1048659"/>
              <a:ext cx="96000" cy="298985"/>
            </a:xfrm>
            <a:prstGeom prst="rect">
              <a:avLst/>
            </a:prstGeom>
          </p:spPr>
          <p:txBody>
            <a:bodyPr anchor="t" rtlCol="false" tIns="0" lIns="0" bIns="0" rIns="0">
              <a:spAutoFit/>
            </a:bodyPr>
            <a:lstStyle/>
            <a:p>
              <a:pPr algn="l">
                <a:lnSpc>
                  <a:spcPts val="1399"/>
                </a:lnSpc>
              </a:pPr>
              <a:r>
                <a:rPr lang="en-US" sz="999">
                  <a:solidFill>
                    <a:srgbClr val="000000"/>
                  </a:solidFill>
                  <a:latin typeface="Helvetica World"/>
                  <a:ea typeface="Helvetica World"/>
                  <a:cs typeface="Helvetica World"/>
                  <a:sym typeface="Helvetica World"/>
                </a:rPr>
                <a:t>1</a:t>
              </a:r>
            </a:p>
          </p:txBody>
        </p:sp>
        <p:sp>
          <p:nvSpPr>
            <p:cNvPr name="TextBox 12" id="12"/>
            <p:cNvSpPr txBox="true"/>
            <p:nvPr/>
          </p:nvSpPr>
          <p:spPr>
            <a:xfrm rot="0">
              <a:off x="190948" y="2039471"/>
              <a:ext cx="96000" cy="298985"/>
            </a:xfrm>
            <a:prstGeom prst="rect">
              <a:avLst/>
            </a:prstGeom>
          </p:spPr>
          <p:txBody>
            <a:bodyPr anchor="t" rtlCol="false" tIns="0" lIns="0" bIns="0" rIns="0">
              <a:spAutoFit/>
            </a:bodyPr>
            <a:lstStyle/>
            <a:p>
              <a:pPr algn="l">
                <a:lnSpc>
                  <a:spcPts val="1399"/>
                </a:lnSpc>
              </a:pPr>
              <a:r>
                <a:rPr lang="en-US" sz="999">
                  <a:solidFill>
                    <a:srgbClr val="000000"/>
                  </a:solidFill>
                  <a:latin typeface="Helvetica World"/>
                  <a:ea typeface="Helvetica World"/>
                  <a:cs typeface="Helvetica World"/>
                  <a:sym typeface="Helvetica World"/>
                </a:rPr>
                <a:t>2</a:t>
              </a:r>
            </a:p>
          </p:txBody>
        </p:sp>
        <p:sp>
          <p:nvSpPr>
            <p:cNvPr name="TextBox 13" id="13"/>
            <p:cNvSpPr txBox="true"/>
            <p:nvPr/>
          </p:nvSpPr>
          <p:spPr>
            <a:xfrm rot="0">
              <a:off x="190948" y="3030283"/>
              <a:ext cx="96000" cy="298985"/>
            </a:xfrm>
            <a:prstGeom prst="rect">
              <a:avLst/>
            </a:prstGeom>
          </p:spPr>
          <p:txBody>
            <a:bodyPr anchor="t" rtlCol="false" tIns="0" lIns="0" bIns="0" rIns="0">
              <a:spAutoFit/>
            </a:bodyPr>
            <a:lstStyle/>
            <a:p>
              <a:pPr algn="l">
                <a:lnSpc>
                  <a:spcPts val="1399"/>
                </a:lnSpc>
              </a:pPr>
              <a:r>
                <a:rPr lang="en-US" sz="999">
                  <a:solidFill>
                    <a:srgbClr val="000000"/>
                  </a:solidFill>
                  <a:latin typeface="Helvetica World"/>
                  <a:ea typeface="Helvetica World"/>
                  <a:cs typeface="Helvetica World"/>
                  <a:sym typeface="Helvetica World"/>
                </a:rPr>
                <a:t>3</a:t>
              </a:r>
            </a:p>
          </p:txBody>
        </p:sp>
        <p:sp>
          <p:nvSpPr>
            <p:cNvPr name="TextBox 14" id="14"/>
            <p:cNvSpPr txBox="true"/>
            <p:nvPr/>
          </p:nvSpPr>
          <p:spPr>
            <a:xfrm rot="0">
              <a:off x="190948" y="4021096"/>
              <a:ext cx="96000" cy="298985"/>
            </a:xfrm>
            <a:prstGeom prst="rect">
              <a:avLst/>
            </a:prstGeom>
          </p:spPr>
          <p:txBody>
            <a:bodyPr anchor="t" rtlCol="false" tIns="0" lIns="0" bIns="0" rIns="0">
              <a:spAutoFit/>
            </a:bodyPr>
            <a:lstStyle/>
            <a:p>
              <a:pPr algn="l">
                <a:lnSpc>
                  <a:spcPts val="1399"/>
                </a:lnSpc>
              </a:pPr>
              <a:r>
                <a:rPr lang="en-US" sz="999">
                  <a:solidFill>
                    <a:srgbClr val="000000"/>
                  </a:solidFill>
                  <a:latin typeface="Helvetica World"/>
                  <a:ea typeface="Helvetica World"/>
                  <a:cs typeface="Helvetica World"/>
                  <a:sym typeface="Helvetica World"/>
                </a:rPr>
                <a:t>4</a:t>
              </a:r>
            </a:p>
          </p:txBody>
        </p:sp>
        <p:sp>
          <p:nvSpPr>
            <p:cNvPr name="TextBox 15" id="15"/>
            <p:cNvSpPr txBox="true"/>
            <p:nvPr/>
          </p:nvSpPr>
          <p:spPr>
            <a:xfrm rot="0">
              <a:off x="190948" y="5011908"/>
              <a:ext cx="96000" cy="298985"/>
            </a:xfrm>
            <a:prstGeom prst="rect">
              <a:avLst/>
            </a:prstGeom>
          </p:spPr>
          <p:txBody>
            <a:bodyPr anchor="t" rtlCol="false" tIns="0" lIns="0" bIns="0" rIns="0">
              <a:spAutoFit/>
            </a:bodyPr>
            <a:lstStyle/>
            <a:p>
              <a:pPr algn="l">
                <a:lnSpc>
                  <a:spcPts val="1399"/>
                </a:lnSpc>
              </a:pPr>
              <a:r>
                <a:rPr lang="en-US" sz="999">
                  <a:solidFill>
                    <a:srgbClr val="000000"/>
                  </a:solidFill>
                  <a:latin typeface="Helvetica World"/>
                  <a:ea typeface="Helvetica World"/>
                  <a:cs typeface="Helvetica World"/>
                  <a:sym typeface="Helvetica World"/>
                </a:rPr>
                <a:t>5</a:t>
              </a:r>
            </a:p>
          </p:txBody>
        </p:sp>
        <p:sp>
          <p:nvSpPr>
            <p:cNvPr name="TextBox 16" id="16"/>
            <p:cNvSpPr txBox="true"/>
            <p:nvPr/>
          </p:nvSpPr>
          <p:spPr>
            <a:xfrm rot="0">
              <a:off x="190948" y="5796291"/>
              <a:ext cx="96000" cy="298985"/>
            </a:xfrm>
            <a:prstGeom prst="rect">
              <a:avLst/>
            </a:prstGeom>
          </p:spPr>
          <p:txBody>
            <a:bodyPr anchor="t" rtlCol="false" tIns="0" lIns="0" bIns="0" rIns="0">
              <a:spAutoFit/>
            </a:bodyPr>
            <a:lstStyle/>
            <a:p>
              <a:pPr algn="l">
                <a:lnSpc>
                  <a:spcPts val="1399"/>
                </a:lnSpc>
              </a:pPr>
              <a:r>
                <a:rPr lang="en-US" sz="999">
                  <a:solidFill>
                    <a:srgbClr val="000000"/>
                  </a:solidFill>
                  <a:latin typeface="Helvetica World"/>
                  <a:ea typeface="Helvetica World"/>
                  <a:cs typeface="Helvetica World"/>
                  <a:sym typeface="Helvetica World"/>
                </a:rPr>
                <a:t>6</a:t>
              </a:r>
            </a:p>
          </p:txBody>
        </p:sp>
        <p:sp>
          <p:nvSpPr>
            <p:cNvPr name="TextBox 17" id="17"/>
            <p:cNvSpPr txBox="true"/>
            <p:nvPr/>
          </p:nvSpPr>
          <p:spPr>
            <a:xfrm rot="0">
              <a:off x="190948" y="6787103"/>
              <a:ext cx="96000" cy="298985"/>
            </a:xfrm>
            <a:prstGeom prst="rect">
              <a:avLst/>
            </a:prstGeom>
          </p:spPr>
          <p:txBody>
            <a:bodyPr anchor="t" rtlCol="false" tIns="0" lIns="0" bIns="0" rIns="0">
              <a:spAutoFit/>
            </a:bodyPr>
            <a:lstStyle/>
            <a:p>
              <a:pPr algn="l">
                <a:lnSpc>
                  <a:spcPts val="1399"/>
                </a:lnSpc>
              </a:pPr>
              <a:r>
                <a:rPr lang="en-US" sz="999">
                  <a:solidFill>
                    <a:srgbClr val="000000"/>
                  </a:solidFill>
                  <a:latin typeface="Helvetica World"/>
                  <a:ea typeface="Helvetica World"/>
                  <a:cs typeface="Helvetica World"/>
                  <a:sym typeface="Helvetica World"/>
                </a:rPr>
                <a:t>7</a:t>
              </a:r>
            </a:p>
          </p:txBody>
        </p:sp>
        <p:sp>
          <p:nvSpPr>
            <p:cNvPr name="TextBox 18" id="18"/>
            <p:cNvSpPr txBox="true"/>
            <p:nvPr/>
          </p:nvSpPr>
          <p:spPr>
            <a:xfrm rot="0">
              <a:off x="190948" y="7571501"/>
              <a:ext cx="96000" cy="298985"/>
            </a:xfrm>
            <a:prstGeom prst="rect">
              <a:avLst/>
            </a:prstGeom>
          </p:spPr>
          <p:txBody>
            <a:bodyPr anchor="t" rtlCol="false" tIns="0" lIns="0" bIns="0" rIns="0">
              <a:spAutoFit/>
            </a:bodyPr>
            <a:lstStyle/>
            <a:p>
              <a:pPr algn="l">
                <a:lnSpc>
                  <a:spcPts val="1399"/>
                </a:lnSpc>
              </a:pPr>
              <a:r>
                <a:rPr lang="en-US" sz="999">
                  <a:solidFill>
                    <a:srgbClr val="000000"/>
                  </a:solidFill>
                  <a:latin typeface="Helvetica World"/>
                  <a:ea typeface="Helvetica World"/>
                  <a:cs typeface="Helvetica World"/>
                  <a:sym typeface="Helvetica World"/>
                </a:rPr>
                <a:t>8</a:t>
              </a:r>
            </a:p>
          </p:txBody>
        </p:sp>
        <p:sp>
          <p:nvSpPr>
            <p:cNvPr name="TextBox 19" id="19"/>
            <p:cNvSpPr txBox="true"/>
            <p:nvPr/>
          </p:nvSpPr>
          <p:spPr>
            <a:xfrm rot="0">
              <a:off x="190948" y="8355900"/>
              <a:ext cx="96000" cy="298985"/>
            </a:xfrm>
            <a:prstGeom prst="rect">
              <a:avLst/>
            </a:prstGeom>
          </p:spPr>
          <p:txBody>
            <a:bodyPr anchor="t" rtlCol="false" tIns="0" lIns="0" bIns="0" rIns="0">
              <a:spAutoFit/>
            </a:bodyPr>
            <a:lstStyle/>
            <a:p>
              <a:pPr algn="l">
                <a:lnSpc>
                  <a:spcPts val="1399"/>
                </a:lnSpc>
              </a:pPr>
              <a:r>
                <a:rPr lang="en-US" sz="999">
                  <a:solidFill>
                    <a:srgbClr val="000000"/>
                  </a:solidFill>
                  <a:latin typeface="Helvetica World"/>
                  <a:ea typeface="Helvetica World"/>
                  <a:cs typeface="Helvetica World"/>
                  <a:sym typeface="Helvetica World"/>
                </a:rPr>
                <a:t>9</a:t>
              </a:r>
            </a:p>
          </p:txBody>
        </p:sp>
        <p:sp>
          <p:nvSpPr>
            <p:cNvPr name="TextBox 20" id="20"/>
            <p:cNvSpPr txBox="true"/>
            <p:nvPr/>
          </p:nvSpPr>
          <p:spPr>
            <a:xfrm rot="0">
              <a:off x="190948" y="9140282"/>
              <a:ext cx="191985" cy="298985"/>
            </a:xfrm>
            <a:prstGeom prst="rect">
              <a:avLst/>
            </a:prstGeom>
          </p:spPr>
          <p:txBody>
            <a:bodyPr anchor="t" rtlCol="false" tIns="0" lIns="0" bIns="0" rIns="0">
              <a:spAutoFit/>
            </a:bodyPr>
            <a:lstStyle/>
            <a:p>
              <a:pPr algn="l">
                <a:lnSpc>
                  <a:spcPts val="1399"/>
                </a:lnSpc>
              </a:pPr>
              <a:r>
                <a:rPr lang="en-US" sz="999">
                  <a:solidFill>
                    <a:srgbClr val="000000"/>
                  </a:solidFill>
                  <a:latin typeface="Helvetica World"/>
                  <a:ea typeface="Helvetica World"/>
                  <a:cs typeface="Helvetica World"/>
                  <a:sym typeface="Helvetica World"/>
                </a:rPr>
                <a:t>10</a:t>
              </a:r>
            </a:p>
          </p:txBody>
        </p:sp>
        <p:sp>
          <p:nvSpPr>
            <p:cNvPr name="TextBox 21" id="21"/>
            <p:cNvSpPr txBox="true"/>
            <p:nvPr/>
          </p:nvSpPr>
          <p:spPr>
            <a:xfrm rot="0">
              <a:off x="5925166" y="4021096"/>
              <a:ext cx="1938509" cy="217419"/>
            </a:xfrm>
            <a:prstGeom prst="rect">
              <a:avLst/>
            </a:prstGeom>
          </p:spPr>
          <p:txBody>
            <a:bodyPr anchor="t" rtlCol="false" tIns="0" lIns="0" bIns="0" rIns="0">
              <a:spAutoFit/>
            </a:bodyPr>
            <a:lstStyle/>
            <a:p>
              <a:pPr algn="l">
                <a:lnSpc>
                  <a:spcPts val="1399"/>
                </a:lnSpc>
              </a:pPr>
              <a:r>
                <a:rPr lang="en-US" sz="999">
                  <a:solidFill>
                    <a:srgbClr val="000000"/>
                  </a:solidFill>
                  <a:latin typeface="Helvetica World"/>
                  <a:ea typeface="Helvetica World"/>
                  <a:cs typeface="Helvetica World"/>
                  <a:sym typeface="Helvetica World"/>
                </a:rPr>
                <a:t>E</a:t>
              </a:r>
              <a:r>
                <a:rPr lang="en-US" sz="999">
                  <a:solidFill>
                    <a:srgbClr val="000000"/>
                  </a:solidFill>
                  <a:latin typeface="Helvetica World"/>
                  <a:ea typeface="Helvetica World"/>
                  <a:cs typeface="Helvetica World"/>
                  <a:sym typeface="Helvetica World"/>
                </a:rPr>
                <a:t>verton Lutz et al. (2022)</a:t>
              </a:r>
            </a:p>
          </p:txBody>
        </p:sp>
        <p:sp>
          <p:nvSpPr>
            <p:cNvPr name="TextBox 22" id="22"/>
            <p:cNvSpPr txBox="true"/>
            <p:nvPr/>
          </p:nvSpPr>
          <p:spPr>
            <a:xfrm rot="0">
              <a:off x="5925166" y="8365425"/>
              <a:ext cx="2321783" cy="495890"/>
            </a:xfrm>
            <a:prstGeom prst="rect">
              <a:avLst/>
            </a:prstGeom>
          </p:spPr>
          <p:txBody>
            <a:bodyPr anchor="t" rtlCol="false" tIns="0" lIns="0" bIns="0" rIns="0">
              <a:spAutoFit/>
            </a:bodyPr>
            <a:lstStyle/>
            <a:p>
              <a:pPr algn="l">
                <a:lnSpc>
                  <a:spcPts val="1219"/>
                </a:lnSpc>
              </a:pPr>
              <a:r>
                <a:rPr lang="en-US" sz="999">
                  <a:solidFill>
                    <a:srgbClr val="000000"/>
                  </a:solidFill>
                  <a:latin typeface="Helvetica World"/>
                  <a:ea typeface="Helvetica World"/>
                  <a:cs typeface="Helvetica World"/>
                  <a:sym typeface="Helvetica World"/>
                </a:rPr>
                <a:t>Wahyu Adi Pratama; Nurchim; Bondan W. Pamekas (2024)</a:t>
              </a:r>
            </a:p>
          </p:txBody>
        </p:sp>
        <p:sp>
          <p:nvSpPr>
            <p:cNvPr name="TextBox 23" id="23"/>
            <p:cNvSpPr txBox="true"/>
            <p:nvPr/>
          </p:nvSpPr>
          <p:spPr>
            <a:xfrm rot="0">
              <a:off x="5925166" y="3030283"/>
              <a:ext cx="2533105" cy="298985"/>
            </a:xfrm>
            <a:prstGeom prst="rect">
              <a:avLst/>
            </a:prstGeom>
          </p:spPr>
          <p:txBody>
            <a:bodyPr anchor="t" rtlCol="false" tIns="0" lIns="0" bIns="0" rIns="0">
              <a:spAutoFit/>
            </a:bodyPr>
            <a:lstStyle/>
            <a:p>
              <a:pPr algn="l">
                <a:lnSpc>
                  <a:spcPts val="1399"/>
                </a:lnSpc>
              </a:pPr>
              <a:r>
                <a:rPr lang="en-US" sz="999">
                  <a:solidFill>
                    <a:srgbClr val="000000"/>
                  </a:solidFill>
                  <a:latin typeface="Helvetica World"/>
                  <a:ea typeface="Helvetica World"/>
                  <a:cs typeface="Helvetica World"/>
                  <a:sym typeface="Helvetica World"/>
                </a:rPr>
                <a:t>Paulo Carteri Coradi et al. (2022)</a:t>
              </a:r>
            </a:p>
          </p:txBody>
        </p:sp>
        <p:sp>
          <p:nvSpPr>
            <p:cNvPr name="TextBox 24" id="24"/>
            <p:cNvSpPr txBox="true"/>
            <p:nvPr/>
          </p:nvSpPr>
          <p:spPr>
            <a:xfrm rot="0">
              <a:off x="5925166" y="5805816"/>
              <a:ext cx="2532934" cy="702304"/>
            </a:xfrm>
            <a:prstGeom prst="rect">
              <a:avLst/>
            </a:prstGeom>
          </p:spPr>
          <p:txBody>
            <a:bodyPr anchor="t" rtlCol="false" tIns="0" lIns="0" bIns="0" rIns="0">
              <a:spAutoFit/>
            </a:bodyPr>
            <a:lstStyle/>
            <a:p>
              <a:pPr algn="l">
                <a:lnSpc>
                  <a:spcPts val="1219"/>
                </a:lnSpc>
              </a:pPr>
              <a:r>
                <a:rPr lang="en-US" sz="999">
                  <a:solidFill>
                    <a:srgbClr val="000000"/>
                  </a:solidFill>
                  <a:latin typeface="Helvetica World"/>
                  <a:ea typeface="Helvetica World"/>
                  <a:cs typeface="Helvetica World"/>
                  <a:sym typeface="Helvetica World"/>
                </a:rPr>
                <a:t>Supriya Priyadarsani; Asit Kumar Pradhan; Prakash Chandra Jena (2023)</a:t>
              </a:r>
            </a:p>
          </p:txBody>
        </p:sp>
        <p:sp>
          <p:nvSpPr>
            <p:cNvPr name="TextBox 25" id="25"/>
            <p:cNvSpPr txBox="true"/>
            <p:nvPr/>
          </p:nvSpPr>
          <p:spPr>
            <a:xfrm rot="0">
              <a:off x="5925166" y="5011908"/>
              <a:ext cx="2609939" cy="298985"/>
            </a:xfrm>
            <a:prstGeom prst="rect">
              <a:avLst/>
            </a:prstGeom>
          </p:spPr>
          <p:txBody>
            <a:bodyPr anchor="t" rtlCol="false" tIns="0" lIns="0" bIns="0" rIns="0">
              <a:spAutoFit/>
            </a:bodyPr>
            <a:lstStyle/>
            <a:p>
              <a:pPr algn="l">
                <a:lnSpc>
                  <a:spcPts val="1399"/>
                </a:lnSpc>
              </a:pPr>
              <a:r>
                <a:rPr lang="en-US" sz="999">
                  <a:solidFill>
                    <a:srgbClr val="000000"/>
                  </a:solidFill>
                  <a:latin typeface="Helvetica World"/>
                  <a:ea typeface="Helvetica World"/>
                  <a:cs typeface="Helvetica World"/>
                  <a:sym typeface="Helvetica World"/>
                </a:rPr>
                <a:t>Marisa Menezes Leal et al. (2023)</a:t>
              </a:r>
            </a:p>
          </p:txBody>
        </p:sp>
        <p:sp>
          <p:nvSpPr>
            <p:cNvPr name="TextBox 26" id="26"/>
            <p:cNvSpPr txBox="true"/>
            <p:nvPr/>
          </p:nvSpPr>
          <p:spPr>
            <a:xfrm rot="0">
              <a:off x="5925166" y="1058184"/>
              <a:ext cx="2629105" cy="408657"/>
            </a:xfrm>
            <a:prstGeom prst="rect">
              <a:avLst/>
            </a:prstGeom>
          </p:spPr>
          <p:txBody>
            <a:bodyPr anchor="t" rtlCol="false" tIns="0" lIns="0" bIns="0" rIns="0">
              <a:spAutoFit/>
            </a:bodyPr>
            <a:lstStyle/>
            <a:p>
              <a:pPr algn="l">
                <a:lnSpc>
                  <a:spcPts val="1219"/>
                </a:lnSpc>
              </a:pPr>
              <a:r>
                <a:rPr lang="en-US" sz="999">
                  <a:solidFill>
                    <a:srgbClr val="000000"/>
                  </a:solidFill>
                  <a:latin typeface="Helvetica World"/>
                  <a:ea typeface="Helvetica World"/>
                  <a:cs typeface="Helvetica World"/>
                  <a:sym typeface="Helvetica World"/>
                </a:rPr>
                <a:t>E</a:t>
              </a:r>
              <a:r>
                <a:rPr lang="en-US" sz="999">
                  <a:solidFill>
                    <a:srgbClr val="000000"/>
                  </a:solidFill>
                  <a:latin typeface="Helvetica World"/>
                  <a:ea typeface="Helvetica World"/>
                  <a:cs typeface="Helvetica World"/>
                  <a:sym typeface="Helvetica World"/>
                </a:rPr>
                <a:t>verton Lutz; Paulo Carteri Coradi (2022)</a:t>
              </a:r>
            </a:p>
          </p:txBody>
        </p:sp>
        <p:sp>
          <p:nvSpPr>
            <p:cNvPr name="TextBox 27" id="27"/>
            <p:cNvSpPr txBox="true"/>
            <p:nvPr/>
          </p:nvSpPr>
          <p:spPr>
            <a:xfrm rot="0">
              <a:off x="5925166" y="9140282"/>
              <a:ext cx="2715430" cy="298985"/>
            </a:xfrm>
            <a:prstGeom prst="rect">
              <a:avLst/>
            </a:prstGeom>
          </p:spPr>
          <p:txBody>
            <a:bodyPr anchor="t" rtlCol="false" tIns="0" lIns="0" bIns="0" rIns="0">
              <a:spAutoFit/>
            </a:bodyPr>
            <a:lstStyle/>
            <a:p>
              <a:pPr algn="l">
                <a:lnSpc>
                  <a:spcPts val="1399"/>
                </a:lnSpc>
              </a:pPr>
              <a:r>
                <a:rPr lang="en-US" sz="999">
                  <a:solidFill>
                    <a:srgbClr val="000000"/>
                  </a:solidFill>
                  <a:latin typeface="Helvetica World"/>
                  <a:ea typeface="Helvetica World"/>
                  <a:cs typeface="Helvetica World"/>
                  <a:sym typeface="Helvetica World"/>
                </a:rPr>
                <a:t>Dágila Melo Rodrigues et al. (2024)</a:t>
              </a:r>
            </a:p>
          </p:txBody>
        </p:sp>
        <p:sp>
          <p:nvSpPr>
            <p:cNvPr name="TextBox 28" id="28"/>
            <p:cNvSpPr txBox="true"/>
            <p:nvPr/>
          </p:nvSpPr>
          <p:spPr>
            <a:xfrm rot="0">
              <a:off x="5925166" y="6796628"/>
              <a:ext cx="2840597" cy="1073859"/>
            </a:xfrm>
            <a:prstGeom prst="rect">
              <a:avLst/>
            </a:prstGeom>
          </p:spPr>
          <p:txBody>
            <a:bodyPr anchor="t" rtlCol="false" tIns="0" lIns="0" bIns="0" rIns="0">
              <a:spAutoFit/>
            </a:bodyPr>
            <a:lstStyle/>
            <a:p>
              <a:pPr algn="l">
                <a:lnSpc>
                  <a:spcPts val="1219"/>
                </a:lnSpc>
              </a:pPr>
              <a:r>
                <a:rPr lang="en-US" sz="999">
                  <a:solidFill>
                    <a:srgbClr val="000000"/>
                  </a:solidFill>
                  <a:latin typeface="Helvetica World"/>
                  <a:ea typeface="Helvetica World"/>
                  <a:cs typeface="Helvetica World"/>
                  <a:sym typeface="Helvetica World"/>
                </a:rPr>
                <a:t>Yonggik Kim; Seokho Kang; Oladayo Solomon Ajani; Rammohan Mallipeddi; Yushin Ha (2024)</a:t>
              </a:r>
            </a:p>
            <a:p>
              <a:pPr algn="l" rtl="true">
                <a:lnSpc>
                  <a:spcPts val="1219"/>
                </a:lnSpc>
              </a:pPr>
            </a:p>
            <a:p>
              <a:pPr algn="l">
                <a:lnSpc>
                  <a:spcPts val="1219"/>
                </a:lnSpc>
              </a:pPr>
              <a:r>
                <a:rPr lang="en-US" sz="999">
                  <a:solidFill>
                    <a:srgbClr val="000000"/>
                  </a:solidFill>
                  <a:latin typeface="Helvetica World"/>
                  <a:ea typeface="Helvetica World"/>
                  <a:cs typeface="Helvetica World"/>
                  <a:sym typeface="Helvetica World"/>
                </a:rPr>
                <a:t>Noraini Azmi et al. (2024)</a:t>
              </a:r>
            </a:p>
          </p:txBody>
        </p:sp>
        <p:sp>
          <p:nvSpPr>
            <p:cNvPr name="TextBox 29" id="29"/>
            <p:cNvSpPr txBox="true"/>
            <p:nvPr/>
          </p:nvSpPr>
          <p:spPr>
            <a:xfrm rot="0">
              <a:off x="5925166" y="2048996"/>
              <a:ext cx="2859422" cy="495890"/>
            </a:xfrm>
            <a:prstGeom prst="rect">
              <a:avLst/>
            </a:prstGeom>
          </p:spPr>
          <p:txBody>
            <a:bodyPr anchor="t" rtlCol="false" tIns="0" lIns="0" bIns="0" rIns="0">
              <a:spAutoFit/>
            </a:bodyPr>
            <a:lstStyle/>
            <a:p>
              <a:pPr algn="l">
                <a:lnSpc>
                  <a:spcPts val="1219"/>
                </a:lnSpc>
              </a:pPr>
              <a:r>
                <a:rPr lang="en-US" sz="999">
                  <a:solidFill>
                    <a:srgbClr val="000000"/>
                  </a:solidFill>
                  <a:latin typeface="Helvetica World"/>
                  <a:ea typeface="Helvetica World"/>
                  <a:cs typeface="Helvetica World"/>
                  <a:sym typeface="Helvetica World"/>
                </a:rPr>
                <a:t>Lydia J.; Leones Sherwin Vimalraj S.; Monisha R.; R. Murugan (2022)</a:t>
              </a:r>
            </a:p>
          </p:txBody>
        </p:sp>
        <p:sp>
          <p:nvSpPr>
            <p:cNvPr name="TextBox 30" id="30"/>
            <p:cNvSpPr txBox="true"/>
            <p:nvPr/>
          </p:nvSpPr>
          <p:spPr>
            <a:xfrm rot="0">
              <a:off x="8913316" y="1198151"/>
              <a:ext cx="4856544" cy="8540787"/>
            </a:xfrm>
            <a:prstGeom prst="rect">
              <a:avLst/>
            </a:prstGeom>
          </p:spPr>
          <p:txBody>
            <a:bodyPr anchor="t" rtlCol="false" tIns="0" lIns="0" bIns="0" rIns="0">
              <a:spAutoFit/>
            </a:bodyPr>
            <a:lstStyle/>
            <a:p>
              <a:pPr algn="l">
                <a:lnSpc>
                  <a:spcPts val="1202"/>
                </a:lnSpc>
              </a:pPr>
              <a:r>
                <a:rPr lang="en-US" sz="985">
                  <a:solidFill>
                    <a:srgbClr val="000000"/>
                  </a:solidFill>
                  <a:latin typeface="Helvetica World"/>
                  <a:ea typeface="Helvetica World"/>
                  <a:cs typeface="Helvetica World"/>
                  <a:sym typeface="Helvetica World"/>
                </a:rPr>
                <a:t>Review of sensor-based monitoring, IoT/WSN architectures and machine-learning approaches for stored-grain quality. Variables include moisture, temperature, relative humidity and intergranular CO.</a:t>
              </a:r>
            </a:p>
            <a:p>
              <a:pPr algn="l" rtl="true">
                <a:lnSpc>
                  <a:spcPts val="1202"/>
                </a:lnSpc>
              </a:pPr>
            </a:p>
            <a:p>
              <a:pPr algn="l">
                <a:lnSpc>
                  <a:spcPts val="1202"/>
                </a:lnSpc>
              </a:pPr>
              <a:r>
                <a:rPr lang="en-US" sz="985">
                  <a:solidFill>
                    <a:srgbClr val="000000"/>
                  </a:solidFill>
                  <a:latin typeface="Helvetica World"/>
                  <a:ea typeface="Helvetica World"/>
                  <a:cs typeface="Helvetica World"/>
                  <a:sym typeface="Helvetica World"/>
                </a:rPr>
                <a:t>IoT warehouse monitoring using sensor nodes, PIC microcontroller, GSM/cloud connectivity and mobile/SMS reporting. Monitors grain level, temperature, humidity,</a:t>
              </a:r>
            </a:p>
            <a:p>
              <a:pPr algn="l">
                <a:lnSpc>
                  <a:spcPts val="1202"/>
                </a:lnSpc>
              </a:pPr>
              <a:r>
                <a:rPr lang="en-US" sz="985">
                  <a:solidFill>
                    <a:srgbClr val="000000"/>
                  </a:solidFill>
                  <a:latin typeface="Helvetica World"/>
                  <a:ea typeface="Helvetica World"/>
                  <a:cs typeface="Helvetica World"/>
                  <a:sym typeface="Helvetica World"/>
                </a:rPr>
                <a:t>vibration, CO, motion and smoke.</a:t>
              </a:r>
            </a:p>
            <a:p>
              <a:pPr algn="l" rtl="true">
                <a:lnSpc>
                  <a:spcPts val="1202"/>
                </a:lnSpc>
              </a:pPr>
            </a:p>
            <a:p>
              <a:pPr algn="l">
                <a:lnSpc>
                  <a:spcPts val="1202"/>
                </a:lnSpc>
              </a:pPr>
              <a:r>
                <a:rPr lang="en-US" sz="985">
                  <a:solidFill>
                    <a:srgbClr val="000000"/>
                  </a:solidFill>
                  <a:latin typeface="Helvetica World"/>
                  <a:ea typeface="Helvetica World"/>
                  <a:cs typeface="Helvetica World"/>
                  <a:sym typeface="Helvetica World"/>
                </a:rPr>
                <a:t>Wireless sensor network and IoT platform for real-time temperature and relative-humidity monitoring, with neural-network models predicting physical, physicochemical and microbiological quality of corn.</a:t>
              </a:r>
            </a:p>
            <a:p>
              <a:pPr algn="l" rtl="true">
                <a:lnSpc>
                  <a:spcPts val="1202"/>
                </a:lnSpc>
              </a:pPr>
            </a:p>
            <a:p>
              <a:pPr algn="l">
                <a:lnSpc>
                  <a:spcPts val="1202"/>
                </a:lnSpc>
              </a:pPr>
              <a:r>
                <a:rPr lang="en-US" sz="985">
                  <a:solidFill>
                    <a:srgbClr val="000000"/>
                  </a:solidFill>
                  <a:latin typeface="Helvetica World"/>
                  <a:ea typeface="Helvetica World"/>
                  <a:cs typeface="Helvetica World"/>
                  <a:sym typeface="Helvetica World"/>
                </a:rPr>
                <a:t>Wireless sensor network + IoT platform for real-time temperature and relative-humidity monitoring; artificial neural networks predict grain quality under different moisture, temperature and packaging conditions.</a:t>
              </a:r>
            </a:p>
            <a:p>
              <a:pPr algn="l" rtl="true">
                <a:lnSpc>
                  <a:spcPts val="1202"/>
                </a:lnSpc>
              </a:pPr>
            </a:p>
            <a:p>
              <a:pPr algn="l">
                <a:lnSpc>
                  <a:spcPts val="1202"/>
                </a:lnSpc>
              </a:pPr>
              <a:r>
                <a:rPr lang="en-US" sz="985">
                  <a:solidFill>
                    <a:srgbClr val="000000"/>
                  </a:solidFill>
                  <a:latin typeface="Helvetica World"/>
                  <a:ea typeface="Helvetica World"/>
                  <a:cs typeface="Helvetica World"/>
                  <a:sym typeface="Helvetica World"/>
                </a:rPr>
                <a:t>Monitors temperature, relative humidity and CO using</a:t>
              </a:r>
            </a:p>
            <a:p>
              <a:pPr algn="l">
                <a:lnSpc>
                  <a:spcPts val="1202"/>
                </a:lnSpc>
              </a:pPr>
              <a:r>
                <a:rPr lang="en-US" sz="985">
                  <a:solidFill>
                    <a:srgbClr val="000000"/>
                  </a:solidFill>
                  <a:latin typeface="Helvetica World"/>
                  <a:ea typeface="Helvetica World"/>
                  <a:cs typeface="Helvetica World"/>
                  <a:sym typeface="Helvetica World"/>
                </a:rPr>
                <a:t>sensors; artificial neural networks and multiple linear</a:t>
              </a:r>
            </a:p>
            <a:p>
              <a:pPr algn="l">
                <a:lnSpc>
                  <a:spcPts val="1202"/>
                </a:lnSpc>
              </a:pPr>
              <a:r>
                <a:rPr lang="en-US" sz="985">
                  <a:solidFill>
                    <a:srgbClr val="000000"/>
                  </a:solidFill>
                  <a:latin typeface="Helvetica World"/>
                  <a:ea typeface="Helvetica World"/>
                  <a:cs typeface="Helvetica World"/>
                  <a:sym typeface="Helvetica World"/>
                </a:rPr>
                <a:t>regression predict dry-matter loss in stored wheat.</a:t>
              </a:r>
            </a:p>
            <a:p>
              <a:pPr algn="l" rtl="true">
                <a:lnSpc>
                  <a:spcPts val="1202"/>
                </a:lnSpc>
              </a:pPr>
            </a:p>
            <a:p>
              <a:pPr algn="l">
                <a:lnSpc>
                  <a:spcPts val="1202"/>
                </a:lnSpc>
              </a:pPr>
              <a:r>
                <a:rPr lang="en-US" sz="985">
                  <a:solidFill>
                    <a:srgbClr val="000000"/>
                  </a:solidFill>
                  <a:latin typeface="Helvetica World"/>
                  <a:ea typeface="Helvetica World"/>
                  <a:cs typeface="Helvetica World"/>
                  <a:sym typeface="Helvetica World"/>
                </a:rPr>
                <a:t>Review of IoT applications for food-grain storage, including real-time monitoring, early warning, environmental control, inventory, traceability and predictive analytics in the Indian context.</a:t>
              </a:r>
            </a:p>
            <a:p>
              <a:pPr algn="l" rtl="true">
                <a:lnSpc>
                  <a:spcPts val="1202"/>
                </a:lnSpc>
              </a:pPr>
            </a:p>
            <a:p>
              <a:pPr algn="l">
                <a:lnSpc>
                  <a:spcPts val="1202"/>
                </a:lnSpc>
              </a:pPr>
              <a:r>
                <a:rPr lang="en-US" sz="985">
                  <a:solidFill>
                    <a:srgbClr val="000000"/>
                  </a:solidFill>
                  <a:latin typeface="Helvetica World"/>
                  <a:ea typeface="Helvetica World"/>
                  <a:cs typeface="Helvetica World"/>
                  <a:sym typeface="Helvetica World"/>
                </a:rPr>
                <a:t>Compact Convolutional Transformer (CCT) classifies wheat as healthy, incipient or contaminated using CO respiration and visual mold information. Reported accuracy: 83.33%.</a:t>
              </a:r>
            </a:p>
            <a:p>
              <a:pPr algn="l" rtl="true">
                <a:lnSpc>
                  <a:spcPts val="1202"/>
                </a:lnSpc>
              </a:pPr>
            </a:p>
            <a:p>
              <a:pPr algn="l">
                <a:lnSpc>
                  <a:spcPts val="1202"/>
                </a:lnSpc>
              </a:pPr>
              <a:r>
                <a:rPr lang="en-US" sz="985">
                  <a:solidFill>
                    <a:srgbClr val="000000"/>
                  </a:solidFill>
                  <a:latin typeface="Helvetica World"/>
                  <a:ea typeface="Helvetica World"/>
                  <a:cs typeface="Helvetica World"/>
                  <a:sym typeface="Helvetica World"/>
                </a:rPr>
                <a:t>Uses 2.4 GHz and 868 MHz wireless/RF measurements with ensemble ML to estimate rice moisture content and localize</a:t>
              </a:r>
            </a:p>
            <a:p>
              <a:pPr algn="l">
                <a:lnSpc>
                  <a:spcPts val="1202"/>
                </a:lnSpc>
              </a:pPr>
              <a:r>
                <a:rPr lang="en-US" sz="985">
                  <a:solidFill>
                    <a:srgbClr val="000000"/>
                  </a:solidFill>
                  <a:latin typeface="Helvetica World"/>
                  <a:ea typeface="Helvetica World"/>
                  <a:cs typeface="Helvetica World"/>
                  <a:sym typeface="Helvetica World"/>
                </a:rPr>
                <a:t>wet spots. Reported ensemble accuracy is about 94.8%.</a:t>
              </a:r>
            </a:p>
            <a:p>
              <a:pPr algn="l" rtl="true">
                <a:lnSpc>
                  <a:spcPts val="1202"/>
                </a:lnSpc>
              </a:pPr>
            </a:p>
            <a:p>
              <a:pPr algn="l">
                <a:lnSpc>
                  <a:spcPts val="1202"/>
                </a:lnSpc>
              </a:pPr>
              <a:r>
                <a:rPr lang="en-US" sz="985">
                  <a:solidFill>
                    <a:srgbClr val="000000"/>
                  </a:solidFill>
                  <a:latin typeface="Helvetica World"/>
                  <a:ea typeface="Helvetica World"/>
                  <a:cs typeface="Helvetica World"/>
                  <a:sym typeface="Helvetica World"/>
                </a:rPr>
                <a:t>Design-Based Research prototype using ESP32, DHT22 temperature/humidity sensors, LDR, soil-moisture sensing and cloud data transmission with early warnings.</a:t>
              </a:r>
            </a:p>
            <a:p>
              <a:pPr algn="l" rtl="true">
                <a:lnSpc>
                  <a:spcPts val="1202"/>
                </a:lnSpc>
              </a:pPr>
            </a:p>
            <a:p>
              <a:pPr algn="l">
                <a:lnSpc>
                  <a:spcPts val="1202"/>
                </a:lnSpc>
              </a:pPr>
              <a:r>
                <a:rPr lang="en-US" sz="985">
                  <a:solidFill>
                    <a:srgbClr val="000000"/>
                  </a:solidFill>
                  <a:latin typeface="Helvetica World"/>
                  <a:ea typeface="Helvetica World"/>
                  <a:cs typeface="Helvetica World"/>
                  <a:sym typeface="Helvetica World"/>
                </a:rPr>
                <a:t>Monitors temperature, relative humidity and CO during transport, drying and storage. Uses regression, artificial neural networks, decision tree and random forest models to predict grain quality.</a:t>
              </a:r>
            </a:p>
          </p:txBody>
        </p:sp>
        <p:sp>
          <p:nvSpPr>
            <p:cNvPr name="TextBox 31" id="31"/>
            <p:cNvSpPr txBox="true"/>
            <p:nvPr/>
          </p:nvSpPr>
          <p:spPr>
            <a:xfrm rot="0">
              <a:off x="13824355" y="1058184"/>
              <a:ext cx="4769074" cy="1693116"/>
            </a:xfrm>
            <a:prstGeom prst="rect">
              <a:avLst/>
            </a:prstGeom>
          </p:spPr>
          <p:txBody>
            <a:bodyPr anchor="t" rtlCol="false" tIns="0" lIns="0" bIns="0" rIns="0">
              <a:spAutoFit/>
            </a:bodyPr>
            <a:lstStyle/>
            <a:p>
              <a:pPr algn="l">
                <a:lnSpc>
                  <a:spcPts val="1219"/>
                </a:lnSpc>
              </a:pPr>
              <a:r>
                <a:rPr lang="en-US" sz="999">
                  <a:solidFill>
                    <a:srgbClr val="000000"/>
                  </a:solidFill>
                  <a:latin typeface="Helvetica World"/>
                  <a:ea typeface="Helvetica World"/>
                  <a:cs typeface="Helvetica World"/>
                  <a:sym typeface="Helvetica World"/>
                </a:rPr>
                <a:t>Explains how real-time sensing and ML can support early detection of deterioration and better storage decisions. Provides the technical basis for combining sensors, IoT and AI in grain storage.</a:t>
              </a:r>
            </a:p>
            <a:p>
              <a:pPr algn="l" rtl="true">
                <a:lnSpc>
                  <a:spcPts val="1219"/>
                </a:lnSpc>
              </a:pPr>
            </a:p>
            <a:p>
              <a:pPr algn="l">
                <a:lnSpc>
                  <a:spcPts val="1219"/>
                </a:lnSpc>
              </a:pPr>
              <a:r>
                <a:rPr lang="en-US" sz="999">
                  <a:solidFill>
                    <a:srgbClr val="000000"/>
                  </a:solidFill>
                  <a:latin typeface="Helvetica World"/>
                  <a:ea typeface="Helvetica World"/>
                  <a:cs typeface="Helvetica World"/>
                  <a:sym typeface="Helvetica World"/>
                </a:rPr>
                <a:t>Supports remote warehouse monitoring and reduces dependence on manual inspection. Covers multiple physical and environmental conditions linked to grain loss.</a:t>
              </a:r>
            </a:p>
          </p:txBody>
        </p:sp>
        <p:sp>
          <p:nvSpPr>
            <p:cNvPr name="TextBox 32" id="32"/>
            <p:cNvSpPr txBox="true"/>
            <p:nvPr/>
          </p:nvSpPr>
          <p:spPr>
            <a:xfrm rot="0">
              <a:off x="18680899" y="1058184"/>
              <a:ext cx="4682424" cy="702304"/>
            </a:xfrm>
            <a:prstGeom prst="rect">
              <a:avLst/>
            </a:prstGeom>
          </p:spPr>
          <p:txBody>
            <a:bodyPr anchor="t" rtlCol="false" tIns="0" lIns="0" bIns="0" rIns="0">
              <a:spAutoFit/>
            </a:bodyPr>
            <a:lstStyle/>
            <a:p>
              <a:pPr algn="l">
                <a:lnSpc>
                  <a:spcPts val="1219"/>
                </a:lnSpc>
              </a:pPr>
              <a:r>
                <a:rPr lang="en-US" sz="999">
                  <a:solidFill>
                    <a:srgbClr val="000000"/>
                  </a:solidFill>
                  <a:latin typeface="Helvetica World"/>
                  <a:ea typeface="Helvetica World"/>
                  <a:cs typeface="Helvetica World"/>
                  <a:sym typeface="Helvetica World"/>
                </a:rPr>
                <a:t>Review study rather than a field-validated PDS system. No single integrated spoilage-risk model specifically designed for Indian PDS warehouses.</a:t>
              </a:r>
            </a:p>
          </p:txBody>
        </p:sp>
        <p:sp>
          <p:nvSpPr>
            <p:cNvPr name="TextBox 33" id="33"/>
            <p:cNvSpPr txBox="true"/>
            <p:nvPr/>
          </p:nvSpPr>
          <p:spPr>
            <a:xfrm rot="0">
              <a:off x="18680899" y="2048996"/>
              <a:ext cx="4785206" cy="702304"/>
            </a:xfrm>
            <a:prstGeom prst="rect">
              <a:avLst/>
            </a:prstGeom>
          </p:spPr>
          <p:txBody>
            <a:bodyPr anchor="t" rtlCol="false" tIns="0" lIns="0" bIns="0" rIns="0">
              <a:spAutoFit/>
            </a:bodyPr>
            <a:lstStyle/>
            <a:p>
              <a:pPr algn="l">
                <a:lnSpc>
                  <a:spcPts val="1219"/>
                </a:lnSpc>
              </a:pPr>
              <a:r>
                <a:rPr lang="en-US" sz="999">
                  <a:solidFill>
                    <a:srgbClr val="000000"/>
                  </a:solidFill>
                  <a:latin typeface="Helvetica World"/>
                  <a:ea typeface="Helvetica World"/>
                  <a:cs typeface="Helvetica World"/>
                  <a:sym typeface="Helvetica World"/>
                </a:rPr>
                <a:t>Mainly threshold-based monitoring; predictive AI/spoilage-risk estimation is limited. Large-scale, long-duration PDS validation is absent.</a:t>
              </a:r>
            </a:p>
          </p:txBody>
        </p:sp>
        <p:sp>
          <p:nvSpPr>
            <p:cNvPr name="TextBox 34" id="34"/>
            <p:cNvSpPr txBox="true"/>
            <p:nvPr/>
          </p:nvSpPr>
          <p:spPr>
            <a:xfrm rot="0">
              <a:off x="13824355" y="3039808"/>
              <a:ext cx="4711762" cy="702304"/>
            </a:xfrm>
            <a:prstGeom prst="rect">
              <a:avLst/>
            </a:prstGeom>
          </p:spPr>
          <p:txBody>
            <a:bodyPr anchor="t" rtlCol="false" tIns="0" lIns="0" bIns="0" rIns="0">
              <a:spAutoFit/>
            </a:bodyPr>
            <a:lstStyle/>
            <a:p>
              <a:pPr algn="l">
                <a:lnSpc>
                  <a:spcPts val="1219"/>
                </a:lnSpc>
              </a:pPr>
              <a:r>
                <a:rPr lang="en-US" sz="999">
                  <a:solidFill>
                    <a:srgbClr val="000000"/>
                  </a:solidFill>
                  <a:latin typeface="Helvetica World"/>
                  <a:ea typeface="Helvetica World"/>
                  <a:cs typeface="Helvetica World"/>
                  <a:sym typeface="Helvetica World"/>
                </a:rPr>
                <a:t>Connects environmental measurements with grain-quality prediction and demonstrates continuous monitoring instead of occasional sampling.</a:t>
              </a:r>
            </a:p>
          </p:txBody>
        </p:sp>
        <p:sp>
          <p:nvSpPr>
            <p:cNvPr name="TextBox 35" id="35"/>
            <p:cNvSpPr txBox="true"/>
            <p:nvPr/>
          </p:nvSpPr>
          <p:spPr>
            <a:xfrm rot="0">
              <a:off x="18680899" y="3039808"/>
              <a:ext cx="4625112" cy="702304"/>
            </a:xfrm>
            <a:prstGeom prst="rect">
              <a:avLst/>
            </a:prstGeom>
          </p:spPr>
          <p:txBody>
            <a:bodyPr anchor="t" rtlCol="false" tIns="0" lIns="0" bIns="0" rIns="0">
              <a:spAutoFit/>
            </a:bodyPr>
            <a:lstStyle/>
            <a:p>
              <a:pPr algn="l">
                <a:lnSpc>
                  <a:spcPts val="1219"/>
                </a:lnSpc>
              </a:pPr>
              <a:r>
                <a:rPr lang="en-US" sz="999">
                  <a:solidFill>
                    <a:srgbClr val="000000"/>
                  </a:solidFill>
                  <a:latin typeface="Helvetica World"/>
                  <a:ea typeface="Helvetica World"/>
                  <a:cs typeface="Helvetica World"/>
                  <a:sym typeface="Helvetica World"/>
                </a:rPr>
                <a:t>Focused on corn in bag silos and a limited storage setup. Needs validation across PDS grains, warehouse layouts and Indian climatic conditions.</a:t>
              </a:r>
            </a:p>
          </p:txBody>
        </p:sp>
        <p:sp>
          <p:nvSpPr>
            <p:cNvPr name="TextBox 36" id="36"/>
            <p:cNvSpPr txBox="true"/>
            <p:nvPr/>
          </p:nvSpPr>
          <p:spPr>
            <a:xfrm rot="0">
              <a:off x="13824355" y="4030621"/>
              <a:ext cx="4634757" cy="702304"/>
            </a:xfrm>
            <a:prstGeom prst="rect">
              <a:avLst/>
            </a:prstGeom>
          </p:spPr>
          <p:txBody>
            <a:bodyPr anchor="t" rtlCol="false" tIns="0" lIns="0" bIns="0" rIns="0">
              <a:spAutoFit/>
            </a:bodyPr>
            <a:lstStyle/>
            <a:p>
              <a:pPr algn="l">
                <a:lnSpc>
                  <a:spcPts val="1219"/>
                </a:lnSpc>
              </a:pPr>
              <a:r>
                <a:rPr lang="en-US" sz="999">
                  <a:solidFill>
                    <a:srgbClr val="000000"/>
                  </a:solidFill>
                  <a:latin typeface="Helvetica World"/>
                  <a:ea typeface="Helvetica World"/>
                  <a:cs typeface="Helvetica World"/>
                  <a:sym typeface="Helvetica World"/>
                </a:rPr>
                <a:t>Shows that equilibrium moisture content can be an important indicator of quality deterioration and supports real-time prediction.</a:t>
              </a:r>
            </a:p>
          </p:txBody>
        </p:sp>
        <p:sp>
          <p:nvSpPr>
            <p:cNvPr name="TextBox 37" id="37"/>
            <p:cNvSpPr txBox="true"/>
            <p:nvPr/>
          </p:nvSpPr>
          <p:spPr>
            <a:xfrm rot="0">
              <a:off x="18680899" y="4030621"/>
              <a:ext cx="4785283" cy="702304"/>
            </a:xfrm>
            <a:prstGeom prst="rect">
              <a:avLst/>
            </a:prstGeom>
          </p:spPr>
          <p:txBody>
            <a:bodyPr anchor="t" rtlCol="false" tIns="0" lIns="0" bIns="0" rIns="0">
              <a:spAutoFit/>
            </a:bodyPr>
            <a:lstStyle/>
            <a:p>
              <a:pPr algn="l">
                <a:lnSpc>
                  <a:spcPts val="1219"/>
                </a:lnSpc>
              </a:pPr>
              <a:r>
                <a:rPr lang="en-US" sz="999">
                  <a:solidFill>
                    <a:srgbClr val="000000"/>
                  </a:solidFill>
                  <a:latin typeface="Helvetica World"/>
                  <a:ea typeface="Helvetica World"/>
                  <a:cs typeface="Helvetica World"/>
                  <a:sym typeface="Helvetica World"/>
                </a:rPr>
                <a:t>Controlled experimental conditions and mainly corn-focused. A multi-grain, real-warehouse dataset would strengthen a PDS spoilage model.</a:t>
              </a:r>
            </a:p>
          </p:txBody>
        </p:sp>
        <p:sp>
          <p:nvSpPr>
            <p:cNvPr name="TextBox 38" id="38"/>
            <p:cNvSpPr txBox="true"/>
            <p:nvPr/>
          </p:nvSpPr>
          <p:spPr>
            <a:xfrm rot="0">
              <a:off x="13824355" y="5021448"/>
              <a:ext cx="4634927" cy="1486671"/>
            </a:xfrm>
            <a:prstGeom prst="rect">
              <a:avLst/>
            </a:prstGeom>
          </p:spPr>
          <p:txBody>
            <a:bodyPr anchor="t" rtlCol="false" tIns="0" lIns="0" bIns="0" rIns="0">
              <a:spAutoFit/>
            </a:bodyPr>
            <a:lstStyle/>
            <a:p>
              <a:pPr algn="just">
                <a:lnSpc>
                  <a:spcPts val="1219"/>
                </a:lnSpc>
              </a:pPr>
              <a:r>
                <a:rPr lang="en-US" sz="999">
                  <a:solidFill>
                    <a:srgbClr val="000000"/>
                  </a:solidFill>
                  <a:latin typeface="Helvetica World"/>
                  <a:ea typeface="Helvetica World"/>
                  <a:cs typeface="Helvetica World"/>
                  <a:sym typeface="Helvetica World"/>
                </a:rPr>
                <a:t>Shows that changes in intergranular temperature, humidity and CO can provide early information about grain-quality changes and support predictive decisions.</a:t>
              </a:r>
            </a:p>
            <a:p>
              <a:pPr algn="just" rtl="true">
                <a:lnSpc>
                  <a:spcPts val="1219"/>
                </a:lnSpc>
              </a:pPr>
            </a:p>
            <a:p>
              <a:pPr algn="just">
                <a:lnSpc>
                  <a:spcPts val="1219"/>
                </a:lnSpc>
              </a:pPr>
              <a:r>
                <a:rPr lang="en-US" sz="999">
                  <a:solidFill>
                    <a:srgbClr val="000000"/>
                  </a:solidFill>
                  <a:latin typeface="Helvetica World"/>
                  <a:ea typeface="Helvetica World"/>
                  <a:cs typeface="Helvetica World"/>
                  <a:sym typeface="Helvetica World"/>
                </a:rPr>
                <a:t>Directly connects IoT-based storage technology with Indian food security and grain-storage challenges such as spoilage, mold and insect infestation.</a:t>
              </a:r>
            </a:p>
          </p:txBody>
        </p:sp>
        <p:sp>
          <p:nvSpPr>
            <p:cNvPr name="TextBox 39" id="39"/>
            <p:cNvSpPr txBox="true"/>
            <p:nvPr/>
          </p:nvSpPr>
          <p:spPr>
            <a:xfrm rot="0">
              <a:off x="18680899" y="5021433"/>
              <a:ext cx="4721097" cy="1486702"/>
            </a:xfrm>
            <a:prstGeom prst="rect">
              <a:avLst/>
            </a:prstGeom>
          </p:spPr>
          <p:txBody>
            <a:bodyPr anchor="t" rtlCol="false" tIns="0" lIns="0" bIns="0" rIns="0">
              <a:spAutoFit/>
            </a:bodyPr>
            <a:lstStyle/>
            <a:p>
              <a:pPr algn="l">
                <a:lnSpc>
                  <a:spcPts val="1219"/>
                </a:lnSpc>
              </a:pPr>
              <a:r>
                <a:rPr lang="en-US" sz="999">
                  <a:solidFill>
                    <a:srgbClr val="000000"/>
                  </a:solidFill>
                  <a:latin typeface="Helvetica World"/>
                  <a:ea typeface="Helvetica World"/>
                  <a:cs typeface="Helvetica World"/>
                  <a:sym typeface="Helvetica World"/>
                </a:rPr>
                <a:t>Focuses on vertical-silo wheat storage and dry-matter loss rather than full spoilage classification. Pest, fungal and operational variables are not fully integrated.</a:t>
              </a:r>
            </a:p>
            <a:p>
              <a:pPr algn="l" rtl="true">
                <a:lnSpc>
                  <a:spcPts val="1219"/>
                </a:lnSpc>
              </a:pPr>
            </a:p>
            <a:p>
              <a:pPr algn="l">
                <a:lnSpc>
                  <a:spcPts val="1219"/>
                </a:lnSpc>
              </a:pPr>
              <a:r>
                <a:rPr lang="en-US" sz="999">
                  <a:solidFill>
                    <a:srgbClr val="000000"/>
                  </a:solidFill>
                  <a:latin typeface="Helvetica World"/>
                  <a:ea typeface="Helvetica World"/>
                  <a:cs typeface="Helvetica World"/>
                  <a:sym typeface="Helvetica World"/>
                </a:rPr>
                <a:t>Review paper; does not experimentally validate a complete AI + IoT PDS warehouse system or quantify predictive performance on PDS datasets.</a:t>
              </a:r>
            </a:p>
          </p:txBody>
        </p:sp>
        <p:sp>
          <p:nvSpPr>
            <p:cNvPr name="TextBox 40" id="40"/>
            <p:cNvSpPr txBox="true"/>
            <p:nvPr/>
          </p:nvSpPr>
          <p:spPr>
            <a:xfrm rot="0">
              <a:off x="13824355" y="6796628"/>
              <a:ext cx="4720911" cy="1280273"/>
            </a:xfrm>
            <a:prstGeom prst="rect">
              <a:avLst/>
            </a:prstGeom>
          </p:spPr>
          <p:txBody>
            <a:bodyPr anchor="t" rtlCol="false" tIns="0" lIns="0" bIns="0" rIns="0">
              <a:spAutoFit/>
            </a:bodyPr>
            <a:lstStyle/>
            <a:p>
              <a:pPr algn="l">
                <a:lnSpc>
                  <a:spcPts val="1219"/>
                </a:lnSpc>
              </a:pPr>
              <a:r>
                <a:rPr lang="en-US" sz="999">
                  <a:solidFill>
                    <a:srgbClr val="000000"/>
                  </a:solidFill>
                  <a:latin typeface="Helvetica World"/>
                  <a:ea typeface="Helvetica World"/>
                  <a:cs typeface="Helvetica World"/>
                  <a:sym typeface="Helvetica World"/>
                </a:rPr>
                <a:t>Demonstrates AI-based early contamination classification and the value of distinguishing early-stage spoilage from already contaminated grain.</a:t>
              </a:r>
            </a:p>
            <a:p>
              <a:pPr algn="l" rtl="true">
                <a:lnSpc>
                  <a:spcPts val="1219"/>
                </a:lnSpc>
              </a:pPr>
            </a:p>
            <a:p>
              <a:pPr algn="l">
                <a:lnSpc>
                  <a:spcPts val="1219"/>
                </a:lnSpc>
              </a:pPr>
              <a:r>
                <a:rPr lang="en-US" sz="999">
                  <a:solidFill>
                    <a:srgbClr val="000000"/>
                  </a:solidFill>
                  <a:latin typeface="Helvetica World"/>
                  <a:ea typeface="Helvetica World"/>
                  <a:cs typeface="Helvetica World"/>
                  <a:sym typeface="Helvetica World"/>
                </a:rPr>
                <a:t>Supports non-invasive moisture estimation and localization of potential wet/spoilage areas in stored rice.</a:t>
              </a:r>
            </a:p>
          </p:txBody>
        </p:sp>
        <p:sp>
          <p:nvSpPr>
            <p:cNvPr name="TextBox 41" id="41"/>
            <p:cNvSpPr txBox="true"/>
            <p:nvPr/>
          </p:nvSpPr>
          <p:spPr>
            <a:xfrm rot="0">
              <a:off x="18680899" y="6796628"/>
              <a:ext cx="4785283" cy="3055483"/>
            </a:xfrm>
            <a:prstGeom prst="rect">
              <a:avLst/>
            </a:prstGeom>
          </p:spPr>
          <p:txBody>
            <a:bodyPr anchor="t" rtlCol="false" tIns="0" lIns="0" bIns="0" rIns="0">
              <a:spAutoFit/>
            </a:bodyPr>
            <a:lstStyle/>
            <a:p>
              <a:pPr algn="l">
                <a:lnSpc>
                  <a:spcPts val="1219"/>
                </a:lnSpc>
              </a:pPr>
              <a:r>
                <a:rPr lang="en-US" sz="999">
                  <a:solidFill>
                    <a:srgbClr val="000000"/>
                  </a:solidFill>
                  <a:latin typeface="Helvetica World"/>
                  <a:ea typeface="Helvetica World"/>
                  <a:cs typeface="Helvetica World"/>
                  <a:sym typeface="Helvetica World"/>
                </a:rPr>
                <a:t>Uses a relatively small laboratory image dataset and controlled conditions. More diverse field data and sensor/IoT integration are needed for PDS deployment.</a:t>
              </a:r>
            </a:p>
            <a:p>
              <a:pPr algn="l" rtl="true">
                <a:lnSpc>
                  <a:spcPts val="1219"/>
                </a:lnSpc>
              </a:pPr>
            </a:p>
            <a:p>
              <a:pPr algn="l">
                <a:lnSpc>
                  <a:spcPts val="1219"/>
                </a:lnSpc>
              </a:pPr>
              <a:r>
                <a:rPr lang="en-US" sz="999">
                  <a:solidFill>
                    <a:srgbClr val="000000"/>
                  </a:solidFill>
                  <a:latin typeface="Helvetica World"/>
                  <a:ea typeface="Helvetica World"/>
                  <a:cs typeface="Helvetica World"/>
                  <a:sym typeface="Helvetica World"/>
                </a:rPr>
                <a:t>Testbed-based validation. Large heterogeneous PDS warehouses, different grain types and changing RF environments need further validation.</a:t>
              </a:r>
            </a:p>
            <a:p>
              <a:pPr algn="l" rtl="true">
                <a:lnSpc>
                  <a:spcPts val="1219"/>
                </a:lnSpc>
              </a:pPr>
            </a:p>
            <a:p>
              <a:pPr algn="l">
                <a:lnSpc>
                  <a:spcPts val="1219"/>
                </a:lnSpc>
              </a:pPr>
              <a:r>
                <a:rPr lang="en-US" sz="999">
                  <a:solidFill>
                    <a:srgbClr val="000000"/>
                  </a:solidFill>
                  <a:latin typeface="Helvetica World"/>
                  <a:ea typeface="Helvetica World"/>
                  <a:cs typeface="Helvetica World"/>
                  <a:sym typeface="Helvetica World"/>
                </a:rPr>
                <a:t>Mainly monitors conditions; automatic control and mobile integration were future improvements. AI-based spoilage-risk prediction is not the main focus.</a:t>
              </a:r>
            </a:p>
            <a:p>
              <a:pPr algn="l" rtl="true">
                <a:lnSpc>
                  <a:spcPts val="1219"/>
                </a:lnSpc>
              </a:pPr>
            </a:p>
            <a:p>
              <a:pPr algn="l">
                <a:lnSpc>
                  <a:spcPts val="1219"/>
                </a:lnSpc>
              </a:pPr>
              <a:r>
                <a:rPr lang="en-US" sz="999">
                  <a:solidFill>
                    <a:srgbClr val="000000"/>
                  </a:solidFill>
                  <a:latin typeface="Helvetica World"/>
                  <a:ea typeface="Helvetica World"/>
                  <a:cs typeface="Helvetica World"/>
                  <a:sym typeface="Helvetica World"/>
                </a:rPr>
                <a:t>Focused on corn and a specific workflow. PDS implementation needs continuous warehouse data, multi-grain validation,</a:t>
              </a:r>
            </a:p>
            <a:p>
              <a:pPr algn="l">
                <a:lnSpc>
                  <a:spcPts val="1219"/>
                </a:lnSpc>
              </a:pPr>
              <a:r>
                <a:rPr lang="en-US" sz="999">
                  <a:solidFill>
                    <a:srgbClr val="000000"/>
                  </a:solidFill>
                  <a:latin typeface="Helvetica World"/>
                  <a:ea typeface="Helvetica World"/>
                  <a:cs typeface="Helvetica World"/>
                  <a:sym typeface="Helvetica World"/>
                </a:rPr>
                <a:t>alerts, traceability and operational integration.</a:t>
              </a:r>
            </a:p>
          </p:txBody>
        </p:sp>
        <p:sp>
          <p:nvSpPr>
            <p:cNvPr name="TextBox 42" id="42"/>
            <p:cNvSpPr txBox="true"/>
            <p:nvPr/>
          </p:nvSpPr>
          <p:spPr>
            <a:xfrm rot="0">
              <a:off x="13824355" y="8365425"/>
              <a:ext cx="4778053" cy="495890"/>
            </a:xfrm>
            <a:prstGeom prst="rect">
              <a:avLst/>
            </a:prstGeom>
          </p:spPr>
          <p:txBody>
            <a:bodyPr anchor="t" rtlCol="false" tIns="0" lIns="0" bIns="0" rIns="0">
              <a:spAutoFit/>
            </a:bodyPr>
            <a:lstStyle/>
            <a:p>
              <a:pPr algn="l">
                <a:lnSpc>
                  <a:spcPts val="1219"/>
                </a:lnSpc>
              </a:pPr>
              <a:r>
                <a:rPr lang="en-US" sz="999">
                  <a:solidFill>
                    <a:srgbClr val="000000"/>
                  </a:solidFill>
                  <a:latin typeface="Helvetica World"/>
                  <a:ea typeface="Helvetica World"/>
                  <a:cs typeface="Helvetica World"/>
                  <a:sym typeface="Helvetica World"/>
                </a:rPr>
                <a:t>Provides a low-cost IoT architecture for real-time grain-storage monitoring and early warning.</a:t>
              </a:r>
            </a:p>
          </p:txBody>
        </p:sp>
        <p:sp>
          <p:nvSpPr>
            <p:cNvPr name="TextBox 43" id="43"/>
            <p:cNvSpPr txBox="true"/>
            <p:nvPr/>
          </p:nvSpPr>
          <p:spPr>
            <a:xfrm rot="0">
              <a:off x="13824355" y="9149807"/>
              <a:ext cx="4634587" cy="495890"/>
            </a:xfrm>
            <a:prstGeom prst="rect">
              <a:avLst/>
            </a:prstGeom>
          </p:spPr>
          <p:txBody>
            <a:bodyPr anchor="t" rtlCol="false" tIns="0" lIns="0" bIns="0" rIns="0">
              <a:spAutoFit/>
            </a:bodyPr>
            <a:lstStyle/>
            <a:p>
              <a:pPr algn="l">
                <a:lnSpc>
                  <a:spcPts val="1219"/>
                </a:lnSpc>
              </a:pPr>
              <a:r>
                <a:rPr lang="en-US" sz="999">
                  <a:solidFill>
                    <a:srgbClr val="000000"/>
                  </a:solidFill>
                  <a:latin typeface="Helvetica World"/>
                  <a:ea typeface="Helvetica World"/>
                  <a:cs typeface="Helvetica World"/>
                  <a:sym typeface="Helvetica World"/>
                </a:rPr>
                <a:t>Integrates sensor measurements across post-harvest stages and compares ML models for predicting quality changes.</a:t>
              </a:r>
            </a:p>
          </p:txBody>
        </p:sp>
        <p:sp>
          <p:nvSpPr>
            <p:cNvPr name="TextBox 44" id="44"/>
            <p:cNvSpPr txBox="true"/>
            <p:nvPr/>
          </p:nvSpPr>
          <p:spPr>
            <a:xfrm rot="0">
              <a:off x="1127142" y="6762956"/>
              <a:ext cx="4263140" cy="525491"/>
            </a:xfrm>
            <a:prstGeom prst="rect">
              <a:avLst/>
            </a:prstGeom>
          </p:spPr>
          <p:txBody>
            <a:bodyPr anchor="t" rtlCol="false" tIns="0" lIns="0" bIns="0" rIns="0">
              <a:spAutoFit/>
            </a:bodyPr>
            <a:lstStyle/>
            <a:p>
              <a:pPr algn="l">
                <a:lnSpc>
                  <a:spcPts val="1219"/>
                </a:lnSpc>
              </a:pPr>
              <a:r>
                <a:rPr lang="en-US" b="true" sz="1011">
                  <a:solidFill>
                    <a:srgbClr val="000000"/>
                  </a:solidFill>
                  <a:latin typeface="Helvetica World Bold"/>
                  <a:ea typeface="Helvetica World Bold"/>
                  <a:cs typeface="Helvetica World Bold"/>
                  <a:sym typeface="Helvetica World Bold"/>
                </a:rPr>
                <a:t>Predicting early mycotoxin contamination in stored wheat using machine learning</a:t>
              </a:r>
            </a:p>
          </p:txBody>
        </p:sp>
        <p:sp>
          <p:nvSpPr>
            <p:cNvPr name="TextBox 45" id="45"/>
            <p:cNvSpPr txBox="true"/>
            <p:nvPr/>
          </p:nvSpPr>
          <p:spPr>
            <a:xfrm rot="0">
              <a:off x="1127142" y="7547354"/>
              <a:ext cx="4311721" cy="1309889"/>
            </a:xfrm>
            <a:prstGeom prst="rect">
              <a:avLst/>
            </a:prstGeom>
          </p:spPr>
          <p:txBody>
            <a:bodyPr anchor="t" rtlCol="false" tIns="0" lIns="0" bIns="0" rIns="0">
              <a:spAutoFit/>
            </a:bodyPr>
            <a:lstStyle/>
            <a:p>
              <a:pPr algn="l">
                <a:lnSpc>
                  <a:spcPts val="1219"/>
                </a:lnSpc>
              </a:pPr>
              <a:r>
                <a:rPr lang="en-US" b="true" sz="1011">
                  <a:solidFill>
                    <a:srgbClr val="000000"/>
                  </a:solidFill>
                  <a:latin typeface="Helvetica World Bold"/>
                  <a:ea typeface="Helvetica World Bold"/>
                  <a:cs typeface="Helvetica World Bold"/>
                  <a:sym typeface="Helvetica World Bold"/>
                </a:rPr>
                <a:t>Integration of dual band radio waves and ensemble-based approach for rice moisture content determination and localisation</a:t>
              </a:r>
            </a:p>
            <a:p>
              <a:pPr algn="l" rtl="true">
                <a:lnSpc>
                  <a:spcPts val="1219"/>
                </a:lnSpc>
              </a:pPr>
            </a:p>
            <a:p>
              <a:pPr algn="l">
                <a:lnSpc>
                  <a:spcPts val="1219"/>
                </a:lnSpc>
              </a:pPr>
              <a:r>
                <a:rPr lang="en-US" b="true" sz="1011">
                  <a:solidFill>
                    <a:srgbClr val="000000"/>
                  </a:solidFill>
                  <a:latin typeface="Helvetica World Bold"/>
                  <a:ea typeface="Helvetica World Bold"/>
                  <a:cs typeface="Helvetica World Bold"/>
                  <a:sym typeface="Helvetica World Bold"/>
                </a:rPr>
                <a:t>Prototype of Smart Grain Storage Based Internet of Things</a:t>
              </a:r>
            </a:p>
          </p:txBody>
        </p:sp>
        <p:sp>
          <p:nvSpPr>
            <p:cNvPr name="TextBox 46" id="46"/>
            <p:cNvSpPr txBox="true"/>
            <p:nvPr/>
          </p:nvSpPr>
          <p:spPr>
            <a:xfrm rot="0">
              <a:off x="1127142" y="4987761"/>
              <a:ext cx="4351044" cy="1309889"/>
            </a:xfrm>
            <a:prstGeom prst="rect">
              <a:avLst/>
            </a:prstGeom>
          </p:spPr>
          <p:txBody>
            <a:bodyPr anchor="t" rtlCol="false" tIns="0" lIns="0" bIns="0" rIns="0">
              <a:spAutoFit/>
            </a:bodyPr>
            <a:lstStyle/>
            <a:p>
              <a:pPr algn="l">
                <a:lnSpc>
                  <a:spcPts val="1219"/>
                </a:lnSpc>
              </a:pPr>
              <a:r>
                <a:rPr lang="en-US" b="true" sz="1011">
                  <a:solidFill>
                    <a:srgbClr val="000000"/>
                  </a:solidFill>
                  <a:latin typeface="Helvetica World Bold"/>
                  <a:ea typeface="Helvetica World Bold"/>
                  <a:cs typeface="Helvetica World Bold"/>
                  <a:sym typeface="Helvetica World Bold"/>
                </a:rPr>
                <a:t>Monitoring of intergranular variables for predicting technical breakage of wheat grains stored in vertical silos</a:t>
              </a:r>
            </a:p>
            <a:p>
              <a:pPr algn="l" rtl="true">
                <a:lnSpc>
                  <a:spcPts val="1219"/>
                </a:lnSpc>
              </a:pPr>
            </a:p>
            <a:p>
              <a:pPr algn="l">
                <a:lnSpc>
                  <a:spcPts val="1219"/>
                </a:lnSpc>
              </a:pPr>
              <a:r>
                <a:rPr lang="en-US" b="true" sz="1011">
                  <a:solidFill>
                    <a:srgbClr val="000000"/>
                  </a:solidFill>
                  <a:latin typeface="Helvetica World Bold"/>
                  <a:ea typeface="Helvetica World Bold"/>
                  <a:cs typeface="Helvetica World Bold"/>
                  <a:sym typeface="Helvetica World Bold"/>
                </a:rPr>
                <a:t>Smart food grain storage system using Internet of Things (IoT): A Review</a:t>
              </a:r>
            </a:p>
          </p:txBody>
        </p:sp>
        <p:sp>
          <p:nvSpPr>
            <p:cNvPr name="TextBox 47" id="47"/>
            <p:cNvSpPr txBox="true"/>
            <p:nvPr/>
          </p:nvSpPr>
          <p:spPr>
            <a:xfrm rot="0">
              <a:off x="1127142" y="1024512"/>
              <a:ext cx="4379174" cy="731905"/>
            </a:xfrm>
            <a:prstGeom prst="rect">
              <a:avLst/>
            </a:prstGeom>
          </p:spPr>
          <p:txBody>
            <a:bodyPr anchor="t" rtlCol="false" tIns="0" lIns="0" bIns="0" rIns="0">
              <a:spAutoFit/>
            </a:bodyPr>
            <a:lstStyle/>
            <a:p>
              <a:pPr algn="l">
                <a:lnSpc>
                  <a:spcPts val="1219"/>
                </a:lnSpc>
              </a:pPr>
              <a:r>
                <a:rPr lang="en-US" b="true" sz="1011">
                  <a:solidFill>
                    <a:srgbClr val="000000"/>
                  </a:solidFill>
                  <a:latin typeface="Helvetica World Bold"/>
                  <a:ea typeface="Helvetica World Bold"/>
                  <a:cs typeface="Helvetica World Bold"/>
                  <a:sym typeface="Helvetica World Bold"/>
                </a:rPr>
                <a:t>Applications of new technologies for monitoring and predicting grains quality stored: Sensors, Internet of Things, and Artificial Intelligence</a:t>
              </a:r>
            </a:p>
          </p:txBody>
        </p:sp>
        <p:sp>
          <p:nvSpPr>
            <p:cNvPr name="TextBox 48" id="48"/>
            <p:cNvSpPr txBox="true"/>
            <p:nvPr/>
          </p:nvSpPr>
          <p:spPr>
            <a:xfrm rot="0">
              <a:off x="1127142" y="9116135"/>
              <a:ext cx="4515302" cy="731905"/>
            </a:xfrm>
            <a:prstGeom prst="rect">
              <a:avLst/>
            </a:prstGeom>
          </p:spPr>
          <p:txBody>
            <a:bodyPr anchor="t" rtlCol="false" tIns="0" lIns="0" bIns="0" rIns="0">
              <a:spAutoFit/>
            </a:bodyPr>
            <a:lstStyle/>
            <a:p>
              <a:pPr algn="l">
                <a:lnSpc>
                  <a:spcPts val="1219"/>
                </a:lnSpc>
              </a:pPr>
              <a:r>
                <a:rPr lang="en-US" b="true" sz="1011">
                  <a:solidFill>
                    <a:srgbClr val="000000"/>
                  </a:solidFill>
                  <a:latin typeface="Helvetica World Bold"/>
                  <a:ea typeface="Helvetica World Bold"/>
                  <a:cs typeface="Helvetica World Bold"/>
                  <a:sym typeface="Helvetica World Bold"/>
                </a:rPr>
                <a:t>Monitoring and predicting corn grain quality on the transport and post-harvest operations in storage units using sensors and machine learning models</a:t>
              </a:r>
            </a:p>
          </p:txBody>
        </p:sp>
        <p:sp>
          <p:nvSpPr>
            <p:cNvPr name="TextBox 49" id="49"/>
            <p:cNvSpPr txBox="true"/>
            <p:nvPr/>
          </p:nvSpPr>
          <p:spPr>
            <a:xfrm rot="0">
              <a:off x="1127142" y="2015324"/>
              <a:ext cx="4670488" cy="525491"/>
            </a:xfrm>
            <a:prstGeom prst="rect">
              <a:avLst/>
            </a:prstGeom>
          </p:spPr>
          <p:txBody>
            <a:bodyPr anchor="t" rtlCol="false" tIns="0" lIns="0" bIns="0" rIns="0">
              <a:spAutoFit/>
            </a:bodyPr>
            <a:lstStyle/>
            <a:p>
              <a:pPr algn="l">
                <a:lnSpc>
                  <a:spcPts val="1219"/>
                </a:lnSpc>
              </a:pPr>
              <a:r>
                <a:rPr lang="en-US" b="true" sz="1011">
                  <a:solidFill>
                    <a:srgbClr val="000000"/>
                  </a:solidFill>
                  <a:latin typeface="Helvetica World Bold"/>
                  <a:ea typeface="Helvetica World Bold"/>
                  <a:cs typeface="Helvetica World Bold"/>
                  <a:sym typeface="Helvetica World Bold"/>
                </a:rPr>
                <a:t>Automated food grain monitoring system for warehouse using IOT</a:t>
              </a:r>
            </a:p>
          </p:txBody>
        </p:sp>
        <p:sp>
          <p:nvSpPr>
            <p:cNvPr name="TextBox 50" id="50"/>
            <p:cNvSpPr txBox="true"/>
            <p:nvPr/>
          </p:nvSpPr>
          <p:spPr>
            <a:xfrm rot="0">
              <a:off x="1127142" y="3006136"/>
              <a:ext cx="4725540" cy="1516303"/>
            </a:xfrm>
            <a:prstGeom prst="rect">
              <a:avLst/>
            </a:prstGeom>
          </p:spPr>
          <p:txBody>
            <a:bodyPr anchor="t" rtlCol="false" tIns="0" lIns="0" bIns="0" rIns="0">
              <a:spAutoFit/>
            </a:bodyPr>
            <a:lstStyle/>
            <a:p>
              <a:pPr algn="l">
                <a:lnSpc>
                  <a:spcPts val="1219"/>
                </a:lnSpc>
              </a:pPr>
              <a:r>
                <a:rPr lang="en-US" b="true" sz="1011">
                  <a:solidFill>
                    <a:srgbClr val="000000"/>
                  </a:solidFill>
                  <a:latin typeface="Helvetica World Bold"/>
                  <a:ea typeface="Helvetica World Bold"/>
                  <a:cs typeface="Helvetica World Bold"/>
                  <a:sym typeface="Helvetica World Bold"/>
                </a:rPr>
                <a:t>Prototype wireless sensor network and Internet of</a:t>
              </a:r>
            </a:p>
            <a:p>
              <a:pPr algn="l">
                <a:lnSpc>
                  <a:spcPts val="1219"/>
                </a:lnSpc>
              </a:pPr>
              <a:r>
                <a:rPr lang="en-US" b="true" sz="1011">
                  <a:solidFill>
                    <a:srgbClr val="000000"/>
                  </a:solidFill>
                  <a:latin typeface="Helvetica World Bold"/>
                  <a:ea typeface="Helvetica World Bold"/>
                  <a:cs typeface="Helvetica World Bold"/>
                  <a:sym typeface="Helvetica World Bold"/>
                </a:rPr>
                <a:t>Things platform for real-time monitoring of intergranular equilibrium moisture content and predict the quality</a:t>
              </a:r>
            </a:p>
            <a:p>
              <a:pPr algn="l">
                <a:lnSpc>
                  <a:spcPts val="1219"/>
                </a:lnSpc>
              </a:pPr>
              <a:r>
                <a:rPr lang="en-US" b="true" sz="1011">
                  <a:solidFill>
                    <a:srgbClr val="000000"/>
                  </a:solidFill>
                  <a:latin typeface="Helvetica World Bold"/>
                  <a:ea typeface="Helvetica World Bold"/>
                  <a:cs typeface="Helvetica World Bold"/>
                  <a:sym typeface="Helvetica World Bold"/>
                </a:rPr>
                <a:t>corn stored in silos bags</a:t>
              </a:r>
            </a:p>
            <a:p>
              <a:pPr algn="l" rtl="true">
                <a:lnSpc>
                  <a:spcPts val="1219"/>
                </a:lnSpc>
              </a:pPr>
            </a:p>
            <a:p>
              <a:pPr algn="l">
                <a:lnSpc>
                  <a:spcPts val="1219"/>
                </a:lnSpc>
              </a:pPr>
              <a:r>
                <a:rPr lang="en-US" b="true" sz="1011">
                  <a:solidFill>
                    <a:srgbClr val="000000"/>
                  </a:solidFill>
                  <a:latin typeface="Helvetica World Bold"/>
                  <a:ea typeface="Helvetica World Bold"/>
                  <a:cs typeface="Helvetica World Bold"/>
                  <a:sym typeface="Helvetica World Bold"/>
                </a:rPr>
                <a:t>Real-time equilibrium moisture content monitoring to predict grain quality of corn stored in silo and raffia bags</a:t>
              </a:r>
            </a:p>
          </p:txBody>
        </p:sp>
      </p:grpSp>
      <p:sp>
        <p:nvSpPr>
          <p:cNvPr name="TextBox 51" id="51"/>
          <p:cNvSpPr txBox="true"/>
          <p:nvPr/>
        </p:nvSpPr>
        <p:spPr>
          <a:xfrm rot="0">
            <a:off x="6190833" y="-85725"/>
            <a:ext cx="5906334" cy="778510"/>
          </a:xfrm>
          <a:prstGeom prst="rect">
            <a:avLst/>
          </a:prstGeom>
        </p:spPr>
        <p:txBody>
          <a:bodyPr anchor="t" rtlCol="false" tIns="0" lIns="0" bIns="0" rIns="0">
            <a:spAutoFit/>
          </a:bodyPr>
          <a:lstStyle/>
          <a:p>
            <a:pPr algn="ctr">
              <a:lnSpc>
                <a:spcPts val="6440"/>
              </a:lnSpc>
            </a:pPr>
            <a:r>
              <a:rPr lang="en-US" sz="4600" b="true">
                <a:solidFill>
                  <a:srgbClr val="000000"/>
                </a:solidFill>
                <a:latin typeface="Canva Sans Bold"/>
                <a:ea typeface="Canva Sans Bold"/>
                <a:cs typeface="Canva Sans Bold"/>
                <a:sym typeface="Canva Sans Bold"/>
              </a:rPr>
              <a:t>LITERATURE REVIEW</a:t>
            </a:r>
          </a:p>
        </p:txBody>
      </p:sp>
      <p:sp>
        <p:nvSpPr>
          <p:cNvPr name="Freeform 52" id="52"/>
          <p:cNvSpPr/>
          <p:nvPr/>
        </p:nvSpPr>
        <p:spPr>
          <a:xfrm flipH="true" flipV="true" rot="0">
            <a:off x="17162529" y="9161529"/>
            <a:ext cx="1125471" cy="1125471"/>
          </a:xfrm>
          <a:custGeom>
            <a:avLst/>
            <a:gdLst/>
            <a:ahLst/>
            <a:cxnLst/>
            <a:rect r="r" b="b" t="t" l="l"/>
            <a:pathLst>
              <a:path h="1125471" w="1125471">
                <a:moveTo>
                  <a:pt x="1125471" y="1125471"/>
                </a:moveTo>
                <a:lnTo>
                  <a:pt x="0" y="1125471"/>
                </a:lnTo>
                <a:lnTo>
                  <a:pt x="0" y="0"/>
                </a:lnTo>
                <a:lnTo>
                  <a:pt x="1125471" y="0"/>
                </a:lnTo>
                <a:lnTo>
                  <a:pt x="1125471" y="112547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3" id="53"/>
          <p:cNvSpPr/>
          <p:nvPr/>
        </p:nvSpPr>
        <p:spPr>
          <a:xfrm flipH="true" flipV="true" rot="-10800000">
            <a:off x="0" y="0"/>
            <a:ext cx="1649921" cy="1649921"/>
          </a:xfrm>
          <a:custGeom>
            <a:avLst/>
            <a:gdLst/>
            <a:ahLst/>
            <a:cxnLst/>
            <a:rect r="r" b="b" t="t" l="l"/>
            <a:pathLst>
              <a:path h="1649921" w="1649921">
                <a:moveTo>
                  <a:pt x="1649921" y="1649921"/>
                </a:moveTo>
                <a:lnTo>
                  <a:pt x="0" y="1649921"/>
                </a:lnTo>
                <a:lnTo>
                  <a:pt x="0" y="0"/>
                </a:lnTo>
                <a:lnTo>
                  <a:pt x="1649921" y="0"/>
                </a:lnTo>
                <a:lnTo>
                  <a:pt x="1649921" y="1649921"/>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77" r="0" b="-9277"/>
            </a:stretch>
          </a:blipFill>
        </p:spPr>
      </p:sp>
      <p:sp>
        <p:nvSpPr>
          <p:cNvPr name="TextBox 3" id="3"/>
          <p:cNvSpPr txBox="true"/>
          <p:nvPr/>
        </p:nvSpPr>
        <p:spPr>
          <a:xfrm rot="0">
            <a:off x="-2382513" y="1152196"/>
            <a:ext cx="9401982" cy="679191"/>
          </a:xfrm>
          <a:prstGeom prst="rect">
            <a:avLst/>
          </a:prstGeom>
        </p:spPr>
        <p:txBody>
          <a:bodyPr anchor="t" rtlCol="false" tIns="0" lIns="0" bIns="0" rIns="0">
            <a:spAutoFit/>
          </a:bodyPr>
          <a:lstStyle/>
          <a:p>
            <a:pPr algn="ctr">
              <a:lnSpc>
                <a:spcPts val="5614"/>
              </a:lnSpc>
            </a:pPr>
          </a:p>
        </p:txBody>
      </p:sp>
      <p:sp>
        <p:nvSpPr>
          <p:cNvPr name="TextBox 4" id="4"/>
          <p:cNvSpPr txBox="true"/>
          <p:nvPr/>
        </p:nvSpPr>
        <p:spPr>
          <a:xfrm rot="0">
            <a:off x="294387" y="3458189"/>
            <a:ext cx="17699226" cy="3322998"/>
          </a:xfrm>
          <a:prstGeom prst="rect">
            <a:avLst/>
          </a:prstGeom>
        </p:spPr>
        <p:txBody>
          <a:bodyPr anchor="t" rtlCol="false" tIns="0" lIns="0" bIns="0" rIns="0">
            <a:spAutoFit/>
          </a:bodyPr>
          <a:lstStyle/>
          <a:p>
            <a:pPr algn="just">
              <a:lnSpc>
                <a:spcPts val="3833"/>
              </a:lnSpc>
            </a:pPr>
            <a:r>
              <a:rPr lang="en-US" sz="2738" b="true">
                <a:solidFill>
                  <a:srgbClr val="000000"/>
                </a:solidFill>
                <a:latin typeface="Canva Sans Bold"/>
                <a:ea typeface="Canva Sans Bold"/>
                <a:cs typeface="Canva Sans Bold"/>
                <a:sym typeface="Canva Sans Bold"/>
              </a:rPr>
              <a:t>Existing journal papers mainly focus on maize grain monitoring, anomaly detection, or advanced research technologies such as Electronic Nose systems. Most of these works do not provide a low-cost AI-enabled monitoring solution for Public Distribution System (PDS) warehouses. Our proposed project fills this gap by developing an ESP32-based IoT prototype that monitors temperature, humidity, grain moisture, and air quality, while an AI model predicts the storage condition as Safe, Moderate Risk, or High Risk and displays real-time alerts on an IoT dashboard. This makes the proposed system practical, affordable, and suitable for PDS warehouse management.</a:t>
            </a:r>
          </a:p>
        </p:txBody>
      </p:sp>
      <p:sp>
        <p:nvSpPr>
          <p:cNvPr name="TextBox 5" id="5"/>
          <p:cNvSpPr txBox="true"/>
          <p:nvPr/>
        </p:nvSpPr>
        <p:spPr>
          <a:xfrm rot="0">
            <a:off x="5080519" y="1142671"/>
            <a:ext cx="8126963" cy="815050"/>
          </a:xfrm>
          <a:prstGeom prst="rect">
            <a:avLst/>
          </a:prstGeom>
        </p:spPr>
        <p:txBody>
          <a:bodyPr anchor="t" rtlCol="false" tIns="0" lIns="0" bIns="0" rIns="0">
            <a:spAutoFit/>
          </a:bodyPr>
          <a:lstStyle/>
          <a:p>
            <a:pPr algn="ctr">
              <a:lnSpc>
                <a:spcPts val="6713"/>
              </a:lnSpc>
            </a:pPr>
            <a:r>
              <a:rPr lang="en-US" sz="4795" b="true">
                <a:solidFill>
                  <a:srgbClr val="000000"/>
                </a:solidFill>
                <a:latin typeface="Canva Sans Bold"/>
                <a:ea typeface="Canva Sans Bold"/>
                <a:cs typeface="Canva Sans Bold"/>
                <a:sym typeface="Canva Sans Bold"/>
              </a:rPr>
              <a:t>RESEARCH GAP</a:t>
            </a:r>
          </a:p>
        </p:txBody>
      </p:sp>
      <p:sp>
        <p:nvSpPr>
          <p:cNvPr name="Freeform 6" id="6"/>
          <p:cNvSpPr/>
          <p:nvPr/>
        </p:nvSpPr>
        <p:spPr>
          <a:xfrm flipH="true" flipV="true" rot="0">
            <a:off x="15403437" y="7402437"/>
            <a:ext cx="2884563" cy="2884563"/>
          </a:xfrm>
          <a:custGeom>
            <a:avLst/>
            <a:gdLst/>
            <a:ahLst/>
            <a:cxnLst/>
            <a:rect r="r" b="b" t="t" l="l"/>
            <a:pathLst>
              <a:path h="2884563" w="2884563">
                <a:moveTo>
                  <a:pt x="2884563" y="2884563"/>
                </a:moveTo>
                <a:lnTo>
                  <a:pt x="0" y="2884563"/>
                </a:lnTo>
                <a:lnTo>
                  <a:pt x="0" y="0"/>
                </a:lnTo>
                <a:lnTo>
                  <a:pt x="2884563" y="0"/>
                </a:lnTo>
                <a:lnTo>
                  <a:pt x="2884563" y="2884563"/>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true" rot="-10800000">
            <a:off x="0" y="0"/>
            <a:ext cx="2657884" cy="2657884"/>
          </a:xfrm>
          <a:custGeom>
            <a:avLst/>
            <a:gdLst/>
            <a:ahLst/>
            <a:cxnLst/>
            <a:rect r="r" b="b" t="t" l="l"/>
            <a:pathLst>
              <a:path h="2657884" w="2657884">
                <a:moveTo>
                  <a:pt x="2657884" y="2657884"/>
                </a:moveTo>
                <a:lnTo>
                  <a:pt x="0" y="2657884"/>
                </a:lnTo>
                <a:lnTo>
                  <a:pt x="0" y="0"/>
                </a:lnTo>
                <a:lnTo>
                  <a:pt x="2657884" y="0"/>
                </a:lnTo>
                <a:lnTo>
                  <a:pt x="2657884" y="2657884"/>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77" r="0" b="-9277"/>
            </a:stretch>
          </a:blipFill>
        </p:spPr>
      </p:sp>
      <p:sp>
        <p:nvSpPr>
          <p:cNvPr name="TextBox 3" id="3"/>
          <p:cNvSpPr txBox="true"/>
          <p:nvPr/>
        </p:nvSpPr>
        <p:spPr>
          <a:xfrm rot="0">
            <a:off x="-2382513" y="1152196"/>
            <a:ext cx="9401982" cy="679191"/>
          </a:xfrm>
          <a:prstGeom prst="rect">
            <a:avLst/>
          </a:prstGeom>
        </p:spPr>
        <p:txBody>
          <a:bodyPr anchor="t" rtlCol="false" tIns="0" lIns="0" bIns="0" rIns="0">
            <a:spAutoFit/>
          </a:bodyPr>
          <a:lstStyle/>
          <a:p>
            <a:pPr algn="ctr">
              <a:lnSpc>
                <a:spcPts val="5614"/>
              </a:lnSpc>
            </a:pPr>
          </a:p>
        </p:txBody>
      </p:sp>
      <p:sp>
        <p:nvSpPr>
          <p:cNvPr name="TextBox 4" id="4"/>
          <p:cNvSpPr txBox="true"/>
          <p:nvPr/>
        </p:nvSpPr>
        <p:spPr>
          <a:xfrm rot="0">
            <a:off x="258957" y="1910096"/>
            <a:ext cx="17770085" cy="5830435"/>
          </a:xfrm>
          <a:prstGeom prst="rect">
            <a:avLst/>
          </a:prstGeom>
        </p:spPr>
        <p:txBody>
          <a:bodyPr anchor="t" rtlCol="false" tIns="0" lIns="0" bIns="0" rIns="0">
            <a:spAutoFit/>
          </a:bodyPr>
          <a:lstStyle/>
          <a:p>
            <a:pPr algn="l">
              <a:lnSpc>
                <a:spcPts val="3848"/>
              </a:lnSpc>
            </a:pPr>
          </a:p>
          <a:p>
            <a:pPr algn="just">
              <a:lnSpc>
                <a:spcPts val="3848"/>
              </a:lnSpc>
            </a:pPr>
          </a:p>
          <a:p>
            <a:pPr algn="just">
              <a:lnSpc>
                <a:spcPts val="3848"/>
              </a:lnSpc>
            </a:pPr>
            <a:r>
              <a:rPr lang="en-US" sz="2749" b="true">
                <a:solidFill>
                  <a:srgbClr val="000000"/>
                </a:solidFill>
                <a:latin typeface="Canva Sans Bold"/>
                <a:ea typeface="Canva Sans Bold"/>
                <a:cs typeface="Canva Sans Bold"/>
                <a:sym typeface="Canva Sans Bold"/>
              </a:rPr>
              <a:t>The existing grain storage system mainly depends on manual inspection and traditional monitoring methods. Farmers and warehouse workers check the grain condition periodically, which is time-consuming and may not detect spoilage at an early stage.</a:t>
            </a:r>
          </a:p>
          <a:p>
            <a:pPr algn="just">
              <a:lnSpc>
                <a:spcPts val="3848"/>
              </a:lnSpc>
            </a:pPr>
          </a:p>
          <a:p>
            <a:pPr algn="l" marL="593537" indent="-296769" lvl="1">
              <a:lnSpc>
                <a:spcPts val="3848"/>
              </a:lnSpc>
              <a:buFont typeface="Arial"/>
              <a:buChar char="•"/>
            </a:pPr>
            <a:r>
              <a:rPr lang="en-US" b="true" sz="2749">
                <a:solidFill>
                  <a:srgbClr val="000000"/>
                </a:solidFill>
                <a:latin typeface="Canva Sans Bold"/>
                <a:ea typeface="Canva Sans Bold"/>
                <a:cs typeface="Canva Sans Bold"/>
                <a:sym typeface="Canva Sans Bold"/>
              </a:rPr>
              <a:t>Grain quality is monitored manually by workers.</a:t>
            </a:r>
          </a:p>
          <a:p>
            <a:pPr algn="l" marL="593537" indent="-296769" lvl="1">
              <a:lnSpc>
                <a:spcPts val="3848"/>
              </a:lnSpc>
              <a:buFont typeface="Arial"/>
              <a:buChar char="•"/>
            </a:pPr>
            <a:r>
              <a:rPr lang="en-US" b="true" sz="2749">
                <a:solidFill>
                  <a:srgbClr val="000000"/>
                </a:solidFill>
                <a:latin typeface="Canva Sans Bold"/>
                <a:ea typeface="Canva Sans Bold"/>
                <a:cs typeface="Canva Sans Bold"/>
                <a:sym typeface="Canva Sans Bold"/>
              </a:rPr>
              <a:t>Temperature and humidity are not monitored continuously.</a:t>
            </a:r>
          </a:p>
          <a:p>
            <a:pPr algn="l" marL="593537" indent="-296769" lvl="1">
              <a:lnSpc>
                <a:spcPts val="3848"/>
              </a:lnSpc>
              <a:buFont typeface="Arial"/>
              <a:buChar char="•"/>
            </a:pPr>
            <a:r>
              <a:rPr lang="en-US" b="true" sz="2749">
                <a:solidFill>
                  <a:srgbClr val="000000"/>
                </a:solidFill>
                <a:latin typeface="Canva Sans Bold"/>
                <a:ea typeface="Canva Sans Bold"/>
                <a:cs typeface="Canva Sans Bold"/>
                <a:sym typeface="Canva Sans Bold"/>
              </a:rPr>
              <a:t> Spoilage gases cannot be detected in real time.</a:t>
            </a:r>
          </a:p>
          <a:p>
            <a:pPr algn="l" marL="593537" indent="-296769" lvl="1">
              <a:lnSpc>
                <a:spcPts val="3848"/>
              </a:lnSpc>
              <a:buFont typeface="Arial"/>
              <a:buChar char="•"/>
            </a:pPr>
            <a:r>
              <a:rPr lang="en-US" b="true" sz="2749">
                <a:solidFill>
                  <a:srgbClr val="000000"/>
                </a:solidFill>
                <a:latin typeface="Canva Sans Bold"/>
                <a:ea typeface="Canva Sans Bold"/>
                <a:cs typeface="Canva Sans Bold"/>
                <a:sym typeface="Canva Sans Bold"/>
              </a:rPr>
              <a:t>High moisture levels may lead to fungal growth and grain damage.</a:t>
            </a:r>
          </a:p>
          <a:p>
            <a:pPr algn="l" marL="593537" indent="-296769" lvl="1">
              <a:lnSpc>
                <a:spcPts val="3848"/>
              </a:lnSpc>
              <a:buFont typeface="Arial"/>
              <a:buChar char="•"/>
            </a:pPr>
            <a:r>
              <a:rPr lang="en-US" b="true" sz="2749">
                <a:solidFill>
                  <a:srgbClr val="000000"/>
                </a:solidFill>
                <a:latin typeface="Canva Sans Bold"/>
                <a:ea typeface="Canva Sans Bold"/>
                <a:cs typeface="Canva Sans Bold"/>
                <a:sym typeface="Canva Sans Bold"/>
              </a:rPr>
              <a:t>There is no automatic alert or prediction system.</a:t>
            </a:r>
          </a:p>
          <a:p>
            <a:pPr algn="l" marL="593537" indent="-296769" lvl="1">
              <a:lnSpc>
                <a:spcPts val="3848"/>
              </a:lnSpc>
              <a:buFont typeface="Arial"/>
              <a:buChar char="•"/>
            </a:pPr>
            <a:r>
              <a:rPr lang="en-US" b="true" sz="2749">
                <a:solidFill>
                  <a:srgbClr val="000000"/>
                </a:solidFill>
                <a:latin typeface="Canva Sans Bold"/>
                <a:ea typeface="Canva Sans Bold"/>
                <a:cs typeface="Canva Sans Bold"/>
                <a:sym typeface="Canva Sans Bold"/>
              </a:rPr>
              <a:t> Traditional methods increase the risk of grain spoilage and food loss.</a:t>
            </a:r>
          </a:p>
        </p:txBody>
      </p:sp>
      <p:sp>
        <p:nvSpPr>
          <p:cNvPr name="TextBox 5" id="5"/>
          <p:cNvSpPr txBox="true"/>
          <p:nvPr/>
        </p:nvSpPr>
        <p:spPr>
          <a:xfrm rot="0">
            <a:off x="5080519" y="1142671"/>
            <a:ext cx="8126963" cy="815050"/>
          </a:xfrm>
          <a:prstGeom prst="rect">
            <a:avLst/>
          </a:prstGeom>
        </p:spPr>
        <p:txBody>
          <a:bodyPr anchor="t" rtlCol="false" tIns="0" lIns="0" bIns="0" rIns="0">
            <a:spAutoFit/>
          </a:bodyPr>
          <a:lstStyle/>
          <a:p>
            <a:pPr algn="ctr">
              <a:lnSpc>
                <a:spcPts val="6713"/>
              </a:lnSpc>
            </a:pPr>
            <a:r>
              <a:rPr lang="en-US" sz="4795" b="true">
                <a:solidFill>
                  <a:srgbClr val="000000"/>
                </a:solidFill>
                <a:latin typeface="Canva Sans Bold"/>
                <a:ea typeface="Canva Sans Bold"/>
                <a:cs typeface="Canva Sans Bold"/>
                <a:sym typeface="Canva Sans Bold"/>
              </a:rPr>
              <a:t>EXISTING SYSTEM</a:t>
            </a:r>
          </a:p>
        </p:txBody>
      </p:sp>
      <p:sp>
        <p:nvSpPr>
          <p:cNvPr name="Freeform 6" id="6"/>
          <p:cNvSpPr/>
          <p:nvPr/>
        </p:nvSpPr>
        <p:spPr>
          <a:xfrm flipH="true" flipV="true" rot="0">
            <a:off x="15403437" y="7402437"/>
            <a:ext cx="2884563" cy="2884563"/>
          </a:xfrm>
          <a:custGeom>
            <a:avLst/>
            <a:gdLst/>
            <a:ahLst/>
            <a:cxnLst/>
            <a:rect r="r" b="b" t="t" l="l"/>
            <a:pathLst>
              <a:path h="2884563" w="2884563">
                <a:moveTo>
                  <a:pt x="2884563" y="2884563"/>
                </a:moveTo>
                <a:lnTo>
                  <a:pt x="0" y="2884563"/>
                </a:lnTo>
                <a:lnTo>
                  <a:pt x="0" y="0"/>
                </a:lnTo>
                <a:lnTo>
                  <a:pt x="2884563" y="0"/>
                </a:lnTo>
                <a:lnTo>
                  <a:pt x="2884563" y="2884563"/>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true" rot="-10800000">
            <a:off x="0" y="0"/>
            <a:ext cx="2657884" cy="2657884"/>
          </a:xfrm>
          <a:custGeom>
            <a:avLst/>
            <a:gdLst/>
            <a:ahLst/>
            <a:cxnLst/>
            <a:rect r="r" b="b" t="t" l="l"/>
            <a:pathLst>
              <a:path h="2657884" w="2657884">
                <a:moveTo>
                  <a:pt x="2657884" y="2657884"/>
                </a:moveTo>
                <a:lnTo>
                  <a:pt x="0" y="2657884"/>
                </a:lnTo>
                <a:lnTo>
                  <a:pt x="0" y="0"/>
                </a:lnTo>
                <a:lnTo>
                  <a:pt x="2657884" y="0"/>
                </a:lnTo>
                <a:lnTo>
                  <a:pt x="2657884" y="2657884"/>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77" r="0" b="-9277"/>
            </a:stretch>
          </a:blipFill>
        </p:spPr>
      </p:sp>
      <p:sp>
        <p:nvSpPr>
          <p:cNvPr name="TextBox 3" id="3"/>
          <p:cNvSpPr txBox="true"/>
          <p:nvPr/>
        </p:nvSpPr>
        <p:spPr>
          <a:xfrm rot="0">
            <a:off x="-2382513" y="1152196"/>
            <a:ext cx="9401982" cy="679191"/>
          </a:xfrm>
          <a:prstGeom prst="rect">
            <a:avLst/>
          </a:prstGeom>
        </p:spPr>
        <p:txBody>
          <a:bodyPr anchor="t" rtlCol="false" tIns="0" lIns="0" bIns="0" rIns="0">
            <a:spAutoFit/>
          </a:bodyPr>
          <a:lstStyle/>
          <a:p>
            <a:pPr algn="ctr">
              <a:lnSpc>
                <a:spcPts val="5614"/>
              </a:lnSpc>
            </a:pPr>
          </a:p>
        </p:txBody>
      </p:sp>
      <p:sp>
        <p:nvSpPr>
          <p:cNvPr name="TextBox 4" id="4"/>
          <p:cNvSpPr txBox="true"/>
          <p:nvPr/>
        </p:nvSpPr>
        <p:spPr>
          <a:xfrm rot="0">
            <a:off x="5080519" y="580013"/>
            <a:ext cx="8672198" cy="811648"/>
          </a:xfrm>
          <a:prstGeom prst="rect">
            <a:avLst/>
          </a:prstGeom>
        </p:spPr>
        <p:txBody>
          <a:bodyPr anchor="t" rtlCol="false" tIns="0" lIns="0" bIns="0" rIns="0">
            <a:spAutoFit/>
          </a:bodyPr>
          <a:lstStyle/>
          <a:p>
            <a:pPr algn="ctr">
              <a:lnSpc>
                <a:spcPts val="6713"/>
              </a:lnSpc>
            </a:pPr>
            <a:r>
              <a:rPr lang="en-US" b="true" sz="4795">
                <a:solidFill>
                  <a:srgbClr val="000000"/>
                </a:solidFill>
                <a:latin typeface="Canva Sans Bold"/>
                <a:ea typeface="Canva Sans Bold"/>
                <a:cs typeface="Canva Sans Bold"/>
                <a:sym typeface="Canva Sans Bold"/>
              </a:rPr>
              <a:t>PROPOSED METHODOLOGY</a:t>
            </a:r>
          </a:p>
        </p:txBody>
      </p:sp>
      <p:sp>
        <p:nvSpPr>
          <p:cNvPr name="TextBox 5" id="5"/>
          <p:cNvSpPr txBox="true"/>
          <p:nvPr/>
        </p:nvSpPr>
        <p:spPr>
          <a:xfrm rot="0">
            <a:off x="2072766" y="1501316"/>
            <a:ext cx="14142468" cy="8865361"/>
          </a:xfrm>
          <a:prstGeom prst="rect">
            <a:avLst/>
          </a:prstGeom>
        </p:spPr>
        <p:txBody>
          <a:bodyPr anchor="t" rtlCol="false" tIns="0" lIns="0" bIns="0" rIns="0">
            <a:spAutoFit/>
          </a:bodyPr>
          <a:lstStyle/>
          <a:p>
            <a:pPr algn="just">
              <a:lnSpc>
                <a:spcPts val="2233"/>
              </a:lnSpc>
            </a:pPr>
            <a:r>
              <a:rPr lang="en-US" sz="1595" b="true">
                <a:solidFill>
                  <a:srgbClr val="000000"/>
                </a:solidFill>
                <a:latin typeface="Canva Sans Bold"/>
                <a:ea typeface="Canva Sans Bold"/>
                <a:cs typeface="Canva Sans Bold"/>
                <a:sym typeface="Canva Sans Bold"/>
              </a:rPr>
              <a:t>Stage 1 – Grain Storage Monitoring</a:t>
            </a:r>
          </a:p>
          <a:p>
            <a:pPr algn="just">
              <a:lnSpc>
                <a:spcPts val="2233"/>
              </a:lnSpc>
            </a:pPr>
            <a:r>
              <a:rPr lang="en-US" sz="1595" b="true">
                <a:solidFill>
                  <a:srgbClr val="000000"/>
                </a:solidFill>
                <a:latin typeface="Canva Sans Bold"/>
                <a:ea typeface="Canva Sans Bold"/>
                <a:cs typeface="Canva Sans Bold"/>
                <a:sym typeface="Canva Sans Bold"/>
              </a:rPr>
              <a:t> In PDS warehouses, the storage conditions of rice, wheat, and pulses are continuously monitored to maintain grain quality and safety.</a:t>
            </a:r>
          </a:p>
          <a:p>
            <a:pPr algn="just">
              <a:lnSpc>
                <a:spcPts val="2233"/>
              </a:lnSpc>
            </a:pPr>
          </a:p>
          <a:p>
            <a:pPr algn="just">
              <a:lnSpc>
                <a:spcPts val="2233"/>
              </a:lnSpc>
            </a:pPr>
            <a:r>
              <a:rPr lang="en-US" sz="1595" b="true">
                <a:solidFill>
                  <a:srgbClr val="000000"/>
                </a:solidFill>
                <a:latin typeface="Canva Sans Bold"/>
                <a:ea typeface="Canva Sans Bold"/>
                <a:cs typeface="Canva Sans Bold"/>
                <a:sym typeface="Canva Sans Bold"/>
              </a:rPr>
              <a:t>Stage 2 – Sensor Data Collection</a:t>
            </a:r>
          </a:p>
          <a:p>
            <a:pPr algn="just" marL="344372" indent="-172186" lvl="1">
              <a:lnSpc>
                <a:spcPts val="2233"/>
              </a:lnSpc>
              <a:buFont typeface="Arial"/>
              <a:buChar char="•"/>
            </a:pPr>
            <a:r>
              <a:rPr lang="en-US" b="true" sz="1595">
                <a:solidFill>
                  <a:srgbClr val="000000"/>
                </a:solidFill>
                <a:latin typeface="Canva Sans Bold"/>
                <a:ea typeface="Canva Sans Bold"/>
                <a:cs typeface="Canva Sans Bold"/>
                <a:sym typeface="Canva Sans Bold"/>
              </a:rPr>
              <a:t>DHT22: Measures temperature and humidity.</a:t>
            </a:r>
          </a:p>
          <a:p>
            <a:pPr algn="just" marL="344372" indent="-172186" lvl="1">
              <a:lnSpc>
                <a:spcPts val="2233"/>
              </a:lnSpc>
              <a:buFont typeface="Arial"/>
              <a:buChar char="•"/>
            </a:pPr>
            <a:r>
              <a:rPr lang="en-US" b="true" sz="1595">
                <a:solidFill>
                  <a:srgbClr val="000000"/>
                </a:solidFill>
                <a:latin typeface="Canva Sans Bold"/>
                <a:ea typeface="Canva Sans Bold"/>
                <a:cs typeface="Canva Sans Bold"/>
                <a:sym typeface="Canva Sans Bold"/>
              </a:rPr>
              <a:t>Moisture Sensor: Measures grain moisture content.</a:t>
            </a:r>
          </a:p>
          <a:p>
            <a:pPr algn="just" marL="344372" indent="-172186" lvl="1">
              <a:lnSpc>
                <a:spcPts val="2233"/>
              </a:lnSpc>
              <a:buFont typeface="Arial"/>
              <a:buChar char="•"/>
            </a:pPr>
            <a:r>
              <a:rPr lang="en-US" b="true" sz="1595">
                <a:solidFill>
                  <a:srgbClr val="000000"/>
                </a:solidFill>
                <a:latin typeface="Canva Sans Bold"/>
                <a:ea typeface="Canva Sans Bold"/>
                <a:cs typeface="Canva Sans Bold"/>
                <a:sym typeface="Canva Sans Bold"/>
              </a:rPr>
              <a:t>MQ135: Detects air quality and harmful gases.</a:t>
            </a:r>
          </a:p>
          <a:p>
            <a:pPr algn="just" marL="344372" indent="-172186" lvl="1">
              <a:lnSpc>
                <a:spcPts val="2233"/>
              </a:lnSpc>
              <a:buFont typeface="Arial"/>
              <a:buChar char="•"/>
            </a:pPr>
          </a:p>
          <a:p>
            <a:pPr algn="just">
              <a:lnSpc>
                <a:spcPts val="2233"/>
              </a:lnSpc>
            </a:pPr>
            <a:r>
              <a:rPr lang="en-US" sz="1595" b="true">
                <a:solidFill>
                  <a:srgbClr val="000000"/>
                </a:solidFill>
                <a:latin typeface="Canva Sans Bold"/>
                <a:ea typeface="Canva Sans Bold"/>
                <a:cs typeface="Canva Sans Bold"/>
                <a:sym typeface="Canva Sans Bold"/>
              </a:rPr>
              <a:t>Stage 3 – ESP32 Processing</a:t>
            </a:r>
          </a:p>
          <a:p>
            <a:pPr algn="just">
              <a:lnSpc>
                <a:spcPts val="2233"/>
              </a:lnSpc>
            </a:pPr>
            <a:r>
              <a:rPr lang="en-US" sz="1595" b="true">
                <a:solidFill>
                  <a:srgbClr val="000000"/>
                </a:solidFill>
                <a:latin typeface="Canva Sans Bold"/>
                <a:ea typeface="Canva Sans Bold"/>
                <a:cs typeface="Canva Sans Bold"/>
                <a:sym typeface="Canva Sans Bold"/>
              </a:rPr>
              <a:t> The ESP32 microcontroller collects data from all sensors, performs initial processing and filtering, and prepares the data for transmission.</a:t>
            </a:r>
          </a:p>
          <a:p>
            <a:pPr algn="just">
              <a:lnSpc>
                <a:spcPts val="2233"/>
              </a:lnSpc>
            </a:pPr>
          </a:p>
          <a:p>
            <a:pPr algn="just">
              <a:lnSpc>
                <a:spcPts val="2233"/>
              </a:lnSpc>
            </a:pPr>
            <a:r>
              <a:rPr lang="en-US" sz="1595" b="true">
                <a:solidFill>
                  <a:srgbClr val="000000"/>
                </a:solidFill>
                <a:latin typeface="Canva Sans Bold"/>
                <a:ea typeface="Canva Sans Bold"/>
                <a:cs typeface="Canva Sans Bold"/>
                <a:sym typeface="Canva Sans Bold"/>
              </a:rPr>
              <a:t>Stage 4 – IoT Data Transmission</a:t>
            </a:r>
          </a:p>
          <a:p>
            <a:pPr algn="just">
              <a:lnSpc>
                <a:spcPts val="2349"/>
              </a:lnSpc>
            </a:pPr>
            <a:r>
              <a:rPr lang="en-US" sz="1678" b="true">
                <a:solidFill>
                  <a:srgbClr val="000000"/>
                </a:solidFill>
                <a:latin typeface="Canva Sans Bold"/>
                <a:ea typeface="Canva Sans Bold"/>
                <a:cs typeface="Canva Sans Bold"/>
                <a:sym typeface="Canva Sans Bold"/>
              </a:rPr>
              <a:t> The processed sensor data is transmitted through Wi-Fi to the cloud server and monitoring dashboard for real-time access.</a:t>
            </a:r>
          </a:p>
          <a:p>
            <a:pPr algn="just">
              <a:lnSpc>
                <a:spcPts val="2349"/>
              </a:lnSpc>
            </a:pPr>
          </a:p>
          <a:p>
            <a:pPr algn="just">
              <a:lnSpc>
                <a:spcPts val="2233"/>
              </a:lnSpc>
            </a:pPr>
            <a:r>
              <a:rPr lang="en-US" sz="1595" b="true">
                <a:solidFill>
                  <a:srgbClr val="000000"/>
                </a:solidFill>
                <a:latin typeface="Canva Sans Bold"/>
                <a:ea typeface="Canva Sans Bold"/>
                <a:cs typeface="Canva Sans Bold"/>
                <a:sym typeface="Canva Sans Bold"/>
              </a:rPr>
              <a:t>Stage 5 – AI Analysis</a:t>
            </a:r>
          </a:p>
          <a:p>
            <a:pPr algn="just">
              <a:lnSpc>
                <a:spcPts val="2233"/>
              </a:lnSpc>
            </a:pPr>
            <a:r>
              <a:rPr lang="en-US" sz="1595" b="true">
                <a:solidFill>
                  <a:srgbClr val="000000"/>
                </a:solidFill>
                <a:latin typeface="Canva Sans Bold"/>
                <a:ea typeface="Canva Sans Bold"/>
                <a:cs typeface="Canva Sans Bold"/>
                <a:sym typeface="Canva Sans Bold"/>
              </a:rPr>
              <a:t> A Python-based AI/ML model analyzes the incoming sensor data and identifies patterns associated with grain deterioration and spoilage.</a:t>
            </a:r>
          </a:p>
          <a:p>
            <a:pPr algn="just">
              <a:lnSpc>
                <a:spcPts val="2233"/>
              </a:lnSpc>
            </a:pPr>
          </a:p>
          <a:p>
            <a:pPr algn="just">
              <a:lnSpc>
                <a:spcPts val="2233"/>
              </a:lnSpc>
            </a:pPr>
            <a:r>
              <a:rPr lang="en-US" sz="1595" b="true">
                <a:solidFill>
                  <a:srgbClr val="000000"/>
                </a:solidFill>
                <a:latin typeface="Canva Sans Bold"/>
                <a:ea typeface="Canva Sans Bold"/>
                <a:cs typeface="Canva Sans Bold"/>
                <a:sym typeface="Canva Sans Bold"/>
              </a:rPr>
              <a:t>Stage 6 – Spoilage Risk Prediction</a:t>
            </a:r>
          </a:p>
          <a:p>
            <a:pPr algn="just">
              <a:lnSpc>
                <a:spcPts val="2233"/>
              </a:lnSpc>
            </a:pPr>
            <a:r>
              <a:rPr lang="en-US" sz="1595" b="true">
                <a:solidFill>
                  <a:srgbClr val="000000"/>
                </a:solidFill>
                <a:latin typeface="Canva Sans Bold"/>
                <a:ea typeface="Canva Sans Bold"/>
                <a:cs typeface="Canva Sans Bold"/>
                <a:sym typeface="Canva Sans Bold"/>
              </a:rPr>
              <a:t> The AI model classifies the storage condition into three risk levels:</a:t>
            </a:r>
          </a:p>
          <a:p>
            <a:pPr algn="just" marL="344372" indent="-172186" lvl="1">
              <a:lnSpc>
                <a:spcPts val="2233"/>
              </a:lnSpc>
              <a:buFont typeface="Arial"/>
              <a:buChar char="•"/>
            </a:pPr>
            <a:r>
              <a:rPr lang="en-US" b="true" sz="1595">
                <a:solidFill>
                  <a:srgbClr val="000000"/>
                </a:solidFill>
                <a:latin typeface="Canva Sans Bold"/>
                <a:ea typeface="Canva Sans Bold"/>
                <a:cs typeface="Canva Sans Bold"/>
                <a:sym typeface="Canva Sans Bold"/>
              </a:rPr>
              <a:t>Safe – Normal storage condition</a:t>
            </a:r>
          </a:p>
          <a:p>
            <a:pPr algn="just" marL="344372" indent="-172186" lvl="1">
              <a:lnSpc>
                <a:spcPts val="2233"/>
              </a:lnSpc>
              <a:buFont typeface="Arial"/>
              <a:buChar char="•"/>
            </a:pPr>
            <a:r>
              <a:rPr lang="en-US" b="true" sz="1595">
                <a:solidFill>
                  <a:srgbClr val="000000"/>
                </a:solidFill>
                <a:latin typeface="Canva Sans Bold"/>
                <a:ea typeface="Canva Sans Bold"/>
                <a:cs typeface="Canva Sans Bold"/>
                <a:sym typeface="Canva Sans Bold"/>
              </a:rPr>
              <a:t>Moderate Risk – Attention required</a:t>
            </a:r>
          </a:p>
          <a:p>
            <a:pPr algn="just" marL="344372" indent="-172186" lvl="1">
              <a:lnSpc>
                <a:spcPts val="2233"/>
              </a:lnSpc>
              <a:buFont typeface="Arial"/>
              <a:buChar char="•"/>
            </a:pPr>
            <a:r>
              <a:rPr lang="en-US" b="true" sz="1595">
                <a:solidFill>
                  <a:srgbClr val="000000"/>
                </a:solidFill>
                <a:latin typeface="Canva Sans Bold"/>
                <a:ea typeface="Canva Sans Bold"/>
                <a:cs typeface="Canva Sans Bold"/>
                <a:sym typeface="Canva Sans Bold"/>
              </a:rPr>
              <a:t>High Risk – Immediate action required</a:t>
            </a:r>
          </a:p>
          <a:p>
            <a:pPr algn="just" marL="344372" indent="-172186" lvl="1">
              <a:lnSpc>
                <a:spcPts val="2233"/>
              </a:lnSpc>
              <a:buFont typeface="Arial"/>
              <a:buChar char="•"/>
            </a:pPr>
          </a:p>
          <a:p>
            <a:pPr algn="just">
              <a:lnSpc>
                <a:spcPts val="2233"/>
              </a:lnSpc>
            </a:pPr>
            <a:r>
              <a:rPr lang="en-US" sz="1595" b="true">
                <a:solidFill>
                  <a:srgbClr val="000000"/>
                </a:solidFill>
                <a:latin typeface="Canva Sans Bold"/>
                <a:ea typeface="Canva Sans Bold"/>
                <a:cs typeface="Canva Sans Bold"/>
                <a:sym typeface="Canva Sans Bold"/>
              </a:rPr>
              <a:t>Stage 7 – Alert System</a:t>
            </a:r>
          </a:p>
          <a:p>
            <a:pPr algn="just">
              <a:lnSpc>
                <a:spcPts val="2233"/>
              </a:lnSpc>
            </a:pPr>
            <a:r>
              <a:rPr lang="en-US" sz="1595" b="true">
                <a:solidFill>
                  <a:srgbClr val="000000"/>
                </a:solidFill>
                <a:latin typeface="Canva Sans Bold"/>
                <a:ea typeface="Canva Sans Bold"/>
                <a:cs typeface="Canva Sans Bold"/>
                <a:sym typeface="Canva Sans Bold"/>
              </a:rPr>
              <a:t> Based on the predicted risk level, alerts are generated through:</a:t>
            </a:r>
          </a:p>
          <a:p>
            <a:pPr algn="just" marL="344372" indent="-172186" lvl="1">
              <a:lnSpc>
                <a:spcPts val="2233"/>
              </a:lnSpc>
              <a:buFont typeface="Arial"/>
              <a:buChar char="•"/>
            </a:pPr>
            <a:r>
              <a:rPr lang="en-US" b="true" sz="1595">
                <a:solidFill>
                  <a:srgbClr val="000000"/>
                </a:solidFill>
                <a:latin typeface="Canva Sans Bold"/>
                <a:ea typeface="Canva Sans Bold"/>
                <a:cs typeface="Canva Sans Bold"/>
                <a:sym typeface="Canva Sans Bold"/>
              </a:rPr>
              <a:t>LCD Display</a:t>
            </a:r>
          </a:p>
          <a:p>
            <a:pPr algn="just" marL="344372" indent="-172186" lvl="1">
              <a:lnSpc>
                <a:spcPts val="2233"/>
              </a:lnSpc>
              <a:buFont typeface="Arial"/>
              <a:buChar char="•"/>
            </a:pPr>
            <a:r>
              <a:rPr lang="en-US" b="true" sz="1595">
                <a:solidFill>
                  <a:srgbClr val="000000"/>
                </a:solidFill>
                <a:latin typeface="Canva Sans Bold"/>
                <a:ea typeface="Canva Sans Bold"/>
                <a:cs typeface="Canva Sans Bold"/>
                <a:sym typeface="Canva Sans Bold"/>
              </a:rPr>
              <a:t>LED Indicator</a:t>
            </a:r>
          </a:p>
          <a:p>
            <a:pPr algn="just" marL="344372" indent="-172186" lvl="1">
              <a:lnSpc>
                <a:spcPts val="2233"/>
              </a:lnSpc>
              <a:buFont typeface="Arial"/>
              <a:buChar char="•"/>
            </a:pPr>
            <a:r>
              <a:rPr lang="en-US" b="true" sz="1595">
                <a:solidFill>
                  <a:srgbClr val="000000"/>
                </a:solidFill>
                <a:latin typeface="Canva Sans Bold"/>
                <a:ea typeface="Canva Sans Bold"/>
                <a:cs typeface="Canva Sans Bold"/>
                <a:sym typeface="Canva Sans Bold"/>
              </a:rPr>
              <a:t>Buzzer Alarm</a:t>
            </a:r>
          </a:p>
          <a:p>
            <a:pPr algn="just" marL="344372" indent="-172186" lvl="1">
              <a:lnSpc>
                <a:spcPts val="2233"/>
              </a:lnSpc>
              <a:buFont typeface="Arial"/>
              <a:buChar char="•"/>
            </a:pPr>
            <a:r>
              <a:rPr lang="en-US" b="true" sz="1595">
                <a:solidFill>
                  <a:srgbClr val="000000"/>
                </a:solidFill>
                <a:latin typeface="Canva Sans Bold"/>
                <a:ea typeface="Canva Sans Bold"/>
                <a:cs typeface="Canva Sans Bold"/>
                <a:sym typeface="Canva Sans Bold"/>
              </a:rPr>
              <a:t>Web Dashboard / Mobile Application</a:t>
            </a:r>
          </a:p>
          <a:p>
            <a:pPr algn="just">
              <a:lnSpc>
                <a:spcPts val="2233"/>
              </a:lnSpc>
            </a:pPr>
            <a:r>
              <a:rPr lang="en-US" sz="1595" b="true">
                <a:solidFill>
                  <a:srgbClr val="000000"/>
                </a:solidFill>
                <a:latin typeface="Canva Sans Bold"/>
                <a:ea typeface="Canva Sans Bold"/>
                <a:cs typeface="Canva Sans Bold"/>
                <a:sym typeface="Canva Sans Bold"/>
              </a:rPr>
              <a:t>This methodology enables real-time monitoring, early spoilage-risk detection, timely alerts, and improved grain-storage management in PDS warehouses.</a:t>
            </a:r>
          </a:p>
          <a:p>
            <a:pPr algn="just">
              <a:lnSpc>
                <a:spcPts val="2233"/>
              </a:lnSpc>
            </a:pPr>
          </a:p>
        </p:txBody>
      </p:sp>
      <p:sp>
        <p:nvSpPr>
          <p:cNvPr name="Freeform 6" id="6"/>
          <p:cNvSpPr/>
          <p:nvPr/>
        </p:nvSpPr>
        <p:spPr>
          <a:xfrm flipH="true" flipV="true" rot="0">
            <a:off x="15884183" y="7883183"/>
            <a:ext cx="2403817" cy="2403817"/>
          </a:xfrm>
          <a:custGeom>
            <a:avLst/>
            <a:gdLst/>
            <a:ahLst/>
            <a:cxnLst/>
            <a:rect r="r" b="b" t="t" l="l"/>
            <a:pathLst>
              <a:path h="2403817" w="2403817">
                <a:moveTo>
                  <a:pt x="2403817" y="2403817"/>
                </a:moveTo>
                <a:lnTo>
                  <a:pt x="0" y="2403817"/>
                </a:lnTo>
                <a:lnTo>
                  <a:pt x="0" y="0"/>
                </a:lnTo>
                <a:lnTo>
                  <a:pt x="2403817" y="0"/>
                </a:lnTo>
                <a:lnTo>
                  <a:pt x="2403817" y="2403817"/>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true" rot="-10800000">
            <a:off x="0" y="0"/>
            <a:ext cx="2884563" cy="2884563"/>
          </a:xfrm>
          <a:custGeom>
            <a:avLst/>
            <a:gdLst/>
            <a:ahLst/>
            <a:cxnLst/>
            <a:rect r="r" b="b" t="t" l="l"/>
            <a:pathLst>
              <a:path h="2884563" w="2884563">
                <a:moveTo>
                  <a:pt x="2884563" y="2884563"/>
                </a:moveTo>
                <a:lnTo>
                  <a:pt x="0" y="2884563"/>
                </a:lnTo>
                <a:lnTo>
                  <a:pt x="0" y="0"/>
                </a:lnTo>
                <a:lnTo>
                  <a:pt x="2884563" y="0"/>
                </a:lnTo>
                <a:lnTo>
                  <a:pt x="2884563" y="2884563"/>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77" r="0" b="-9277"/>
            </a:stretch>
          </a:blipFill>
        </p:spPr>
      </p:sp>
      <p:sp>
        <p:nvSpPr>
          <p:cNvPr name="Freeform 3" id="3"/>
          <p:cNvSpPr/>
          <p:nvPr/>
        </p:nvSpPr>
        <p:spPr>
          <a:xfrm flipH="false" flipV="false" rot="0">
            <a:off x="5834336" y="1228396"/>
            <a:ext cx="5814225" cy="8734405"/>
          </a:xfrm>
          <a:custGeom>
            <a:avLst/>
            <a:gdLst/>
            <a:ahLst/>
            <a:cxnLst/>
            <a:rect r="r" b="b" t="t" l="l"/>
            <a:pathLst>
              <a:path h="8734405" w="5814225">
                <a:moveTo>
                  <a:pt x="0" y="0"/>
                </a:moveTo>
                <a:lnTo>
                  <a:pt x="5814225" y="0"/>
                </a:lnTo>
                <a:lnTo>
                  <a:pt x="5814225" y="8734405"/>
                </a:lnTo>
                <a:lnTo>
                  <a:pt x="0" y="8734405"/>
                </a:lnTo>
                <a:lnTo>
                  <a:pt x="0" y="0"/>
                </a:lnTo>
                <a:close/>
              </a:path>
            </a:pathLst>
          </a:custGeom>
          <a:blipFill>
            <a:blip r:embed="rId3"/>
            <a:stretch>
              <a:fillRect l="-9471" t="-141" r="-1703" b="-141"/>
            </a:stretch>
          </a:blipFill>
        </p:spPr>
      </p:sp>
      <p:sp>
        <p:nvSpPr>
          <p:cNvPr name="TextBox 4" id="4"/>
          <p:cNvSpPr txBox="true"/>
          <p:nvPr/>
        </p:nvSpPr>
        <p:spPr>
          <a:xfrm rot="0">
            <a:off x="-2382513" y="1152196"/>
            <a:ext cx="9401982" cy="679191"/>
          </a:xfrm>
          <a:prstGeom prst="rect">
            <a:avLst/>
          </a:prstGeom>
        </p:spPr>
        <p:txBody>
          <a:bodyPr anchor="t" rtlCol="false" tIns="0" lIns="0" bIns="0" rIns="0">
            <a:spAutoFit/>
          </a:bodyPr>
          <a:lstStyle/>
          <a:p>
            <a:pPr algn="ctr">
              <a:lnSpc>
                <a:spcPts val="5614"/>
              </a:lnSpc>
            </a:pPr>
          </a:p>
        </p:txBody>
      </p:sp>
      <p:sp>
        <p:nvSpPr>
          <p:cNvPr name="TextBox 5" id="5"/>
          <p:cNvSpPr txBox="true"/>
          <p:nvPr/>
        </p:nvSpPr>
        <p:spPr>
          <a:xfrm rot="0">
            <a:off x="5080519" y="213650"/>
            <a:ext cx="8126963" cy="815050"/>
          </a:xfrm>
          <a:prstGeom prst="rect">
            <a:avLst/>
          </a:prstGeom>
        </p:spPr>
        <p:txBody>
          <a:bodyPr anchor="t" rtlCol="false" tIns="0" lIns="0" bIns="0" rIns="0">
            <a:spAutoFit/>
          </a:bodyPr>
          <a:lstStyle/>
          <a:p>
            <a:pPr algn="ctr">
              <a:lnSpc>
                <a:spcPts val="6713"/>
              </a:lnSpc>
            </a:pPr>
            <a:r>
              <a:rPr lang="en-US" sz="4795" b="true">
                <a:solidFill>
                  <a:srgbClr val="000000"/>
                </a:solidFill>
                <a:latin typeface="Canva Sans Bold"/>
                <a:ea typeface="Canva Sans Bold"/>
                <a:cs typeface="Canva Sans Bold"/>
                <a:sym typeface="Canva Sans Bold"/>
              </a:rPr>
              <a:t>SYSTEM ARCHITECTURE</a:t>
            </a:r>
          </a:p>
        </p:txBody>
      </p:sp>
      <p:sp>
        <p:nvSpPr>
          <p:cNvPr name="Freeform 6" id="6"/>
          <p:cNvSpPr/>
          <p:nvPr/>
        </p:nvSpPr>
        <p:spPr>
          <a:xfrm flipH="true" flipV="true" rot="0">
            <a:off x="15403437" y="7402437"/>
            <a:ext cx="2884563" cy="2884563"/>
          </a:xfrm>
          <a:custGeom>
            <a:avLst/>
            <a:gdLst/>
            <a:ahLst/>
            <a:cxnLst/>
            <a:rect r="r" b="b" t="t" l="l"/>
            <a:pathLst>
              <a:path h="2884563" w="2884563">
                <a:moveTo>
                  <a:pt x="2884563" y="2884563"/>
                </a:moveTo>
                <a:lnTo>
                  <a:pt x="0" y="2884563"/>
                </a:lnTo>
                <a:lnTo>
                  <a:pt x="0" y="0"/>
                </a:lnTo>
                <a:lnTo>
                  <a:pt x="2884563" y="0"/>
                </a:lnTo>
                <a:lnTo>
                  <a:pt x="2884563" y="288456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true" rot="-10800000">
            <a:off x="0" y="0"/>
            <a:ext cx="2884563" cy="2884563"/>
          </a:xfrm>
          <a:custGeom>
            <a:avLst/>
            <a:gdLst/>
            <a:ahLst/>
            <a:cxnLst/>
            <a:rect r="r" b="b" t="t" l="l"/>
            <a:pathLst>
              <a:path h="2884563" w="2884563">
                <a:moveTo>
                  <a:pt x="2884563" y="2884563"/>
                </a:moveTo>
                <a:lnTo>
                  <a:pt x="0" y="2884563"/>
                </a:lnTo>
                <a:lnTo>
                  <a:pt x="0" y="0"/>
                </a:lnTo>
                <a:lnTo>
                  <a:pt x="2884563" y="0"/>
                </a:lnTo>
                <a:lnTo>
                  <a:pt x="2884563" y="2884563"/>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77" r="0" b="-9277"/>
            </a:stretch>
          </a:blipFill>
        </p:spPr>
      </p:sp>
      <p:sp>
        <p:nvSpPr>
          <p:cNvPr name="Freeform 3" id="3"/>
          <p:cNvSpPr/>
          <p:nvPr/>
        </p:nvSpPr>
        <p:spPr>
          <a:xfrm flipH="false" flipV="false" rot="0">
            <a:off x="2239414" y="1393363"/>
            <a:ext cx="13809172" cy="8558480"/>
          </a:xfrm>
          <a:custGeom>
            <a:avLst/>
            <a:gdLst/>
            <a:ahLst/>
            <a:cxnLst/>
            <a:rect r="r" b="b" t="t" l="l"/>
            <a:pathLst>
              <a:path h="8558480" w="13809172">
                <a:moveTo>
                  <a:pt x="0" y="0"/>
                </a:moveTo>
                <a:lnTo>
                  <a:pt x="13809172" y="0"/>
                </a:lnTo>
                <a:lnTo>
                  <a:pt x="13809172" y="8558480"/>
                </a:lnTo>
                <a:lnTo>
                  <a:pt x="0" y="8558480"/>
                </a:lnTo>
                <a:lnTo>
                  <a:pt x="0" y="0"/>
                </a:lnTo>
                <a:close/>
              </a:path>
            </a:pathLst>
          </a:custGeom>
          <a:blipFill>
            <a:blip r:embed="rId3"/>
            <a:stretch>
              <a:fillRect l="-937" t="-8576" r="0" b="0"/>
            </a:stretch>
          </a:blipFill>
        </p:spPr>
      </p:sp>
      <p:sp>
        <p:nvSpPr>
          <p:cNvPr name="TextBox 4" id="4"/>
          <p:cNvSpPr txBox="true"/>
          <p:nvPr/>
        </p:nvSpPr>
        <p:spPr>
          <a:xfrm rot="0">
            <a:off x="-2382513" y="1152196"/>
            <a:ext cx="9401982" cy="679191"/>
          </a:xfrm>
          <a:prstGeom prst="rect">
            <a:avLst/>
          </a:prstGeom>
        </p:spPr>
        <p:txBody>
          <a:bodyPr anchor="t" rtlCol="false" tIns="0" lIns="0" bIns="0" rIns="0">
            <a:spAutoFit/>
          </a:bodyPr>
          <a:lstStyle/>
          <a:p>
            <a:pPr algn="ctr">
              <a:lnSpc>
                <a:spcPts val="5614"/>
              </a:lnSpc>
            </a:pPr>
          </a:p>
        </p:txBody>
      </p:sp>
      <p:sp>
        <p:nvSpPr>
          <p:cNvPr name="TextBox 5" id="5"/>
          <p:cNvSpPr txBox="true"/>
          <p:nvPr/>
        </p:nvSpPr>
        <p:spPr>
          <a:xfrm rot="0">
            <a:off x="4828502" y="578312"/>
            <a:ext cx="8630996" cy="815050"/>
          </a:xfrm>
          <a:prstGeom prst="rect">
            <a:avLst/>
          </a:prstGeom>
        </p:spPr>
        <p:txBody>
          <a:bodyPr anchor="t" rtlCol="false" tIns="0" lIns="0" bIns="0" rIns="0">
            <a:spAutoFit/>
          </a:bodyPr>
          <a:lstStyle/>
          <a:p>
            <a:pPr algn="ctr">
              <a:lnSpc>
                <a:spcPts val="6713"/>
              </a:lnSpc>
            </a:pPr>
            <a:r>
              <a:rPr lang="en-US" sz="4795" b="true">
                <a:solidFill>
                  <a:srgbClr val="000000"/>
                </a:solidFill>
                <a:latin typeface="Canva Sans Bold"/>
                <a:ea typeface="Canva Sans Bold"/>
                <a:cs typeface="Canva Sans Bold"/>
                <a:sym typeface="Canva Sans Bold"/>
              </a:rPr>
              <a:t>HARDWARE REQUIREMENTS</a:t>
            </a:r>
          </a:p>
        </p:txBody>
      </p:sp>
      <p:sp>
        <p:nvSpPr>
          <p:cNvPr name="Freeform 6" id="6"/>
          <p:cNvSpPr/>
          <p:nvPr/>
        </p:nvSpPr>
        <p:spPr>
          <a:xfrm flipH="true" flipV="true" rot="0">
            <a:off x="15403437" y="7402437"/>
            <a:ext cx="2884563" cy="2884563"/>
          </a:xfrm>
          <a:custGeom>
            <a:avLst/>
            <a:gdLst/>
            <a:ahLst/>
            <a:cxnLst/>
            <a:rect r="r" b="b" t="t" l="l"/>
            <a:pathLst>
              <a:path h="2884563" w="2884563">
                <a:moveTo>
                  <a:pt x="2884563" y="2884563"/>
                </a:moveTo>
                <a:lnTo>
                  <a:pt x="0" y="2884563"/>
                </a:lnTo>
                <a:lnTo>
                  <a:pt x="0" y="0"/>
                </a:lnTo>
                <a:lnTo>
                  <a:pt x="2884563" y="0"/>
                </a:lnTo>
                <a:lnTo>
                  <a:pt x="2884563" y="288456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true" rot="-10800000">
            <a:off x="0" y="0"/>
            <a:ext cx="2884563" cy="2884563"/>
          </a:xfrm>
          <a:custGeom>
            <a:avLst/>
            <a:gdLst/>
            <a:ahLst/>
            <a:cxnLst/>
            <a:rect r="r" b="b" t="t" l="l"/>
            <a:pathLst>
              <a:path h="2884563" w="2884563">
                <a:moveTo>
                  <a:pt x="2884563" y="2884563"/>
                </a:moveTo>
                <a:lnTo>
                  <a:pt x="0" y="2884563"/>
                </a:lnTo>
                <a:lnTo>
                  <a:pt x="0" y="0"/>
                </a:lnTo>
                <a:lnTo>
                  <a:pt x="2884563" y="0"/>
                </a:lnTo>
                <a:lnTo>
                  <a:pt x="2884563" y="2884563"/>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77" r="0" b="-9277"/>
            </a:stretch>
          </a:blipFill>
        </p:spPr>
      </p:sp>
      <p:sp>
        <p:nvSpPr>
          <p:cNvPr name="TextBox 3" id="3"/>
          <p:cNvSpPr txBox="true"/>
          <p:nvPr/>
        </p:nvSpPr>
        <p:spPr>
          <a:xfrm rot="0">
            <a:off x="-2382513" y="1152196"/>
            <a:ext cx="9401982" cy="679191"/>
          </a:xfrm>
          <a:prstGeom prst="rect">
            <a:avLst/>
          </a:prstGeom>
        </p:spPr>
        <p:txBody>
          <a:bodyPr anchor="t" rtlCol="false" tIns="0" lIns="0" bIns="0" rIns="0">
            <a:spAutoFit/>
          </a:bodyPr>
          <a:lstStyle/>
          <a:p>
            <a:pPr algn="ctr">
              <a:lnSpc>
                <a:spcPts val="5614"/>
              </a:lnSpc>
            </a:pPr>
          </a:p>
        </p:txBody>
      </p:sp>
      <p:sp>
        <p:nvSpPr>
          <p:cNvPr name="Freeform 4" id="4"/>
          <p:cNvSpPr/>
          <p:nvPr/>
        </p:nvSpPr>
        <p:spPr>
          <a:xfrm flipH="true" flipV="true" rot="0">
            <a:off x="15403437" y="7402437"/>
            <a:ext cx="2884563" cy="2884563"/>
          </a:xfrm>
          <a:custGeom>
            <a:avLst/>
            <a:gdLst/>
            <a:ahLst/>
            <a:cxnLst/>
            <a:rect r="r" b="b" t="t" l="l"/>
            <a:pathLst>
              <a:path h="2884563" w="2884563">
                <a:moveTo>
                  <a:pt x="2884563" y="2884563"/>
                </a:moveTo>
                <a:lnTo>
                  <a:pt x="0" y="2884563"/>
                </a:lnTo>
                <a:lnTo>
                  <a:pt x="0" y="0"/>
                </a:lnTo>
                <a:lnTo>
                  <a:pt x="2884563" y="0"/>
                </a:lnTo>
                <a:lnTo>
                  <a:pt x="2884563" y="2884563"/>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true" rot="-10800000">
            <a:off x="0" y="0"/>
            <a:ext cx="2884563" cy="2884563"/>
          </a:xfrm>
          <a:custGeom>
            <a:avLst/>
            <a:gdLst/>
            <a:ahLst/>
            <a:cxnLst/>
            <a:rect r="r" b="b" t="t" l="l"/>
            <a:pathLst>
              <a:path h="2884563" w="2884563">
                <a:moveTo>
                  <a:pt x="2884563" y="2884563"/>
                </a:moveTo>
                <a:lnTo>
                  <a:pt x="0" y="2884563"/>
                </a:lnTo>
                <a:lnTo>
                  <a:pt x="0" y="0"/>
                </a:lnTo>
                <a:lnTo>
                  <a:pt x="2884563" y="0"/>
                </a:lnTo>
                <a:lnTo>
                  <a:pt x="2884563" y="2884563"/>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2449515" y="1228396"/>
            <a:ext cx="13388970" cy="8347028"/>
          </a:xfrm>
          <a:custGeom>
            <a:avLst/>
            <a:gdLst/>
            <a:ahLst/>
            <a:cxnLst/>
            <a:rect r="r" b="b" t="t" l="l"/>
            <a:pathLst>
              <a:path h="8347028" w="13388970">
                <a:moveTo>
                  <a:pt x="0" y="0"/>
                </a:moveTo>
                <a:lnTo>
                  <a:pt x="13388970" y="0"/>
                </a:lnTo>
                <a:lnTo>
                  <a:pt x="13388970" y="8347028"/>
                </a:lnTo>
                <a:lnTo>
                  <a:pt x="0" y="8347028"/>
                </a:lnTo>
                <a:lnTo>
                  <a:pt x="0" y="0"/>
                </a:lnTo>
                <a:close/>
              </a:path>
            </a:pathLst>
          </a:custGeom>
          <a:blipFill>
            <a:blip r:embed="rId5"/>
            <a:stretch>
              <a:fillRect l="0" t="0" r="0" b="0"/>
            </a:stretch>
          </a:blipFill>
        </p:spPr>
      </p:sp>
      <p:sp>
        <p:nvSpPr>
          <p:cNvPr name="TextBox 7" id="7"/>
          <p:cNvSpPr txBox="true"/>
          <p:nvPr/>
        </p:nvSpPr>
        <p:spPr>
          <a:xfrm rot="0">
            <a:off x="4828502" y="627231"/>
            <a:ext cx="8630996" cy="815050"/>
          </a:xfrm>
          <a:prstGeom prst="rect">
            <a:avLst/>
          </a:prstGeom>
        </p:spPr>
        <p:txBody>
          <a:bodyPr anchor="t" rtlCol="false" tIns="0" lIns="0" bIns="0" rIns="0">
            <a:spAutoFit/>
          </a:bodyPr>
          <a:lstStyle/>
          <a:p>
            <a:pPr algn="ctr">
              <a:lnSpc>
                <a:spcPts val="6713"/>
              </a:lnSpc>
            </a:pPr>
            <a:r>
              <a:rPr lang="en-US" sz="4795" b="true">
                <a:solidFill>
                  <a:srgbClr val="000000"/>
                </a:solidFill>
                <a:latin typeface="Canva Sans Bold"/>
                <a:ea typeface="Canva Sans Bold"/>
                <a:cs typeface="Canva Sans Bold"/>
                <a:sym typeface="Canva Sans Bold"/>
              </a:rPr>
              <a:t>TECHNOLOGY USED</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77" r="0" b="-9277"/>
            </a:stretch>
          </a:blipFill>
        </p:spPr>
      </p:sp>
      <p:sp>
        <p:nvSpPr>
          <p:cNvPr name="TextBox 3" id="3"/>
          <p:cNvSpPr txBox="true"/>
          <p:nvPr/>
        </p:nvSpPr>
        <p:spPr>
          <a:xfrm rot="0">
            <a:off x="-2382513" y="1152196"/>
            <a:ext cx="9401982" cy="679191"/>
          </a:xfrm>
          <a:prstGeom prst="rect">
            <a:avLst/>
          </a:prstGeom>
        </p:spPr>
        <p:txBody>
          <a:bodyPr anchor="t" rtlCol="false" tIns="0" lIns="0" bIns="0" rIns="0">
            <a:spAutoFit/>
          </a:bodyPr>
          <a:lstStyle/>
          <a:p>
            <a:pPr algn="ctr">
              <a:lnSpc>
                <a:spcPts val="5614"/>
              </a:lnSpc>
            </a:pPr>
          </a:p>
        </p:txBody>
      </p:sp>
      <p:sp>
        <p:nvSpPr>
          <p:cNvPr name="TextBox 4" id="4"/>
          <p:cNvSpPr txBox="true"/>
          <p:nvPr/>
        </p:nvSpPr>
        <p:spPr>
          <a:xfrm rot="0">
            <a:off x="5126432" y="1079504"/>
            <a:ext cx="8035137" cy="815050"/>
          </a:xfrm>
          <a:prstGeom prst="rect">
            <a:avLst/>
          </a:prstGeom>
        </p:spPr>
        <p:txBody>
          <a:bodyPr anchor="t" rtlCol="false" tIns="0" lIns="0" bIns="0" rIns="0">
            <a:spAutoFit/>
          </a:bodyPr>
          <a:lstStyle/>
          <a:p>
            <a:pPr algn="ctr">
              <a:lnSpc>
                <a:spcPts val="6713"/>
              </a:lnSpc>
            </a:pPr>
            <a:r>
              <a:rPr lang="en-US" sz="4795" b="true">
                <a:solidFill>
                  <a:srgbClr val="000000"/>
                </a:solidFill>
                <a:latin typeface="Canva Sans Bold"/>
                <a:ea typeface="Canva Sans Bold"/>
                <a:cs typeface="Canva Sans Bold"/>
                <a:sym typeface="Canva Sans Bold"/>
              </a:rPr>
              <a:t>DATA SET</a:t>
            </a:r>
          </a:p>
        </p:txBody>
      </p:sp>
      <p:sp>
        <p:nvSpPr>
          <p:cNvPr name="Freeform 5" id="5"/>
          <p:cNvSpPr/>
          <p:nvPr/>
        </p:nvSpPr>
        <p:spPr>
          <a:xfrm flipH="true" flipV="true" rot="0">
            <a:off x="15403437" y="7402437"/>
            <a:ext cx="2884563" cy="2884563"/>
          </a:xfrm>
          <a:custGeom>
            <a:avLst/>
            <a:gdLst/>
            <a:ahLst/>
            <a:cxnLst/>
            <a:rect r="r" b="b" t="t" l="l"/>
            <a:pathLst>
              <a:path h="2884563" w="2884563">
                <a:moveTo>
                  <a:pt x="2884563" y="2884563"/>
                </a:moveTo>
                <a:lnTo>
                  <a:pt x="0" y="2884563"/>
                </a:lnTo>
                <a:lnTo>
                  <a:pt x="0" y="0"/>
                </a:lnTo>
                <a:lnTo>
                  <a:pt x="2884563" y="0"/>
                </a:lnTo>
                <a:lnTo>
                  <a:pt x="2884563" y="2884563"/>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true" flipV="true" rot="-10800000">
            <a:off x="0" y="0"/>
            <a:ext cx="2884563" cy="2884563"/>
          </a:xfrm>
          <a:custGeom>
            <a:avLst/>
            <a:gdLst/>
            <a:ahLst/>
            <a:cxnLst/>
            <a:rect r="r" b="b" t="t" l="l"/>
            <a:pathLst>
              <a:path h="2884563" w="2884563">
                <a:moveTo>
                  <a:pt x="2884563" y="2884563"/>
                </a:moveTo>
                <a:lnTo>
                  <a:pt x="0" y="2884563"/>
                </a:lnTo>
                <a:lnTo>
                  <a:pt x="0" y="0"/>
                </a:lnTo>
                <a:lnTo>
                  <a:pt x="2884563" y="0"/>
                </a:lnTo>
                <a:lnTo>
                  <a:pt x="2884563" y="2884563"/>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064467" y="2232412"/>
            <a:ext cx="16194833" cy="6106589"/>
          </a:xfrm>
          <a:prstGeom prst="rect">
            <a:avLst/>
          </a:prstGeom>
        </p:spPr>
        <p:txBody>
          <a:bodyPr anchor="t" rtlCol="false" tIns="0" lIns="0" bIns="0" rIns="0">
            <a:spAutoFit/>
          </a:bodyPr>
          <a:lstStyle/>
          <a:p>
            <a:pPr algn="l" marL="745342" indent="-372671" lvl="1">
              <a:lnSpc>
                <a:spcPts val="4833"/>
              </a:lnSpc>
              <a:buFont typeface="Arial"/>
              <a:buChar char="•"/>
            </a:pPr>
            <a:r>
              <a:rPr lang="en-US" b="true" sz="3452">
                <a:solidFill>
                  <a:srgbClr val="000000"/>
                </a:solidFill>
                <a:latin typeface="Canva Sans Bold"/>
                <a:ea typeface="Canva Sans Bold"/>
                <a:cs typeface="Canva Sans Bold"/>
                <a:sym typeface="Canva Sans Bold"/>
              </a:rPr>
              <a:t>The dataset contains Temperature, Humidity, Gas, and Grain Moisture sensor values collected from grain storage conditions.</a:t>
            </a:r>
          </a:p>
          <a:p>
            <a:pPr algn="l" marL="745342" indent="-372671" lvl="1">
              <a:lnSpc>
                <a:spcPts val="4833"/>
              </a:lnSpc>
              <a:buFont typeface="Arial"/>
              <a:buChar char="•"/>
            </a:pPr>
            <a:r>
              <a:rPr lang="en-US" b="true" sz="3452">
                <a:solidFill>
                  <a:srgbClr val="000000"/>
                </a:solidFill>
                <a:latin typeface="Canva Sans Bold"/>
                <a:ea typeface="Canva Sans Bold"/>
                <a:cs typeface="Canva Sans Bold"/>
                <a:sym typeface="Canva Sans Bold"/>
              </a:rPr>
              <a:t>Each record is labeled as Safe, Warning, or Danger based on grain quality.</a:t>
            </a:r>
          </a:p>
          <a:p>
            <a:pPr algn="l" marL="745342" indent="-372671" lvl="1">
              <a:lnSpc>
                <a:spcPts val="4833"/>
              </a:lnSpc>
              <a:buFont typeface="Arial"/>
              <a:buChar char="•"/>
            </a:pPr>
            <a:r>
              <a:rPr lang="en-US" b="true" sz="3452">
                <a:solidFill>
                  <a:srgbClr val="000000"/>
                </a:solidFill>
                <a:latin typeface="Canva Sans Bold"/>
                <a:ea typeface="Canva Sans Bold"/>
                <a:cs typeface="Canva Sans Bold"/>
                <a:sym typeface="Canva Sans Bold"/>
              </a:rPr>
              <a:t>The dataset is used to train the AI model to predict the risk of grain spoilage.</a:t>
            </a:r>
          </a:p>
          <a:p>
            <a:pPr algn="l" marL="745342" indent="-372671" lvl="1">
              <a:lnSpc>
                <a:spcPts val="4833"/>
              </a:lnSpc>
              <a:buFont typeface="Arial"/>
              <a:buChar char="•"/>
            </a:pPr>
            <a:r>
              <a:rPr lang="en-US" b="true" sz="3452">
                <a:solidFill>
                  <a:srgbClr val="000000"/>
                </a:solidFill>
                <a:latin typeface="Canva Sans Bold"/>
                <a:ea typeface="Canva Sans Bold"/>
                <a:cs typeface="Canva Sans Bold"/>
                <a:sym typeface="Canva Sans Bold"/>
              </a:rPr>
              <a:t>Live sensor data from the ESP32 is compared with the trained dataset for prediction.</a:t>
            </a:r>
          </a:p>
          <a:p>
            <a:pPr algn="l" marL="745342" indent="-372671" lvl="1">
              <a:lnSpc>
                <a:spcPts val="4833"/>
              </a:lnSpc>
              <a:buFont typeface="Arial"/>
              <a:buChar char="•"/>
            </a:pPr>
            <a:r>
              <a:rPr lang="en-US" b="true" sz="3452">
                <a:solidFill>
                  <a:srgbClr val="000000"/>
                </a:solidFill>
                <a:latin typeface="Canva Sans Bold"/>
                <a:ea typeface="Canva Sans Bold"/>
                <a:cs typeface="Canva Sans Bold"/>
                <a:sym typeface="Canva Sans Bold"/>
              </a:rPr>
              <a:t>The AI model provides recommendations such as Dry Grains, Improve Ventilation, or Inspect Storage.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77" r="0" b="-9277"/>
            </a:stretch>
          </a:blipFill>
        </p:spPr>
      </p:sp>
      <p:sp>
        <p:nvSpPr>
          <p:cNvPr name="TextBox 3" id="3"/>
          <p:cNvSpPr txBox="true"/>
          <p:nvPr/>
        </p:nvSpPr>
        <p:spPr>
          <a:xfrm rot="0">
            <a:off x="-2382513" y="1152196"/>
            <a:ext cx="9401982" cy="679191"/>
          </a:xfrm>
          <a:prstGeom prst="rect">
            <a:avLst/>
          </a:prstGeom>
        </p:spPr>
        <p:txBody>
          <a:bodyPr anchor="t" rtlCol="false" tIns="0" lIns="0" bIns="0" rIns="0">
            <a:spAutoFit/>
          </a:bodyPr>
          <a:lstStyle/>
          <a:p>
            <a:pPr algn="ctr">
              <a:lnSpc>
                <a:spcPts val="5614"/>
              </a:lnSpc>
            </a:pPr>
          </a:p>
        </p:txBody>
      </p:sp>
      <p:sp>
        <p:nvSpPr>
          <p:cNvPr name="Freeform 4" id="4"/>
          <p:cNvSpPr/>
          <p:nvPr/>
        </p:nvSpPr>
        <p:spPr>
          <a:xfrm flipH="true" flipV="true" rot="0">
            <a:off x="15650806" y="7402437"/>
            <a:ext cx="2884563" cy="2884563"/>
          </a:xfrm>
          <a:custGeom>
            <a:avLst/>
            <a:gdLst/>
            <a:ahLst/>
            <a:cxnLst/>
            <a:rect r="r" b="b" t="t" l="l"/>
            <a:pathLst>
              <a:path h="2884563" w="2884563">
                <a:moveTo>
                  <a:pt x="2884563" y="2884563"/>
                </a:moveTo>
                <a:lnTo>
                  <a:pt x="0" y="2884563"/>
                </a:lnTo>
                <a:lnTo>
                  <a:pt x="0" y="0"/>
                </a:lnTo>
                <a:lnTo>
                  <a:pt x="2884563" y="0"/>
                </a:lnTo>
                <a:lnTo>
                  <a:pt x="2884563" y="2884563"/>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true" rot="-10800000">
            <a:off x="0" y="0"/>
            <a:ext cx="2884563" cy="2884563"/>
          </a:xfrm>
          <a:custGeom>
            <a:avLst/>
            <a:gdLst/>
            <a:ahLst/>
            <a:cxnLst/>
            <a:rect r="r" b="b" t="t" l="l"/>
            <a:pathLst>
              <a:path h="2884563" w="2884563">
                <a:moveTo>
                  <a:pt x="2884563" y="2884563"/>
                </a:moveTo>
                <a:lnTo>
                  <a:pt x="0" y="2884563"/>
                </a:lnTo>
                <a:lnTo>
                  <a:pt x="0" y="0"/>
                </a:lnTo>
                <a:lnTo>
                  <a:pt x="2884563" y="0"/>
                </a:lnTo>
                <a:lnTo>
                  <a:pt x="2884563" y="2884563"/>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3973146" y="1442281"/>
            <a:ext cx="11148857" cy="8361643"/>
          </a:xfrm>
          <a:custGeom>
            <a:avLst/>
            <a:gdLst/>
            <a:ahLst/>
            <a:cxnLst/>
            <a:rect r="r" b="b" t="t" l="l"/>
            <a:pathLst>
              <a:path h="8361643" w="11148857">
                <a:moveTo>
                  <a:pt x="0" y="0"/>
                </a:moveTo>
                <a:lnTo>
                  <a:pt x="11148858" y="0"/>
                </a:lnTo>
                <a:lnTo>
                  <a:pt x="11148858" y="8361644"/>
                </a:lnTo>
                <a:lnTo>
                  <a:pt x="0" y="8361644"/>
                </a:lnTo>
                <a:lnTo>
                  <a:pt x="0" y="0"/>
                </a:lnTo>
                <a:close/>
              </a:path>
            </a:pathLst>
          </a:custGeom>
          <a:blipFill>
            <a:blip r:embed="rId5"/>
            <a:stretch>
              <a:fillRect l="0" t="0" r="0" b="0"/>
            </a:stretch>
          </a:blipFill>
        </p:spPr>
      </p:sp>
      <p:sp>
        <p:nvSpPr>
          <p:cNvPr name="TextBox 7" id="7"/>
          <p:cNvSpPr txBox="true"/>
          <p:nvPr/>
        </p:nvSpPr>
        <p:spPr>
          <a:xfrm rot="0">
            <a:off x="4828502" y="578312"/>
            <a:ext cx="8630996" cy="815050"/>
          </a:xfrm>
          <a:prstGeom prst="rect">
            <a:avLst/>
          </a:prstGeom>
        </p:spPr>
        <p:txBody>
          <a:bodyPr anchor="t" rtlCol="false" tIns="0" lIns="0" bIns="0" rIns="0">
            <a:spAutoFit/>
          </a:bodyPr>
          <a:lstStyle/>
          <a:p>
            <a:pPr algn="ctr">
              <a:lnSpc>
                <a:spcPts val="6713"/>
              </a:lnSpc>
            </a:pPr>
            <a:r>
              <a:rPr lang="en-US" sz="4795" b="true">
                <a:solidFill>
                  <a:srgbClr val="000000"/>
                </a:solidFill>
                <a:latin typeface="Canva Sans Bold"/>
                <a:ea typeface="Canva Sans Bold"/>
                <a:cs typeface="Canva Sans Bold"/>
                <a:sym typeface="Canva Sans Bold"/>
              </a:rPr>
              <a:t>IMPLEMENTATION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77" r="0" b="-9277"/>
            </a:stretch>
          </a:blipFill>
        </p:spPr>
      </p:sp>
      <p:sp>
        <p:nvSpPr>
          <p:cNvPr name="TextBox 3" id="3"/>
          <p:cNvSpPr txBox="true"/>
          <p:nvPr/>
        </p:nvSpPr>
        <p:spPr>
          <a:xfrm rot="0">
            <a:off x="-2382513" y="1152196"/>
            <a:ext cx="9401982" cy="679191"/>
          </a:xfrm>
          <a:prstGeom prst="rect">
            <a:avLst/>
          </a:prstGeom>
        </p:spPr>
        <p:txBody>
          <a:bodyPr anchor="t" rtlCol="false" tIns="0" lIns="0" bIns="0" rIns="0">
            <a:spAutoFit/>
          </a:bodyPr>
          <a:lstStyle/>
          <a:p>
            <a:pPr algn="ctr">
              <a:lnSpc>
                <a:spcPts val="5614"/>
              </a:lnSpc>
            </a:pPr>
          </a:p>
        </p:txBody>
      </p:sp>
      <p:sp>
        <p:nvSpPr>
          <p:cNvPr name="Freeform 4" id="4"/>
          <p:cNvSpPr/>
          <p:nvPr/>
        </p:nvSpPr>
        <p:spPr>
          <a:xfrm flipH="true" flipV="true" rot="0">
            <a:off x="15650806" y="7402437"/>
            <a:ext cx="2884563" cy="2884563"/>
          </a:xfrm>
          <a:custGeom>
            <a:avLst/>
            <a:gdLst/>
            <a:ahLst/>
            <a:cxnLst/>
            <a:rect r="r" b="b" t="t" l="l"/>
            <a:pathLst>
              <a:path h="2884563" w="2884563">
                <a:moveTo>
                  <a:pt x="2884563" y="2884563"/>
                </a:moveTo>
                <a:lnTo>
                  <a:pt x="0" y="2884563"/>
                </a:lnTo>
                <a:lnTo>
                  <a:pt x="0" y="0"/>
                </a:lnTo>
                <a:lnTo>
                  <a:pt x="2884563" y="0"/>
                </a:lnTo>
                <a:lnTo>
                  <a:pt x="2884563" y="2884563"/>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true" rot="-10800000">
            <a:off x="0" y="0"/>
            <a:ext cx="2884563" cy="2884563"/>
          </a:xfrm>
          <a:custGeom>
            <a:avLst/>
            <a:gdLst/>
            <a:ahLst/>
            <a:cxnLst/>
            <a:rect r="r" b="b" t="t" l="l"/>
            <a:pathLst>
              <a:path h="2884563" w="2884563">
                <a:moveTo>
                  <a:pt x="2884563" y="2884563"/>
                </a:moveTo>
                <a:lnTo>
                  <a:pt x="0" y="2884563"/>
                </a:lnTo>
                <a:lnTo>
                  <a:pt x="0" y="0"/>
                </a:lnTo>
                <a:lnTo>
                  <a:pt x="2884563" y="0"/>
                </a:lnTo>
                <a:lnTo>
                  <a:pt x="2884563" y="2884563"/>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284638" y="1831387"/>
            <a:ext cx="8672959" cy="5535107"/>
          </a:xfrm>
          <a:custGeom>
            <a:avLst/>
            <a:gdLst/>
            <a:ahLst/>
            <a:cxnLst/>
            <a:rect r="r" b="b" t="t" l="l"/>
            <a:pathLst>
              <a:path h="5535107" w="8672959">
                <a:moveTo>
                  <a:pt x="0" y="0"/>
                </a:moveTo>
                <a:lnTo>
                  <a:pt x="8672959" y="0"/>
                </a:lnTo>
                <a:lnTo>
                  <a:pt x="8672959" y="5535106"/>
                </a:lnTo>
                <a:lnTo>
                  <a:pt x="0" y="5535106"/>
                </a:lnTo>
                <a:lnTo>
                  <a:pt x="0" y="0"/>
                </a:lnTo>
                <a:close/>
              </a:path>
            </a:pathLst>
          </a:custGeom>
          <a:blipFill>
            <a:blip r:embed="rId5"/>
            <a:stretch>
              <a:fillRect l="-21439" t="0" r="-21175" b="0"/>
            </a:stretch>
          </a:blipFill>
        </p:spPr>
      </p:sp>
      <p:sp>
        <p:nvSpPr>
          <p:cNvPr name="Freeform 7" id="7"/>
          <p:cNvSpPr/>
          <p:nvPr/>
        </p:nvSpPr>
        <p:spPr>
          <a:xfrm flipH="false" flipV="false" rot="0">
            <a:off x="10385556" y="2343626"/>
            <a:ext cx="6873744" cy="4510628"/>
          </a:xfrm>
          <a:custGeom>
            <a:avLst/>
            <a:gdLst/>
            <a:ahLst/>
            <a:cxnLst/>
            <a:rect r="r" b="b" t="t" l="l"/>
            <a:pathLst>
              <a:path h="4510628" w="6873744">
                <a:moveTo>
                  <a:pt x="0" y="0"/>
                </a:moveTo>
                <a:lnTo>
                  <a:pt x="6873744" y="0"/>
                </a:lnTo>
                <a:lnTo>
                  <a:pt x="6873744" y="4510628"/>
                </a:lnTo>
                <a:lnTo>
                  <a:pt x="0" y="4510628"/>
                </a:lnTo>
                <a:lnTo>
                  <a:pt x="0" y="0"/>
                </a:lnTo>
                <a:close/>
              </a:path>
            </a:pathLst>
          </a:custGeom>
          <a:blipFill>
            <a:blip r:embed="rId6"/>
            <a:stretch>
              <a:fillRect l="-24511" t="0" r="-22042" b="0"/>
            </a:stretch>
          </a:blipFill>
        </p:spPr>
      </p:sp>
      <p:sp>
        <p:nvSpPr>
          <p:cNvPr name="TextBox 8" id="8"/>
          <p:cNvSpPr txBox="true"/>
          <p:nvPr/>
        </p:nvSpPr>
        <p:spPr>
          <a:xfrm rot="0">
            <a:off x="4828502" y="578312"/>
            <a:ext cx="8630996" cy="815050"/>
          </a:xfrm>
          <a:prstGeom prst="rect">
            <a:avLst/>
          </a:prstGeom>
        </p:spPr>
        <p:txBody>
          <a:bodyPr anchor="t" rtlCol="false" tIns="0" lIns="0" bIns="0" rIns="0">
            <a:spAutoFit/>
          </a:bodyPr>
          <a:lstStyle/>
          <a:p>
            <a:pPr algn="ctr">
              <a:lnSpc>
                <a:spcPts val="6713"/>
              </a:lnSpc>
            </a:pPr>
            <a:r>
              <a:rPr lang="en-US" sz="4795" b="true">
                <a:solidFill>
                  <a:srgbClr val="000000"/>
                </a:solidFill>
                <a:latin typeface="Canva Sans Bold"/>
                <a:ea typeface="Canva Sans Bold"/>
                <a:cs typeface="Canva Sans Bold"/>
                <a:sym typeface="Canva Sans Bold"/>
              </a:rPr>
              <a:t>RESULTS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77" r="0" b="-9277"/>
            </a:stretch>
          </a:blipFill>
        </p:spPr>
      </p:sp>
      <p:sp>
        <p:nvSpPr>
          <p:cNvPr name="TextBox 3" id="3"/>
          <p:cNvSpPr txBox="true"/>
          <p:nvPr/>
        </p:nvSpPr>
        <p:spPr>
          <a:xfrm rot="0">
            <a:off x="-2382513" y="1152196"/>
            <a:ext cx="9401982" cy="679191"/>
          </a:xfrm>
          <a:prstGeom prst="rect">
            <a:avLst/>
          </a:prstGeom>
        </p:spPr>
        <p:txBody>
          <a:bodyPr anchor="t" rtlCol="false" tIns="0" lIns="0" bIns="0" rIns="0">
            <a:spAutoFit/>
          </a:bodyPr>
          <a:lstStyle/>
          <a:p>
            <a:pPr algn="ctr">
              <a:lnSpc>
                <a:spcPts val="5614"/>
              </a:lnSpc>
            </a:pPr>
          </a:p>
        </p:txBody>
      </p:sp>
      <p:sp>
        <p:nvSpPr>
          <p:cNvPr name="Freeform 4" id="4"/>
          <p:cNvSpPr/>
          <p:nvPr/>
        </p:nvSpPr>
        <p:spPr>
          <a:xfrm flipH="true" flipV="true" rot="0">
            <a:off x="15650806" y="7402437"/>
            <a:ext cx="2884563" cy="2884563"/>
          </a:xfrm>
          <a:custGeom>
            <a:avLst/>
            <a:gdLst/>
            <a:ahLst/>
            <a:cxnLst/>
            <a:rect r="r" b="b" t="t" l="l"/>
            <a:pathLst>
              <a:path h="2884563" w="2884563">
                <a:moveTo>
                  <a:pt x="2884563" y="2884563"/>
                </a:moveTo>
                <a:lnTo>
                  <a:pt x="0" y="2884563"/>
                </a:lnTo>
                <a:lnTo>
                  <a:pt x="0" y="0"/>
                </a:lnTo>
                <a:lnTo>
                  <a:pt x="2884563" y="0"/>
                </a:lnTo>
                <a:lnTo>
                  <a:pt x="2884563" y="2884563"/>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true" rot="-10800000">
            <a:off x="0" y="0"/>
            <a:ext cx="2884563" cy="2884563"/>
          </a:xfrm>
          <a:custGeom>
            <a:avLst/>
            <a:gdLst/>
            <a:ahLst/>
            <a:cxnLst/>
            <a:rect r="r" b="b" t="t" l="l"/>
            <a:pathLst>
              <a:path h="2884563" w="2884563">
                <a:moveTo>
                  <a:pt x="2884563" y="2884563"/>
                </a:moveTo>
                <a:lnTo>
                  <a:pt x="0" y="2884563"/>
                </a:lnTo>
                <a:lnTo>
                  <a:pt x="0" y="0"/>
                </a:lnTo>
                <a:lnTo>
                  <a:pt x="2884563" y="0"/>
                </a:lnTo>
                <a:lnTo>
                  <a:pt x="2884563" y="2884563"/>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4828502" y="578312"/>
            <a:ext cx="8630996" cy="815050"/>
          </a:xfrm>
          <a:prstGeom prst="rect">
            <a:avLst/>
          </a:prstGeom>
        </p:spPr>
        <p:txBody>
          <a:bodyPr anchor="t" rtlCol="false" tIns="0" lIns="0" bIns="0" rIns="0">
            <a:spAutoFit/>
          </a:bodyPr>
          <a:lstStyle/>
          <a:p>
            <a:pPr algn="ctr">
              <a:lnSpc>
                <a:spcPts val="6713"/>
              </a:lnSpc>
            </a:pPr>
            <a:r>
              <a:rPr lang="en-US" sz="4795" b="true">
                <a:solidFill>
                  <a:srgbClr val="000000"/>
                </a:solidFill>
                <a:latin typeface="Canva Sans Bold"/>
                <a:ea typeface="Canva Sans Bold"/>
                <a:cs typeface="Canva Sans Bold"/>
                <a:sym typeface="Canva Sans Bold"/>
              </a:rPr>
              <a:t>FUTURE ENCHANCEMENT</a:t>
            </a:r>
          </a:p>
        </p:txBody>
      </p:sp>
      <p:sp>
        <p:nvSpPr>
          <p:cNvPr name="TextBox 7" id="7"/>
          <p:cNvSpPr txBox="true"/>
          <p:nvPr/>
        </p:nvSpPr>
        <p:spPr>
          <a:xfrm rot="0">
            <a:off x="1028700" y="1171246"/>
            <a:ext cx="17259300" cy="6346563"/>
          </a:xfrm>
          <a:prstGeom prst="rect">
            <a:avLst/>
          </a:prstGeom>
        </p:spPr>
        <p:txBody>
          <a:bodyPr anchor="t" rtlCol="false" tIns="0" lIns="0" bIns="0" rIns="0">
            <a:spAutoFit/>
          </a:bodyPr>
          <a:lstStyle/>
          <a:p>
            <a:pPr algn="l">
              <a:lnSpc>
                <a:spcPts val="4179"/>
              </a:lnSpc>
            </a:pPr>
          </a:p>
          <a:p>
            <a:pPr algn="l">
              <a:lnSpc>
                <a:spcPts val="4179"/>
              </a:lnSpc>
            </a:pPr>
          </a:p>
          <a:p>
            <a:pPr algn="l">
              <a:lnSpc>
                <a:spcPts val="4179"/>
              </a:lnSpc>
            </a:pPr>
            <a:r>
              <a:rPr lang="en-US" sz="2985" b="true">
                <a:solidFill>
                  <a:srgbClr val="000000"/>
                </a:solidFill>
                <a:latin typeface="Canva Sans Bold"/>
                <a:ea typeface="Canva Sans Bold"/>
                <a:cs typeface="Canva Sans Bold"/>
                <a:sym typeface="Canva Sans Bold"/>
              </a:rPr>
              <a:t>Our Smart Grain Storage System can be enhanced with additional smart features to improve monitoring and warehouse management.</a:t>
            </a:r>
          </a:p>
          <a:p>
            <a:pPr algn="l">
              <a:lnSpc>
                <a:spcPts val="4179"/>
              </a:lnSpc>
            </a:pPr>
          </a:p>
          <a:p>
            <a:pPr algn="l" marL="644544" indent="-322272" lvl="1">
              <a:lnSpc>
                <a:spcPts val="4179"/>
              </a:lnSpc>
              <a:buFont typeface="Arial"/>
              <a:buChar char="•"/>
            </a:pPr>
            <a:r>
              <a:rPr lang="en-US" b="true" sz="2985">
                <a:solidFill>
                  <a:srgbClr val="000000"/>
                </a:solidFill>
                <a:latin typeface="Canva Sans Bold"/>
                <a:ea typeface="Canva Sans Bold"/>
                <a:cs typeface="Canva Sans Bold"/>
                <a:sym typeface="Canva Sans Bold"/>
              </a:rPr>
              <a:t>Develop a mobile application for real-time monitoring from anywhere.</a:t>
            </a:r>
          </a:p>
          <a:p>
            <a:pPr algn="l" marL="644544" indent="-322272" lvl="1">
              <a:lnSpc>
                <a:spcPts val="4179"/>
              </a:lnSpc>
              <a:buFont typeface="Arial"/>
              <a:buChar char="•"/>
            </a:pPr>
            <a:r>
              <a:rPr lang="en-US" b="true" sz="2985">
                <a:solidFill>
                  <a:srgbClr val="000000"/>
                </a:solidFill>
                <a:latin typeface="Canva Sans Bold"/>
                <a:ea typeface="Canva Sans Bold"/>
                <a:cs typeface="Canva Sans Bold"/>
                <a:sym typeface="Canva Sans Bold"/>
              </a:rPr>
              <a:t>Store sensor data in cloud storage for long-term analysis and report generation.</a:t>
            </a:r>
          </a:p>
          <a:p>
            <a:pPr algn="l" marL="644544" indent="-322272" lvl="1">
              <a:lnSpc>
                <a:spcPts val="4179"/>
              </a:lnSpc>
              <a:buFont typeface="Arial"/>
              <a:buChar char="•"/>
            </a:pPr>
            <a:r>
              <a:rPr lang="en-US" b="true" sz="2985">
                <a:solidFill>
                  <a:srgbClr val="000000"/>
                </a:solidFill>
                <a:latin typeface="Canva Sans Bold"/>
                <a:ea typeface="Canva Sans Bold"/>
                <a:cs typeface="Canva Sans Bold"/>
                <a:sym typeface="Canva Sans Bold"/>
              </a:rPr>
              <a:t> Add GSM/SMS and notification alerts for farmers and warehouse managers.</a:t>
            </a:r>
          </a:p>
          <a:p>
            <a:pPr algn="l" marL="644544" indent="-322272" lvl="1">
              <a:lnSpc>
                <a:spcPts val="4179"/>
              </a:lnSpc>
              <a:buFont typeface="Arial"/>
              <a:buChar char="•"/>
            </a:pPr>
            <a:r>
              <a:rPr lang="en-US" b="true" sz="2985">
                <a:solidFill>
                  <a:srgbClr val="000000"/>
                </a:solidFill>
                <a:latin typeface="Canva Sans Bold"/>
                <a:ea typeface="Canva Sans Bold"/>
                <a:cs typeface="Canva Sans Bold"/>
                <a:sym typeface="Canva Sans Bold"/>
              </a:rPr>
              <a:t>Integrate a camera-based grain inspection system to detect fungal growth and damaged grains.</a:t>
            </a:r>
          </a:p>
          <a:p>
            <a:pPr algn="l" marL="644544" indent="-322272" lvl="1">
              <a:lnSpc>
                <a:spcPts val="4179"/>
              </a:lnSpc>
              <a:buFont typeface="Arial"/>
              <a:buChar char="•"/>
            </a:pPr>
            <a:r>
              <a:rPr lang="en-US" b="true" sz="2985">
                <a:solidFill>
                  <a:srgbClr val="000000"/>
                </a:solidFill>
                <a:latin typeface="Canva Sans Bold"/>
                <a:ea typeface="Canva Sans Bold"/>
                <a:cs typeface="Canva Sans Bold"/>
                <a:sym typeface="Canva Sans Bold"/>
              </a:rPr>
              <a:t>Monitor multiple grain storage units using a single dashboard.</a:t>
            </a:r>
          </a:p>
          <a:p>
            <a:pPr algn="l" marL="644544" indent="-322272" lvl="1">
              <a:lnSpc>
                <a:spcPts val="4179"/>
              </a:lnSpc>
              <a:buFont typeface="Arial"/>
              <a:buChar char="•"/>
            </a:pPr>
            <a:r>
              <a:rPr lang="en-US" b="true" sz="2985">
                <a:solidFill>
                  <a:srgbClr val="000000"/>
                </a:solidFill>
                <a:latin typeface="Canva Sans Bold"/>
                <a:ea typeface="Canva Sans Bold"/>
                <a:cs typeface="Canva Sans Bold"/>
                <a:sym typeface="Canva Sans Bold"/>
              </a:rPr>
              <a:t>Add data history and graphical reports to analyze storage conditions over time.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77" r="0" b="-9277"/>
            </a:stretch>
          </a:blipFill>
        </p:spPr>
      </p:sp>
      <p:sp>
        <p:nvSpPr>
          <p:cNvPr name="TextBox 3" id="3"/>
          <p:cNvSpPr txBox="true"/>
          <p:nvPr/>
        </p:nvSpPr>
        <p:spPr>
          <a:xfrm rot="0">
            <a:off x="-2382513" y="1152196"/>
            <a:ext cx="9401982" cy="679191"/>
          </a:xfrm>
          <a:prstGeom prst="rect">
            <a:avLst/>
          </a:prstGeom>
        </p:spPr>
        <p:txBody>
          <a:bodyPr anchor="t" rtlCol="false" tIns="0" lIns="0" bIns="0" rIns="0">
            <a:spAutoFit/>
          </a:bodyPr>
          <a:lstStyle/>
          <a:p>
            <a:pPr algn="ctr">
              <a:lnSpc>
                <a:spcPts val="5614"/>
              </a:lnSpc>
            </a:pPr>
          </a:p>
        </p:txBody>
      </p:sp>
      <p:sp>
        <p:nvSpPr>
          <p:cNvPr name="Freeform 4" id="4"/>
          <p:cNvSpPr/>
          <p:nvPr/>
        </p:nvSpPr>
        <p:spPr>
          <a:xfrm flipH="true" flipV="true" rot="0">
            <a:off x="15650806" y="7402437"/>
            <a:ext cx="2884563" cy="2884563"/>
          </a:xfrm>
          <a:custGeom>
            <a:avLst/>
            <a:gdLst/>
            <a:ahLst/>
            <a:cxnLst/>
            <a:rect r="r" b="b" t="t" l="l"/>
            <a:pathLst>
              <a:path h="2884563" w="2884563">
                <a:moveTo>
                  <a:pt x="2884563" y="2884563"/>
                </a:moveTo>
                <a:lnTo>
                  <a:pt x="0" y="2884563"/>
                </a:lnTo>
                <a:lnTo>
                  <a:pt x="0" y="0"/>
                </a:lnTo>
                <a:lnTo>
                  <a:pt x="2884563" y="0"/>
                </a:lnTo>
                <a:lnTo>
                  <a:pt x="2884563" y="2884563"/>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true" rot="-10800000">
            <a:off x="0" y="0"/>
            <a:ext cx="2884563" cy="2884563"/>
          </a:xfrm>
          <a:custGeom>
            <a:avLst/>
            <a:gdLst/>
            <a:ahLst/>
            <a:cxnLst/>
            <a:rect r="r" b="b" t="t" l="l"/>
            <a:pathLst>
              <a:path h="2884563" w="2884563">
                <a:moveTo>
                  <a:pt x="2884563" y="2884563"/>
                </a:moveTo>
                <a:lnTo>
                  <a:pt x="0" y="2884563"/>
                </a:lnTo>
                <a:lnTo>
                  <a:pt x="0" y="0"/>
                </a:lnTo>
                <a:lnTo>
                  <a:pt x="2884563" y="0"/>
                </a:lnTo>
                <a:lnTo>
                  <a:pt x="2884563" y="2884563"/>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3070602" y="1442281"/>
            <a:ext cx="12580204" cy="8415731"/>
          </a:xfrm>
          <a:custGeom>
            <a:avLst/>
            <a:gdLst/>
            <a:ahLst/>
            <a:cxnLst/>
            <a:rect r="r" b="b" t="t" l="l"/>
            <a:pathLst>
              <a:path h="8415731" w="12580204">
                <a:moveTo>
                  <a:pt x="0" y="0"/>
                </a:moveTo>
                <a:lnTo>
                  <a:pt x="12580204" y="0"/>
                </a:lnTo>
                <a:lnTo>
                  <a:pt x="12580204" y="8415732"/>
                </a:lnTo>
                <a:lnTo>
                  <a:pt x="0" y="8415732"/>
                </a:lnTo>
                <a:lnTo>
                  <a:pt x="0" y="0"/>
                </a:lnTo>
                <a:close/>
              </a:path>
            </a:pathLst>
          </a:custGeom>
          <a:blipFill>
            <a:blip r:embed="rId5"/>
            <a:stretch>
              <a:fillRect l="0" t="-8071" r="0" b="-3387"/>
            </a:stretch>
          </a:blipFill>
        </p:spPr>
      </p:sp>
      <p:sp>
        <p:nvSpPr>
          <p:cNvPr name="TextBox 7" id="7"/>
          <p:cNvSpPr txBox="true"/>
          <p:nvPr/>
        </p:nvSpPr>
        <p:spPr>
          <a:xfrm rot="0">
            <a:off x="4828502" y="578312"/>
            <a:ext cx="8630996" cy="815050"/>
          </a:xfrm>
          <a:prstGeom prst="rect">
            <a:avLst/>
          </a:prstGeom>
        </p:spPr>
        <p:txBody>
          <a:bodyPr anchor="t" rtlCol="false" tIns="0" lIns="0" bIns="0" rIns="0">
            <a:spAutoFit/>
          </a:bodyPr>
          <a:lstStyle/>
          <a:p>
            <a:pPr algn="ctr">
              <a:lnSpc>
                <a:spcPts val="6713"/>
              </a:lnSpc>
            </a:pPr>
            <a:r>
              <a:rPr lang="en-US" sz="4795" b="true">
                <a:solidFill>
                  <a:srgbClr val="000000"/>
                </a:solidFill>
                <a:latin typeface="Canva Sans Bold"/>
                <a:ea typeface="Canva Sans Bold"/>
                <a:cs typeface="Canva Sans Bold"/>
                <a:sym typeface="Canva Sans Bold"/>
              </a:rPr>
              <a:t>GANTT CHART</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77" r="0" b="-9277"/>
            </a:stretch>
          </a:blipFill>
        </p:spPr>
      </p:sp>
      <p:sp>
        <p:nvSpPr>
          <p:cNvPr name="TextBox 3" id="3"/>
          <p:cNvSpPr txBox="true"/>
          <p:nvPr/>
        </p:nvSpPr>
        <p:spPr>
          <a:xfrm rot="0">
            <a:off x="2261480" y="2768843"/>
            <a:ext cx="13765041" cy="3665986"/>
          </a:xfrm>
          <a:prstGeom prst="rect">
            <a:avLst/>
          </a:prstGeom>
        </p:spPr>
        <p:txBody>
          <a:bodyPr anchor="t" rtlCol="false" tIns="0" lIns="0" bIns="0" rIns="0">
            <a:spAutoFit/>
          </a:bodyPr>
          <a:lstStyle/>
          <a:p>
            <a:pPr algn="ctr">
              <a:lnSpc>
                <a:spcPts val="30160"/>
              </a:lnSpc>
            </a:pPr>
            <a:r>
              <a:rPr lang="en-US" sz="21543">
                <a:solidFill>
                  <a:srgbClr val="000000"/>
                </a:solidFill>
                <a:latin typeface="Anton"/>
                <a:ea typeface="Anton"/>
                <a:cs typeface="Anton"/>
                <a:sym typeface="Anton"/>
              </a:rPr>
              <a:t>THANK YOU</a:t>
            </a:r>
          </a:p>
        </p:txBody>
      </p:sp>
      <p:sp>
        <p:nvSpPr>
          <p:cNvPr name="Freeform 4" id="4"/>
          <p:cNvSpPr/>
          <p:nvPr/>
        </p:nvSpPr>
        <p:spPr>
          <a:xfrm flipH="true" flipV="true" rot="0">
            <a:off x="15403437" y="7402437"/>
            <a:ext cx="2884563" cy="2884563"/>
          </a:xfrm>
          <a:custGeom>
            <a:avLst/>
            <a:gdLst/>
            <a:ahLst/>
            <a:cxnLst/>
            <a:rect r="r" b="b" t="t" l="l"/>
            <a:pathLst>
              <a:path h="2884563" w="2884563">
                <a:moveTo>
                  <a:pt x="2884563" y="2884563"/>
                </a:moveTo>
                <a:lnTo>
                  <a:pt x="0" y="2884563"/>
                </a:lnTo>
                <a:lnTo>
                  <a:pt x="0" y="0"/>
                </a:lnTo>
                <a:lnTo>
                  <a:pt x="2884563" y="0"/>
                </a:lnTo>
                <a:lnTo>
                  <a:pt x="2884563" y="2884563"/>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true" rot="-10800000">
            <a:off x="0" y="0"/>
            <a:ext cx="2884563" cy="2884563"/>
          </a:xfrm>
          <a:custGeom>
            <a:avLst/>
            <a:gdLst/>
            <a:ahLst/>
            <a:cxnLst/>
            <a:rect r="r" b="b" t="t" l="l"/>
            <a:pathLst>
              <a:path h="2884563" w="2884563">
                <a:moveTo>
                  <a:pt x="2884563" y="2884563"/>
                </a:moveTo>
                <a:lnTo>
                  <a:pt x="0" y="2884563"/>
                </a:lnTo>
                <a:lnTo>
                  <a:pt x="0" y="0"/>
                </a:lnTo>
                <a:lnTo>
                  <a:pt x="2884563" y="0"/>
                </a:lnTo>
                <a:lnTo>
                  <a:pt x="2884563" y="2884563"/>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DAHTNFVRTQs</dc:identifier>
  <dcterms:modified xsi:type="dcterms:W3CDTF">2011-08-01T06:04:30Z</dcterms:modified>
  <cp:revision>1</cp:revision>
  <dc:title>PROJECT-PHASE1|</dc:title>
</cp:coreProperties>
</file>