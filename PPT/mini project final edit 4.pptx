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5" r:id="rId8"/>
    <p:sldId id="263" r:id="rId9"/>
    <p:sldId id="264" r:id="rId10"/>
    <p:sldId id="271" r:id="rId11"/>
    <p:sldId id="266" r:id="rId12"/>
    <p:sldId id="272"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49200-0A32-4D90-B43B-94F0DF247A8A}" v="71" dt="2026-10-29T14:02:59.043"/>
    <p1510:client id="{0DDAEE19-B872-4D94-B201-7B1F1FD1A925}" v="214" dt="2026-10-30T03:43:26.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8807DF-7585-407A-9C8D-2D272E3A1C9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C89B00F-AB2D-41DD-BCFA-DC6A9DEC1F28}">
      <dgm:prSet/>
      <dgm:spPr/>
      <dgm:t>
        <a:bodyPr/>
        <a:lstStyle/>
        <a:p>
          <a:r>
            <a:rPr lang="en-US" b="1"/>
            <a:t>1. Manual Safety Monitoring:</a:t>
          </a:r>
          <a:r>
            <a:rPr lang="en-US"/>
            <a:t> Manual monitoring of laboratory personnel is time-consuming and makes continuous safety compliance difficult.</a:t>
          </a:r>
        </a:p>
      </dgm:t>
    </dgm:pt>
    <dgm:pt modelId="{59402C25-3440-4B77-9F12-4413EE38D443}" type="parTrans" cxnId="{14CFF17A-58D0-4EBD-812F-12300E2AE41C}">
      <dgm:prSet/>
      <dgm:spPr/>
      <dgm:t>
        <a:bodyPr/>
        <a:lstStyle/>
        <a:p>
          <a:endParaRPr lang="en-US"/>
        </a:p>
      </dgm:t>
    </dgm:pt>
    <dgm:pt modelId="{17345766-8644-442D-95A9-ADC735B9210C}" type="sibTrans" cxnId="{14CFF17A-58D0-4EBD-812F-12300E2AE41C}">
      <dgm:prSet/>
      <dgm:spPr/>
      <dgm:t>
        <a:bodyPr/>
        <a:lstStyle/>
        <a:p>
          <a:endParaRPr lang="en-US"/>
        </a:p>
      </dgm:t>
    </dgm:pt>
    <dgm:pt modelId="{D21B8F9F-04C7-40EB-BE7E-EAE0AA27588A}">
      <dgm:prSet/>
      <dgm:spPr/>
      <dgm:t>
        <a:bodyPr/>
        <a:lstStyle/>
        <a:p>
          <a:r>
            <a:rPr lang="en-US" b="1"/>
            <a:t>2. Facial Occlusion Detection:</a:t>
          </a:r>
          <a:r>
            <a:rPr lang="en-US"/>
            <a:t> Objects such as masks, scarves, hands, and other coverings can obstruct facial visibility, making automated monitoring challenging.</a:t>
          </a:r>
        </a:p>
      </dgm:t>
    </dgm:pt>
    <dgm:pt modelId="{2E59B69B-FDBA-4BD2-ADE7-5B64F6FAAE8F}" type="parTrans" cxnId="{6B91ADB1-CBA4-4459-BA4F-5801F31F4B8A}">
      <dgm:prSet/>
      <dgm:spPr/>
      <dgm:t>
        <a:bodyPr/>
        <a:lstStyle/>
        <a:p>
          <a:endParaRPr lang="en-US"/>
        </a:p>
      </dgm:t>
    </dgm:pt>
    <dgm:pt modelId="{A655A054-836F-42E9-B4FC-6831F4DE5246}" type="sibTrans" cxnId="{6B91ADB1-CBA4-4459-BA4F-5801F31F4B8A}">
      <dgm:prSet/>
      <dgm:spPr/>
      <dgm:t>
        <a:bodyPr/>
        <a:lstStyle/>
        <a:p>
          <a:endParaRPr lang="en-US"/>
        </a:p>
      </dgm:t>
    </dgm:pt>
    <dgm:pt modelId="{EB3DFE83-2C75-42D3-AA42-7BECC8F0F03E}">
      <dgm:prSet/>
      <dgm:spPr/>
      <dgm:t>
        <a:bodyPr/>
        <a:lstStyle/>
        <a:p>
          <a:r>
            <a:rPr lang="en-US" b="1"/>
            <a:t>3. PPE Compliance Verification:</a:t>
          </a:r>
          <a:r>
            <a:rPr lang="en-US"/>
            <a:t> Existing face detection systems may detect a face without verifying whether the person is wearing the required combination of a face mask and safety goggles.</a:t>
          </a:r>
        </a:p>
      </dgm:t>
    </dgm:pt>
    <dgm:pt modelId="{ACEAAC86-7A88-4BBB-89E4-45BCCDC71EC5}" type="parTrans" cxnId="{53B4C155-A91E-4435-A36A-899018652805}">
      <dgm:prSet/>
      <dgm:spPr/>
      <dgm:t>
        <a:bodyPr/>
        <a:lstStyle/>
        <a:p>
          <a:endParaRPr lang="en-US"/>
        </a:p>
      </dgm:t>
    </dgm:pt>
    <dgm:pt modelId="{4E8A62F9-7686-4A82-9EB5-4578D826421B}" type="sibTrans" cxnId="{53B4C155-A91E-4435-A36A-899018652805}">
      <dgm:prSet/>
      <dgm:spPr/>
      <dgm:t>
        <a:bodyPr/>
        <a:lstStyle/>
        <a:p>
          <a:endParaRPr lang="en-US"/>
        </a:p>
      </dgm:t>
    </dgm:pt>
    <dgm:pt modelId="{7AE43A71-905F-43E6-A16D-1DF8FB1655BF}">
      <dgm:prSet/>
      <dgm:spPr/>
      <dgm:t>
        <a:bodyPr/>
        <a:lstStyle/>
        <a:p>
          <a:r>
            <a:rPr lang="en-US" b="1"/>
            <a:t>4. Classification of Facial Conditions:</a:t>
          </a:r>
          <a:r>
            <a:rPr lang="en-US"/>
            <a:t> A system is needed to distinguish between fully visible faces, faces wearing the required PPE, and faces with improper or unauthorized occlusions.</a:t>
          </a:r>
        </a:p>
      </dgm:t>
    </dgm:pt>
    <dgm:pt modelId="{D5ECE8A6-54A3-4D55-B67E-B1198B2B0716}" type="parTrans" cxnId="{435F602A-80E4-42C8-9520-000D194F38F4}">
      <dgm:prSet/>
      <dgm:spPr/>
      <dgm:t>
        <a:bodyPr/>
        <a:lstStyle/>
        <a:p>
          <a:endParaRPr lang="en-US"/>
        </a:p>
      </dgm:t>
    </dgm:pt>
    <dgm:pt modelId="{EB91F8EB-651D-452A-AED8-846460FDA08C}" type="sibTrans" cxnId="{435F602A-80E4-42C8-9520-000D194F38F4}">
      <dgm:prSet/>
      <dgm:spPr/>
      <dgm:t>
        <a:bodyPr/>
        <a:lstStyle/>
        <a:p>
          <a:endParaRPr lang="en-US"/>
        </a:p>
      </dgm:t>
    </dgm:pt>
    <dgm:pt modelId="{D5EF76F0-6CA5-431D-894B-324B12969713}">
      <dgm:prSet/>
      <dgm:spPr/>
      <dgm:t>
        <a:bodyPr/>
        <a:lstStyle/>
        <a:p>
          <a:r>
            <a:rPr lang="en-US" b="1"/>
            <a:t>5. Real-Time Monitoring: </a:t>
          </a:r>
          <a:r>
            <a:rPr lang="en-US"/>
            <a:t>Continuous monitoring requires a system that can process live webcam or CCTV video and provide classification results with minimal delay.</a:t>
          </a:r>
        </a:p>
      </dgm:t>
    </dgm:pt>
    <dgm:pt modelId="{C3E74392-6884-48B2-AB45-66AA01FFDB34}" type="parTrans" cxnId="{458DC6D8-1EBF-4EFE-9BF1-926FA42061B2}">
      <dgm:prSet/>
      <dgm:spPr/>
      <dgm:t>
        <a:bodyPr/>
        <a:lstStyle/>
        <a:p>
          <a:endParaRPr lang="en-US"/>
        </a:p>
      </dgm:t>
    </dgm:pt>
    <dgm:pt modelId="{B1A794A0-2EE5-4652-B16D-07C7F036DAF0}" type="sibTrans" cxnId="{458DC6D8-1EBF-4EFE-9BF1-926FA42061B2}">
      <dgm:prSet/>
      <dgm:spPr/>
      <dgm:t>
        <a:bodyPr/>
        <a:lstStyle/>
        <a:p>
          <a:endParaRPr lang="en-US"/>
        </a:p>
      </dgm:t>
    </dgm:pt>
    <dgm:pt modelId="{C8A36D97-8FF4-40EA-8A8F-3ADECA5E1E7D}">
      <dgm:prSet/>
      <dgm:spPr/>
      <dgm:t>
        <a:bodyPr/>
        <a:lstStyle/>
        <a:p>
          <a:r>
            <a:rPr lang="en-US" b="1"/>
            <a:t>6. Automated Alerts and Logging:</a:t>
          </a:r>
          <a:r>
            <a:rPr lang="en-US"/>
            <a:t> Manual identification and recording of safety violations can delay corrective action. An automated mechanism can help flag and record potential violations.</a:t>
          </a:r>
        </a:p>
      </dgm:t>
    </dgm:pt>
    <dgm:pt modelId="{B673F09B-93A8-4A91-A234-F83887268343}" type="parTrans" cxnId="{DE5090BE-9113-41D0-8DC6-359F4FDF9EB0}">
      <dgm:prSet/>
      <dgm:spPr/>
      <dgm:t>
        <a:bodyPr/>
        <a:lstStyle/>
        <a:p>
          <a:endParaRPr lang="en-US"/>
        </a:p>
      </dgm:t>
    </dgm:pt>
    <dgm:pt modelId="{CE0FAAB2-1FD2-4D29-A7C0-C582B4415029}" type="sibTrans" cxnId="{DE5090BE-9113-41D0-8DC6-359F4FDF9EB0}">
      <dgm:prSet/>
      <dgm:spPr/>
      <dgm:t>
        <a:bodyPr/>
        <a:lstStyle/>
        <a:p>
          <a:endParaRPr lang="en-US"/>
        </a:p>
      </dgm:t>
    </dgm:pt>
    <dgm:pt modelId="{44E398AE-6B96-4CFD-9AF0-C7E9460C48CC}" type="pres">
      <dgm:prSet presAssocID="{5B8807DF-7585-407A-9C8D-2D272E3A1C9F}" presName="vert0" presStyleCnt="0">
        <dgm:presLayoutVars>
          <dgm:dir/>
          <dgm:animOne val="branch"/>
          <dgm:animLvl val="lvl"/>
        </dgm:presLayoutVars>
      </dgm:prSet>
      <dgm:spPr/>
    </dgm:pt>
    <dgm:pt modelId="{25341D28-2749-43CD-AE5E-4A7DA345BCD3}" type="pres">
      <dgm:prSet presAssocID="{CC89B00F-AB2D-41DD-BCFA-DC6A9DEC1F28}" presName="thickLine" presStyleLbl="alignNode1" presStyleIdx="0" presStyleCnt="6"/>
      <dgm:spPr/>
    </dgm:pt>
    <dgm:pt modelId="{A5F24FF8-FCE6-490D-9010-97D89ED417E2}" type="pres">
      <dgm:prSet presAssocID="{CC89B00F-AB2D-41DD-BCFA-DC6A9DEC1F28}" presName="horz1" presStyleCnt="0"/>
      <dgm:spPr/>
    </dgm:pt>
    <dgm:pt modelId="{EE8FA7C0-D0A0-4159-B40D-6C31AA8D2C51}" type="pres">
      <dgm:prSet presAssocID="{CC89B00F-AB2D-41DD-BCFA-DC6A9DEC1F28}" presName="tx1" presStyleLbl="revTx" presStyleIdx="0" presStyleCnt="6"/>
      <dgm:spPr/>
    </dgm:pt>
    <dgm:pt modelId="{2ABDA5F6-9CA3-44D3-9A3D-9B761FAE760B}" type="pres">
      <dgm:prSet presAssocID="{CC89B00F-AB2D-41DD-BCFA-DC6A9DEC1F28}" presName="vert1" presStyleCnt="0"/>
      <dgm:spPr/>
    </dgm:pt>
    <dgm:pt modelId="{96E2B112-1216-4732-90B6-7AB7EF8C89A0}" type="pres">
      <dgm:prSet presAssocID="{D21B8F9F-04C7-40EB-BE7E-EAE0AA27588A}" presName="thickLine" presStyleLbl="alignNode1" presStyleIdx="1" presStyleCnt="6"/>
      <dgm:spPr/>
    </dgm:pt>
    <dgm:pt modelId="{C6E52D1B-D3C3-4208-AEF3-D0BBC8832F0C}" type="pres">
      <dgm:prSet presAssocID="{D21B8F9F-04C7-40EB-BE7E-EAE0AA27588A}" presName="horz1" presStyleCnt="0"/>
      <dgm:spPr/>
    </dgm:pt>
    <dgm:pt modelId="{9632F996-1712-4C39-818D-13F4B5F7D002}" type="pres">
      <dgm:prSet presAssocID="{D21B8F9F-04C7-40EB-BE7E-EAE0AA27588A}" presName="tx1" presStyleLbl="revTx" presStyleIdx="1" presStyleCnt="6"/>
      <dgm:spPr/>
    </dgm:pt>
    <dgm:pt modelId="{C8296D53-B86D-420F-A08A-723480DDF622}" type="pres">
      <dgm:prSet presAssocID="{D21B8F9F-04C7-40EB-BE7E-EAE0AA27588A}" presName="vert1" presStyleCnt="0"/>
      <dgm:spPr/>
    </dgm:pt>
    <dgm:pt modelId="{F54B0951-6D2B-4951-9A07-6CD13A42D053}" type="pres">
      <dgm:prSet presAssocID="{EB3DFE83-2C75-42D3-AA42-7BECC8F0F03E}" presName="thickLine" presStyleLbl="alignNode1" presStyleIdx="2" presStyleCnt="6"/>
      <dgm:spPr/>
    </dgm:pt>
    <dgm:pt modelId="{396A89AD-CD9B-408A-A536-C9A49E587655}" type="pres">
      <dgm:prSet presAssocID="{EB3DFE83-2C75-42D3-AA42-7BECC8F0F03E}" presName="horz1" presStyleCnt="0"/>
      <dgm:spPr/>
    </dgm:pt>
    <dgm:pt modelId="{AD53126F-4B4F-42F2-825E-BA2453A291D5}" type="pres">
      <dgm:prSet presAssocID="{EB3DFE83-2C75-42D3-AA42-7BECC8F0F03E}" presName="tx1" presStyleLbl="revTx" presStyleIdx="2" presStyleCnt="6"/>
      <dgm:spPr/>
    </dgm:pt>
    <dgm:pt modelId="{72139A3E-DD16-4F80-9C0D-3AE432B19CCE}" type="pres">
      <dgm:prSet presAssocID="{EB3DFE83-2C75-42D3-AA42-7BECC8F0F03E}" presName="vert1" presStyleCnt="0"/>
      <dgm:spPr/>
    </dgm:pt>
    <dgm:pt modelId="{26C832C0-A4B3-478E-A0BA-A47140457C4A}" type="pres">
      <dgm:prSet presAssocID="{7AE43A71-905F-43E6-A16D-1DF8FB1655BF}" presName="thickLine" presStyleLbl="alignNode1" presStyleIdx="3" presStyleCnt="6"/>
      <dgm:spPr/>
    </dgm:pt>
    <dgm:pt modelId="{85D6326F-C746-4451-B26E-284A0AB02492}" type="pres">
      <dgm:prSet presAssocID="{7AE43A71-905F-43E6-A16D-1DF8FB1655BF}" presName="horz1" presStyleCnt="0"/>
      <dgm:spPr/>
    </dgm:pt>
    <dgm:pt modelId="{6B17899F-2953-42A4-B400-2DABEDCD2CC3}" type="pres">
      <dgm:prSet presAssocID="{7AE43A71-905F-43E6-A16D-1DF8FB1655BF}" presName="tx1" presStyleLbl="revTx" presStyleIdx="3" presStyleCnt="6"/>
      <dgm:spPr/>
    </dgm:pt>
    <dgm:pt modelId="{F9898EDA-2278-4F18-A3B0-AC8693AE0090}" type="pres">
      <dgm:prSet presAssocID="{7AE43A71-905F-43E6-A16D-1DF8FB1655BF}" presName="vert1" presStyleCnt="0"/>
      <dgm:spPr/>
    </dgm:pt>
    <dgm:pt modelId="{61D648B4-5BEA-427E-B0AE-D5FFC1DB44E5}" type="pres">
      <dgm:prSet presAssocID="{D5EF76F0-6CA5-431D-894B-324B12969713}" presName="thickLine" presStyleLbl="alignNode1" presStyleIdx="4" presStyleCnt="6"/>
      <dgm:spPr/>
    </dgm:pt>
    <dgm:pt modelId="{CE46A865-5525-435B-BB3F-8981472663A9}" type="pres">
      <dgm:prSet presAssocID="{D5EF76F0-6CA5-431D-894B-324B12969713}" presName="horz1" presStyleCnt="0"/>
      <dgm:spPr/>
    </dgm:pt>
    <dgm:pt modelId="{2D1E73FD-B291-42C3-8E77-565DC894CC61}" type="pres">
      <dgm:prSet presAssocID="{D5EF76F0-6CA5-431D-894B-324B12969713}" presName="tx1" presStyleLbl="revTx" presStyleIdx="4" presStyleCnt="6"/>
      <dgm:spPr/>
    </dgm:pt>
    <dgm:pt modelId="{7CA2BE79-7807-4953-8BCC-FCDB44EB6F2D}" type="pres">
      <dgm:prSet presAssocID="{D5EF76F0-6CA5-431D-894B-324B12969713}" presName="vert1" presStyleCnt="0"/>
      <dgm:spPr/>
    </dgm:pt>
    <dgm:pt modelId="{FDB28771-725C-4ED7-B770-ABDE2B143749}" type="pres">
      <dgm:prSet presAssocID="{C8A36D97-8FF4-40EA-8A8F-3ADECA5E1E7D}" presName="thickLine" presStyleLbl="alignNode1" presStyleIdx="5" presStyleCnt="6"/>
      <dgm:spPr/>
    </dgm:pt>
    <dgm:pt modelId="{0783EA7B-BA97-4783-8482-C59B76F8DBE5}" type="pres">
      <dgm:prSet presAssocID="{C8A36D97-8FF4-40EA-8A8F-3ADECA5E1E7D}" presName="horz1" presStyleCnt="0"/>
      <dgm:spPr/>
    </dgm:pt>
    <dgm:pt modelId="{7B143B1B-BB6F-4A88-92E2-D14569E13949}" type="pres">
      <dgm:prSet presAssocID="{C8A36D97-8FF4-40EA-8A8F-3ADECA5E1E7D}" presName="tx1" presStyleLbl="revTx" presStyleIdx="5" presStyleCnt="6"/>
      <dgm:spPr/>
    </dgm:pt>
    <dgm:pt modelId="{33C42984-EC2D-44F8-BFA9-BD52E7C03E0E}" type="pres">
      <dgm:prSet presAssocID="{C8A36D97-8FF4-40EA-8A8F-3ADECA5E1E7D}" presName="vert1" presStyleCnt="0"/>
      <dgm:spPr/>
    </dgm:pt>
  </dgm:ptLst>
  <dgm:cxnLst>
    <dgm:cxn modelId="{5DC1CB10-8520-48BC-9382-4325CC40F92F}" type="presOf" srcId="{7AE43A71-905F-43E6-A16D-1DF8FB1655BF}" destId="{6B17899F-2953-42A4-B400-2DABEDCD2CC3}" srcOrd="0" destOrd="0" presId="urn:microsoft.com/office/officeart/2008/layout/LinedList"/>
    <dgm:cxn modelId="{A902DB1E-A6E9-43A7-B043-DE52982A9F0E}" type="presOf" srcId="{D5EF76F0-6CA5-431D-894B-324B12969713}" destId="{2D1E73FD-B291-42C3-8E77-565DC894CC61}" srcOrd="0" destOrd="0" presId="urn:microsoft.com/office/officeart/2008/layout/LinedList"/>
    <dgm:cxn modelId="{435F602A-80E4-42C8-9520-000D194F38F4}" srcId="{5B8807DF-7585-407A-9C8D-2D272E3A1C9F}" destId="{7AE43A71-905F-43E6-A16D-1DF8FB1655BF}" srcOrd="3" destOrd="0" parTransId="{D5ECE8A6-54A3-4D55-B67E-B1198B2B0716}" sibTransId="{EB91F8EB-651D-452A-AED8-846460FDA08C}"/>
    <dgm:cxn modelId="{DEB4F45F-CD5C-431A-8BE1-27AC7CC2327E}" type="presOf" srcId="{5B8807DF-7585-407A-9C8D-2D272E3A1C9F}" destId="{44E398AE-6B96-4CFD-9AF0-C7E9460C48CC}" srcOrd="0" destOrd="0" presId="urn:microsoft.com/office/officeart/2008/layout/LinedList"/>
    <dgm:cxn modelId="{43774D70-1405-460A-9F78-8AFBD178F152}" type="presOf" srcId="{D21B8F9F-04C7-40EB-BE7E-EAE0AA27588A}" destId="{9632F996-1712-4C39-818D-13F4B5F7D002}" srcOrd="0" destOrd="0" presId="urn:microsoft.com/office/officeart/2008/layout/LinedList"/>
    <dgm:cxn modelId="{53B4C155-A91E-4435-A36A-899018652805}" srcId="{5B8807DF-7585-407A-9C8D-2D272E3A1C9F}" destId="{EB3DFE83-2C75-42D3-AA42-7BECC8F0F03E}" srcOrd="2" destOrd="0" parTransId="{ACEAAC86-7A88-4BBB-89E4-45BCCDC71EC5}" sibTransId="{4E8A62F9-7686-4A82-9EB5-4578D826421B}"/>
    <dgm:cxn modelId="{14CFF17A-58D0-4EBD-812F-12300E2AE41C}" srcId="{5B8807DF-7585-407A-9C8D-2D272E3A1C9F}" destId="{CC89B00F-AB2D-41DD-BCFA-DC6A9DEC1F28}" srcOrd="0" destOrd="0" parTransId="{59402C25-3440-4B77-9F12-4413EE38D443}" sibTransId="{17345766-8644-442D-95A9-ADC735B9210C}"/>
    <dgm:cxn modelId="{9899077C-66C8-47DA-9236-081126DCB491}" type="presOf" srcId="{EB3DFE83-2C75-42D3-AA42-7BECC8F0F03E}" destId="{AD53126F-4B4F-42F2-825E-BA2453A291D5}" srcOrd="0" destOrd="0" presId="urn:microsoft.com/office/officeart/2008/layout/LinedList"/>
    <dgm:cxn modelId="{2B0E5680-DBBF-43C6-B21A-53D0B5CBFF90}" type="presOf" srcId="{CC89B00F-AB2D-41DD-BCFA-DC6A9DEC1F28}" destId="{EE8FA7C0-D0A0-4159-B40D-6C31AA8D2C51}" srcOrd="0" destOrd="0" presId="urn:microsoft.com/office/officeart/2008/layout/LinedList"/>
    <dgm:cxn modelId="{6B91ADB1-CBA4-4459-BA4F-5801F31F4B8A}" srcId="{5B8807DF-7585-407A-9C8D-2D272E3A1C9F}" destId="{D21B8F9F-04C7-40EB-BE7E-EAE0AA27588A}" srcOrd="1" destOrd="0" parTransId="{2E59B69B-FDBA-4BD2-ADE7-5B64F6FAAE8F}" sibTransId="{A655A054-836F-42E9-B4FC-6831F4DE5246}"/>
    <dgm:cxn modelId="{DE5090BE-9113-41D0-8DC6-359F4FDF9EB0}" srcId="{5B8807DF-7585-407A-9C8D-2D272E3A1C9F}" destId="{C8A36D97-8FF4-40EA-8A8F-3ADECA5E1E7D}" srcOrd="5" destOrd="0" parTransId="{B673F09B-93A8-4A91-A234-F83887268343}" sibTransId="{CE0FAAB2-1FD2-4D29-A7C0-C582B4415029}"/>
    <dgm:cxn modelId="{E8A9F7C5-3F70-4710-A860-E9D3DD781C1B}" type="presOf" srcId="{C8A36D97-8FF4-40EA-8A8F-3ADECA5E1E7D}" destId="{7B143B1B-BB6F-4A88-92E2-D14569E13949}" srcOrd="0" destOrd="0" presId="urn:microsoft.com/office/officeart/2008/layout/LinedList"/>
    <dgm:cxn modelId="{458DC6D8-1EBF-4EFE-9BF1-926FA42061B2}" srcId="{5B8807DF-7585-407A-9C8D-2D272E3A1C9F}" destId="{D5EF76F0-6CA5-431D-894B-324B12969713}" srcOrd="4" destOrd="0" parTransId="{C3E74392-6884-48B2-AB45-66AA01FFDB34}" sibTransId="{B1A794A0-2EE5-4652-B16D-07C7F036DAF0}"/>
    <dgm:cxn modelId="{7C1A050B-2D7C-492E-B918-65CC151CFD21}" type="presParOf" srcId="{44E398AE-6B96-4CFD-9AF0-C7E9460C48CC}" destId="{25341D28-2749-43CD-AE5E-4A7DA345BCD3}" srcOrd="0" destOrd="0" presId="urn:microsoft.com/office/officeart/2008/layout/LinedList"/>
    <dgm:cxn modelId="{51199DF1-9363-475A-942C-B1C4F8DE230B}" type="presParOf" srcId="{44E398AE-6B96-4CFD-9AF0-C7E9460C48CC}" destId="{A5F24FF8-FCE6-490D-9010-97D89ED417E2}" srcOrd="1" destOrd="0" presId="urn:microsoft.com/office/officeart/2008/layout/LinedList"/>
    <dgm:cxn modelId="{8E17DBA5-DC28-4DC7-A580-F36B40826E04}" type="presParOf" srcId="{A5F24FF8-FCE6-490D-9010-97D89ED417E2}" destId="{EE8FA7C0-D0A0-4159-B40D-6C31AA8D2C51}" srcOrd="0" destOrd="0" presId="urn:microsoft.com/office/officeart/2008/layout/LinedList"/>
    <dgm:cxn modelId="{173C0F41-D201-4122-9FFB-4D22B781F0CF}" type="presParOf" srcId="{A5F24FF8-FCE6-490D-9010-97D89ED417E2}" destId="{2ABDA5F6-9CA3-44D3-9A3D-9B761FAE760B}" srcOrd="1" destOrd="0" presId="urn:microsoft.com/office/officeart/2008/layout/LinedList"/>
    <dgm:cxn modelId="{78B8EAEB-5694-427C-963B-4CCBC6740A29}" type="presParOf" srcId="{44E398AE-6B96-4CFD-9AF0-C7E9460C48CC}" destId="{96E2B112-1216-4732-90B6-7AB7EF8C89A0}" srcOrd="2" destOrd="0" presId="urn:microsoft.com/office/officeart/2008/layout/LinedList"/>
    <dgm:cxn modelId="{A2D0ED12-353D-42F6-950F-05127FA1AFAD}" type="presParOf" srcId="{44E398AE-6B96-4CFD-9AF0-C7E9460C48CC}" destId="{C6E52D1B-D3C3-4208-AEF3-D0BBC8832F0C}" srcOrd="3" destOrd="0" presId="urn:microsoft.com/office/officeart/2008/layout/LinedList"/>
    <dgm:cxn modelId="{3AD37DB2-6F57-412D-8B3B-6AF1EC3B65AD}" type="presParOf" srcId="{C6E52D1B-D3C3-4208-AEF3-D0BBC8832F0C}" destId="{9632F996-1712-4C39-818D-13F4B5F7D002}" srcOrd="0" destOrd="0" presId="urn:microsoft.com/office/officeart/2008/layout/LinedList"/>
    <dgm:cxn modelId="{5E91B2C8-6CB1-495B-AAD7-13D61D2926C4}" type="presParOf" srcId="{C6E52D1B-D3C3-4208-AEF3-D0BBC8832F0C}" destId="{C8296D53-B86D-420F-A08A-723480DDF622}" srcOrd="1" destOrd="0" presId="urn:microsoft.com/office/officeart/2008/layout/LinedList"/>
    <dgm:cxn modelId="{A27A1B57-F4C8-4A4D-859B-A0AF180793B8}" type="presParOf" srcId="{44E398AE-6B96-4CFD-9AF0-C7E9460C48CC}" destId="{F54B0951-6D2B-4951-9A07-6CD13A42D053}" srcOrd="4" destOrd="0" presId="urn:microsoft.com/office/officeart/2008/layout/LinedList"/>
    <dgm:cxn modelId="{00864D5A-42E0-4187-968F-3732EF26168F}" type="presParOf" srcId="{44E398AE-6B96-4CFD-9AF0-C7E9460C48CC}" destId="{396A89AD-CD9B-408A-A536-C9A49E587655}" srcOrd="5" destOrd="0" presId="urn:microsoft.com/office/officeart/2008/layout/LinedList"/>
    <dgm:cxn modelId="{7798C5A0-88E5-47F8-8DA0-2B9FC039B6FA}" type="presParOf" srcId="{396A89AD-CD9B-408A-A536-C9A49E587655}" destId="{AD53126F-4B4F-42F2-825E-BA2453A291D5}" srcOrd="0" destOrd="0" presId="urn:microsoft.com/office/officeart/2008/layout/LinedList"/>
    <dgm:cxn modelId="{0CF19A83-12CA-4A49-BF3F-02FC41DE3FDE}" type="presParOf" srcId="{396A89AD-CD9B-408A-A536-C9A49E587655}" destId="{72139A3E-DD16-4F80-9C0D-3AE432B19CCE}" srcOrd="1" destOrd="0" presId="urn:microsoft.com/office/officeart/2008/layout/LinedList"/>
    <dgm:cxn modelId="{BA7119C7-019A-4052-BBAF-847F04D5F862}" type="presParOf" srcId="{44E398AE-6B96-4CFD-9AF0-C7E9460C48CC}" destId="{26C832C0-A4B3-478E-A0BA-A47140457C4A}" srcOrd="6" destOrd="0" presId="urn:microsoft.com/office/officeart/2008/layout/LinedList"/>
    <dgm:cxn modelId="{8897BFC7-AC1B-45FC-BB7C-075BE29A2E4B}" type="presParOf" srcId="{44E398AE-6B96-4CFD-9AF0-C7E9460C48CC}" destId="{85D6326F-C746-4451-B26E-284A0AB02492}" srcOrd="7" destOrd="0" presId="urn:microsoft.com/office/officeart/2008/layout/LinedList"/>
    <dgm:cxn modelId="{A91B02BC-E36C-4D7E-8F57-53FA767B0B30}" type="presParOf" srcId="{85D6326F-C746-4451-B26E-284A0AB02492}" destId="{6B17899F-2953-42A4-B400-2DABEDCD2CC3}" srcOrd="0" destOrd="0" presId="urn:microsoft.com/office/officeart/2008/layout/LinedList"/>
    <dgm:cxn modelId="{538D886F-09DD-4A96-A9B9-9779C79ADE25}" type="presParOf" srcId="{85D6326F-C746-4451-B26E-284A0AB02492}" destId="{F9898EDA-2278-4F18-A3B0-AC8693AE0090}" srcOrd="1" destOrd="0" presId="urn:microsoft.com/office/officeart/2008/layout/LinedList"/>
    <dgm:cxn modelId="{20442E80-4EAC-45B0-BC80-776F02F72A63}" type="presParOf" srcId="{44E398AE-6B96-4CFD-9AF0-C7E9460C48CC}" destId="{61D648B4-5BEA-427E-B0AE-D5FFC1DB44E5}" srcOrd="8" destOrd="0" presId="urn:microsoft.com/office/officeart/2008/layout/LinedList"/>
    <dgm:cxn modelId="{30C3A845-A4C3-47CE-BE35-B2EC556720B1}" type="presParOf" srcId="{44E398AE-6B96-4CFD-9AF0-C7E9460C48CC}" destId="{CE46A865-5525-435B-BB3F-8981472663A9}" srcOrd="9" destOrd="0" presId="urn:microsoft.com/office/officeart/2008/layout/LinedList"/>
    <dgm:cxn modelId="{42471D5B-D478-4261-9EFC-57B52EB683A2}" type="presParOf" srcId="{CE46A865-5525-435B-BB3F-8981472663A9}" destId="{2D1E73FD-B291-42C3-8E77-565DC894CC61}" srcOrd="0" destOrd="0" presId="urn:microsoft.com/office/officeart/2008/layout/LinedList"/>
    <dgm:cxn modelId="{50BE79D2-4F30-4079-B607-A4ABA6576CB3}" type="presParOf" srcId="{CE46A865-5525-435B-BB3F-8981472663A9}" destId="{7CA2BE79-7807-4953-8BCC-FCDB44EB6F2D}" srcOrd="1" destOrd="0" presId="urn:microsoft.com/office/officeart/2008/layout/LinedList"/>
    <dgm:cxn modelId="{E7E0E9C9-6BF7-4DD0-9E76-550D5E9B200B}" type="presParOf" srcId="{44E398AE-6B96-4CFD-9AF0-C7E9460C48CC}" destId="{FDB28771-725C-4ED7-B770-ABDE2B143749}" srcOrd="10" destOrd="0" presId="urn:microsoft.com/office/officeart/2008/layout/LinedList"/>
    <dgm:cxn modelId="{68C95D61-7F52-4019-8DA7-9C2F07CB0BC1}" type="presParOf" srcId="{44E398AE-6B96-4CFD-9AF0-C7E9460C48CC}" destId="{0783EA7B-BA97-4783-8482-C59B76F8DBE5}" srcOrd="11" destOrd="0" presId="urn:microsoft.com/office/officeart/2008/layout/LinedList"/>
    <dgm:cxn modelId="{1F4EA86A-AA48-4C31-AAC6-522D7958FA61}" type="presParOf" srcId="{0783EA7B-BA97-4783-8482-C59B76F8DBE5}" destId="{7B143B1B-BB6F-4A88-92E2-D14569E13949}" srcOrd="0" destOrd="0" presId="urn:microsoft.com/office/officeart/2008/layout/LinedList"/>
    <dgm:cxn modelId="{C0923AFE-BEE1-40EE-9D08-7F75123400EB}" type="presParOf" srcId="{0783EA7B-BA97-4783-8482-C59B76F8DBE5}" destId="{33C42984-EC2D-44F8-BFA9-BD52E7C03E0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41D28-2749-43CD-AE5E-4A7DA345BCD3}">
      <dsp:nvSpPr>
        <dsp:cNvPr id="0" name=""/>
        <dsp:cNvSpPr/>
      </dsp:nvSpPr>
      <dsp:spPr>
        <a:xfrm>
          <a:off x="0" y="2472"/>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FA7C0-D0A0-4159-B40D-6C31AA8D2C51}">
      <dsp:nvSpPr>
        <dsp:cNvPr id="0" name=""/>
        <dsp:cNvSpPr/>
      </dsp:nvSpPr>
      <dsp:spPr>
        <a:xfrm>
          <a:off x="0" y="2472"/>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1. Manual Safety Monitoring:</a:t>
          </a:r>
          <a:r>
            <a:rPr lang="en-US" sz="2200" kern="1200"/>
            <a:t> Manual monitoring of laboratory personnel is time-consuming and makes continuous safety compliance difficult.</a:t>
          </a:r>
        </a:p>
      </dsp:txBody>
      <dsp:txXfrm>
        <a:off x="0" y="2472"/>
        <a:ext cx="12184023" cy="842996"/>
      </dsp:txXfrm>
    </dsp:sp>
    <dsp:sp modelId="{96E2B112-1216-4732-90B6-7AB7EF8C89A0}">
      <dsp:nvSpPr>
        <dsp:cNvPr id="0" name=""/>
        <dsp:cNvSpPr/>
      </dsp:nvSpPr>
      <dsp:spPr>
        <a:xfrm>
          <a:off x="0" y="845468"/>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32F996-1712-4C39-818D-13F4B5F7D002}">
      <dsp:nvSpPr>
        <dsp:cNvPr id="0" name=""/>
        <dsp:cNvSpPr/>
      </dsp:nvSpPr>
      <dsp:spPr>
        <a:xfrm>
          <a:off x="0" y="845468"/>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2. Facial Occlusion Detection:</a:t>
          </a:r>
          <a:r>
            <a:rPr lang="en-US" sz="2200" kern="1200"/>
            <a:t> Objects such as masks, scarves, hands, and other coverings can obstruct facial visibility, making automated monitoring challenging.</a:t>
          </a:r>
        </a:p>
      </dsp:txBody>
      <dsp:txXfrm>
        <a:off x="0" y="845468"/>
        <a:ext cx="12184023" cy="842996"/>
      </dsp:txXfrm>
    </dsp:sp>
    <dsp:sp modelId="{F54B0951-6D2B-4951-9A07-6CD13A42D053}">
      <dsp:nvSpPr>
        <dsp:cNvPr id="0" name=""/>
        <dsp:cNvSpPr/>
      </dsp:nvSpPr>
      <dsp:spPr>
        <a:xfrm>
          <a:off x="0" y="1688465"/>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53126F-4B4F-42F2-825E-BA2453A291D5}">
      <dsp:nvSpPr>
        <dsp:cNvPr id="0" name=""/>
        <dsp:cNvSpPr/>
      </dsp:nvSpPr>
      <dsp:spPr>
        <a:xfrm>
          <a:off x="0" y="1688465"/>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3. PPE Compliance Verification:</a:t>
          </a:r>
          <a:r>
            <a:rPr lang="en-US" sz="2200" kern="1200"/>
            <a:t> Existing face detection systems may detect a face without verifying whether the person is wearing the required combination of a face mask and safety goggles.</a:t>
          </a:r>
        </a:p>
      </dsp:txBody>
      <dsp:txXfrm>
        <a:off x="0" y="1688465"/>
        <a:ext cx="12184023" cy="842996"/>
      </dsp:txXfrm>
    </dsp:sp>
    <dsp:sp modelId="{26C832C0-A4B3-478E-A0BA-A47140457C4A}">
      <dsp:nvSpPr>
        <dsp:cNvPr id="0" name=""/>
        <dsp:cNvSpPr/>
      </dsp:nvSpPr>
      <dsp:spPr>
        <a:xfrm>
          <a:off x="0" y="2531461"/>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17899F-2953-42A4-B400-2DABEDCD2CC3}">
      <dsp:nvSpPr>
        <dsp:cNvPr id="0" name=""/>
        <dsp:cNvSpPr/>
      </dsp:nvSpPr>
      <dsp:spPr>
        <a:xfrm>
          <a:off x="0" y="2531462"/>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4. Classification of Facial Conditions:</a:t>
          </a:r>
          <a:r>
            <a:rPr lang="en-US" sz="2200" kern="1200"/>
            <a:t> A system is needed to distinguish between fully visible faces, faces wearing the required PPE, and faces with improper or unauthorized occlusions.</a:t>
          </a:r>
        </a:p>
      </dsp:txBody>
      <dsp:txXfrm>
        <a:off x="0" y="2531462"/>
        <a:ext cx="12184023" cy="842996"/>
      </dsp:txXfrm>
    </dsp:sp>
    <dsp:sp modelId="{61D648B4-5BEA-427E-B0AE-D5FFC1DB44E5}">
      <dsp:nvSpPr>
        <dsp:cNvPr id="0" name=""/>
        <dsp:cNvSpPr/>
      </dsp:nvSpPr>
      <dsp:spPr>
        <a:xfrm>
          <a:off x="0" y="3374458"/>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1E73FD-B291-42C3-8E77-565DC894CC61}">
      <dsp:nvSpPr>
        <dsp:cNvPr id="0" name=""/>
        <dsp:cNvSpPr/>
      </dsp:nvSpPr>
      <dsp:spPr>
        <a:xfrm>
          <a:off x="0" y="3374458"/>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5. Real-Time Monitoring: </a:t>
          </a:r>
          <a:r>
            <a:rPr lang="en-US" sz="2200" kern="1200"/>
            <a:t>Continuous monitoring requires a system that can process live webcam or CCTV video and provide classification results with minimal delay.</a:t>
          </a:r>
        </a:p>
      </dsp:txBody>
      <dsp:txXfrm>
        <a:off x="0" y="3374458"/>
        <a:ext cx="12184023" cy="842996"/>
      </dsp:txXfrm>
    </dsp:sp>
    <dsp:sp modelId="{FDB28771-725C-4ED7-B770-ABDE2B143749}">
      <dsp:nvSpPr>
        <dsp:cNvPr id="0" name=""/>
        <dsp:cNvSpPr/>
      </dsp:nvSpPr>
      <dsp:spPr>
        <a:xfrm>
          <a:off x="0" y="4217455"/>
          <a:ext cx="1218402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143B1B-BB6F-4A88-92E2-D14569E13949}">
      <dsp:nvSpPr>
        <dsp:cNvPr id="0" name=""/>
        <dsp:cNvSpPr/>
      </dsp:nvSpPr>
      <dsp:spPr>
        <a:xfrm>
          <a:off x="0" y="4217455"/>
          <a:ext cx="12184023" cy="842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a:t>6. Automated Alerts and Logging:</a:t>
          </a:r>
          <a:r>
            <a:rPr lang="en-US" sz="2200" kern="1200"/>
            <a:t> Manual identification and recording of safety violations can delay corrective action. An automated mechanism can help flag and record potential violations.</a:t>
          </a:r>
        </a:p>
      </dsp:txBody>
      <dsp:txXfrm>
        <a:off x="0" y="4217455"/>
        <a:ext cx="12184023" cy="84299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DFA12-C41C-658F-7C7A-70DBE02C91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70E08A-6E93-A86D-787E-04A08955FE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3D3A56-2981-8345-F2CB-146154409508}"/>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D34D5DB9-D66C-6541-24CE-4E68B28733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984FC-0DCC-2CAF-3017-CE419576A623}"/>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29848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BC906-E595-E5C3-C8EE-558459E596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0F2DF8-0AA8-D049-1B75-56FB9DA37E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6E1D5C-9507-9147-7B20-33C3420E15BF}"/>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14AFF95F-3C83-37ED-3D0C-E5CE6BFD1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B8066-8978-085B-1E10-CB6DA866E0A1}"/>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137085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9ABA2-B68E-173F-2566-8144205271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120570-19CB-1C22-5AC9-24E7F1E08E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E4EEFE-67D4-6968-4D97-A0DA3AF4ADEC}"/>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6A654044-F969-ADBB-E21B-B793F80428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6E047-E88B-0388-28B0-4CBD7FED9239}"/>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89549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F4E1F-9400-1555-F1E8-1667F51F01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A45566-C71E-7F9B-5552-5D86A287C7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B1BA38-BB81-3DFC-DC1C-3993E6224A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259265-313E-7796-C9C2-E39A4D1CA6EA}"/>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87AADAE7-6231-AD75-9AF9-F26EEE9946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05CEBE-6A10-E46B-3452-0C1ED9CBCC26}"/>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725238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ED14-F7A1-5542-AA2E-9B76235244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F52F8A-5AE8-630F-8E8A-C1FE4F785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ED3BFB-4507-D4C1-AE3C-C5C8864D6A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40DE49-A162-4CAC-DC65-9155DAD0EF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8AF1E-953D-6BAB-E532-8EC2926534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43D473-2B0A-AD66-E685-AA12A63C11E5}"/>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8" name="Footer Placeholder 7">
            <a:extLst>
              <a:ext uri="{FF2B5EF4-FFF2-40B4-BE49-F238E27FC236}">
                <a16:creationId xmlns:a16="http://schemas.microsoft.com/office/drawing/2014/main" id="{2CF381EC-0F2F-A7E9-6B5A-7B69A7FA99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4622AB-432A-44DF-BEFD-B24366E8DE3F}"/>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858226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970B-C729-31D0-9F91-3D89CC2094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C0216A-C76F-AAFB-9170-9F415C49A4B5}"/>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4" name="Footer Placeholder 3">
            <a:extLst>
              <a:ext uri="{FF2B5EF4-FFF2-40B4-BE49-F238E27FC236}">
                <a16:creationId xmlns:a16="http://schemas.microsoft.com/office/drawing/2014/main" id="{19AE9EAC-A0AC-08D5-3EE0-FDF3114F6D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ACE118-FEFA-B50F-21A7-9158058EE79E}"/>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75609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9C9DE8-3A72-929F-3F80-122C9B63E723}"/>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3" name="Footer Placeholder 2">
            <a:extLst>
              <a:ext uri="{FF2B5EF4-FFF2-40B4-BE49-F238E27FC236}">
                <a16:creationId xmlns:a16="http://schemas.microsoft.com/office/drawing/2014/main" id="{2A035BC3-8C2E-FBDB-DE89-7D342985AA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1A1A52-8404-C919-5AAB-70966A53DEC2}"/>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808575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8D052-BEAE-C9CB-FBF9-CAFA4E068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1E495E-6C9C-13DA-8BB7-75FC919218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44A20A-5B6C-D65A-B670-29F6A6D36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F0340-DC53-78E4-36A9-08C36C69226E}"/>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605832FA-F9C5-E116-0BE4-1CDEE666D5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9FD0D-2AAD-C02C-0505-09847D2DCA4E}"/>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4269644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BD0C-61D7-1A7A-EA7C-E0FEFF413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17883D-1E79-29EA-6A96-049D38C24D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70BD97-08FB-29B4-A4F0-749D37A01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72F2C7-D337-D4DD-A1FF-17A3BFF928F8}"/>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6" name="Footer Placeholder 5">
            <a:extLst>
              <a:ext uri="{FF2B5EF4-FFF2-40B4-BE49-F238E27FC236}">
                <a16:creationId xmlns:a16="http://schemas.microsoft.com/office/drawing/2014/main" id="{BBF85D02-15B8-6DE6-7CFE-1691A3B98F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C290A-E4FA-72EE-95AA-E08B74A2A439}"/>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136325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50544-9402-FAB0-EC2B-2C322D49B0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49E9D1-EEBD-728F-5B2C-13C9ACD07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8B5355-7405-1448-6AB1-BEEBED4B468F}"/>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9E3C4798-8739-DC2A-4CC6-421C59EFA4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E9D98C-23EC-33DA-DFC7-0B9035B3E741}"/>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2333214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D92C24-8807-96FB-6D7E-31C1C36651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B3A348-1416-1EE6-BDA7-AC647D8327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15A15C-4625-B37E-BB11-8B00D3C3FAC7}"/>
              </a:ext>
            </a:extLst>
          </p:cNvPr>
          <p:cNvSpPr>
            <a:spLocks noGrp="1"/>
          </p:cNvSpPr>
          <p:nvPr>
            <p:ph type="dt" sz="half" idx="10"/>
          </p:nvPr>
        </p:nvSpPr>
        <p:spPr/>
        <p:txBody>
          <a:body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6942DE92-17A5-2028-4A58-EB8DFE2352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3CC348-4906-92E0-FA3E-DB7293B87FCF}"/>
              </a:ext>
            </a:extLst>
          </p:cNvPr>
          <p:cNvSpPr>
            <a:spLocks noGrp="1"/>
          </p:cNvSpPr>
          <p:nvPr>
            <p:ph type="sldNum" sz="quarter" idx="12"/>
          </p:nvPr>
        </p:nvSpPr>
        <p:spPr/>
        <p:txBody>
          <a:bodyPr/>
          <a:lstStyle/>
          <a:p>
            <a:fld id="{BB1B06F5-A015-43E6-B4A7-B11E91355DD2}" type="slidenum">
              <a:rPr lang="en-IN" smtClean="0"/>
              <a:t>‹#›</a:t>
            </a:fld>
            <a:endParaRPr lang="en-IN"/>
          </a:p>
        </p:txBody>
      </p:sp>
    </p:spTree>
    <p:extLst>
      <p:ext uri="{BB962C8B-B14F-4D97-AF65-F5344CB8AC3E}">
        <p14:creationId xmlns:p14="http://schemas.microsoft.com/office/powerpoint/2010/main" val="375616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75C228-445E-CD1B-1AFB-4AF4E84D2A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DA66D1-9518-FCD7-0617-E5B519572D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2ECC7F-94D8-035A-85F8-BC3BC0277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CF310A-8C32-4CD3-B198-B9CB638C4349}" type="datetimeFigureOut">
              <a:rPr lang="en-IN" smtClean="0"/>
              <a:t>29-10-2026</a:t>
            </a:fld>
            <a:endParaRPr lang="en-IN"/>
          </a:p>
        </p:txBody>
      </p:sp>
      <p:sp>
        <p:nvSpPr>
          <p:cNvPr id="5" name="Footer Placeholder 4">
            <a:extLst>
              <a:ext uri="{FF2B5EF4-FFF2-40B4-BE49-F238E27FC236}">
                <a16:creationId xmlns:a16="http://schemas.microsoft.com/office/drawing/2014/main" id="{A3742A15-E30E-F023-2055-006346C8D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59BCE9-66E5-1221-F5C8-7D310E01FF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1B06F5-A015-43E6-B4A7-B11E91355DD2}" type="slidenum">
              <a:rPr lang="en-IN" smtClean="0"/>
              <a:t>‹#›</a:t>
            </a:fld>
            <a:endParaRPr lang="en-IN"/>
          </a:p>
        </p:txBody>
      </p:sp>
    </p:spTree>
    <p:extLst>
      <p:ext uri="{BB962C8B-B14F-4D97-AF65-F5344CB8AC3E}">
        <p14:creationId xmlns:p14="http://schemas.microsoft.com/office/powerpoint/2010/main" val="3001583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AC73-5D91-C77F-D2F5-E4F905C01DFB}"/>
              </a:ext>
            </a:extLst>
          </p:cNvPr>
          <p:cNvSpPr>
            <a:spLocks noGrp="1"/>
          </p:cNvSpPr>
          <p:nvPr>
            <p:ph type="ctrTitle"/>
          </p:nvPr>
        </p:nvSpPr>
        <p:spPr>
          <a:xfrm>
            <a:off x="1642493" y="2763839"/>
            <a:ext cx="8270434" cy="1655762"/>
          </a:xfrm>
        </p:spPr>
        <p:txBody>
          <a:bodyPr>
            <a:noAutofit/>
          </a:bodyPr>
          <a:lstStyle/>
          <a:p>
            <a:r>
              <a:rPr lang="en-US" sz="4000" b="1">
                <a:latin typeface="Baskerville Old Face" panose="02020602080505020303" pitchFamily="18" charset="0"/>
              </a:rPr>
              <a:t>Facial Occlusion Detection and Classification in Controlled Laboratory Environments</a:t>
            </a:r>
            <a:endParaRPr lang="en-IN" sz="4000" b="1">
              <a:latin typeface="Baskerville Old Face" panose="02020602080505020303" pitchFamily="18" charset="0"/>
            </a:endParaRPr>
          </a:p>
        </p:txBody>
      </p:sp>
      <p:sp>
        <p:nvSpPr>
          <p:cNvPr id="3" name="Subtitle 2">
            <a:extLst>
              <a:ext uri="{FF2B5EF4-FFF2-40B4-BE49-F238E27FC236}">
                <a16:creationId xmlns:a16="http://schemas.microsoft.com/office/drawing/2014/main" id="{D34AEEE9-5AA6-2EBD-67CA-50AB7FE64185}"/>
              </a:ext>
            </a:extLst>
          </p:cNvPr>
          <p:cNvSpPr>
            <a:spLocks noGrp="1"/>
          </p:cNvSpPr>
          <p:nvPr>
            <p:ph type="subTitle" idx="1"/>
          </p:nvPr>
        </p:nvSpPr>
        <p:spPr>
          <a:xfrm>
            <a:off x="900545" y="4862801"/>
            <a:ext cx="3458670" cy="1655762"/>
          </a:xfrm>
        </p:spPr>
        <p:txBody>
          <a:bodyPr vert="horz" lIns="91440" tIns="45720" rIns="91440" bIns="45720" rtlCol="0" anchor="t">
            <a:normAutofit fontScale="92500" lnSpcReduction="10000"/>
          </a:bodyPr>
          <a:lstStyle/>
          <a:p>
            <a:pPr algn="l"/>
            <a:r>
              <a:rPr lang="en-US" b="1">
                <a:latin typeface="Berlin Sans FB" panose="020E0602020502020306" pitchFamily="34" charset="0"/>
              </a:rPr>
              <a:t>Presented by</a:t>
            </a:r>
          </a:p>
          <a:p>
            <a:pPr algn="l"/>
            <a:r>
              <a:rPr lang="en-IN">
                <a:latin typeface="Berlin Sans FB"/>
              </a:rPr>
              <a:t>Varshan Durai M K</a:t>
            </a:r>
            <a:endParaRPr lang="en-IN">
              <a:latin typeface="Berlin Sans FB" panose="020E0602020502020306" pitchFamily="34" charset="0"/>
            </a:endParaRPr>
          </a:p>
          <a:p>
            <a:pPr algn="l"/>
            <a:r>
              <a:rPr lang="en-IN" dirty="0" err="1">
                <a:latin typeface="Berlin Sans FB"/>
              </a:rPr>
              <a:t>Abishekamoorthy</a:t>
            </a:r>
            <a:r>
              <a:rPr lang="en-IN" dirty="0">
                <a:latin typeface="Berlin Sans FB"/>
              </a:rPr>
              <a:t> R</a:t>
            </a:r>
          </a:p>
          <a:p>
            <a:pPr algn="l"/>
            <a:r>
              <a:rPr lang="en-IN">
                <a:latin typeface="Berlin Sans FB"/>
              </a:rPr>
              <a:t>Yashvardhan Sujish Kumar</a:t>
            </a:r>
            <a:endParaRPr lang="en-IN">
              <a:latin typeface="Berlin Sans FB" panose="020E0602020502020306" pitchFamily="34" charset="0"/>
            </a:endParaRPr>
          </a:p>
        </p:txBody>
      </p:sp>
      <p:sp>
        <p:nvSpPr>
          <p:cNvPr id="5" name="TextBox 4">
            <a:extLst>
              <a:ext uri="{FF2B5EF4-FFF2-40B4-BE49-F238E27FC236}">
                <a16:creationId xmlns:a16="http://schemas.microsoft.com/office/drawing/2014/main" id="{714BD6E2-EF60-4008-42DA-C8D931EC1BD9}"/>
              </a:ext>
            </a:extLst>
          </p:cNvPr>
          <p:cNvSpPr txBox="1"/>
          <p:nvPr/>
        </p:nvSpPr>
        <p:spPr>
          <a:xfrm>
            <a:off x="8631382" y="4862801"/>
            <a:ext cx="2563091" cy="830997"/>
          </a:xfrm>
          <a:prstGeom prst="rect">
            <a:avLst/>
          </a:prstGeom>
          <a:noFill/>
        </p:spPr>
        <p:txBody>
          <a:bodyPr wrap="square" lIns="91440" tIns="45720" rIns="91440" bIns="45720" rtlCol="0" anchor="t">
            <a:spAutoFit/>
          </a:bodyPr>
          <a:lstStyle/>
          <a:p>
            <a:r>
              <a:rPr lang="en-US" sz="2400" b="1">
                <a:latin typeface="Berlin Sans FB" panose="020E0602020502020306" pitchFamily="34" charset="0"/>
              </a:rPr>
              <a:t>Guided by</a:t>
            </a:r>
          </a:p>
          <a:p>
            <a:r>
              <a:rPr lang="en-US" sz="2400">
                <a:latin typeface="Berlin Sans FB"/>
              </a:rPr>
              <a:t>Ms. Anitha</a:t>
            </a:r>
            <a:r>
              <a:rPr lang="en-US" sz="2400" dirty="0">
                <a:latin typeface="Berlin Sans FB"/>
              </a:rPr>
              <a:t> V P</a:t>
            </a:r>
            <a:endParaRPr lang="en-IN" sz="2400" dirty="0">
              <a:latin typeface="Berlin Sans FB" panose="020E0602020502020306" pitchFamily="34" charset="0"/>
            </a:endParaRPr>
          </a:p>
        </p:txBody>
      </p:sp>
      <p:pic>
        <p:nvPicPr>
          <p:cNvPr id="4" name="Picture 3" descr="A blue and white text on a black background&#10;&#10;AI-generated content may be incorrect.">
            <a:extLst>
              <a:ext uri="{FF2B5EF4-FFF2-40B4-BE49-F238E27FC236}">
                <a16:creationId xmlns:a16="http://schemas.microsoft.com/office/drawing/2014/main" id="{604C0ACA-69D9-735D-25A9-7C048D5E1ACF}"/>
              </a:ext>
            </a:extLst>
          </p:cNvPr>
          <p:cNvPicPr>
            <a:picLocks noChangeAspect="1"/>
          </p:cNvPicPr>
          <p:nvPr/>
        </p:nvPicPr>
        <p:blipFill>
          <a:blip r:embed="rId2"/>
          <a:stretch>
            <a:fillRect/>
          </a:stretch>
        </p:blipFill>
        <p:spPr>
          <a:xfrm>
            <a:off x="704490" y="-4673"/>
            <a:ext cx="10754265" cy="2453498"/>
          </a:xfrm>
          <a:prstGeom prst="rect">
            <a:avLst/>
          </a:prstGeom>
        </p:spPr>
      </p:pic>
    </p:spTree>
    <p:extLst>
      <p:ext uri="{BB962C8B-B14F-4D97-AF65-F5344CB8AC3E}">
        <p14:creationId xmlns:p14="http://schemas.microsoft.com/office/powerpoint/2010/main" val="183301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BF4C12-D41D-C879-F435-2E7DC10F20A0}"/>
              </a:ext>
            </a:extLst>
          </p:cNvPr>
          <p:cNvSpPr>
            <a:spLocks noGrp="1"/>
          </p:cNvSpPr>
          <p:nvPr>
            <p:ph type="title"/>
          </p:nvPr>
        </p:nvSpPr>
        <p:spPr>
          <a:xfrm>
            <a:off x="5894962" y="479493"/>
            <a:ext cx="5458838" cy="1325563"/>
          </a:xfrm>
        </p:spPr>
        <p:txBody>
          <a:bodyPr>
            <a:normAutofit/>
          </a:bodyPr>
          <a:lstStyle/>
          <a:p>
            <a:r>
              <a:rPr lang="en-US" b="1">
                <a:highlight>
                  <a:srgbClr val="C0C0C0"/>
                </a:highlight>
                <a:latin typeface="Baskerville Old Face" panose="02020602080505020303" pitchFamily="18" charset="0"/>
              </a:rPr>
              <a:t>ABSTRACT</a:t>
            </a:r>
            <a:endParaRPr lang="en-IN" b="1">
              <a:highlight>
                <a:srgbClr val="C0C0C0"/>
              </a:highlight>
              <a:latin typeface="Baskerville Old Face" panose="02020602080505020303" pitchFamily="18" charset="0"/>
            </a:endParaRP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blue poster with icons of personal protective equipment&#10;&#10;AI-generated content may be incorrect.">
            <a:extLst>
              <a:ext uri="{FF2B5EF4-FFF2-40B4-BE49-F238E27FC236}">
                <a16:creationId xmlns:a16="http://schemas.microsoft.com/office/drawing/2014/main" id="{41BD91FD-43CF-C3D5-7EFF-876EB5771058}"/>
              </a:ext>
            </a:extLst>
          </p:cNvPr>
          <p:cNvPicPr>
            <a:picLocks noChangeAspect="1"/>
          </p:cNvPicPr>
          <p:nvPr/>
        </p:nvPicPr>
        <p:blipFill>
          <a:blip r:embed="rId2"/>
          <a:stretch>
            <a:fillRect/>
          </a:stretch>
        </p:blipFill>
        <p:spPr>
          <a:xfrm>
            <a:off x="703182" y="563447"/>
            <a:ext cx="4777381" cy="556136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330890D-A1ED-09AC-1DA3-DD05E5CA22B2}"/>
              </a:ext>
            </a:extLst>
          </p:cNvPr>
          <p:cNvSpPr>
            <a:spLocks noGrp="1"/>
          </p:cNvSpPr>
          <p:nvPr>
            <p:ph idx="1"/>
          </p:nvPr>
        </p:nvSpPr>
        <p:spPr>
          <a:xfrm>
            <a:off x="5894962" y="1984443"/>
            <a:ext cx="5458838" cy="4192520"/>
          </a:xfrm>
        </p:spPr>
        <p:txBody>
          <a:bodyPr vert="horz" lIns="91440" tIns="45720" rIns="91440" bIns="45720" rtlCol="0" anchor="t">
            <a:normAutofit/>
          </a:bodyPr>
          <a:lstStyle/>
          <a:p>
            <a:pPr>
              <a:buFont typeface="Courier New" panose="02070309020205020404" pitchFamily="49" charset="0"/>
              <a:buChar char="o"/>
            </a:pPr>
            <a:r>
              <a:rPr lang="en-US" sz="1800">
                <a:latin typeface="Tunga"/>
                <a:ea typeface="+mn-lt"/>
                <a:cs typeface="Tunga"/>
              </a:rPr>
              <a:t>OpenCV captures video frames, and YuNet detects faces in the laboratory environment. A Convolutional Neural Network (CNN) classifies each detected face into three categories: Fully Visible, Safety PPE Compliant, and Unauthorized Occlusion.</a:t>
            </a:r>
          </a:p>
          <a:p>
            <a:pPr>
              <a:buFont typeface="Courier New" panose="02070309020205020404" pitchFamily="49" charset="0"/>
              <a:buChar char="o"/>
            </a:pPr>
            <a:r>
              <a:rPr lang="en-US" sz="1800">
                <a:latin typeface="Tunga"/>
                <a:ea typeface="+mn-lt"/>
                <a:cs typeface="Tunga"/>
              </a:rPr>
              <a:t>The system analyzes facial key points and covered regions around the eyes, nose, and mouth to identify masks and protective eyewear. It compares the detected facial conditions with predefined laboratory safety rules to determine PPE compliance.</a:t>
            </a:r>
          </a:p>
          <a:p>
            <a:pPr>
              <a:buFont typeface="Courier New" panose="02070309020205020404" pitchFamily="49" charset="0"/>
              <a:buChar char="o"/>
            </a:pPr>
            <a:r>
              <a:rPr lang="en-US" sz="1800">
                <a:latin typeface="Tunga"/>
                <a:ea typeface="+mn-lt"/>
                <a:cs typeface="Tunga"/>
              </a:rPr>
              <a:t>The system supports alerts when unauthorized occlusion or PPE non-compliance is detected. It also records timestamps, predicted classes, and image snapshots for future review. The system's accuracy and processing speed will be evaluated using a separate test dataset.</a:t>
            </a:r>
            <a:endParaRPr lang="en-IN" sz="1800">
              <a:latin typeface="Tunga"/>
              <a:ea typeface="+mn-lt"/>
              <a:cs typeface="Tunga"/>
            </a:endParaRPr>
          </a:p>
        </p:txBody>
      </p:sp>
    </p:spTree>
    <p:extLst>
      <p:ext uri="{BB962C8B-B14F-4D97-AF65-F5344CB8AC3E}">
        <p14:creationId xmlns:p14="http://schemas.microsoft.com/office/powerpoint/2010/main" val="22247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0AFE-6275-4DFB-88AF-9468ABC2046C}"/>
              </a:ext>
            </a:extLst>
          </p:cNvPr>
          <p:cNvSpPr>
            <a:spLocks noGrp="1"/>
          </p:cNvSpPr>
          <p:nvPr>
            <p:ph type="title"/>
          </p:nvPr>
        </p:nvSpPr>
        <p:spPr>
          <a:xfrm>
            <a:off x="4314" y="178219"/>
            <a:ext cx="10515600" cy="1325563"/>
          </a:xfrm>
        </p:spPr>
        <p:txBody>
          <a:bodyPr/>
          <a:lstStyle/>
          <a:p>
            <a:r>
              <a:rPr lang="en-US" b="1">
                <a:highlight>
                  <a:srgbClr val="C0C0C0"/>
                </a:highlight>
                <a:latin typeface="Baskerville Old Face"/>
              </a:rPr>
              <a:t>PROBLEM STATEMENTS</a:t>
            </a:r>
            <a:endParaRPr lang="en-IN" b="1">
              <a:highlight>
                <a:srgbClr val="C0C0C0"/>
              </a:highlight>
              <a:latin typeface="Baskerville Old Face" panose="02020602080505020303" pitchFamily="18" charset="0"/>
            </a:endParaRPr>
          </a:p>
        </p:txBody>
      </p:sp>
      <p:pic>
        <p:nvPicPr>
          <p:cNvPr id="3" name="Picture 2" descr="A yellow caution sign with black text&#10;&#10;AI-generated content may be incorrect.">
            <a:extLst>
              <a:ext uri="{FF2B5EF4-FFF2-40B4-BE49-F238E27FC236}">
                <a16:creationId xmlns:a16="http://schemas.microsoft.com/office/drawing/2014/main" id="{9CB224F6-47E1-0017-635D-8D6821909861}"/>
              </a:ext>
            </a:extLst>
          </p:cNvPr>
          <p:cNvPicPr>
            <a:picLocks noChangeAspect="1"/>
          </p:cNvPicPr>
          <p:nvPr/>
        </p:nvPicPr>
        <p:blipFill>
          <a:blip r:embed="rId2"/>
          <a:stretch>
            <a:fillRect/>
          </a:stretch>
        </p:blipFill>
        <p:spPr>
          <a:xfrm>
            <a:off x="9910943" y="183491"/>
            <a:ext cx="1571625" cy="1200150"/>
          </a:xfrm>
          <a:prstGeom prst="rect">
            <a:avLst/>
          </a:prstGeom>
        </p:spPr>
      </p:pic>
      <p:graphicFrame>
        <p:nvGraphicFramePr>
          <p:cNvPr id="6" name="TextBox 3">
            <a:extLst>
              <a:ext uri="{FF2B5EF4-FFF2-40B4-BE49-F238E27FC236}">
                <a16:creationId xmlns:a16="http://schemas.microsoft.com/office/drawing/2014/main" id="{AF3C605E-8142-27CD-94A1-CF2402614AEF}"/>
              </a:ext>
            </a:extLst>
          </p:cNvPr>
          <p:cNvGraphicFramePr/>
          <p:nvPr/>
        </p:nvGraphicFramePr>
        <p:xfrm>
          <a:off x="4313" y="1525691"/>
          <a:ext cx="12184023" cy="506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1154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1B082-6D42-2C23-4443-CD629F756418}"/>
              </a:ext>
            </a:extLst>
          </p:cNvPr>
          <p:cNvSpPr>
            <a:spLocks noGrp="1"/>
          </p:cNvSpPr>
          <p:nvPr>
            <p:ph type="title"/>
          </p:nvPr>
        </p:nvSpPr>
        <p:spPr>
          <a:xfrm>
            <a:off x="723900" y="636632"/>
            <a:ext cx="10515600" cy="1325563"/>
          </a:xfrm>
        </p:spPr>
        <p:txBody>
          <a:bodyPr/>
          <a:lstStyle/>
          <a:p>
            <a:r>
              <a:rPr lang="en-US" b="1">
                <a:highlight>
                  <a:srgbClr val="C0C0C0"/>
                </a:highlight>
              </a:rPr>
              <a:t>OBJECTIVES</a:t>
            </a:r>
            <a:endParaRPr lang="en-IN" b="1">
              <a:highlight>
                <a:srgbClr val="C0C0C0"/>
              </a:highlight>
            </a:endParaRPr>
          </a:p>
        </p:txBody>
      </p:sp>
      <p:sp>
        <p:nvSpPr>
          <p:cNvPr id="4" name="Rectangle 1">
            <a:extLst>
              <a:ext uri="{FF2B5EF4-FFF2-40B4-BE49-F238E27FC236}">
                <a16:creationId xmlns:a16="http://schemas.microsoft.com/office/drawing/2014/main" id="{C661F6AD-F177-59FB-E635-48DF48D38DFB}"/>
              </a:ext>
            </a:extLst>
          </p:cNvPr>
          <p:cNvSpPr>
            <a:spLocks noGrp="1" noChangeArrowheads="1"/>
          </p:cNvSpPr>
          <p:nvPr>
            <p:ph idx="1"/>
          </p:nvPr>
        </p:nvSpPr>
        <p:spPr bwMode="auto">
          <a:xfrm>
            <a:off x="723900" y="2045774"/>
            <a:ext cx="7140450" cy="4666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a:buChar char="•"/>
            </a:pPr>
            <a:r>
              <a:rPr kumimoji="0" lang="en-US" sz="2900" i="0" u="none" strike="noStrike" cap="none" normalizeH="0" baseline="0">
                <a:ln>
                  <a:noFill/>
                </a:ln>
                <a:effectLst/>
                <a:latin typeface="Tunga"/>
                <a:ea typeface="+mn-lt"/>
                <a:cs typeface="Tunga"/>
              </a:rPr>
              <a:t>To detect human faces</a:t>
            </a:r>
            <a:r>
              <a:rPr kumimoji="0" lang="en-US" sz="2900" b="0" i="0" u="none" strike="noStrike" cap="none" normalizeH="0" baseline="0">
                <a:ln>
                  <a:noFill/>
                </a:ln>
                <a:effectLst/>
                <a:latin typeface="Tunga"/>
                <a:ea typeface="+mn-lt"/>
                <a:cs typeface="Tunga"/>
              </a:rPr>
              <a:t> in </a:t>
            </a:r>
            <a:r>
              <a:rPr lang="en-US" sz="2900">
                <a:latin typeface="Tunga"/>
                <a:ea typeface="+mn-lt"/>
                <a:cs typeface="Tunga"/>
              </a:rPr>
              <a:t>real time using YuNet.</a:t>
            </a:r>
            <a:endParaRPr lang="en-US" sz="2900">
              <a:latin typeface="Tunga"/>
              <a:cs typeface="Tunga"/>
            </a:endParaRPr>
          </a:p>
          <a:p>
            <a:pPr>
              <a:buFont typeface="Arial"/>
              <a:buChar char="•"/>
            </a:pPr>
            <a:r>
              <a:rPr lang="en-US" sz="2900">
                <a:latin typeface="Tunga"/>
                <a:ea typeface="+mn-lt"/>
                <a:cs typeface="Tunga"/>
              </a:rPr>
              <a:t>To classify facial conditions into three predefined categories using ResNet18</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lvl="0" algn="l" defTabSz="914400">
              <a:buClrTx/>
              <a:buSzTx/>
              <a:buFont typeface="Arial"/>
              <a:buChar char="•"/>
              <a:tabLst/>
            </a:pPr>
            <a:r>
              <a:rPr kumimoji="0" lang="en-US" sz="2900" i="0" u="none" strike="noStrike" cap="none" normalizeH="0" baseline="0">
                <a:ln>
                  <a:noFill/>
                </a:ln>
                <a:effectLst/>
                <a:latin typeface="Tunga"/>
                <a:ea typeface="+mn-lt"/>
                <a:cs typeface="Tunga"/>
              </a:rPr>
              <a:t>To identify </a:t>
            </a:r>
            <a:r>
              <a:rPr kumimoji="0" lang="en-US" sz="2900" b="0" i="0" u="none" strike="noStrike" cap="none" normalizeH="0" baseline="0">
                <a:ln>
                  <a:noFill/>
                </a:ln>
                <a:effectLst/>
                <a:latin typeface="Tunga"/>
                <a:ea typeface="+mn-lt"/>
                <a:cs typeface="Tunga"/>
              </a:rPr>
              <a:t>the </a:t>
            </a:r>
            <a:r>
              <a:rPr lang="en-US" sz="2900">
                <a:latin typeface="Tunga"/>
                <a:ea typeface="+mn-lt"/>
                <a:cs typeface="Tunga"/>
              </a:rPr>
              <a:t>presence of required mask </a:t>
            </a:r>
            <a:r>
              <a:rPr kumimoji="0" lang="en-US" sz="2900" b="0" i="0" u="none" strike="noStrike" cap="none" normalizeH="0" baseline="0">
                <a:ln>
                  <a:noFill/>
                </a:ln>
                <a:effectLst/>
                <a:latin typeface="Tunga"/>
                <a:ea typeface="+mn-lt"/>
                <a:cs typeface="Tunga"/>
              </a:rPr>
              <a:t>and safety </a:t>
            </a:r>
            <a:r>
              <a:rPr lang="en-US" sz="2900">
                <a:latin typeface="Tunga"/>
                <a:ea typeface="+mn-lt"/>
                <a:cs typeface="Tunga"/>
              </a:rPr>
              <a:t>goggles together</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a:buFont typeface="Arial"/>
              <a:buChar char="•"/>
            </a:pPr>
            <a:r>
              <a:rPr kumimoji="0" lang="en-US" sz="2900" i="0" u="none" strike="noStrike" cap="none" normalizeH="0" baseline="0">
                <a:ln>
                  <a:noFill/>
                </a:ln>
                <a:effectLst/>
                <a:latin typeface="Tunga"/>
                <a:ea typeface="+mn-lt"/>
                <a:cs typeface="Tunga"/>
              </a:rPr>
              <a:t>To </a:t>
            </a:r>
            <a:r>
              <a:rPr lang="en-US" sz="2900">
                <a:latin typeface="Tunga"/>
                <a:ea typeface="+mn-lt"/>
                <a:cs typeface="Tunga"/>
              </a:rPr>
              <a:t>display classification results </a:t>
            </a:r>
            <a:r>
              <a:rPr kumimoji="0" lang="en-US" sz="2900" b="0" i="0" u="none" strike="noStrike" cap="none" normalizeH="0" baseline="0">
                <a:ln>
                  <a:noFill/>
                </a:ln>
                <a:effectLst/>
                <a:latin typeface="Tunga"/>
                <a:ea typeface="+mn-lt"/>
                <a:cs typeface="Tunga"/>
              </a:rPr>
              <a:t>and </a:t>
            </a:r>
            <a:r>
              <a:rPr lang="en-US" sz="2900">
                <a:latin typeface="Tunga"/>
                <a:ea typeface="+mn-lt"/>
                <a:cs typeface="Tunga"/>
              </a:rPr>
              <a:t>confidence scores on live video</a:t>
            </a:r>
            <a:r>
              <a:rPr kumimoji="0" lang="en-US" sz="2900" b="0" i="0" u="none" strike="noStrike" cap="none" normalizeH="0" baseline="0">
                <a:ln>
                  <a:noFill/>
                </a:ln>
                <a:effectLst/>
                <a:latin typeface="Tunga"/>
                <a:ea typeface="+mn-lt"/>
                <a:cs typeface="Tunga"/>
              </a:rPr>
              <a:t>.</a:t>
            </a:r>
            <a:endParaRPr lang="en-US" sz="2900">
              <a:latin typeface="Tunga"/>
              <a:ea typeface="+mn-lt"/>
              <a:cs typeface="Tunga"/>
            </a:endParaRPr>
          </a:p>
          <a:p>
            <a:pPr>
              <a:buFont typeface="Arial"/>
              <a:buChar char="•"/>
            </a:pPr>
            <a:r>
              <a:rPr kumimoji="0" lang="en-US" sz="2900" i="0" u="none" strike="noStrike" cap="none" normalizeH="0" baseline="0">
                <a:ln>
                  <a:noFill/>
                </a:ln>
                <a:effectLst/>
                <a:latin typeface="Tunga"/>
                <a:ea typeface="+mn-lt"/>
                <a:cs typeface="Tunga"/>
              </a:rPr>
              <a:t>To </a:t>
            </a:r>
            <a:r>
              <a:rPr lang="en-US" sz="2900">
                <a:latin typeface="Tunga"/>
                <a:ea typeface="+mn-lt"/>
                <a:cs typeface="Tunga"/>
              </a:rPr>
              <a:t>support </a:t>
            </a:r>
            <a:r>
              <a:rPr kumimoji="0" lang="en-US" sz="2900" b="0" i="0" u="none" strike="noStrike" cap="none" normalizeH="0" baseline="0">
                <a:ln>
                  <a:noFill/>
                </a:ln>
                <a:effectLst/>
                <a:latin typeface="Tunga"/>
                <a:ea typeface="+mn-lt"/>
                <a:cs typeface="Tunga"/>
              </a:rPr>
              <a:t>laboratory safety </a:t>
            </a:r>
            <a:r>
              <a:rPr lang="en-US" sz="2900">
                <a:latin typeface="Tunga"/>
                <a:ea typeface="+mn-lt"/>
                <a:cs typeface="Tunga"/>
              </a:rPr>
              <a:t>monitoring through automated visual assessment.</a:t>
            </a:r>
            <a:endParaRPr lang="en-US" sz="2900">
              <a:latin typeface="Tunga"/>
              <a:cs typeface="Tunga"/>
            </a:endParaRPr>
          </a:p>
          <a:p>
            <a:pPr marL="0" marR="0" lvl="0" indent="0" algn="l" defTabSz="914400">
              <a:lnSpc>
                <a:spcPct val="100000"/>
              </a:lnSpc>
              <a:spcBef>
                <a:spcPct val="0"/>
              </a:spcBef>
              <a:spcAft>
                <a:spcPct val="0"/>
              </a:spcAft>
              <a:buClrTx/>
              <a:buSzTx/>
              <a:buFontTx/>
              <a:buChar char="•"/>
              <a:tabLst/>
            </a:pPr>
            <a:endParaRPr lang="en-US" altLang="en-US" sz="2900" b="0" i="0" u="none" strike="noStrike" cap="none" normalizeH="0" baseline="0">
              <a:ln>
                <a:noFill/>
              </a:ln>
              <a:effectLst/>
              <a:latin typeface="Tunga"/>
              <a:cs typeface="Tunga"/>
            </a:endParaRPr>
          </a:p>
        </p:txBody>
      </p:sp>
      <p:pic>
        <p:nvPicPr>
          <p:cNvPr id="3075" name="Picture 3" descr="PPE Must Be Worn Sign - Shop Now, Ships Fast">
            <a:extLst>
              <a:ext uri="{FF2B5EF4-FFF2-40B4-BE49-F238E27FC236}">
                <a16:creationId xmlns:a16="http://schemas.microsoft.com/office/drawing/2014/main" id="{76D15F3A-5A07-3294-DF9C-F223AAC99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5218" y="1965793"/>
            <a:ext cx="3874792" cy="277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69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E7C07-BEE0-8111-8E5F-0A6B282F79CE}"/>
              </a:ext>
            </a:extLst>
          </p:cNvPr>
          <p:cNvSpPr>
            <a:spLocks noGrp="1"/>
          </p:cNvSpPr>
          <p:nvPr>
            <p:ph type="title"/>
          </p:nvPr>
        </p:nvSpPr>
        <p:spPr/>
        <p:txBody>
          <a:bodyPr/>
          <a:lstStyle/>
          <a:p>
            <a:r>
              <a:rPr lang="en-US">
                <a:highlight>
                  <a:srgbClr val="C0C0C0"/>
                </a:highlight>
                <a:latin typeface="Baskerville Old Face" panose="02020602080505020303" pitchFamily="18" charset="0"/>
              </a:rPr>
              <a:t>LITERATURE SURVEY</a:t>
            </a:r>
            <a:endParaRPr lang="en-IN">
              <a:highlight>
                <a:srgbClr val="C0C0C0"/>
              </a:highlight>
              <a:latin typeface="Baskerville Old Face" panose="02020602080505020303" pitchFamily="18" charset="0"/>
            </a:endParaRPr>
          </a:p>
        </p:txBody>
      </p:sp>
      <p:graphicFrame>
        <p:nvGraphicFramePr>
          <p:cNvPr id="7" name="Content Placeholder 6">
            <a:extLst>
              <a:ext uri="{FF2B5EF4-FFF2-40B4-BE49-F238E27FC236}">
                <a16:creationId xmlns:a16="http://schemas.microsoft.com/office/drawing/2014/main" id="{AB70697F-EF8B-F6D5-E24C-EB9B729902EB}"/>
              </a:ext>
            </a:extLst>
          </p:cNvPr>
          <p:cNvGraphicFramePr>
            <a:graphicFrameLocks noGrp="1"/>
          </p:cNvGraphicFramePr>
          <p:nvPr>
            <p:ph idx="1"/>
            <p:extLst>
              <p:ext uri="{D42A27DB-BD31-4B8C-83A1-F6EECF244321}">
                <p14:modId xmlns:p14="http://schemas.microsoft.com/office/powerpoint/2010/main" val="3479456691"/>
              </p:ext>
            </p:extLst>
          </p:nvPr>
        </p:nvGraphicFramePr>
        <p:xfrm>
          <a:off x="838200" y="1825625"/>
          <a:ext cx="10515597" cy="4389120"/>
        </p:xfrm>
        <a:graphic>
          <a:graphicData uri="http://schemas.openxmlformats.org/drawingml/2006/table">
            <a:tbl>
              <a:tblPr bandRow="1">
                <a:tableStyleId>{5C22544A-7EE6-4342-B048-85BDC9FD1C3A}</a:tableStyleId>
              </a:tblPr>
              <a:tblGrid>
                <a:gridCol w="870193">
                  <a:extLst>
                    <a:ext uri="{9D8B030D-6E8A-4147-A177-3AD203B41FA5}">
                      <a16:colId xmlns:a16="http://schemas.microsoft.com/office/drawing/2014/main" val="2966999687"/>
                    </a:ext>
                  </a:extLst>
                </a:gridCol>
                <a:gridCol w="2628900">
                  <a:extLst>
                    <a:ext uri="{9D8B030D-6E8A-4147-A177-3AD203B41FA5}">
                      <a16:colId xmlns:a16="http://schemas.microsoft.com/office/drawing/2014/main" val="2828508171"/>
                    </a:ext>
                  </a:extLst>
                </a:gridCol>
                <a:gridCol w="1676267">
                  <a:extLst>
                    <a:ext uri="{9D8B030D-6E8A-4147-A177-3AD203B41FA5}">
                      <a16:colId xmlns:a16="http://schemas.microsoft.com/office/drawing/2014/main" val="4148594805"/>
                    </a:ext>
                  </a:extLst>
                </a:gridCol>
                <a:gridCol w="2289982">
                  <a:extLst>
                    <a:ext uri="{9D8B030D-6E8A-4147-A177-3AD203B41FA5}">
                      <a16:colId xmlns:a16="http://schemas.microsoft.com/office/drawing/2014/main" val="2584245309"/>
                    </a:ext>
                  </a:extLst>
                </a:gridCol>
                <a:gridCol w="1584667">
                  <a:extLst>
                    <a:ext uri="{9D8B030D-6E8A-4147-A177-3AD203B41FA5}">
                      <a16:colId xmlns:a16="http://schemas.microsoft.com/office/drawing/2014/main" val="644747742"/>
                    </a:ext>
                  </a:extLst>
                </a:gridCol>
                <a:gridCol w="1465588">
                  <a:extLst>
                    <a:ext uri="{9D8B030D-6E8A-4147-A177-3AD203B41FA5}">
                      <a16:colId xmlns:a16="http://schemas.microsoft.com/office/drawing/2014/main" val="3822738171"/>
                    </a:ext>
                  </a:extLst>
                </a:gridCol>
              </a:tblGrid>
              <a:tr h="438150">
                <a:tc>
                  <a:txBody>
                    <a:bodyPr/>
                    <a:lstStyle/>
                    <a:p>
                      <a:pPr marL="0" indent="0" algn="l" fontAlgn="base">
                        <a:buNone/>
                      </a:pPr>
                      <a:r>
                        <a:rPr lang="en-US" sz="1400" b="1" i="0">
                          <a:solidFill>
                            <a:srgbClr val="FFFFFF"/>
                          </a:solidFill>
                          <a:effectLst/>
                          <a:latin typeface="Gill Sans MT" panose="020B0502020104020203" pitchFamily="34" charset="0"/>
                        </a:rPr>
                        <a:t>S.NO</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PAPER TITLE</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AUTHOR</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PROBLEM CONCERNED</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CONCEPT</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tc>
                  <a:txBody>
                    <a:bodyPr/>
                    <a:lstStyle/>
                    <a:p>
                      <a:pPr marL="0" indent="0" algn="l" fontAlgn="base">
                        <a:buNone/>
                      </a:pPr>
                      <a:r>
                        <a:rPr lang="en-US" sz="1400" b="1" i="0">
                          <a:solidFill>
                            <a:srgbClr val="FFFFFF"/>
                          </a:solidFill>
                          <a:effectLst/>
                          <a:latin typeface="Gill Sans MT" panose="020B0502020104020203" pitchFamily="34" charset="0"/>
                        </a:rPr>
                        <a:t>LIMITATIONS</a:t>
                      </a:r>
                      <a:endParaRPr lang="en-US" b="1" i="0">
                        <a:solidFill>
                          <a:srgbClr val="FFFFFF"/>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3336" cap="flat" cmpd="sng" algn="ctr">
                      <a:solidFill>
                        <a:srgbClr val="FFFFFF"/>
                      </a:solidFill>
                      <a:prstDash val="solid"/>
                      <a:round/>
                      <a:headEnd type="none" w="med" len="med"/>
                      <a:tailEnd type="none" w="med" len="med"/>
                    </a:lnB>
                    <a:solidFill>
                      <a:srgbClr val="B0A697"/>
                    </a:solidFill>
                  </a:tcPr>
                </a:tc>
                <a:extLst>
                  <a:ext uri="{0D108BD9-81ED-4DB2-BD59-A6C34878D82A}">
                    <a16:rowId xmlns:a16="http://schemas.microsoft.com/office/drawing/2014/main" val="814513743"/>
                  </a:ext>
                </a:extLst>
              </a:tr>
              <a:tr h="914400">
                <a:tc>
                  <a:txBody>
                    <a:bodyPr/>
                    <a:lstStyle/>
                    <a:p>
                      <a:pPr marL="0" indent="0" algn="l" fontAlgn="base">
                        <a:buNone/>
                      </a:pPr>
                      <a:r>
                        <a:rPr lang="en-US" sz="1600" b="0" i="0">
                          <a:solidFill>
                            <a:srgbClr val="000000"/>
                          </a:solidFill>
                          <a:effectLst/>
                          <a:latin typeface="Gill Sans MT" panose="020B0502020104020203" pitchFamily="34" charset="0"/>
                        </a:rPr>
                        <a:t>1</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IN" sz="1600" b="0" i="0" u="none" strike="noStrike">
                          <a:solidFill>
                            <a:srgbClr val="000000"/>
                          </a:solidFill>
                          <a:effectLst/>
                          <a:latin typeface="Gill Sans MT" panose="020B0502020104020203" pitchFamily="34" charset="0"/>
                        </a:rPr>
                        <a:t>Head Pose Estimation (2022)</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IN" sz="1600" b="0" i="0" u="none" strike="noStrike">
                          <a:solidFill>
                            <a:srgbClr val="000000"/>
                          </a:solidFill>
                          <a:effectLst/>
                          <a:latin typeface="Gill Sans MT" panose="020B0502020104020203" pitchFamily="34" charset="0"/>
                        </a:rPr>
                        <a:t>Rahmaniar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Detecting faces with different poses and occlusions</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CNN-based method</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Limited details on real-time performance</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333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487433486"/>
                  </a:ext>
                </a:extLst>
              </a:tr>
              <a:tr h="638175">
                <a:tc>
                  <a:txBody>
                    <a:bodyPr/>
                    <a:lstStyle/>
                    <a:p>
                      <a:pPr marL="0" indent="0" algn="l" fontAlgn="base">
                        <a:buNone/>
                      </a:pPr>
                      <a:r>
                        <a:rPr lang="en-US" sz="1600" b="0" i="0">
                          <a:solidFill>
                            <a:srgbClr val="000000"/>
                          </a:solidFill>
                          <a:effectLst/>
                          <a:latin typeface="Gill Sans MT" panose="020B0502020104020203" pitchFamily="34" charset="0"/>
                        </a:rPr>
                        <a:t>2</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Face Mask Detector (2021)</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Putro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Detecting masked and unmasked faces</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Lightweight CNN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Focuses mainly on mask detection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3646545367"/>
                  </a:ext>
                </a:extLst>
              </a:tr>
              <a:tr h="1019175">
                <a:tc>
                  <a:txBody>
                    <a:bodyPr/>
                    <a:lstStyle/>
                    <a:p>
                      <a:pPr marL="0" indent="0" algn="l" fontAlgn="base">
                        <a:buNone/>
                      </a:pPr>
                      <a:r>
                        <a:rPr lang="en-US" sz="1600" b="0" i="0">
                          <a:solidFill>
                            <a:srgbClr val="000000"/>
                          </a:solidFill>
                          <a:effectLst/>
                          <a:latin typeface="Gill Sans MT" panose="020B0502020104020203" pitchFamily="34" charset="0"/>
                        </a:rPr>
                        <a:t>3</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Occlusion Robust Face Recognition (2019)</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Song et al.</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Face recognition when facial parts are occluded</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a:solidFill>
                            <a:srgbClr val="000000"/>
                          </a:solidFill>
                          <a:effectLst/>
                          <a:latin typeface="Gill Sans MT" panose="020B0502020104020203" pitchFamily="34" charset="0"/>
                        </a:rPr>
                        <a:t>S</a:t>
                      </a:r>
                      <a:r>
                        <a:rPr lang="en-US" sz="1600" b="0" i="0" u="none" strike="noStrike">
                          <a:solidFill>
                            <a:srgbClr val="000000"/>
                          </a:solidFill>
                          <a:effectLst/>
                          <a:latin typeface="Gill Sans MT" panose="020B0502020104020203" pitchFamily="34" charset="0"/>
                        </a:rPr>
                        <a:t>iamese Network</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tc>
                  <a:txBody>
                    <a:bodyPr/>
                    <a:lstStyle/>
                    <a:p>
                      <a:pPr marL="0" indent="0" algn="l" fontAlgn="base">
                        <a:buNone/>
                      </a:pPr>
                      <a:r>
                        <a:rPr lang="en-US" sz="1600" b="0" i="0" u="none" strike="noStrike">
                          <a:solidFill>
                            <a:srgbClr val="000000"/>
                          </a:solidFill>
                          <a:effectLst/>
                          <a:latin typeface="Gill Sans MT" panose="020B0502020104020203" pitchFamily="34" charset="0"/>
                        </a:rPr>
                        <a:t>Recognition may be affected by severe occlusion</a:t>
                      </a:r>
                      <a:endParaRPr lang="en-US" b="0" i="0">
                        <a:solidFill>
                          <a:srgbClr val="000000"/>
                        </a:solidFill>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ADADA"/>
                    </a:solidFill>
                  </a:tcPr>
                </a:tc>
                <a:extLst>
                  <a:ext uri="{0D108BD9-81ED-4DB2-BD59-A6C34878D82A}">
                    <a16:rowId xmlns:a16="http://schemas.microsoft.com/office/drawing/2014/main" val="4175368374"/>
                  </a:ext>
                </a:extLst>
              </a:tr>
              <a:tr h="1019175">
                <a:tc>
                  <a:txBody>
                    <a:bodyPr/>
                    <a:lstStyle/>
                    <a:p>
                      <a:pPr marL="0" lvl="0" indent="0" algn="l">
                        <a:buNone/>
                      </a:pPr>
                      <a:r>
                        <a:rPr lang="en-US" sz="1600" b="0" i="0">
                          <a:solidFill>
                            <a:srgbClr val="000000"/>
                          </a:solidFill>
                          <a:effectLst/>
                          <a:latin typeface="Gill Sans MT"/>
                        </a:rPr>
                        <a:t>4</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rgbClr val="000000"/>
                          </a:solidFill>
                          <a:effectLst/>
                          <a:latin typeface="Gill Sans MT"/>
                        </a:rPr>
                        <a:t>Face Occlusion Detection (2015)</a:t>
                      </a: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effectLst/>
                          <a:latin typeface="Gill Sans MT"/>
                        </a:rPr>
                        <a:t>Xia et al.</a:t>
                      </a:r>
                      <a:endParaRPr lang="en-US" sz="1600" b="0" i="0" u="none" strike="noStrike" noProof="0">
                        <a:solidFill>
                          <a:srgbClr val="000000"/>
                        </a:solidFill>
                        <a:effectLst/>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Detecting different types of facial occlusion</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Multi-task CNN</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tc>
                  <a:txBody>
                    <a:bodyPr/>
                    <a:lstStyle/>
                    <a:p>
                      <a:pPr lvl="0" algn="l">
                        <a:lnSpc>
                          <a:spcPct val="100000"/>
                        </a:lnSpc>
                        <a:spcBef>
                          <a:spcPts val="0"/>
                        </a:spcBef>
                        <a:spcAft>
                          <a:spcPts val="0"/>
                        </a:spcAft>
                        <a:buNone/>
                      </a:pPr>
                      <a:r>
                        <a:rPr lang="en-US" sz="1600" b="0" i="0" u="none" strike="noStrike" noProof="0">
                          <a:solidFill>
                            <a:schemeClr val="tx1"/>
                          </a:solidFill>
                          <a:latin typeface="Gill Sans MT"/>
                        </a:rPr>
                        <a:t>May not cover all modern PPE types</a:t>
                      </a:r>
                      <a:endParaRPr lang="en-US" sz="1600" b="0" i="0" u="none" strike="noStrike" noProof="0">
                        <a:solidFill>
                          <a:srgbClr val="000000"/>
                        </a:solidFill>
                        <a:latin typeface="Gill Sans MT"/>
                      </a:endParaRPr>
                    </a:p>
                    <a:p>
                      <a:pPr marL="0" lvl="0" indent="0" algn="l">
                        <a:buNone/>
                      </a:pPr>
                      <a:endParaRPr lang="en-US" sz="1600" b="0" i="0" u="none" strike="noStrike">
                        <a:solidFill>
                          <a:srgbClr val="000000"/>
                        </a:solidFill>
                        <a:effectLst/>
                        <a:latin typeface="Gill Sans MT"/>
                      </a:endParaRP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DADADA"/>
                    </a:solidFill>
                  </a:tcPr>
                </a:tc>
                <a:extLst>
                  <a:ext uri="{0D108BD9-81ED-4DB2-BD59-A6C34878D82A}">
                    <a16:rowId xmlns:a16="http://schemas.microsoft.com/office/drawing/2014/main" val="4079991013"/>
                  </a:ext>
                </a:extLst>
              </a:tr>
            </a:tbl>
          </a:graphicData>
        </a:graphic>
      </p:graphicFrame>
    </p:spTree>
    <p:extLst>
      <p:ext uri="{BB962C8B-B14F-4D97-AF65-F5344CB8AC3E}">
        <p14:creationId xmlns:p14="http://schemas.microsoft.com/office/powerpoint/2010/main" val="284258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F71D87-0FF2-81A6-5693-4991B67942F8}"/>
              </a:ext>
            </a:extLst>
          </p:cNvPr>
          <p:cNvSpPr>
            <a:spLocks noGrp="1"/>
          </p:cNvSpPr>
          <p:nvPr>
            <p:ph type="title"/>
          </p:nvPr>
        </p:nvSpPr>
        <p:spPr/>
        <p:txBody>
          <a:bodyPr/>
          <a:lstStyle/>
          <a:p>
            <a:r>
              <a:rPr lang="en-US">
                <a:highlight>
                  <a:srgbClr val="C0C0C0"/>
                </a:highlight>
                <a:latin typeface="Baskerville Old Face" panose="02020602080505020303" pitchFamily="18" charset="0"/>
              </a:rPr>
              <a:t>RESEARCH</a:t>
            </a:r>
            <a:r>
              <a:rPr lang="en-US">
                <a:highlight>
                  <a:srgbClr val="C0C0C0"/>
                </a:highlight>
              </a:rPr>
              <a:t> </a:t>
            </a:r>
            <a:r>
              <a:rPr lang="en-US">
                <a:highlight>
                  <a:srgbClr val="C0C0C0"/>
                </a:highlight>
                <a:latin typeface="Baskerville Old Face" panose="02020602080505020303" pitchFamily="18" charset="0"/>
              </a:rPr>
              <a:t>GAP</a:t>
            </a:r>
            <a:endParaRPr lang="en-IN">
              <a:highlight>
                <a:srgbClr val="C0C0C0"/>
              </a:highlight>
              <a:latin typeface="Baskerville Old Face" panose="02020602080505020303" pitchFamily="18" charset="0"/>
            </a:endParaRPr>
          </a:p>
        </p:txBody>
      </p:sp>
      <p:sp>
        <p:nvSpPr>
          <p:cNvPr id="5" name="Content Placeholder 4">
            <a:extLst>
              <a:ext uri="{FF2B5EF4-FFF2-40B4-BE49-F238E27FC236}">
                <a16:creationId xmlns:a16="http://schemas.microsoft.com/office/drawing/2014/main" id="{50989888-896E-F887-7A5C-3B56D3B02800}"/>
              </a:ext>
            </a:extLst>
          </p:cNvPr>
          <p:cNvSpPr>
            <a:spLocks noGrp="1"/>
          </p:cNvSpPr>
          <p:nvPr>
            <p:ph sz="half" idx="1"/>
          </p:nvPr>
        </p:nvSpPr>
        <p:spPr>
          <a:xfrm>
            <a:off x="838200" y="1552455"/>
            <a:ext cx="5239109" cy="5285866"/>
          </a:xfrm>
        </p:spPr>
        <p:txBody>
          <a:bodyPr vert="horz" lIns="91440" tIns="45720" rIns="91440" bIns="45720" rtlCol="0" anchor="t">
            <a:noAutofit/>
          </a:bodyPr>
          <a:lstStyle/>
          <a:p>
            <a:pPr marL="0" indent="0">
              <a:buNone/>
            </a:pPr>
            <a:r>
              <a:rPr lang="en-US" sz="2400" b="1">
                <a:latin typeface="Tunga"/>
                <a:cs typeface="Tunga"/>
              </a:rPr>
              <a:t>Existing System Lack:</a:t>
            </a:r>
          </a:p>
          <a:p>
            <a:pPr>
              <a:buFont typeface="Arial" panose="02070309020205020404" pitchFamily="49" charset="0"/>
              <a:buChar char="•"/>
            </a:pPr>
            <a:r>
              <a:rPr lang="en-US" sz="2400">
                <a:latin typeface="Tunga"/>
                <a:ea typeface="+mn-lt"/>
                <a:cs typeface="Tunga"/>
              </a:rPr>
              <a:t>Manual monitoring requires continuous human supervision.</a:t>
            </a:r>
            <a:endParaRPr lang="en-US" sz="2400">
              <a:latin typeface="Tunga"/>
              <a:cs typeface="Tunga"/>
            </a:endParaRPr>
          </a:p>
          <a:p>
            <a:pPr>
              <a:buFont typeface="Arial" panose="02070309020205020404" pitchFamily="49" charset="0"/>
              <a:buChar char="•"/>
            </a:pPr>
            <a:r>
              <a:rPr lang="en-US" sz="2400">
                <a:latin typeface="Tunga"/>
                <a:ea typeface="+mn-lt"/>
                <a:cs typeface="Tunga"/>
              </a:rPr>
              <a:t>Face detection alone cannot determine whether required PPE is being worn correctly.</a:t>
            </a:r>
            <a:endParaRPr lang="en-US" sz="2400">
              <a:latin typeface="Tunga"/>
              <a:cs typeface="Tunga"/>
            </a:endParaRPr>
          </a:p>
          <a:p>
            <a:pPr>
              <a:buFont typeface="Arial" panose="02070309020205020404" pitchFamily="49" charset="0"/>
              <a:buChar char="•"/>
            </a:pPr>
            <a:r>
              <a:rPr lang="en-US" sz="2400">
                <a:latin typeface="Tunga"/>
                <a:ea typeface="+mn-lt"/>
                <a:cs typeface="Tunga"/>
              </a:rPr>
              <a:t>Many systems focus on a single task, such as face-mask detection or general face detection.</a:t>
            </a:r>
            <a:endParaRPr lang="en-US" sz="2400">
              <a:latin typeface="Tunga"/>
              <a:cs typeface="Tunga"/>
            </a:endParaRPr>
          </a:p>
          <a:p>
            <a:pPr>
              <a:buFont typeface="Arial" panose="02070309020205020404" pitchFamily="49" charset="0"/>
              <a:buChar char="•"/>
            </a:pPr>
            <a:r>
              <a:rPr lang="en-US" sz="2400">
                <a:latin typeface="Tunga"/>
                <a:ea typeface="+mn-lt"/>
                <a:cs typeface="Tunga"/>
              </a:rPr>
              <a:t>Facial occlusions can make visual classification more challenging.</a:t>
            </a:r>
            <a:endParaRPr lang="en-US" sz="2400">
              <a:latin typeface="Tunga"/>
              <a:cs typeface="Tunga"/>
            </a:endParaRPr>
          </a:p>
          <a:p>
            <a:pPr>
              <a:buFont typeface="Arial" panose="02070309020205020404" pitchFamily="49" charset="0"/>
              <a:buChar char="•"/>
            </a:pPr>
            <a:r>
              <a:rPr lang="en-US" sz="2400">
                <a:latin typeface="Tunga"/>
                <a:ea typeface="+mn-lt"/>
                <a:cs typeface="Tunga"/>
              </a:rPr>
              <a:t>A unified real-time classification approach for laboratory PPE assessment may be lacking in the selected systems.</a:t>
            </a:r>
            <a:endParaRPr lang="en-US" sz="2400">
              <a:latin typeface="Tunga"/>
              <a:cs typeface="Tunga"/>
            </a:endParaRPr>
          </a:p>
          <a:p>
            <a:pPr>
              <a:buFont typeface="Courier New" panose="02070309020205020404" pitchFamily="49" charset="0"/>
              <a:buChar char="o"/>
            </a:pPr>
            <a:endParaRPr lang="en-US" sz="2400">
              <a:latin typeface="Tunga"/>
              <a:cs typeface="Tunga"/>
            </a:endParaRPr>
          </a:p>
        </p:txBody>
      </p:sp>
      <p:sp>
        <p:nvSpPr>
          <p:cNvPr id="6" name="Content Placeholder 5">
            <a:extLst>
              <a:ext uri="{FF2B5EF4-FFF2-40B4-BE49-F238E27FC236}">
                <a16:creationId xmlns:a16="http://schemas.microsoft.com/office/drawing/2014/main" id="{F05A815D-66DF-EB79-679D-1674A8AD3BDE}"/>
              </a:ext>
            </a:extLst>
          </p:cNvPr>
          <p:cNvSpPr>
            <a:spLocks noGrp="1"/>
          </p:cNvSpPr>
          <p:nvPr>
            <p:ph sz="half" idx="2"/>
          </p:nvPr>
        </p:nvSpPr>
        <p:spPr>
          <a:xfrm>
            <a:off x="6172200" y="1552455"/>
            <a:ext cx="5181600" cy="4351338"/>
          </a:xfrm>
        </p:spPr>
        <p:txBody>
          <a:bodyPr vert="horz" lIns="91440" tIns="45720" rIns="91440" bIns="45720" rtlCol="0" anchor="t">
            <a:normAutofit fontScale="85000" lnSpcReduction="20000"/>
          </a:bodyPr>
          <a:lstStyle/>
          <a:p>
            <a:pPr marL="0" indent="0">
              <a:buNone/>
            </a:pPr>
            <a:r>
              <a:rPr lang="en-US" b="1">
                <a:latin typeface="Tunga"/>
                <a:cs typeface="Tunga"/>
              </a:rPr>
              <a:t>Our Approach:</a:t>
            </a:r>
          </a:p>
          <a:p>
            <a:pPr>
              <a:buFont typeface="Arial" panose="02070309020205020404" pitchFamily="49" charset="0"/>
              <a:buChar char="•"/>
            </a:pPr>
            <a:r>
              <a:rPr lang="en-US">
                <a:latin typeface="Tunga"/>
                <a:ea typeface="+mn-lt"/>
                <a:cs typeface="Tunga"/>
              </a:rPr>
              <a:t>Uses YuNet to detect faces from live webcam video.</a:t>
            </a:r>
            <a:endParaRPr lang="en-US">
              <a:latin typeface="Tunga"/>
              <a:cs typeface="Tunga"/>
            </a:endParaRPr>
          </a:p>
          <a:p>
            <a:pPr>
              <a:buFont typeface="Arial" panose="02070309020205020404" pitchFamily="49" charset="0"/>
              <a:buChar char="•"/>
            </a:pPr>
            <a:r>
              <a:rPr lang="en-US">
                <a:latin typeface="Tunga"/>
                <a:ea typeface="+mn-lt"/>
                <a:cs typeface="Tunga"/>
              </a:rPr>
              <a:t>Uses a ResNet18 deep learning model to classify detected face regions.</a:t>
            </a:r>
            <a:endParaRPr lang="en-US">
              <a:latin typeface="Tunga"/>
              <a:cs typeface="Tunga"/>
            </a:endParaRPr>
          </a:p>
          <a:p>
            <a:pPr>
              <a:buFont typeface="Arial" panose="02070309020205020404" pitchFamily="49" charset="0"/>
              <a:buChar char="•"/>
            </a:pPr>
            <a:r>
              <a:rPr lang="en-US">
                <a:latin typeface="Tunga"/>
                <a:ea typeface="+mn-lt"/>
                <a:cs typeface="Tunga"/>
              </a:rPr>
              <a:t>Classifies each detected face into three categories: Fully Visible, PPE Compliant, and Unauthorized Occlusion.</a:t>
            </a:r>
            <a:endParaRPr lang="en-US">
              <a:latin typeface="Tunga"/>
              <a:cs typeface="Tunga"/>
            </a:endParaRPr>
          </a:p>
          <a:p>
            <a:pPr>
              <a:buFont typeface="Arial" panose="02070309020205020404" pitchFamily="49" charset="0"/>
              <a:buChar char="•"/>
            </a:pPr>
            <a:r>
              <a:rPr lang="en-US">
                <a:latin typeface="Tunga"/>
                <a:ea typeface="+mn-lt"/>
                <a:cs typeface="Tunga"/>
              </a:rPr>
              <a:t>Checks for the required combination of a mask and safety goggles.</a:t>
            </a:r>
            <a:endParaRPr lang="en-US">
              <a:latin typeface="Tunga"/>
              <a:cs typeface="Tunga"/>
            </a:endParaRPr>
          </a:p>
          <a:p>
            <a:pPr>
              <a:buFont typeface="Arial" panose="02070309020205020404" pitchFamily="49" charset="0"/>
              <a:buChar char="•"/>
            </a:pPr>
            <a:r>
              <a:rPr lang="en-US">
                <a:latin typeface="Tunga"/>
                <a:ea typeface="+mn-lt"/>
                <a:cs typeface="Tunga"/>
              </a:rPr>
              <a:t>Displays the predicted class and confidence score for real-time visual monitoring.</a:t>
            </a:r>
          </a:p>
          <a:p>
            <a:pPr>
              <a:buFont typeface="Courier New" panose="02070309020205020404" pitchFamily="49" charset="0"/>
              <a:buChar char="o"/>
            </a:pPr>
            <a:endParaRPr lang="en-US">
              <a:latin typeface="Tunga"/>
              <a:cs typeface="Tunga"/>
            </a:endParaRPr>
          </a:p>
        </p:txBody>
      </p:sp>
    </p:spTree>
    <p:extLst>
      <p:ext uri="{BB962C8B-B14F-4D97-AF65-F5344CB8AC3E}">
        <p14:creationId xmlns:p14="http://schemas.microsoft.com/office/powerpoint/2010/main" val="265507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5D63-F7C7-86E9-57FB-2915EAFB3118}"/>
              </a:ext>
            </a:extLst>
          </p:cNvPr>
          <p:cNvSpPr>
            <a:spLocks noGrp="1"/>
          </p:cNvSpPr>
          <p:nvPr>
            <p:ph type="title"/>
          </p:nvPr>
        </p:nvSpPr>
        <p:spPr>
          <a:xfrm>
            <a:off x="4313" y="-195592"/>
            <a:ext cx="10515600" cy="1325563"/>
          </a:xfrm>
        </p:spPr>
        <p:txBody>
          <a:bodyPr/>
          <a:lstStyle/>
          <a:p>
            <a:r>
              <a:rPr lang="en-US">
                <a:highlight>
                  <a:srgbClr val="C0C0C0"/>
                </a:highlight>
                <a:latin typeface="Baskerville Old Face" panose="02020602080505020303" pitchFamily="18" charset="0"/>
              </a:rPr>
              <a:t>PROPOSED SYSTEM</a:t>
            </a:r>
            <a:endParaRPr lang="en-IN">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BC880875-2819-A093-592E-B982057E9102}"/>
              </a:ext>
            </a:extLst>
          </p:cNvPr>
          <p:cNvSpPr>
            <a:spLocks noGrp="1" noChangeArrowheads="1"/>
          </p:cNvSpPr>
          <p:nvPr>
            <p:ph idx="1"/>
          </p:nvPr>
        </p:nvSpPr>
        <p:spPr bwMode="auto">
          <a:xfrm>
            <a:off x="6912" y="1018607"/>
            <a:ext cx="8780620" cy="583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Face Detection</a:t>
            </a:r>
            <a:r>
              <a:rPr kumimoji="0" lang="en-US" altLang="en-US" sz="2200" b="0" i="0" u="none" strike="noStrike" cap="none" normalizeH="0" baseline="0">
                <a:ln>
                  <a:noFill/>
                </a:ln>
                <a:effectLst/>
                <a:latin typeface="Tunga"/>
                <a:cs typeface="Tunga"/>
              </a:rPr>
              <a:t> – Detects and extracts the face region from a live webcam or IP-camera stream.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Occlusion Isolation</a:t>
            </a:r>
            <a:r>
              <a:rPr kumimoji="0" lang="en-US" altLang="en-US" sz="2200" b="0" i="0" u="none" strike="noStrike" cap="none" normalizeH="0" baseline="0">
                <a:ln>
                  <a:noFill/>
                </a:ln>
                <a:effectLst/>
                <a:latin typeface="Tunga"/>
                <a:cs typeface="Tunga"/>
              </a:rPr>
              <a:t> – Identifies covered regions around the eyes, nose, and mouth using facial key points.</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a:ln>
                  <a:noFill/>
                </a:ln>
                <a:effectLst/>
                <a:latin typeface="Tunga"/>
                <a:cs typeface="Tunga"/>
              </a:rPr>
              <a:t>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PPE Classification</a:t>
            </a:r>
            <a:r>
              <a:rPr kumimoji="0" lang="en-US" altLang="en-US" sz="2200" b="0" i="0" u="none" strike="noStrike" cap="none" normalizeH="0" baseline="0">
                <a:ln>
                  <a:noFill/>
                </a:ln>
                <a:effectLst/>
                <a:latin typeface="Tunga"/>
                <a:cs typeface="Tunga"/>
              </a:rPr>
              <a:t> – Detects PPE such as masks, respirators, safety goggles, and face shields.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Safety Verification</a:t>
            </a:r>
            <a:r>
              <a:rPr kumimoji="0" lang="en-US" altLang="en-US" sz="2200" b="0" i="0" u="none" strike="noStrike" cap="none" normalizeH="0" baseline="0">
                <a:ln>
                  <a:noFill/>
                </a:ln>
                <a:effectLst/>
                <a:latin typeface="Tunga"/>
                <a:cs typeface="Tunga"/>
              </a:rPr>
              <a:t> – Checks whether the detected PPE satisfies the required laboratory safety rules.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Real-Time Alert</a:t>
            </a:r>
            <a:r>
              <a:rPr kumimoji="0" lang="en-US" altLang="en-US" sz="2200" b="0" i="0" u="none" strike="noStrike" cap="none" normalizeH="0" baseline="0">
                <a:ln>
                  <a:noFill/>
                </a:ln>
                <a:effectLst/>
                <a:latin typeface="Tunga"/>
                <a:cs typeface="Tunga"/>
              </a:rPr>
              <a:t> – Generates an alert when an unauthorized occlusion or PPE violation is detected.</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a:ln>
                  <a:noFill/>
                </a:ln>
                <a:effectLst/>
                <a:latin typeface="Tunga"/>
                <a:cs typeface="Tunga"/>
              </a:rPr>
              <a:t> </a:t>
            </a:r>
            <a:endParaRPr lang="en-US" altLang="en-US" sz="2200" b="0" i="0" u="none" strike="noStrike" cap="none" normalizeH="0" baseline="0">
              <a:ln>
                <a:noFill/>
              </a:ln>
              <a:effectLst/>
              <a:latin typeface="Tunga"/>
              <a:cs typeface="Tunga"/>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effectLst/>
                <a:latin typeface="Tunga"/>
                <a:cs typeface="Tunga"/>
              </a:rPr>
              <a:t>Automated Logging</a:t>
            </a:r>
            <a:r>
              <a:rPr kumimoji="0" lang="en-US" altLang="en-US" sz="2200" b="0" i="0" u="none" strike="noStrike" cap="none" normalizeH="0" baseline="0">
                <a:ln>
                  <a:noFill/>
                </a:ln>
                <a:effectLst/>
                <a:latin typeface="Tunga"/>
                <a:cs typeface="Tunga"/>
              </a:rPr>
              <a:t> – Stores violation timestamps and snapshots for security monitoring. </a:t>
            </a:r>
            <a:endParaRPr lang="en-US" altLang="en-US" sz="2200" b="0" i="0" u="none" strike="noStrike" cap="none" normalizeH="0" baseline="0">
              <a:ln>
                <a:noFill/>
              </a:ln>
              <a:effectLst/>
              <a:latin typeface="Tunga"/>
              <a:cs typeface="Tunga"/>
            </a:endParaRPr>
          </a:p>
        </p:txBody>
      </p:sp>
      <p:pic>
        <p:nvPicPr>
          <p:cNvPr id="7" name="Picture 6">
            <a:extLst>
              <a:ext uri="{FF2B5EF4-FFF2-40B4-BE49-F238E27FC236}">
                <a16:creationId xmlns:a16="http://schemas.microsoft.com/office/drawing/2014/main" id="{7DF56D62-9CB0-DC44-5C6B-82AD9280C773}"/>
              </a:ext>
            </a:extLst>
          </p:cNvPr>
          <p:cNvPicPr>
            <a:picLocks noChangeAspect="1"/>
          </p:cNvPicPr>
          <p:nvPr/>
        </p:nvPicPr>
        <p:blipFill>
          <a:blip r:embed="rId2"/>
          <a:stretch>
            <a:fillRect/>
          </a:stretch>
        </p:blipFill>
        <p:spPr>
          <a:xfrm>
            <a:off x="8628180" y="1466728"/>
            <a:ext cx="1704409" cy="1428018"/>
          </a:xfrm>
          <a:prstGeom prst="rect">
            <a:avLst/>
          </a:prstGeom>
        </p:spPr>
      </p:pic>
      <p:pic>
        <p:nvPicPr>
          <p:cNvPr id="9" name="Picture 8">
            <a:extLst>
              <a:ext uri="{FF2B5EF4-FFF2-40B4-BE49-F238E27FC236}">
                <a16:creationId xmlns:a16="http://schemas.microsoft.com/office/drawing/2014/main" id="{2BF638E6-06F1-C0D4-DF90-03866389BC4D}"/>
              </a:ext>
            </a:extLst>
          </p:cNvPr>
          <p:cNvPicPr>
            <a:picLocks noChangeAspect="1"/>
          </p:cNvPicPr>
          <p:nvPr/>
        </p:nvPicPr>
        <p:blipFill>
          <a:blip r:embed="rId3"/>
          <a:stretch>
            <a:fillRect/>
          </a:stretch>
        </p:blipFill>
        <p:spPr>
          <a:xfrm>
            <a:off x="8623014" y="3076958"/>
            <a:ext cx="1704408" cy="1428018"/>
          </a:xfrm>
          <a:prstGeom prst="rect">
            <a:avLst/>
          </a:prstGeom>
        </p:spPr>
      </p:pic>
      <p:pic>
        <p:nvPicPr>
          <p:cNvPr id="11" name="Picture 10">
            <a:extLst>
              <a:ext uri="{FF2B5EF4-FFF2-40B4-BE49-F238E27FC236}">
                <a16:creationId xmlns:a16="http://schemas.microsoft.com/office/drawing/2014/main" id="{AAF90B4C-557A-717A-3FAB-9714681FB6F7}"/>
              </a:ext>
            </a:extLst>
          </p:cNvPr>
          <p:cNvPicPr>
            <a:picLocks noChangeAspect="1"/>
          </p:cNvPicPr>
          <p:nvPr/>
        </p:nvPicPr>
        <p:blipFill>
          <a:blip r:embed="rId4"/>
          <a:stretch>
            <a:fillRect/>
          </a:stretch>
        </p:blipFill>
        <p:spPr>
          <a:xfrm>
            <a:off x="10338526" y="1466729"/>
            <a:ext cx="1710906" cy="3210775"/>
          </a:xfrm>
          <a:prstGeom prst="rect">
            <a:avLst/>
          </a:prstGeom>
        </p:spPr>
      </p:pic>
    </p:spTree>
    <p:extLst>
      <p:ext uri="{BB962C8B-B14F-4D97-AF65-F5344CB8AC3E}">
        <p14:creationId xmlns:p14="http://schemas.microsoft.com/office/powerpoint/2010/main" val="207977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5183-3331-3DC3-007A-7F93333E9F49}"/>
              </a:ext>
            </a:extLst>
          </p:cNvPr>
          <p:cNvSpPr>
            <a:spLocks noGrp="1"/>
          </p:cNvSpPr>
          <p:nvPr>
            <p:ph type="title"/>
          </p:nvPr>
        </p:nvSpPr>
        <p:spPr>
          <a:xfrm>
            <a:off x="838200" y="-64167"/>
            <a:ext cx="10515600" cy="1325563"/>
          </a:xfrm>
        </p:spPr>
        <p:txBody>
          <a:bodyPr/>
          <a:lstStyle/>
          <a:p>
            <a:r>
              <a:rPr lang="en-US">
                <a:highlight>
                  <a:srgbClr val="C0C0C0"/>
                </a:highlight>
                <a:latin typeface="Baskerville Old Face" panose="02020602080505020303" pitchFamily="18" charset="0"/>
              </a:rPr>
              <a:t>SYSTEM ARCHITECTURE</a:t>
            </a:r>
            <a:endParaRPr lang="en-IN">
              <a:highlight>
                <a:srgbClr val="C0C0C0"/>
              </a:highlight>
              <a:latin typeface="Baskerville Old Face" panose="02020602080505020303" pitchFamily="18" charset="0"/>
            </a:endParaRPr>
          </a:p>
        </p:txBody>
      </p:sp>
      <p:sp>
        <p:nvSpPr>
          <p:cNvPr id="4" name="Rectangle 3">
            <a:extLst>
              <a:ext uri="{FF2B5EF4-FFF2-40B4-BE49-F238E27FC236}">
                <a16:creationId xmlns:a16="http://schemas.microsoft.com/office/drawing/2014/main" id="{79749C7F-3093-8DC0-6D78-7458E50ADE28}"/>
              </a:ext>
            </a:extLst>
          </p:cNvPr>
          <p:cNvSpPr/>
          <p:nvPr/>
        </p:nvSpPr>
        <p:spPr>
          <a:xfrm>
            <a:off x="103241" y="1188647"/>
            <a:ext cx="2687055" cy="28701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6E5B0D4E-B892-CB86-5A95-B4F6B5172020}"/>
              </a:ext>
            </a:extLst>
          </p:cNvPr>
          <p:cNvSpPr txBox="1"/>
          <p:nvPr/>
        </p:nvSpPr>
        <p:spPr>
          <a:xfrm>
            <a:off x="341475" y="1265101"/>
            <a:ext cx="2112818" cy="307777"/>
          </a:xfrm>
          <a:prstGeom prst="rect">
            <a:avLst/>
          </a:prstGeom>
          <a:noFill/>
        </p:spPr>
        <p:txBody>
          <a:bodyPr wrap="square" rtlCol="0">
            <a:spAutoFit/>
          </a:bodyPr>
          <a:lstStyle/>
          <a:p>
            <a:pPr algn="ctr"/>
            <a:r>
              <a:rPr lang="en-US" sz="1400" b="1"/>
              <a:t>INPUT SOURCES</a:t>
            </a:r>
            <a:endParaRPr lang="en-IN" sz="1400" b="1"/>
          </a:p>
        </p:txBody>
      </p:sp>
      <p:sp>
        <p:nvSpPr>
          <p:cNvPr id="7" name="Rectangle 6">
            <a:extLst>
              <a:ext uri="{FF2B5EF4-FFF2-40B4-BE49-F238E27FC236}">
                <a16:creationId xmlns:a16="http://schemas.microsoft.com/office/drawing/2014/main" id="{A8EF90C3-2645-3140-5E8C-4696FAAF700B}"/>
              </a:ext>
            </a:extLst>
          </p:cNvPr>
          <p:cNvSpPr/>
          <p:nvPr/>
        </p:nvSpPr>
        <p:spPr>
          <a:xfrm>
            <a:off x="3216973" y="1260031"/>
            <a:ext cx="2782829" cy="24541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EEC3A158-301D-D8F6-5A83-64CD6A81ADFE}"/>
              </a:ext>
            </a:extLst>
          </p:cNvPr>
          <p:cNvSpPr txBox="1"/>
          <p:nvPr/>
        </p:nvSpPr>
        <p:spPr>
          <a:xfrm>
            <a:off x="3392802" y="1295488"/>
            <a:ext cx="2863559" cy="307777"/>
          </a:xfrm>
          <a:prstGeom prst="rect">
            <a:avLst/>
          </a:prstGeom>
          <a:noFill/>
        </p:spPr>
        <p:txBody>
          <a:bodyPr wrap="square" rtlCol="0">
            <a:spAutoFit/>
          </a:bodyPr>
          <a:lstStyle/>
          <a:p>
            <a:r>
              <a:rPr lang="en-US" sz="1400" b="1"/>
              <a:t>VIDEO FRAME ACQUISITION</a:t>
            </a:r>
            <a:endParaRPr lang="en-IN" sz="1400" b="1"/>
          </a:p>
        </p:txBody>
      </p:sp>
      <p:sp>
        <p:nvSpPr>
          <p:cNvPr id="11" name="Rectangle 10">
            <a:extLst>
              <a:ext uri="{FF2B5EF4-FFF2-40B4-BE49-F238E27FC236}">
                <a16:creationId xmlns:a16="http://schemas.microsoft.com/office/drawing/2014/main" id="{27B22807-C9C7-FE41-9616-B9AE7BE7C8BC}"/>
              </a:ext>
            </a:extLst>
          </p:cNvPr>
          <p:cNvSpPr/>
          <p:nvPr/>
        </p:nvSpPr>
        <p:spPr>
          <a:xfrm>
            <a:off x="6680486" y="1260030"/>
            <a:ext cx="2484871" cy="255407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endParaRPr lang="en-US"/>
          </a:p>
        </p:txBody>
      </p:sp>
      <p:sp>
        <p:nvSpPr>
          <p:cNvPr id="12" name="TextBox 11">
            <a:extLst>
              <a:ext uri="{FF2B5EF4-FFF2-40B4-BE49-F238E27FC236}">
                <a16:creationId xmlns:a16="http://schemas.microsoft.com/office/drawing/2014/main" id="{A1B77431-968D-DA85-C8FC-FD3850662D88}"/>
              </a:ext>
            </a:extLst>
          </p:cNvPr>
          <p:cNvSpPr txBox="1"/>
          <p:nvPr/>
        </p:nvSpPr>
        <p:spPr>
          <a:xfrm>
            <a:off x="7054663" y="1287617"/>
            <a:ext cx="2022764" cy="307777"/>
          </a:xfrm>
          <a:prstGeom prst="rect">
            <a:avLst/>
          </a:prstGeom>
          <a:noFill/>
        </p:spPr>
        <p:txBody>
          <a:bodyPr wrap="square" rtlCol="0">
            <a:spAutoFit/>
          </a:bodyPr>
          <a:lstStyle/>
          <a:p>
            <a:r>
              <a:rPr lang="en-US" sz="1400" b="1"/>
              <a:t>FACE DETECTION</a:t>
            </a:r>
            <a:endParaRPr lang="en-IN" sz="1400" b="1"/>
          </a:p>
        </p:txBody>
      </p:sp>
      <p:sp>
        <p:nvSpPr>
          <p:cNvPr id="13" name="Rectangle 12">
            <a:extLst>
              <a:ext uri="{FF2B5EF4-FFF2-40B4-BE49-F238E27FC236}">
                <a16:creationId xmlns:a16="http://schemas.microsoft.com/office/drawing/2014/main" id="{E74C109B-3296-D32D-F022-B3678A8D0B39}"/>
              </a:ext>
            </a:extLst>
          </p:cNvPr>
          <p:cNvSpPr/>
          <p:nvPr/>
        </p:nvSpPr>
        <p:spPr>
          <a:xfrm>
            <a:off x="9722427" y="1188647"/>
            <a:ext cx="2136027" cy="262545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39FD0651-DE4B-4EAB-84A1-A346DDA129BF}"/>
              </a:ext>
            </a:extLst>
          </p:cNvPr>
          <p:cNvSpPr txBox="1"/>
          <p:nvPr/>
        </p:nvSpPr>
        <p:spPr>
          <a:xfrm>
            <a:off x="10013651" y="1206472"/>
            <a:ext cx="2359501" cy="738664"/>
          </a:xfrm>
          <a:prstGeom prst="rect">
            <a:avLst/>
          </a:prstGeom>
          <a:noFill/>
        </p:spPr>
        <p:txBody>
          <a:bodyPr wrap="square" rtlCol="0">
            <a:spAutoFit/>
          </a:bodyPr>
          <a:lstStyle/>
          <a:p>
            <a:r>
              <a:rPr lang="en-US" sz="1400" b="1"/>
              <a:t>FACE REGION EXTRACTION &amp; PREPROCESSING</a:t>
            </a:r>
            <a:endParaRPr lang="en-IN" sz="1400" b="1"/>
          </a:p>
        </p:txBody>
      </p:sp>
      <p:sp>
        <p:nvSpPr>
          <p:cNvPr id="15" name="Rectangle 14">
            <a:extLst>
              <a:ext uri="{FF2B5EF4-FFF2-40B4-BE49-F238E27FC236}">
                <a16:creationId xmlns:a16="http://schemas.microsoft.com/office/drawing/2014/main" id="{8FB4F0B1-E925-2B06-5F33-8D695F887F2E}"/>
              </a:ext>
            </a:extLst>
          </p:cNvPr>
          <p:cNvSpPr/>
          <p:nvPr/>
        </p:nvSpPr>
        <p:spPr>
          <a:xfrm>
            <a:off x="9227522" y="4058834"/>
            <a:ext cx="2861237" cy="254169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4601288A-D150-4D3C-931E-56D16F257DA6}"/>
              </a:ext>
            </a:extLst>
          </p:cNvPr>
          <p:cNvSpPr/>
          <p:nvPr/>
        </p:nvSpPr>
        <p:spPr>
          <a:xfrm>
            <a:off x="4755572" y="4032925"/>
            <a:ext cx="3278769" cy="263169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8482ECFA-B737-3A22-41BC-68ABF11DD5C8}"/>
              </a:ext>
            </a:extLst>
          </p:cNvPr>
          <p:cNvSpPr/>
          <p:nvPr/>
        </p:nvSpPr>
        <p:spPr>
          <a:xfrm>
            <a:off x="333545" y="4184073"/>
            <a:ext cx="3879968" cy="248054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8" name="TextBox 17">
            <a:extLst>
              <a:ext uri="{FF2B5EF4-FFF2-40B4-BE49-F238E27FC236}">
                <a16:creationId xmlns:a16="http://schemas.microsoft.com/office/drawing/2014/main" id="{8864F6FA-E2EA-9C15-3873-8E3C0FA06B20}"/>
              </a:ext>
            </a:extLst>
          </p:cNvPr>
          <p:cNvSpPr txBox="1"/>
          <p:nvPr/>
        </p:nvSpPr>
        <p:spPr>
          <a:xfrm>
            <a:off x="1582378" y="4226292"/>
            <a:ext cx="3075709" cy="307777"/>
          </a:xfrm>
          <a:prstGeom prst="rect">
            <a:avLst/>
          </a:prstGeom>
          <a:noFill/>
        </p:spPr>
        <p:txBody>
          <a:bodyPr wrap="square" rtlCol="0">
            <a:spAutoFit/>
          </a:bodyPr>
          <a:lstStyle/>
          <a:p>
            <a:r>
              <a:rPr lang="en-US" sz="1400" b="1"/>
              <a:t>OUTPUTS</a:t>
            </a:r>
            <a:endParaRPr lang="en-IN" sz="1400" b="1"/>
          </a:p>
        </p:txBody>
      </p:sp>
      <p:cxnSp>
        <p:nvCxnSpPr>
          <p:cNvPr id="20" name="Straight Arrow Connector 19">
            <a:extLst>
              <a:ext uri="{FF2B5EF4-FFF2-40B4-BE49-F238E27FC236}">
                <a16:creationId xmlns:a16="http://schemas.microsoft.com/office/drawing/2014/main" id="{769E5419-422E-BD7E-1811-CA0F947CAA22}"/>
              </a:ext>
            </a:extLst>
          </p:cNvPr>
          <p:cNvCxnSpPr>
            <a:cxnSpLocks/>
          </p:cNvCxnSpPr>
          <p:nvPr/>
        </p:nvCxnSpPr>
        <p:spPr>
          <a:xfrm flipV="1">
            <a:off x="2798619" y="2417616"/>
            <a:ext cx="412172"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818A29C-7B22-C426-EAA6-83F669ED35F7}"/>
              </a:ext>
            </a:extLst>
          </p:cNvPr>
          <p:cNvCxnSpPr>
            <a:cxnSpLocks/>
          </p:cNvCxnSpPr>
          <p:nvPr/>
        </p:nvCxnSpPr>
        <p:spPr>
          <a:xfrm flipV="1">
            <a:off x="6011027" y="2603779"/>
            <a:ext cx="66298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6688BB1-A154-55FB-3C1F-D82D3F51A04C}"/>
              </a:ext>
            </a:extLst>
          </p:cNvPr>
          <p:cNvCxnSpPr>
            <a:cxnSpLocks/>
            <a:endCxn id="13" idx="1"/>
          </p:cNvCxnSpPr>
          <p:nvPr/>
        </p:nvCxnSpPr>
        <p:spPr>
          <a:xfrm>
            <a:off x="9200925" y="2501377"/>
            <a:ext cx="5215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862DFCB-A93C-6138-3EC5-20663FBBD030}"/>
              </a:ext>
            </a:extLst>
          </p:cNvPr>
          <p:cNvCxnSpPr>
            <a:cxnSpLocks/>
            <a:stCxn id="13" idx="2"/>
          </p:cNvCxnSpPr>
          <p:nvPr/>
        </p:nvCxnSpPr>
        <p:spPr>
          <a:xfrm>
            <a:off x="10790441" y="3814106"/>
            <a:ext cx="0" cy="218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6A0E8200-0119-4896-51F8-5199428EF90B}"/>
              </a:ext>
            </a:extLst>
          </p:cNvPr>
          <p:cNvPicPr>
            <a:picLocks noChangeAspect="1"/>
          </p:cNvPicPr>
          <p:nvPr/>
        </p:nvPicPr>
        <p:blipFill>
          <a:blip r:embed="rId2"/>
          <a:stretch>
            <a:fillRect/>
          </a:stretch>
        </p:blipFill>
        <p:spPr>
          <a:xfrm>
            <a:off x="983203" y="1635498"/>
            <a:ext cx="829362" cy="808204"/>
          </a:xfrm>
          <a:prstGeom prst="rect">
            <a:avLst/>
          </a:prstGeom>
        </p:spPr>
      </p:pic>
      <p:cxnSp>
        <p:nvCxnSpPr>
          <p:cNvPr id="30" name="Straight Arrow Connector 29">
            <a:extLst>
              <a:ext uri="{FF2B5EF4-FFF2-40B4-BE49-F238E27FC236}">
                <a16:creationId xmlns:a16="http://schemas.microsoft.com/office/drawing/2014/main" id="{CC82E4E5-C472-B5BE-9A91-F9E74326C035}"/>
              </a:ext>
            </a:extLst>
          </p:cNvPr>
          <p:cNvCxnSpPr>
            <a:cxnSpLocks/>
            <a:stCxn id="15" idx="1"/>
            <a:endCxn id="16" idx="3"/>
          </p:cNvCxnSpPr>
          <p:nvPr/>
        </p:nvCxnSpPr>
        <p:spPr>
          <a:xfrm flipH="1">
            <a:off x="8034341" y="5329683"/>
            <a:ext cx="1193181" cy="19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6114F54-6CD2-9781-C5E1-45016ADC1716}"/>
              </a:ext>
            </a:extLst>
          </p:cNvPr>
          <p:cNvCxnSpPr>
            <a:cxnSpLocks/>
          </p:cNvCxnSpPr>
          <p:nvPr/>
        </p:nvCxnSpPr>
        <p:spPr>
          <a:xfrm flipH="1">
            <a:off x="4213513" y="5298423"/>
            <a:ext cx="5276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69114A3-B1A2-D9D7-06DF-EAEC6E12399F}"/>
              </a:ext>
            </a:extLst>
          </p:cNvPr>
          <p:cNvSpPr txBox="1"/>
          <p:nvPr/>
        </p:nvSpPr>
        <p:spPr>
          <a:xfrm>
            <a:off x="176743" y="2490669"/>
            <a:ext cx="2664202" cy="1323439"/>
          </a:xfrm>
          <a:prstGeom prst="rect">
            <a:avLst/>
          </a:prstGeom>
          <a:noFill/>
        </p:spPr>
        <p:txBody>
          <a:bodyPr wrap="square" rtlCol="0">
            <a:spAutoFit/>
          </a:bodyPr>
          <a:lstStyle/>
          <a:p>
            <a:r>
              <a:rPr lang="en-US" sz="1600">
                <a:latin typeface="Bookman Old Style" panose="02050604050505020204" pitchFamily="18" charset="0"/>
              </a:rPr>
              <a:t>The laptop webcam is used initially. Later, your system can receive a laboratory </a:t>
            </a:r>
            <a:r>
              <a:rPr lang="en-US" sz="1600" b="1">
                <a:latin typeface="Bookman Old Style" panose="02050604050505020204" pitchFamily="18" charset="0"/>
              </a:rPr>
              <a:t>IP-camera/CCTV stream</a:t>
            </a:r>
            <a:endParaRPr lang="en-IN" sz="1600">
              <a:latin typeface="Bookman Old Style" panose="02050604050505020204" pitchFamily="18" charset="0"/>
            </a:endParaRPr>
          </a:p>
        </p:txBody>
      </p:sp>
      <p:pic>
        <p:nvPicPr>
          <p:cNvPr id="10" name="Picture 9">
            <a:extLst>
              <a:ext uri="{FF2B5EF4-FFF2-40B4-BE49-F238E27FC236}">
                <a16:creationId xmlns:a16="http://schemas.microsoft.com/office/drawing/2014/main" id="{74908206-DAD5-FC09-6CDA-4D8CEF3E93DE}"/>
              </a:ext>
            </a:extLst>
          </p:cNvPr>
          <p:cNvPicPr>
            <a:picLocks noChangeAspect="1"/>
          </p:cNvPicPr>
          <p:nvPr/>
        </p:nvPicPr>
        <p:blipFill>
          <a:blip r:embed="rId3"/>
          <a:stretch>
            <a:fillRect/>
          </a:stretch>
        </p:blipFill>
        <p:spPr>
          <a:xfrm>
            <a:off x="7502802" y="1635498"/>
            <a:ext cx="791173" cy="794350"/>
          </a:xfrm>
          <a:prstGeom prst="rect">
            <a:avLst/>
          </a:prstGeom>
        </p:spPr>
      </p:pic>
      <p:sp>
        <p:nvSpPr>
          <p:cNvPr id="23" name="TextBox 22">
            <a:extLst>
              <a:ext uri="{FF2B5EF4-FFF2-40B4-BE49-F238E27FC236}">
                <a16:creationId xmlns:a16="http://schemas.microsoft.com/office/drawing/2014/main" id="{FF43784A-78B5-E389-40CF-6D5560E80331}"/>
              </a:ext>
            </a:extLst>
          </p:cNvPr>
          <p:cNvSpPr txBox="1"/>
          <p:nvPr/>
        </p:nvSpPr>
        <p:spPr>
          <a:xfrm>
            <a:off x="3283645" y="2603779"/>
            <a:ext cx="2687295" cy="923330"/>
          </a:xfrm>
          <a:prstGeom prst="rect">
            <a:avLst/>
          </a:prstGeom>
          <a:noFill/>
        </p:spPr>
        <p:txBody>
          <a:bodyPr wrap="square">
            <a:spAutoFit/>
          </a:bodyPr>
          <a:lstStyle/>
          <a:p>
            <a:r>
              <a:rPr lang="en-US">
                <a:latin typeface="Bookman Old Style" panose="02050604050505020204" pitchFamily="18" charset="0"/>
              </a:rPr>
              <a:t>OpenCV continuously captures individual frames from the video.</a:t>
            </a:r>
            <a:endParaRPr lang="en-IN">
              <a:latin typeface="Bookman Old Style" panose="02050604050505020204" pitchFamily="18" charset="0"/>
            </a:endParaRPr>
          </a:p>
        </p:txBody>
      </p:sp>
      <p:pic>
        <p:nvPicPr>
          <p:cNvPr id="29" name="Picture 28">
            <a:extLst>
              <a:ext uri="{FF2B5EF4-FFF2-40B4-BE49-F238E27FC236}">
                <a16:creationId xmlns:a16="http://schemas.microsoft.com/office/drawing/2014/main" id="{A95A8CA5-0AB6-ACCC-DBFC-70DFA6326C98}"/>
              </a:ext>
            </a:extLst>
          </p:cNvPr>
          <p:cNvPicPr>
            <a:picLocks noChangeAspect="1"/>
          </p:cNvPicPr>
          <p:nvPr/>
        </p:nvPicPr>
        <p:blipFill>
          <a:blip r:embed="rId4"/>
          <a:stretch>
            <a:fillRect/>
          </a:stretch>
        </p:blipFill>
        <p:spPr>
          <a:xfrm>
            <a:off x="3851044" y="1575804"/>
            <a:ext cx="1514686" cy="1009791"/>
          </a:xfrm>
          <a:prstGeom prst="rect">
            <a:avLst/>
          </a:prstGeom>
        </p:spPr>
      </p:pic>
      <p:sp>
        <p:nvSpPr>
          <p:cNvPr id="31" name="TextBox 30">
            <a:extLst>
              <a:ext uri="{FF2B5EF4-FFF2-40B4-BE49-F238E27FC236}">
                <a16:creationId xmlns:a16="http://schemas.microsoft.com/office/drawing/2014/main" id="{08323901-04D9-E4A1-A414-58DA6F1381A7}"/>
              </a:ext>
            </a:extLst>
          </p:cNvPr>
          <p:cNvSpPr txBox="1"/>
          <p:nvPr/>
        </p:nvSpPr>
        <p:spPr>
          <a:xfrm>
            <a:off x="6818268" y="2511988"/>
            <a:ext cx="2409254" cy="1477328"/>
          </a:xfrm>
          <a:prstGeom prst="rect">
            <a:avLst/>
          </a:prstGeom>
          <a:noFill/>
        </p:spPr>
        <p:txBody>
          <a:bodyPr wrap="square" rtlCol="0">
            <a:spAutoFit/>
          </a:bodyPr>
          <a:lstStyle/>
          <a:p>
            <a:r>
              <a:rPr lang="en-US">
                <a:latin typeface="Bookman Old Style" panose="02050604050505020204" pitchFamily="18" charset="0"/>
              </a:rPr>
              <a:t>YuNet detects the person's face and creates a bounding box around it.</a:t>
            </a:r>
          </a:p>
          <a:p>
            <a:endParaRPr lang="en-IN">
              <a:latin typeface="Bookman Old Style" panose="02050604050505020204" pitchFamily="18" charset="0"/>
            </a:endParaRPr>
          </a:p>
        </p:txBody>
      </p:sp>
      <p:pic>
        <p:nvPicPr>
          <p:cNvPr id="41" name="Picture 40">
            <a:extLst>
              <a:ext uri="{FF2B5EF4-FFF2-40B4-BE49-F238E27FC236}">
                <a16:creationId xmlns:a16="http://schemas.microsoft.com/office/drawing/2014/main" id="{CD1CDC12-7C94-E62B-A857-82631E35C4AE}"/>
              </a:ext>
            </a:extLst>
          </p:cNvPr>
          <p:cNvPicPr>
            <a:picLocks noChangeAspect="1"/>
          </p:cNvPicPr>
          <p:nvPr/>
        </p:nvPicPr>
        <p:blipFill>
          <a:blip r:embed="rId5"/>
          <a:stretch>
            <a:fillRect/>
          </a:stretch>
        </p:blipFill>
        <p:spPr>
          <a:xfrm>
            <a:off x="10279499" y="1983986"/>
            <a:ext cx="984146" cy="816232"/>
          </a:xfrm>
          <a:prstGeom prst="rect">
            <a:avLst/>
          </a:prstGeom>
        </p:spPr>
      </p:pic>
      <p:sp>
        <p:nvSpPr>
          <p:cNvPr id="42" name="TextBox 41">
            <a:extLst>
              <a:ext uri="{FF2B5EF4-FFF2-40B4-BE49-F238E27FC236}">
                <a16:creationId xmlns:a16="http://schemas.microsoft.com/office/drawing/2014/main" id="{1618A3C9-0F35-37BC-7DAF-E92A03E49D76}"/>
              </a:ext>
            </a:extLst>
          </p:cNvPr>
          <p:cNvSpPr txBox="1"/>
          <p:nvPr/>
        </p:nvSpPr>
        <p:spPr>
          <a:xfrm>
            <a:off x="9663699" y="2816680"/>
            <a:ext cx="2359501" cy="830997"/>
          </a:xfrm>
          <a:prstGeom prst="rect">
            <a:avLst/>
          </a:prstGeom>
          <a:noFill/>
        </p:spPr>
        <p:txBody>
          <a:bodyPr wrap="square" rtlCol="0">
            <a:spAutoFit/>
          </a:bodyPr>
          <a:lstStyle/>
          <a:p>
            <a:r>
              <a:rPr lang="en-US" sz="1600">
                <a:latin typeface="Bookman Old Style" panose="02050604050505020204" pitchFamily="18" charset="0"/>
              </a:rPr>
              <a:t>The detected face is cropped from the frame and resized to </a:t>
            </a:r>
            <a:endParaRPr lang="en-IN" sz="1600">
              <a:latin typeface="Bookman Old Style" panose="02050604050505020204" pitchFamily="18" charset="0"/>
            </a:endParaRPr>
          </a:p>
        </p:txBody>
      </p:sp>
      <p:sp>
        <p:nvSpPr>
          <p:cNvPr id="46" name="TextBox 45">
            <a:extLst>
              <a:ext uri="{FF2B5EF4-FFF2-40B4-BE49-F238E27FC236}">
                <a16:creationId xmlns:a16="http://schemas.microsoft.com/office/drawing/2014/main" id="{B614F641-5388-1DAE-A786-6F0F82246258}"/>
              </a:ext>
            </a:extLst>
          </p:cNvPr>
          <p:cNvSpPr txBox="1"/>
          <p:nvPr/>
        </p:nvSpPr>
        <p:spPr>
          <a:xfrm>
            <a:off x="9638266" y="4139531"/>
            <a:ext cx="2220189" cy="307777"/>
          </a:xfrm>
          <a:prstGeom prst="rect">
            <a:avLst/>
          </a:prstGeom>
          <a:noFill/>
        </p:spPr>
        <p:txBody>
          <a:bodyPr wrap="square" rtlCol="0">
            <a:spAutoFit/>
          </a:bodyPr>
          <a:lstStyle/>
          <a:p>
            <a:r>
              <a:rPr lang="en-US" sz="1400" b="1"/>
              <a:t>CNN CLASSIFICATION</a:t>
            </a:r>
            <a:endParaRPr lang="en-IN" sz="1400" b="1"/>
          </a:p>
        </p:txBody>
      </p:sp>
      <p:sp>
        <p:nvSpPr>
          <p:cNvPr id="47" name="TextBox 46">
            <a:extLst>
              <a:ext uri="{FF2B5EF4-FFF2-40B4-BE49-F238E27FC236}">
                <a16:creationId xmlns:a16="http://schemas.microsoft.com/office/drawing/2014/main" id="{D1A6ED7F-E545-64FB-F8EA-11C107AF735E}"/>
              </a:ext>
            </a:extLst>
          </p:cNvPr>
          <p:cNvSpPr txBox="1"/>
          <p:nvPr/>
        </p:nvSpPr>
        <p:spPr>
          <a:xfrm>
            <a:off x="9186514" y="4447201"/>
            <a:ext cx="2479964" cy="1169551"/>
          </a:xfrm>
          <a:prstGeom prst="rect">
            <a:avLst/>
          </a:prstGeom>
          <a:noFill/>
        </p:spPr>
        <p:txBody>
          <a:bodyPr wrap="square" rtlCol="0">
            <a:spAutoFit/>
          </a:bodyPr>
          <a:lstStyle/>
          <a:p>
            <a:r>
              <a:rPr lang="en-US" sz="1400">
                <a:latin typeface="Bookman Old Style" panose="02050604050505020204" pitchFamily="18" charset="0"/>
              </a:rPr>
              <a:t>The CNN learns visual patterns from your training images and predicts one of the three classes:</a:t>
            </a:r>
            <a:endParaRPr lang="en-IN" sz="1400">
              <a:latin typeface="Bookman Old Style" panose="02050604050505020204" pitchFamily="18" charset="0"/>
            </a:endParaRPr>
          </a:p>
        </p:txBody>
      </p:sp>
      <p:sp>
        <p:nvSpPr>
          <p:cNvPr id="48" name="TextBox 47">
            <a:extLst>
              <a:ext uri="{FF2B5EF4-FFF2-40B4-BE49-F238E27FC236}">
                <a16:creationId xmlns:a16="http://schemas.microsoft.com/office/drawing/2014/main" id="{F6665C15-E9A6-47FB-2D72-BADA3458228F}"/>
              </a:ext>
            </a:extLst>
          </p:cNvPr>
          <p:cNvSpPr txBox="1"/>
          <p:nvPr/>
        </p:nvSpPr>
        <p:spPr>
          <a:xfrm>
            <a:off x="9999617" y="5369390"/>
            <a:ext cx="2352820" cy="338554"/>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Fully Visible</a:t>
            </a:r>
          </a:p>
        </p:txBody>
      </p:sp>
      <p:sp>
        <p:nvSpPr>
          <p:cNvPr id="49" name="TextBox 48">
            <a:extLst>
              <a:ext uri="{FF2B5EF4-FFF2-40B4-BE49-F238E27FC236}">
                <a16:creationId xmlns:a16="http://schemas.microsoft.com/office/drawing/2014/main" id="{CBF7FCB3-83E3-D98B-3758-5BD0F7ED523A}"/>
              </a:ext>
            </a:extLst>
          </p:cNvPr>
          <p:cNvSpPr txBox="1"/>
          <p:nvPr/>
        </p:nvSpPr>
        <p:spPr>
          <a:xfrm>
            <a:off x="10016049" y="5726862"/>
            <a:ext cx="2517847" cy="338554"/>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PPE Compliant</a:t>
            </a:r>
          </a:p>
        </p:txBody>
      </p:sp>
      <p:sp>
        <p:nvSpPr>
          <p:cNvPr id="51" name="TextBox 50">
            <a:extLst>
              <a:ext uri="{FF2B5EF4-FFF2-40B4-BE49-F238E27FC236}">
                <a16:creationId xmlns:a16="http://schemas.microsoft.com/office/drawing/2014/main" id="{85388C5A-CDDB-CD6E-9DFC-727F0C78153A}"/>
              </a:ext>
            </a:extLst>
          </p:cNvPr>
          <p:cNvSpPr txBox="1"/>
          <p:nvPr/>
        </p:nvSpPr>
        <p:spPr>
          <a:xfrm>
            <a:off x="10013651" y="6079844"/>
            <a:ext cx="2323596" cy="584775"/>
          </a:xfrm>
          <a:prstGeom prst="rect">
            <a:avLst/>
          </a:prstGeom>
          <a:noFill/>
        </p:spPr>
        <p:txBody>
          <a:bodyPr wrap="square" rtlCol="0">
            <a:spAutoFit/>
          </a:bodyPr>
          <a:lstStyle/>
          <a:p>
            <a:r>
              <a:rPr lang="en-US" sz="1600" b="1">
                <a:latin typeface="Bookman Old Style" panose="02050604050505020204" pitchFamily="18" charset="0"/>
              </a:rPr>
              <a:t>- </a:t>
            </a:r>
            <a:r>
              <a:rPr lang="en-IN" sz="1600" b="1">
                <a:latin typeface="Bookman Old Style" panose="02050604050505020204" pitchFamily="18" charset="0"/>
              </a:rPr>
              <a:t>Unauthorized Occlusion</a:t>
            </a:r>
          </a:p>
        </p:txBody>
      </p:sp>
      <p:sp>
        <p:nvSpPr>
          <p:cNvPr id="56" name="TextBox 55">
            <a:extLst>
              <a:ext uri="{FF2B5EF4-FFF2-40B4-BE49-F238E27FC236}">
                <a16:creationId xmlns:a16="http://schemas.microsoft.com/office/drawing/2014/main" id="{0B1D35FD-1ABF-AC66-3ABF-24366453F7D2}"/>
              </a:ext>
            </a:extLst>
          </p:cNvPr>
          <p:cNvSpPr txBox="1"/>
          <p:nvPr/>
        </p:nvSpPr>
        <p:spPr>
          <a:xfrm>
            <a:off x="5154603" y="4120143"/>
            <a:ext cx="2743785" cy="307777"/>
          </a:xfrm>
          <a:prstGeom prst="rect">
            <a:avLst/>
          </a:prstGeom>
          <a:noFill/>
        </p:spPr>
        <p:txBody>
          <a:bodyPr wrap="square" rtlCol="0">
            <a:spAutoFit/>
          </a:bodyPr>
          <a:lstStyle/>
          <a:p>
            <a:r>
              <a:rPr lang="en-US" sz="1400" b="1"/>
              <a:t>DECISION &amp; ALERT MODULE</a:t>
            </a:r>
            <a:endParaRPr lang="en-IN" sz="1400" b="1"/>
          </a:p>
        </p:txBody>
      </p:sp>
      <p:pic>
        <p:nvPicPr>
          <p:cNvPr id="62" name="Picture 61">
            <a:extLst>
              <a:ext uri="{FF2B5EF4-FFF2-40B4-BE49-F238E27FC236}">
                <a16:creationId xmlns:a16="http://schemas.microsoft.com/office/drawing/2014/main" id="{7555B369-CD7A-DEB0-A3BD-FF04F9FBA103}"/>
              </a:ext>
            </a:extLst>
          </p:cNvPr>
          <p:cNvPicPr>
            <a:picLocks noChangeAspect="1"/>
          </p:cNvPicPr>
          <p:nvPr/>
        </p:nvPicPr>
        <p:blipFill>
          <a:blip r:embed="rId6"/>
          <a:stretch>
            <a:fillRect/>
          </a:stretch>
        </p:blipFill>
        <p:spPr>
          <a:xfrm>
            <a:off x="4865727" y="4454757"/>
            <a:ext cx="1378366" cy="973701"/>
          </a:xfrm>
          <a:prstGeom prst="rect">
            <a:avLst/>
          </a:prstGeom>
        </p:spPr>
      </p:pic>
      <p:sp>
        <p:nvSpPr>
          <p:cNvPr id="63" name="TextBox 62">
            <a:extLst>
              <a:ext uri="{FF2B5EF4-FFF2-40B4-BE49-F238E27FC236}">
                <a16:creationId xmlns:a16="http://schemas.microsoft.com/office/drawing/2014/main" id="{2A5F7CB1-E691-6773-272A-BE0B0D56DF13}"/>
              </a:ext>
            </a:extLst>
          </p:cNvPr>
          <p:cNvSpPr txBox="1"/>
          <p:nvPr/>
        </p:nvSpPr>
        <p:spPr>
          <a:xfrm>
            <a:off x="6271474" y="4464354"/>
            <a:ext cx="1638059" cy="954107"/>
          </a:xfrm>
          <a:prstGeom prst="rect">
            <a:avLst/>
          </a:prstGeom>
          <a:noFill/>
        </p:spPr>
        <p:txBody>
          <a:bodyPr wrap="square" rtlCol="0">
            <a:spAutoFit/>
          </a:bodyPr>
          <a:lstStyle/>
          <a:p>
            <a:r>
              <a:rPr lang="en-US" sz="1400">
                <a:latin typeface="Bookman Old Style" panose="02050604050505020204" pitchFamily="18" charset="0"/>
              </a:rPr>
              <a:t>The prediction is compared with your laboratory safety rules.</a:t>
            </a:r>
            <a:endParaRPr lang="en-IN" sz="1400">
              <a:latin typeface="Bookman Old Style" panose="02050604050505020204" pitchFamily="18" charset="0"/>
            </a:endParaRPr>
          </a:p>
        </p:txBody>
      </p:sp>
      <p:sp>
        <p:nvSpPr>
          <p:cNvPr id="1030" name="TextBox 1029">
            <a:extLst>
              <a:ext uri="{FF2B5EF4-FFF2-40B4-BE49-F238E27FC236}">
                <a16:creationId xmlns:a16="http://schemas.microsoft.com/office/drawing/2014/main" id="{DF8D169C-E09E-51B0-17CD-BDE2B93F9355}"/>
              </a:ext>
            </a:extLst>
          </p:cNvPr>
          <p:cNvSpPr txBox="1"/>
          <p:nvPr/>
        </p:nvSpPr>
        <p:spPr>
          <a:xfrm>
            <a:off x="1135612" y="4593115"/>
            <a:ext cx="3245559" cy="2123658"/>
          </a:xfrm>
          <a:prstGeom prst="rect">
            <a:avLst/>
          </a:prstGeom>
          <a:noFill/>
        </p:spPr>
        <p:txBody>
          <a:bodyPr wrap="square" rtlCol="0">
            <a:spAutoFit/>
          </a:bodyPr>
          <a:lstStyle/>
          <a:p>
            <a:r>
              <a:rPr lang="en-US" sz="1600">
                <a:latin typeface="Bookman Old Style" panose="02050604050505020204" pitchFamily="18" charset="0"/>
              </a:rPr>
              <a:t>If an unauthorized condition is detected, the system can:</a:t>
            </a:r>
          </a:p>
          <a:p>
            <a:pPr>
              <a:buFont typeface="Arial" panose="020B0604020202020204" pitchFamily="34" charset="0"/>
              <a:buChar char="•"/>
            </a:pPr>
            <a:r>
              <a:rPr lang="en-US" sz="1600">
                <a:latin typeface="Bookman Old Style" panose="02050604050505020204" pitchFamily="18" charset="0"/>
              </a:rPr>
              <a:t>Display an alert on screen </a:t>
            </a:r>
          </a:p>
          <a:p>
            <a:pPr>
              <a:buFont typeface="Arial" panose="020B0604020202020204" pitchFamily="34" charset="0"/>
              <a:buChar char="•"/>
            </a:pPr>
            <a:r>
              <a:rPr lang="en-US" sz="1600">
                <a:latin typeface="Bookman Old Style" panose="02050604050505020204" pitchFamily="18" charset="0"/>
              </a:rPr>
              <a:t>Record the event </a:t>
            </a:r>
          </a:p>
          <a:p>
            <a:pPr>
              <a:buFont typeface="Arial" panose="020B0604020202020204" pitchFamily="34" charset="0"/>
              <a:buChar char="•"/>
            </a:pPr>
            <a:r>
              <a:rPr lang="en-US" sz="1600">
                <a:latin typeface="Bookman Old Style" panose="02050604050505020204" pitchFamily="18" charset="0"/>
              </a:rPr>
              <a:t>Store date/time </a:t>
            </a:r>
          </a:p>
          <a:p>
            <a:pPr>
              <a:buFont typeface="Arial" panose="020B0604020202020204" pitchFamily="34" charset="0"/>
              <a:buChar char="•"/>
            </a:pPr>
            <a:r>
              <a:rPr lang="en-US" sz="1600">
                <a:latin typeface="Bookman Old Style" panose="02050604050505020204" pitchFamily="18" charset="0"/>
              </a:rPr>
              <a:t>Store the prediction </a:t>
            </a:r>
          </a:p>
          <a:p>
            <a:pPr>
              <a:buFont typeface="Arial" panose="020B0604020202020204" pitchFamily="34" charset="0"/>
              <a:buChar char="•"/>
            </a:pPr>
            <a:r>
              <a:rPr lang="en-US" sz="1600">
                <a:latin typeface="Bookman Old Style" panose="02050604050505020204" pitchFamily="18" charset="0"/>
              </a:rPr>
              <a:t>Later send a notification</a:t>
            </a:r>
          </a:p>
          <a:p>
            <a:endParaRPr lang="en-IN" sz="1600"/>
          </a:p>
        </p:txBody>
      </p:sp>
      <p:pic>
        <p:nvPicPr>
          <p:cNvPr id="1032" name="Picture 1031">
            <a:extLst>
              <a:ext uri="{FF2B5EF4-FFF2-40B4-BE49-F238E27FC236}">
                <a16:creationId xmlns:a16="http://schemas.microsoft.com/office/drawing/2014/main" id="{067E2CB4-073F-81B8-E0D5-FF45E3323964}"/>
              </a:ext>
            </a:extLst>
          </p:cNvPr>
          <p:cNvPicPr>
            <a:picLocks noChangeAspect="1"/>
          </p:cNvPicPr>
          <p:nvPr/>
        </p:nvPicPr>
        <p:blipFill>
          <a:blip r:embed="rId7"/>
          <a:stretch>
            <a:fillRect/>
          </a:stretch>
        </p:blipFill>
        <p:spPr>
          <a:xfrm>
            <a:off x="562148" y="5192375"/>
            <a:ext cx="524721" cy="463942"/>
          </a:xfrm>
          <a:prstGeom prst="rect">
            <a:avLst/>
          </a:prstGeom>
        </p:spPr>
      </p:pic>
      <p:sp>
        <p:nvSpPr>
          <p:cNvPr id="3" name="Oval 2">
            <a:extLst>
              <a:ext uri="{FF2B5EF4-FFF2-40B4-BE49-F238E27FC236}">
                <a16:creationId xmlns:a16="http://schemas.microsoft.com/office/drawing/2014/main" id="{30CFD9C6-5554-F902-6800-5A963887CAAC}"/>
              </a:ext>
            </a:extLst>
          </p:cNvPr>
          <p:cNvSpPr/>
          <p:nvPr/>
        </p:nvSpPr>
        <p:spPr>
          <a:xfrm>
            <a:off x="4858152" y="5963858"/>
            <a:ext cx="190999" cy="231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A6719DF6-8619-3A2C-FBCB-CE32160A84D8}"/>
              </a:ext>
            </a:extLst>
          </p:cNvPr>
          <p:cNvSpPr/>
          <p:nvPr/>
        </p:nvSpPr>
        <p:spPr>
          <a:xfrm>
            <a:off x="4849781" y="5610876"/>
            <a:ext cx="190999" cy="231971"/>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9199C85C-9FF2-CA06-963D-B630300E6EF2}"/>
              </a:ext>
            </a:extLst>
          </p:cNvPr>
          <p:cNvSpPr/>
          <p:nvPr/>
        </p:nvSpPr>
        <p:spPr>
          <a:xfrm>
            <a:off x="4858151" y="6363918"/>
            <a:ext cx="190999" cy="23197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C9BC54F-CDCB-13C2-14E9-6F709520E75E}"/>
              </a:ext>
            </a:extLst>
          </p:cNvPr>
          <p:cNvSpPr txBox="1"/>
          <p:nvPr/>
        </p:nvSpPr>
        <p:spPr>
          <a:xfrm>
            <a:off x="5040780" y="5590750"/>
            <a:ext cx="2164919" cy="307777"/>
          </a:xfrm>
          <a:prstGeom prst="rect">
            <a:avLst/>
          </a:prstGeom>
          <a:noFill/>
        </p:spPr>
        <p:txBody>
          <a:bodyPr wrap="square" rtlCol="0">
            <a:spAutoFit/>
          </a:bodyPr>
          <a:lstStyle/>
          <a:p>
            <a:r>
              <a:rPr lang="en-US" sz="1400">
                <a:latin typeface="Bookman Old Style" panose="02050604050505020204" pitchFamily="18" charset="0"/>
              </a:rPr>
              <a:t>FULLY VISIBLE</a:t>
            </a:r>
            <a:endParaRPr lang="en-IN" sz="1400">
              <a:latin typeface="Bookman Old Style" panose="02050604050505020204" pitchFamily="18" charset="0"/>
            </a:endParaRPr>
          </a:p>
        </p:txBody>
      </p:sp>
      <p:sp>
        <p:nvSpPr>
          <p:cNvPr id="25" name="TextBox 24">
            <a:extLst>
              <a:ext uri="{FF2B5EF4-FFF2-40B4-BE49-F238E27FC236}">
                <a16:creationId xmlns:a16="http://schemas.microsoft.com/office/drawing/2014/main" id="{61A49D33-FAF2-15A6-CBA6-D884D5717C99}"/>
              </a:ext>
            </a:extLst>
          </p:cNvPr>
          <p:cNvSpPr txBox="1"/>
          <p:nvPr/>
        </p:nvSpPr>
        <p:spPr>
          <a:xfrm>
            <a:off x="5049150" y="5949494"/>
            <a:ext cx="1898962" cy="307777"/>
          </a:xfrm>
          <a:prstGeom prst="rect">
            <a:avLst/>
          </a:prstGeom>
          <a:noFill/>
        </p:spPr>
        <p:txBody>
          <a:bodyPr wrap="square" rtlCol="0">
            <a:spAutoFit/>
          </a:bodyPr>
          <a:lstStyle/>
          <a:p>
            <a:r>
              <a:rPr lang="en-US" sz="1400">
                <a:latin typeface="Bookman Old Style" panose="02050604050505020204" pitchFamily="18" charset="0"/>
              </a:rPr>
              <a:t>PPE COMPLIANT</a:t>
            </a:r>
            <a:endParaRPr lang="en-IN" sz="1400">
              <a:latin typeface="Bookman Old Style" panose="02050604050505020204" pitchFamily="18" charset="0"/>
            </a:endParaRPr>
          </a:p>
        </p:txBody>
      </p:sp>
      <p:sp>
        <p:nvSpPr>
          <p:cNvPr id="27" name="TextBox 26">
            <a:extLst>
              <a:ext uri="{FF2B5EF4-FFF2-40B4-BE49-F238E27FC236}">
                <a16:creationId xmlns:a16="http://schemas.microsoft.com/office/drawing/2014/main" id="{97154BA8-1775-158B-4D4A-B3A98448AEE5}"/>
              </a:ext>
            </a:extLst>
          </p:cNvPr>
          <p:cNvSpPr txBox="1"/>
          <p:nvPr/>
        </p:nvSpPr>
        <p:spPr>
          <a:xfrm>
            <a:off x="5015580" y="6329847"/>
            <a:ext cx="3393162" cy="307777"/>
          </a:xfrm>
          <a:prstGeom prst="rect">
            <a:avLst/>
          </a:prstGeom>
          <a:noFill/>
        </p:spPr>
        <p:txBody>
          <a:bodyPr wrap="square" rtlCol="0">
            <a:spAutoFit/>
          </a:bodyPr>
          <a:lstStyle/>
          <a:p>
            <a:r>
              <a:rPr lang="en-US" sz="1400">
                <a:latin typeface="Bookman Old Style" panose="02050604050505020204" pitchFamily="18" charset="0"/>
              </a:rPr>
              <a:t>UNAUTHORISED OCCLUSION</a:t>
            </a:r>
            <a:endParaRPr lang="en-IN" sz="1400">
              <a:latin typeface="Bookman Old Style" panose="02050604050505020204" pitchFamily="18" charset="0"/>
            </a:endParaRPr>
          </a:p>
        </p:txBody>
      </p:sp>
    </p:spTree>
    <p:extLst>
      <p:ext uri="{BB962C8B-B14F-4D97-AF65-F5344CB8AC3E}">
        <p14:creationId xmlns:p14="http://schemas.microsoft.com/office/powerpoint/2010/main" val="410572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EE35-8726-DBD5-3088-2D5DF48FB0D2}"/>
              </a:ext>
            </a:extLst>
          </p:cNvPr>
          <p:cNvSpPr>
            <a:spLocks noGrp="1"/>
          </p:cNvSpPr>
          <p:nvPr>
            <p:ph type="title"/>
          </p:nvPr>
        </p:nvSpPr>
        <p:spPr>
          <a:xfrm>
            <a:off x="838200" y="172528"/>
            <a:ext cx="10515600" cy="1325563"/>
          </a:xfrm>
        </p:spPr>
        <p:txBody>
          <a:bodyPr/>
          <a:lstStyle/>
          <a:p>
            <a:r>
              <a:rPr lang="en-US">
                <a:highlight>
                  <a:srgbClr val="C0C0C0"/>
                </a:highlight>
                <a:latin typeface="Baskerville Old Face" panose="02020602080505020303" pitchFamily="18" charset="0"/>
              </a:rPr>
              <a:t>TECHNOLOGY USED</a:t>
            </a:r>
            <a:endParaRPr lang="en-IN">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58556FC1-962F-EBEE-C6DA-135C5B90AF8B}"/>
              </a:ext>
            </a:extLst>
          </p:cNvPr>
          <p:cNvSpPr>
            <a:spLocks noGrp="1" noChangeArrowheads="1"/>
          </p:cNvSpPr>
          <p:nvPr>
            <p:ph idx="1"/>
          </p:nvPr>
        </p:nvSpPr>
        <p:spPr bwMode="auto">
          <a:xfrm>
            <a:off x="838200" y="1499929"/>
            <a:ext cx="7733025" cy="501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a:ea typeface="+mn-lt"/>
                <a:cs typeface="+mn-lt"/>
              </a:rPr>
              <a:t>1. Python</a:t>
            </a:r>
            <a:endParaRPr lang="en-US"/>
          </a:p>
          <a:p>
            <a:pPr>
              <a:buFont typeface="Arial"/>
              <a:buChar char="•"/>
            </a:pPr>
            <a:r>
              <a:rPr lang="en-US" sz="1800">
                <a:ea typeface="+mn-lt"/>
                <a:cs typeface="+mn-lt"/>
              </a:rPr>
              <a:t>Used to implement the face detection, deep learning classification, and real-time monitoring pipeline.</a:t>
            </a:r>
            <a:endParaRPr lang="en-US"/>
          </a:p>
          <a:p>
            <a:pPr marL="0" indent="0">
              <a:buNone/>
            </a:pPr>
            <a:r>
              <a:rPr lang="en-US" sz="1800">
                <a:ea typeface="+mn-lt"/>
                <a:cs typeface="+mn-lt"/>
              </a:rPr>
              <a:t>2. OpenCV</a:t>
            </a:r>
            <a:endParaRPr lang="en-US"/>
          </a:p>
          <a:p>
            <a:pPr>
              <a:buFont typeface="Arial"/>
              <a:buChar char="•"/>
            </a:pPr>
            <a:r>
              <a:rPr lang="en-US" sz="1800">
                <a:ea typeface="+mn-lt"/>
                <a:cs typeface="+mn-lt"/>
              </a:rPr>
              <a:t>Captures webcam video, processes frames, detects faces through YuNet, </a:t>
            </a:r>
            <a:r>
              <a:rPr kumimoji="0" lang="en-US" sz="1800" b="0" i="0" u="none" strike="noStrike" cap="none" normalizeH="0" baseline="0">
                <a:ln>
                  <a:noFill/>
                </a:ln>
                <a:effectLst/>
                <a:ea typeface="+mn-lt"/>
                <a:cs typeface="+mn-lt"/>
              </a:rPr>
              <a:t>and </a:t>
            </a:r>
            <a:r>
              <a:rPr lang="en-US" sz="1800">
                <a:ea typeface="+mn-lt"/>
                <a:cs typeface="+mn-lt"/>
              </a:rPr>
              <a:t>displays classification results</a:t>
            </a:r>
            <a:r>
              <a:rPr kumimoji="0" lang="en-US" sz="1800" b="0" i="0" u="none" strike="noStrike" cap="none" normalizeH="0" baseline="0">
                <a:ln>
                  <a:noFill/>
                </a:ln>
                <a:effectLst/>
                <a:ea typeface="+mn-lt"/>
                <a:cs typeface="+mn-lt"/>
              </a:rPr>
              <a:t>.</a:t>
            </a:r>
            <a:endParaRPr lang="en-US">
              <a:ea typeface="+mn-lt"/>
              <a:cs typeface="+mn-lt"/>
            </a:endParaRPr>
          </a:p>
          <a:p>
            <a:pPr marL="0" indent="0">
              <a:buNone/>
            </a:pPr>
            <a:r>
              <a:rPr lang="en-US" sz="1800" dirty="0">
                <a:ea typeface="+mn-lt"/>
                <a:cs typeface="+mn-lt"/>
              </a:rPr>
              <a:t>3. PyTorch</a:t>
            </a:r>
            <a:endParaRPr lang="en-US" dirty="0"/>
          </a:p>
          <a:p>
            <a:pPr>
              <a:buFont typeface="Arial"/>
              <a:buChar char="•"/>
            </a:pPr>
            <a:r>
              <a:rPr lang="en-US" sz="1800">
                <a:ea typeface="+mn-lt"/>
                <a:cs typeface="+mn-lt"/>
              </a:rPr>
              <a:t>Loads </a:t>
            </a:r>
            <a:r>
              <a:rPr kumimoji="0" lang="en-US" sz="1800" b="0" i="0" u="none" strike="noStrike" cap="none" normalizeH="0" baseline="0">
                <a:ln>
                  <a:noFill/>
                </a:ln>
                <a:effectLst/>
                <a:ea typeface="+mn-lt"/>
                <a:cs typeface="+mn-lt"/>
              </a:rPr>
              <a:t>and </a:t>
            </a:r>
            <a:r>
              <a:rPr lang="en-US" sz="1800">
                <a:ea typeface="+mn-lt"/>
                <a:cs typeface="+mn-lt"/>
              </a:rPr>
              <a:t>runs the trained ResNet18 model to classify facial images</a:t>
            </a:r>
            <a:r>
              <a:rPr kumimoji="0" lang="en-US" sz="1800" b="0" i="0" u="none" strike="noStrike" cap="none" normalizeH="0" baseline="0">
                <a:ln>
                  <a:noFill/>
                </a:ln>
                <a:effectLst/>
                <a:ea typeface="+mn-lt"/>
                <a:cs typeface="+mn-lt"/>
              </a:rPr>
              <a:t>.</a:t>
            </a:r>
            <a:endParaRPr lang="en-US">
              <a:ea typeface="+mn-lt"/>
              <a:cs typeface="+mn-lt"/>
            </a:endParaRPr>
          </a:p>
          <a:p>
            <a:pPr marL="0" lvl="0" indent="0" algn="l" defTabSz="914400">
              <a:buClrTx/>
              <a:buSzTx/>
              <a:buNone/>
              <a:tabLst/>
            </a:pPr>
            <a:r>
              <a:rPr lang="en-US" sz="1800">
                <a:ea typeface="+mn-lt"/>
                <a:cs typeface="+mn-lt"/>
              </a:rPr>
              <a:t>4</a:t>
            </a:r>
            <a:r>
              <a:rPr kumimoji="0" lang="en-US" sz="1800" b="0" i="0" u="none" strike="noStrike" cap="none" normalizeH="0" baseline="0">
                <a:ln>
                  <a:noFill/>
                </a:ln>
                <a:effectLst/>
                <a:ea typeface="+mn-lt"/>
                <a:cs typeface="+mn-lt"/>
              </a:rPr>
              <a:t>. </a:t>
            </a:r>
            <a:r>
              <a:rPr lang="en-US" sz="1800">
                <a:ea typeface="+mn-lt"/>
                <a:cs typeface="+mn-lt"/>
              </a:rPr>
              <a:t>ResNet18</a:t>
            </a:r>
            <a:endParaRPr lang="en-US"/>
          </a:p>
          <a:p>
            <a:pPr>
              <a:buFont typeface="Arial"/>
              <a:buChar char="•"/>
            </a:pPr>
            <a:r>
              <a:rPr lang="en-US" sz="1800">
                <a:ea typeface="+mn-lt"/>
                <a:cs typeface="+mn-lt"/>
              </a:rPr>
              <a:t>Classifies detected face regions into Fully Visible</a:t>
            </a:r>
            <a:r>
              <a:rPr kumimoji="0" lang="en-US" sz="1800" b="0" i="0" u="none" strike="noStrike" cap="none" normalizeH="0" baseline="0">
                <a:ln>
                  <a:noFill/>
                </a:ln>
                <a:effectLst/>
                <a:ea typeface="+mn-lt"/>
                <a:cs typeface="+mn-lt"/>
              </a:rPr>
              <a:t>, </a:t>
            </a:r>
            <a:r>
              <a:rPr lang="en-US" sz="1800">
                <a:ea typeface="+mn-lt"/>
                <a:cs typeface="+mn-lt"/>
              </a:rPr>
              <a:t>PPE Compliant</a:t>
            </a:r>
            <a:r>
              <a:rPr kumimoji="0" lang="en-US" sz="1800" b="0" i="0" u="none" strike="noStrike" cap="none" normalizeH="0" baseline="0">
                <a:ln>
                  <a:noFill/>
                </a:ln>
                <a:effectLst/>
                <a:ea typeface="+mn-lt"/>
                <a:cs typeface="+mn-lt"/>
              </a:rPr>
              <a:t>, and </a:t>
            </a:r>
            <a:r>
              <a:rPr lang="en-US" sz="1800">
                <a:ea typeface="+mn-lt"/>
                <a:cs typeface="+mn-lt"/>
              </a:rPr>
              <a:t>Unauthorized Occlusion</a:t>
            </a:r>
            <a:r>
              <a:rPr kumimoji="0" lang="en-US" sz="1800" b="0" i="0" u="none" strike="noStrike" cap="none" normalizeH="0" baseline="0">
                <a:ln>
                  <a:noFill/>
                </a:ln>
                <a:effectLst/>
                <a:ea typeface="+mn-lt"/>
                <a:cs typeface="+mn-lt"/>
              </a:rPr>
              <a:t>.</a:t>
            </a:r>
            <a:endParaRPr lang="en-US">
              <a:ea typeface="+mn-lt"/>
              <a:cs typeface="+mn-lt"/>
            </a:endParaRPr>
          </a:p>
          <a:p>
            <a:pPr marL="0" indent="0">
              <a:buNone/>
            </a:pPr>
            <a:r>
              <a:rPr lang="en-US" sz="1800">
                <a:ea typeface="+mn-lt"/>
                <a:cs typeface="+mn-lt"/>
              </a:rPr>
              <a:t>5</a:t>
            </a:r>
            <a:r>
              <a:rPr kumimoji="0" lang="en-US" sz="1800" b="0" i="0" u="none" strike="noStrike" cap="none" normalizeH="0" baseline="0">
                <a:ln>
                  <a:noFill/>
                </a:ln>
                <a:effectLst/>
                <a:ea typeface="+mn-lt"/>
                <a:cs typeface="+mn-lt"/>
              </a:rPr>
              <a:t>.</a:t>
            </a:r>
            <a:r>
              <a:rPr lang="en-US" sz="1800">
                <a:ea typeface="+mn-lt"/>
                <a:cs typeface="+mn-lt"/>
              </a:rPr>
              <a:t> YuNet</a:t>
            </a:r>
            <a:endParaRPr lang="en-US"/>
          </a:p>
          <a:p>
            <a:pPr>
              <a:buFont typeface="Arial"/>
              <a:buChar char="•"/>
            </a:pPr>
            <a:r>
              <a:rPr lang="en-US" sz="1800">
                <a:ea typeface="+mn-lt"/>
                <a:cs typeface="+mn-lt"/>
              </a:rPr>
              <a:t>Detects faces in live video before they are passed to the classification model</a:t>
            </a:r>
            <a:r>
              <a:rPr kumimoji="0" lang="en-US" sz="1800" b="0" i="0" u="none" strike="noStrike" cap="none" normalizeH="0" baseline="0">
                <a:ln>
                  <a:noFill/>
                </a:ln>
                <a:effectLst/>
                <a:ea typeface="+mn-lt"/>
                <a:cs typeface="+mn-lt"/>
              </a:rPr>
              <a:t>.</a:t>
            </a:r>
            <a:endParaRPr lang="en-US">
              <a:ea typeface="+mn-lt"/>
              <a:cs typeface="+mn-lt"/>
            </a:endParaRPr>
          </a:p>
          <a:p>
            <a:pPr marL="0" marR="0" lvl="0" indent="0" algn="l" defTabSz="914400">
              <a:lnSpc>
                <a:spcPct val="100000"/>
              </a:lnSpc>
              <a:spcBef>
                <a:spcPct val="0"/>
              </a:spcBef>
              <a:spcAft>
                <a:spcPct val="0"/>
              </a:spcAft>
              <a:buClrTx/>
              <a:buSzTx/>
              <a:buFontTx/>
              <a:buChar char="•"/>
              <a:tabLst/>
            </a:pPr>
            <a:endParaRPr lang="en-US" altLang="en-US" sz="1800" i="0" u="none" strike="noStrike" cap="none" normalizeH="0" baseline="0">
              <a:ln>
                <a:noFill/>
              </a:ln>
              <a:effectLst/>
              <a:latin typeface="Bookman Old Style" panose="02050604050505020204" pitchFamily="18" charset="0"/>
            </a:endParaRPr>
          </a:p>
        </p:txBody>
      </p:sp>
      <p:pic>
        <p:nvPicPr>
          <p:cNvPr id="3" name="Picture 2" descr="Python logo Icons, Logos, Symbols – Free Download PNG, SVG">
            <a:extLst>
              <a:ext uri="{FF2B5EF4-FFF2-40B4-BE49-F238E27FC236}">
                <a16:creationId xmlns:a16="http://schemas.microsoft.com/office/drawing/2014/main" id="{841248D4-C25E-326B-E521-0D7FA352383F}"/>
              </a:ext>
            </a:extLst>
          </p:cNvPr>
          <p:cNvPicPr>
            <a:picLocks noChangeAspect="1"/>
          </p:cNvPicPr>
          <p:nvPr/>
        </p:nvPicPr>
        <p:blipFill>
          <a:blip r:embed="rId2"/>
          <a:stretch>
            <a:fillRect/>
          </a:stretch>
        </p:blipFill>
        <p:spPr>
          <a:xfrm>
            <a:off x="8577532" y="1180381"/>
            <a:ext cx="1348596" cy="1046671"/>
          </a:xfrm>
          <a:prstGeom prst="rect">
            <a:avLst/>
          </a:prstGeom>
        </p:spPr>
      </p:pic>
      <p:pic>
        <p:nvPicPr>
          <p:cNvPr id="5" name="Picture 4" descr="Quizlet Logo PNG,  Vector (AI, EPS, CDR, PDF, SVG) - iconLogoVector">
            <a:extLst>
              <a:ext uri="{FF2B5EF4-FFF2-40B4-BE49-F238E27FC236}">
                <a16:creationId xmlns:a16="http://schemas.microsoft.com/office/drawing/2014/main" id="{AE96643D-3522-174B-4ECF-4BE2FB23DFC0}"/>
              </a:ext>
            </a:extLst>
          </p:cNvPr>
          <p:cNvPicPr>
            <a:picLocks noChangeAspect="1"/>
          </p:cNvPicPr>
          <p:nvPr/>
        </p:nvPicPr>
        <p:blipFill>
          <a:blip r:embed="rId3"/>
          <a:stretch>
            <a:fillRect/>
          </a:stretch>
        </p:blipFill>
        <p:spPr>
          <a:xfrm>
            <a:off x="9900250" y="1180380"/>
            <a:ext cx="1477992" cy="1046672"/>
          </a:xfrm>
          <a:prstGeom prst="rect">
            <a:avLst/>
          </a:prstGeom>
        </p:spPr>
      </p:pic>
      <p:pic>
        <p:nvPicPr>
          <p:cNvPr id="6" name="Picture 5" descr="Intro to PyTorch: Part 1. A brief introduction to the PyTorch… | by Tony Flores | TDS Archive | Medium">
            <a:extLst>
              <a:ext uri="{FF2B5EF4-FFF2-40B4-BE49-F238E27FC236}">
                <a16:creationId xmlns:a16="http://schemas.microsoft.com/office/drawing/2014/main" id="{7C680221-1B5E-92B4-B3D2-7F3F960229C4}"/>
              </a:ext>
            </a:extLst>
          </p:cNvPr>
          <p:cNvPicPr>
            <a:picLocks noChangeAspect="1"/>
          </p:cNvPicPr>
          <p:nvPr/>
        </p:nvPicPr>
        <p:blipFill>
          <a:blip r:embed="rId4"/>
          <a:stretch>
            <a:fillRect/>
          </a:stretch>
        </p:blipFill>
        <p:spPr>
          <a:xfrm>
            <a:off x="8577532" y="2201173"/>
            <a:ext cx="1334220" cy="1046674"/>
          </a:xfrm>
          <a:prstGeom prst="rect">
            <a:avLst/>
          </a:prstGeom>
        </p:spPr>
      </p:pic>
      <p:pic>
        <p:nvPicPr>
          <p:cNvPr id="11" name="Picture 10" descr="opencv_zoo/models/face_detection_yunet/README.md · rbanfield/Face_and_License_Plate_Obfuscator_-_YuNet at main">
            <a:extLst>
              <a:ext uri="{FF2B5EF4-FFF2-40B4-BE49-F238E27FC236}">
                <a16:creationId xmlns:a16="http://schemas.microsoft.com/office/drawing/2014/main" id="{EDD83591-58F4-58F6-4473-08C945753C93}"/>
              </a:ext>
            </a:extLst>
          </p:cNvPr>
          <p:cNvPicPr>
            <a:picLocks noChangeAspect="1"/>
          </p:cNvPicPr>
          <p:nvPr/>
        </p:nvPicPr>
        <p:blipFill>
          <a:blip r:embed="rId5"/>
          <a:stretch>
            <a:fillRect/>
          </a:stretch>
        </p:blipFill>
        <p:spPr>
          <a:xfrm>
            <a:off x="9914626" y="2213394"/>
            <a:ext cx="1449239" cy="1036608"/>
          </a:xfrm>
          <a:prstGeom prst="rect">
            <a:avLst/>
          </a:prstGeom>
        </p:spPr>
      </p:pic>
    </p:spTree>
    <p:extLst>
      <p:ext uri="{BB962C8B-B14F-4D97-AF65-F5344CB8AC3E}">
        <p14:creationId xmlns:p14="http://schemas.microsoft.com/office/powerpoint/2010/main" val="285206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0FF9-24D3-294D-2158-36E80D4C24E5}"/>
              </a:ext>
            </a:extLst>
          </p:cNvPr>
          <p:cNvSpPr>
            <a:spLocks noGrp="1"/>
          </p:cNvSpPr>
          <p:nvPr>
            <p:ph type="title"/>
          </p:nvPr>
        </p:nvSpPr>
        <p:spPr/>
        <p:txBody>
          <a:bodyPr/>
          <a:lstStyle/>
          <a:p>
            <a:r>
              <a:rPr lang="en-US">
                <a:highlight>
                  <a:srgbClr val="C0C0C0"/>
                </a:highlight>
                <a:latin typeface="Baskerville Old Face"/>
              </a:rPr>
              <a:t>IMPLEMENTATION</a:t>
            </a:r>
          </a:p>
        </p:txBody>
      </p:sp>
      <p:pic>
        <p:nvPicPr>
          <p:cNvPr id="4" name="Content Placeholder 3" descr="A person wearing a mask and goggles&#10;&#10;AI-generated content may be incorrect.">
            <a:extLst>
              <a:ext uri="{FF2B5EF4-FFF2-40B4-BE49-F238E27FC236}">
                <a16:creationId xmlns:a16="http://schemas.microsoft.com/office/drawing/2014/main" id="{C23CA8EB-8B24-7AD2-B7E5-E86E5C92C0F6}"/>
              </a:ext>
            </a:extLst>
          </p:cNvPr>
          <p:cNvPicPr>
            <a:picLocks noGrp="1" noChangeAspect="1"/>
          </p:cNvPicPr>
          <p:nvPr>
            <p:ph idx="1"/>
          </p:nvPr>
        </p:nvPicPr>
        <p:blipFill>
          <a:blip r:embed="rId2"/>
          <a:stretch>
            <a:fillRect/>
          </a:stretch>
        </p:blipFill>
        <p:spPr>
          <a:xfrm>
            <a:off x="837930" y="1892675"/>
            <a:ext cx="1285875" cy="1543050"/>
          </a:xfrm>
          <a:prstGeom prst="rect">
            <a:avLst/>
          </a:prstGeom>
        </p:spPr>
      </p:pic>
      <p:pic>
        <p:nvPicPr>
          <p:cNvPr id="5" name="Picture 4" descr="A person holding his hand to his face&#10;&#10;AI-generated content may be incorrect.">
            <a:extLst>
              <a:ext uri="{FF2B5EF4-FFF2-40B4-BE49-F238E27FC236}">
                <a16:creationId xmlns:a16="http://schemas.microsoft.com/office/drawing/2014/main" id="{2FB096DC-81EA-B36A-E87D-D18E47ABB859}"/>
              </a:ext>
            </a:extLst>
          </p:cNvPr>
          <p:cNvPicPr>
            <a:picLocks noChangeAspect="1"/>
          </p:cNvPicPr>
          <p:nvPr/>
        </p:nvPicPr>
        <p:blipFill>
          <a:blip r:embed="rId3"/>
          <a:stretch>
            <a:fillRect/>
          </a:stretch>
        </p:blipFill>
        <p:spPr>
          <a:xfrm>
            <a:off x="837931" y="3789512"/>
            <a:ext cx="1285875" cy="1866900"/>
          </a:xfrm>
          <a:prstGeom prst="rect">
            <a:avLst/>
          </a:prstGeom>
        </p:spPr>
      </p:pic>
      <p:sp>
        <p:nvSpPr>
          <p:cNvPr id="6" name="TextBox 5">
            <a:extLst>
              <a:ext uri="{FF2B5EF4-FFF2-40B4-BE49-F238E27FC236}">
                <a16:creationId xmlns:a16="http://schemas.microsoft.com/office/drawing/2014/main" id="{E2A473B5-5DCD-FBF2-2CC3-181156E2215B}"/>
              </a:ext>
            </a:extLst>
          </p:cNvPr>
          <p:cNvSpPr txBox="1"/>
          <p:nvPr/>
        </p:nvSpPr>
        <p:spPr>
          <a:xfrm>
            <a:off x="2150666" y="2029707"/>
            <a:ext cx="3959086"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a:buChar char="§"/>
            </a:pPr>
            <a:r>
              <a:rPr lang="en-US" b="1" dirty="0"/>
              <a:t>This is fully compliant, it shows whether the person is wearing the safety goggles and mask</a:t>
            </a:r>
            <a:endParaRPr lang="en-US" dirty="0"/>
          </a:p>
        </p:txBody>
      </p:sp>
      <p:sp>
        <p:nvSpPr>
          <p:cNvPr id="7" name="TextBox 8">
            <a:extLst>
              <a:ext uri="{FF2B5EF4-FFF2-40B4-BE49-F238E27FC236}">
                <a16:creationId xmlns:a16="http://schemas.microsoft.com/office/drawing/2014/main" id="{D9672ACF-6609-B8CE-1080-1788912276FD}"/>
              </a:ext>
            </a:extLst>
          </p:cNvPr>
          <p:cNvSpPr txBox="1"/>
          <p:nvPr/>
        </p:nvSpPr>
        <p:spPr>
          <a:xfrm>
            <a:off x="2109408" y="3977214"/>
            <a:ext cx="4025347" cy="147732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a:buChar char="§"/>
            </a:pPr>
            <a:r>
              <a:rPr lang="en-US" b="1"/>
              <a:t>This is unauthorized </a:t>
            </a:r>
            <a:r>
              <a:rPr lang="en-US" b="1" err="1"/>
              <a:t>occlusion,</a:t>
            </a:r>
            <a:r>
              <a:rPr lang="en-US" b="1"/>
              <a:t> it shows when the face is covered, but not with a mask. This will be registered as unauthorized occlusion. </a:t>
            </a:r>
            <a:endParaRPr lang="en-US"/>
          </a:p>
        </p:txBody>
      </p:sp>
      <p:sp>
        <p:nvSpPr>
          <p:cNvPr id="8" name="TextBox 11">
            <a:extLst>
              <a:ext uri="{FF2B5EF4-FFF2-40B4-BE49-F238E27FC236}">
                <a16:creationId xmlns:a16="http://schemas.microsoft.com/office/drawing/2014/main" id="{C94150B8-A506-C3A5-D0B7-E2DF235D4FA2}"/>
              </a:ext>
            </a:extLst>
          </p:cNvPr>
          <p:cNvSpPr txBox="1"/>
          <p:nvPr/>
        </p:nvSpPr>
        <p:spPr>
          <a:xfrm>
            <a:off x="6103042" y="1893409"/>
            <a:ext cx="6083383" cy="43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i="0" u="none" strike="noStrike" baseline="0">
                <a:solidFill>
                  <a:srgbClr val="000000"/>
                </a:solidFill>
                <a:latin typeface="Gill Sans MT"/>
              </a:rPr>
              <a:t>FILES USED FOR IMPLEMENTING:-</a:t>
            </a:r>
            <a:endParaRPr lang="en-US" sz="2400"/>
          </a:p>
          <a:p>
            <a:pPr algn="l"/>
            <a:endParaRPr lang="en-US" sz="2400" b="1" dirty="0">
              <a:latin typeface="Gill Sans MT"/>
            </a:endParaRPr>
          </a:p>
          <a:p>
            <a:pPr marL="285750" indent="-285750">
              <a:buFont typeface="Wingdings,sans-serif"/>
              <a:buChar char="§"/>
            </a:pPr>
            <a:r>
              <a:rPr lang="en-US"/>
              <a:t>build_final_dataset.py</a:t>
            </a:r>
          </a:p>
          <a:p>
            <a:pPr marL="285750" indent="-285750">
              <a:buFont typeface="Wingdings,sans-serif"/>
              <a:buChar char="§"/>
            </a:pPr>
            <a:r>
              <a:rPr lang="en-US"/>
              <a:t>cnn_model.py</a:t>
            </a:r>
          </a:p>
          <a:p>
            <a:pPr marL="285750" indent="-285750">
              <a:buFont typeface="Wingdings,sans-serif"/>
              <a:buChar char="§"/>
            </a:pPr>
            <a:r>
              <a:rPr lang="en-US"/>
              <a:t>dataset_loader.py</a:t>
            </a:r>
          </a:p>
          <a:p>
            <a:pPr marL="285750" indent="-285750">
              <a:buFont typeface="Wingdings,sans-serif"/>
              <a:buChar char="§"/>
            </a:pPr>
            <a:r>
              <a:rPr lang="en-US"/>
              <a:t>evaluate_model.py</a:t>
            </a:r>
          </a:p>
          <a:p>
            <a:pPr marL="285750" indent="-285750">
              <a:buFont typeface="Wingdings,sans-serif"/>
              <a:buChar char="§"/>
            </a:pPr>
            <a:r>
              <a:rPr lang="en-US"/>
              <a:t>face_ppe.py</a:t>
            </a:r>
          </a:p>
          <a:p>
            <a:pPr marL="285750" indent="-285750">
              <a:buFont typeface="Wingdings,sans-serif"/>
              <a:buChar char="§"/>
            </a:pPr>
            <a:r>
              <a:rPr lang="en-US"/>
              <a:t>filter_ppe.py</a:t>
            </a:r>
          </a:p>
          <a:p>
            <a:pPr marL="285750" indent="-285750">
              <a:buFont typeface="Wingdings,sans-serif"/>
              <a:buChar char="§"/>
            </a:pPr>
            <a:r>
              <a:rPr lang="en-US"/>
              <a:t>laboratory_cctv.py</a:t>
            </a:r>
          </a:p>
          <a:p>
            <a:pPr marL="285750" indent="-285750">
              <a:buFont typeface="Wingdings,sans-serif"/>
              <a:buChar char="§"/>
            </a:pPr>
            <a:r>
              <a:rPr lang="en-US"/>
              <a:t>mask_detection_cctv.py</a:t>
            </a:r>
          </a:p>
          <a:p>
            <a:pPr marL="285750" indent="-285750">
              <a:buFont typeface="Wingdings,sans-serif"/>
              <a:buChar char="§"/>
            </a:pPr>
            <a:r>
              <a:rPr lang="en-US"/>
              <a:t>prepare_unauthorized.py</a:t>
            </a:r>
          </a:p>
          <a:p>
            <a:pPr marL="285750" indent="-285750">
              <a:buFont typeface="Wingdings,sans-serif"/>
              <a:buChar char="§"/>
            </a:pPr>
            <a:r>
              <a:rPr lang="en-US"/>
              <a:t>review_unauthorized.py</a:t>
            </a:r>
          </a:p>
          <a:p>
            <a:pPr marL="285750" indent="-285750">
              <a:buFont typeface="Wingdings,sans-serif"/>
              <a:buChar char="§"/>
            </a:pPr>
            <a:r>
              <a:rPr lang="en-US"/>
              <a:t>sort_occlusion.py</a:t>
            </a:r>
          </a:p>
          <a:p>
            <a:endParaRPr lang="en-US" sz="2800"/>
          </a:p>
        </p:txBody>
      </p:sp>
      <p:sp>
        <p:nvSpPr>
          <p:cNvPr id="9" name="TextBox 12">
            <a:extLst>
              <a:ext uri="{FF2B5EF4-FFF2-40B4-BE49-F238E27FC236}">
                <a16:creationId xmlns:a16="http://schemas.microsoft.com/office/drawing/2014/main" id="{3B99BC0C-8C53-1AD3-FD85-1BDEC5AFFF91}"/>
              </a:ext>
            </a:extLst>
          </p:cNvPr>
          <p:cNvSpPr txBox="1"/>
          <p:nvPr/>
        </p:nvSpPr>
        <p:spPr>
          <a:xfrm>
            <a:off x="9148107" y="2678590"/>
            <a:ext cx="2659224" cy="258532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sans-serif"/>
              <a:buChar char="§"/>
            </a:pPr>
            <a:r>
              <a:rPr lang="en-US"/>
              <a:t>split_fully_visible.py</a:t>
            </a:r>
          </a:p>
          <a:p>
            <a:pPr marL="285750" indent="-285750">
              <a:buFont typeface="Wingdings,sans-serif"/>
              <a:buChar char="§"/>
            </a:pPr>
            <a:r>
              <a:rPr lang="en-US"/>
              <a:t>split_ppe_dataset.py</a:t>
            </a:r>
          </a:p>
          <a:p>
            <a:pPr marL="285750" indent="-285750">
              <a:buFont typeface="Wingdings,sans-serif"/>
              <a:buChar char="§"/>
            </a:pPr>
            <a:r>
              <a:rPr lang="en-US"/>
              <a:t>train_mask_model.py</a:t>
            </a:r>
          </a:p>
          <a:p>
            <a:pPr marL="285750" indent="-285750">
              <a:buFont typeface="Wingdings,sans-serif"/>
              <a:buChar char="§"/>
            </a:pPr>
            <a:r>
              <a:rPr lang="en-US"/>
              <a:t>train_model.py</a:t>
            </a:r>
          </a:p>
          <a:p>
            <a:pPr marL="285750" indent="-285750">
              <a:buFont typeface="Wingdings,sans-serif"/>
              <a:buChar char="§"/>
            </a:pPr>
            <a:r>
              <a:rPr lang="en-US"/>
              <a:t>verify_fully_visible.py</a:t>
            </a:r>
          </a:p>
          <a:p>
            <a:pPr marL="285750" indent="-285750">
              <a:buFont typeface="Wingdings,sans-serif"/>
              <a:buChar char="§"/>
            </a:pPr>
            <a:r>
              <a:rPr lang="en-US"/>
              <a:t>verify_ppe_dataset.py</a:t>
            </a:r>
          </a:p>
          <a:p>
            <a:pPr marL="285750" indent="-285750">
              <a:buFont typeface="Wingdings,sans-serif"/>
              <a:buChar char="§"/>
            </a:pPr>
            <a:r>
              <a:rPr lang="en-US"/>
              <a:t>verify_unauthorized.py</a:t>
            </a:r>
          </a:p>
          <a:p>
            <a:pPr marL="285750" indent="-285750">
              <a:buFont typeface="Wingdings,sans-serif"/>
              <a:buChar char="§"/>
            </a:pPr>
            <a:r>
              <a:rPr lang="en-US"/>
              <a:t>webcam_demo.py</a:t>
            </a:r>
          </a:p>
          <a:p>
            <a:pPr algn="l"/>
            <a:endParaRPr lang="en-US"/>
          </a:p>
        </p:txBody>
      </p:sp>
    </p:spTree>
    <p:extLst>
      <p:ext uri="{BB962C8B-B14F-4D97-AF65-F5344CB8AC3E}">
        <p14:creationId xmlns:p14="http://schemas.microsoft.com/office/powerpoint/2010/main" val="936604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4F71-5E5C-FA4D-211A-1163368F01E5}"/>
              </a:ext>
            </a:extLst>
          </p:cNvPr>
          <p:cNvSpPr>
            <a:spLocks noGrp="1"/>
          </p:cNvSpPr>
          <p:nvPr>
            <p:ph type="title"/>
          </p:nvPr>
        </p:nvSpPr>
        <p:spPr>
          <a:xfrm>
            <a:off x="780691" y="379502"/>
            <a:ext cx="10515600" cy="1325563"/>
          </a:xfrm>
        </p:spPr>
        <p:txBody>
          <a:bodyPr/>
          <a:lstStyle/>
          <a:p>
            <a:r>
              <a:rPr lang="en-US">
                <a:highlight>
                  <a:srgbClr val="C0C0C0"/>
                </a:highlight>
                <a:latin typeface="Baskerville Old Face" panose="02020602080505020303" pitchFamily="18" charset="0"/>
              </a:rPr>
              <a:t>DATA SETS</a:t>
            </a:r>
            <a:endParaRPr lang="en-IN">
              <a:highlight>
                <a:srgbClr val="C0C0C0"/>
              </a:highlight>
              <a:latin typeface="Baskerville Old Face" panose="02020602080505020303" pitchFamily="18" charset="0"/>
            </a:endParaRPr>
          </a:p>
        </p:txBody>
      </p:sp>
      <p:sp>
        <p:nvSpPr>
          <p:cNvPr id="4" name="Rectangle 3">
            <a:extLst>
              <a:ext uri="{FF2B5EF4-FFF2-40B4-BE49-F238E27FC236}">
                <a16:creationId xmlns:a16="http://schemas.microsoft.com/office/drawing/2014/main" id="{86AF2A64-1052-2F87-9103-CE81A96DBF88}"/>
              </a:ext>
            </a:extLst>
          </p:cNvPr>
          <p:cNvSpPr/>
          <p:nvPr/>
        </p:nvSpPr>
        <p:spPr>
          <a:xfrm>
            <a:off x="838200" y="1515908"/>
            <a:ext cx="3527323" cy="460467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7A501D5-2A15-A04B-DADE-3895D57DCED6}"/>
              </a:ext>
            </a:extLst>
          </p:cNvPr>
          <p:cNvSpPr>
            <a:spLocks noGrp="1"/>
          </p:cNvSpPr>
          <p:nvPr>
            <p:ph idx="1"/>
          </p:nvPr>
        </p:nvSpPr>
        <p:spPr>
          <a:xfrm>
            <a:off x="838200" y="1875342"/>
            <a:ext cx="3394587" cy="4976967"/>
          </a:xfrm>
        </p:spPr>
        <p:txBody>
          <a:bodyPr vert="horz" lIns="91440" tIns="45720" rIns="91440" bIns="45720" rtlCol="0" anchor="t">
            <a:normAutofit/>
          </a:bodyPr>
          <a:lstStyle/>
          <a:p>
            <a:r>
              <a:rPr lang="en-US" sz="2600">
                <a:solidFill>
                  <a:schemeClr val="bg1"/>
                </a:solidFill>
                <a:latin typeface="Tunga"/>
                <a:cs typeface="Tunga"/>
              </a:rPr>
              <a:t>Fully Visible: </a:t>
            </a:r>
            <a:r>
              <a:rPr lang="en-IN" sz="2600">
                <a:solidFill>
                  <a:schemeClr val="bg1"/>
                </a:solidFill>
                <a:latin typeface="Tunga"/>
                <a:cs typeface="Tunga"/>
              </a:rPr>
              <a:t>Normal uncovered face</a:t>
            </a:r>
          </a:p>
          <a:p>
            <a:r>
              <a:rPr lang="en-IN" sz="2600">
                <a:solidFill>
                  <a:schemeClr val="bg1"/>
                </a:solidFill>
                <a:latin typeface="Tunga"/>
                <a:cs typeface="Tunga"/>
              </a:rPr>
              <a:t>Safety PPE Compliant: </a:t>
            </a:r>
            <a:r>
              <a:rPr lang="en-US" sz="2600">
                <a:solidFill>
                  <a:schemeClr val="bg1"/>
                </a:solidFill>
                <a:latin typeface="Tunga"/>
                <a:cs typeface="Tunga"/>
              </a:rPr>
              <a:t>Face with approved mask, respirator, goggles, face shield</a:t>
            </a:r>
            <a:endParaRPr lang="en-IN" sz="2600">
              <a:solidFill>
                <a:schemeClr val="bg1"/>
              </a:solidFill>
              <a:latin typeface="Tunga"/>
              <a:cs typeface="Tunga"/>
            </a:endParaRPr>
          </a:p>
          <a:p>
            <a:r>
              <a:rPr lang="en-IN" sz="2600">
                <a:solidFill>
                  <a:schemeClr val="bg1"/>
                </a:solidFill>
                <a:latin typeface="Tunga"/>
                <a:cs typeface="Tunga"/>
              </a:rPr>
              <a:t>Unauthorized Occlusion: </a:t>
            </a:r>
            <a:r>
              <a:rPr lang="en-US" sz="2600">
                <a:solidFill>
                  <a:schemeClr val="bg1"/>
                </a:solidFill>
                <a:latin typeface="Tunga"/>
                <a:cs typeface="Tunga"/>
              </a:rPr>
              <a:t>Face deliberately covered, hoodie/cloth covering, improper PPE</a:t>
            </a:r>
            <a:endParaRPr lang="en-IN" sz="2600">
              <a:solidFill>
                <a:schemeClr val="bg1"/>
              </a:solidFill>
              <a:latin typeface="Tunga"/>
              <a:cs typeface="Tunga"/>
            </a:endParaRPr>
          </a:p>
        </p:txBody>
      </p:sp>
      <p:sp>
        <p:nvSpPr>
          <p:cNvPr id="7" name="Rectangle 6">
            <a:extLst>
              <a:ext uri="{FF2B5EF4-FFF2-40B4-BE49-F238E27FC236}">
                <a16:creationId xmlns:a16="http://schemas.microsoft.com/office/drawing/2014/main" id="{5FEA66E1-DC96-B058-6F0F-1F1178316981}"/>
              </a:ext>
            </a:extLst>
          </p:cNvPr>
          <p:cNvSpPr/>
          <p:nvPr/>
        </p:nvSpPr>
        <p:spPr>
          <a:xfrm>
            <a:off x="8075808" y="1515906"/>
            <a:ext cx="3244646" cy="24366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C428E1A-E03A-6ACA-E4F1-05FB03B07A18}"/>
              </a:ext>
            </a:extLst>
          </p:cNvPr>
          <p:cNvSpPr txBox="1"/>
          <p:nvPr/>
        </p:nvSpPr>
        <p:spPr>
          <a:xfrm>
            <a:off x="8122280" y="1589822"/>
            <a:ext cx="3237132" cy="2308324"/>
          </a:xfrm>
          <a:prstGeom prst="rect">
            <a:avLst/>
          </a:prstGeom>
          <a:noFill/>
        </p:spPr>
        <p:txBody>
          <a:bodyPr wrap="square" lIns="91440" tIns="45720" rIns="91440" bIns="45720" rtlCol="0" anchor="t">
            <a:spAutoFit/>
          </a:bodyPr>
          <a:lstStyle/>
          <a:p>
            <a:r>
              <a:rPr lang="en-US" sz="2400">
                <a:solidFill>
                  <a:schemeClr val="bg1"/>
                </a:solidFill>
                <a:latin typeface="Tunga"/>
                <a:cs typeface="Tunga"/>
              </a:rPr>
              <a:t>FOR TRAINING:</a:t>
            </a:r>
          </a:p>
          <a:p>
            <a:r>
              <a:rPr lang="en-US" sz="2400">
                <a:solidFill>
                  <a:schemeClr val="bg1"/>
                </a:solidFill>
                <a:latin typeface="Tunga"/>
                <a:cs typeface="Tunga"/>
              </a:rPr>
              <a:t>1,000–2,000 images per class</a:t>
            </a:r>
          </a:p>
          <a:p>
            <a:r>
              <a:rPr lang="en-US" sz="2400">
                <a:solidFill>
                  <a:schemeClr val="bg1"/>
                </a:solidFill>
                <a:latin typeface="Tunga"/>
                <a:cs typeface="Tunga"/>
              </a:rPr>
              <a:t>Total: 3,000–6,000 </a:t>
            </a:r>
          </a:p>
          <a:p>
            <a:r>
              <a:rPr lang="en-US" sz="2400">
                <a:solidFill>
                  <a:schemeClr val="bg1"/>
                </a:solidFill>
                <a:latin typeface="Tunga"/>
                <a:cs typeface="Tunga"/>
              </a:rPr>
              <a:t>images Split: 70% training / 15% validation / 15%</a:t>
            </a:r>
            <a:endParaRPr lang="en-IN" sz="2400">
              <a:solidFill>
                <a:schemeClr val="bg1"/>
              </a:solidFill>
              <a:latin typeface="Tunga"/>
              <a:cs typeface="Tunga"/>
            </a:endParaRPr>
          </a:p>
        </p:txBody>
      </p:sp>
      <p:sp>
        <p:nvSpPr>
          <p:cNvPr id="9" name="Rectangle 8">
            <a:extLst>
              <a:ext uri="{FF2B5EF4-FFF2-40B4-BE49-F238E27FC236}">
                <a16:creationId xmlns:a16="http://schemas.microsoft.com/office/drawing/2014/main" id="{6FF85495-C15A-19B8-BF4B-CC6335008D3B}"/>
              </a:ext>
            </a:extLst>
          </p:cNvPr>
          <p:cNvSpPr/>
          <p:nvPr/>
        </p:nvSpPr>
        <p:spPr>
          <a:xfrm>
            <a:off x="8075809" y="4055238"/>
            <a:ext cx="3244645" cy="206534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5675E44-15CA-3DA1-3581-21EB779AD2EB}"/>
              </a:ext>
            </a:extLst>
          </p:cNvPr>
          <p:cNvSpPr txBox="1"/>
          <p:nvPr/>
        </p:nvSpPr>
        <p:spPr>
          <a:xfrm>
            <a:off x="8064770" y="4272301"/>
            <a:ext cx="3244646" cy="1631216"/>
          </a:xfrm>
          <a:prstGeom prst="rect">
            <a:avLst/>
          </a:prstGeom>
          <a:noFill/>
        </p:spPr>
        <p:txBody>
          <a:bodyPr wrap="square" lIns="91440" tIns="45720" rIns="91440" bIns="45720" rtlCol="0" anchor="t">
            <a:spAutoFit/>
          </a:bodyPr>
          <a:lstStyle/>
          <a:p>
            <a:r>
              <a:rPr lang="en-US" sz="2500">
                <a:solidFill>
                  <a:schemeClr val="bg1"/>
                </a:solidFill>
                <a:latin typeface="Tunga"/>
                <a:cs typeface="Tunga"/>
              </a:rPr>
              <a:t>testing Include different lighting, face angles, distances, skin tones, and degrees of occlusion.</a:t>
            </a:r>
            <a:endParaRPr lang="en-IN" sz="2500">
              <a:solidFill>
                <a:schemeClr val="bg1"/>
              </a:solidFill>
              <a:latin typeface="Tunga"/>
              <a:cs typeface="Tunga"/>
            </a:endParaRPr>
          </a:p>
        </p:txBody>
      </p:sp>
      <p:pic>
        <p:nvPicPr>
          <p:cNvPr id="6" name="Picture 5" descr="AI Face Reading &amp; Personality Analysis | MeByFace">
            <a:extLst>
              <a:ext uri="{FF2B5EF4-FFF2-40B4-BE49-F238E27FC236}">
                <a16:creationId xmlns:a16="http://schemas.microsoft.com/office/drawing/2014/main" id="{206F331A-29BC-6FEB-13B6-D57C1A5219DD}"/>
              </a:ext>
            </a:extLst>
          </p:cNvPr>
          <p:cNvPicPr>
            <a:picLocks noChangeAspect="1"/>
          </p:cNvPicPr>
          <p:nvPr/>
        </p:nvPicPr>
        <p:blipFill>
          <a:blip r:embed="rId2"/>
          <a:stretch>
            <a:fillRect/>
          </a:stretch>
        </p:blipFill>
        <p:spPr>
          <a:xfrm>
            <a:off x="4738777" y="1511060"/>
            <a:ext cx="2743200" cy="1549880"/>
          </a:xfrm>
          <a:prstGeom prst="rect">
            <a:avLst/>
          </a:prstGeom>
        </p:spPr>
      </p:pic>
      <p:pic>
        <p:nvPicPr>
          <p:cNvPr id="10" name="Picture 9" descr="Portrait of professional indian man microbiologist or medical worker using protective mask">
            <a:extLst>
              <a:ext uri="{FF2B5EF4-FFF2-40B4-BE49-F238E27FC236}">
                <a16:creationId xmlns:a16="http://schemas.microsoft.com/office/drawing/2014/main" id="{A737A7BF-A5D9-B5A4-9EE8-976DE45F6CB3}"/>
              </a:ext>
            </a:extLst>
          </p:cNvPr>
          <p:cNvPicPr>
            <a:picLocks noChangeAspect="1"/>
          </p:cNvPicPr>
          <p:nvPr/>
        </p:nvPicPr>
        <p:blipFill>
          <a:blip r:embed="rId3"/>
          <a:stretch>
            <a:fillRect/>
          </a:stretch>
        </p:blipFill>
        <p:spPr>
          <a:xfrm>
            <a:off x="4738777" y="3003653"/>
            <a:ext cx="2743199" cy="1641448"/>
          </a:xfrm>
          <a:prstGeom prst="rect">
            <a:avLst/>
          </a:prstGeom>
        </p:spPr>
      </p:pic>
      <p:pic>
        <p:nvPicPr>
          <p:cNvPr id="11" name="Picture 10">
            <a:extLst>
              <a:ext uri="{FF2B5EF4-FFF2-40B4-BE49-F238E27FC236}">
                <a16:creationId xmlns:a16="http://schemas.microsoft.com/office/drawing/2014/main" id="{21A4679A-68D2-6F89-F0F3-EFE1974F957D}"/>
              </a:ext>
            </a:extLst>
          </p:cNvPr>
          <p:cNvPicPr>
            <a:picLocks noChangeAspect="1"/>
          </p:cNvPicPr>
          <p:nvPr/>
        </p:nvPicPr>
        <p:blipFill>
          <a:blip r:embed="rId4"/>
          <a:stretch>
            <a:fillRect/>
          </a:stretch>
        </p:blipFill>
        <p:spPr>
          <a:xfrm>
            <a:off x="4744978" y="4645505"/>
            <a:ext cx="2730800" cy="1434501"/>
          </a:xfrm>
          <a:prstGeom prst="rect">
            <a:avLst/>
          </a:prstGeom>
        </p:spPr>
      </p:pic>
    </p:spTree>
    <p:extLst>
      <p:ext uri="{BB962C8B-B14F-4D97-AF65-F5344CB8AC3E}">
        <p14:creationId xmlns:p14="http://schemas.microsoft.com/office/powerpoint/2010/main" val="345430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8FFA-274D-F89C-FDE0-A1D49F5339C9}"/>
              </a:ext>
            </a:extLst>
          </p:cNvPr>
          <p:cNvSpPr>
            <a:spLocks noGrp="1"/>
          </p:cNvSpPr>
          <p:nvPr>
            <p:ph type="title"/>
          </p:nvPr>
        </p:nvSpPr>
        <p:spPr/>
        <p:txBody>
          <a:bodyPr/>
          <a:lstStyle/>
          <a:p>
            <a:r>
              <a:rPr lang="en-US"/>
              <a:t>GANTT CHART</a:t>
            </a:r>
          </a:p>
        </p:txBody>
      </p:sp>
      <p:pic>
        <p:nvPicPr>
          <p:cNvPr id="4" name="Picture 3" descr="A screenshot of a computer&#10;&#10;AI-generated content may be incorrect.">
            <a:extLst>
              <a:ext uri="{FF2B5EF4-FFF2-40B4-BE49-F238E27FC236}">
                <a16:creationId xmlns:a16="http://schemas.microsoft.com/office/drawing/2014/main" id="{2D620421-54AE-7268-9393-CD71782A6B2E}"/>
              </a:ext>
            </a:extLst>
          </p:cNvPr>
          <p:cNvPicPr>
            <a:picLocks noChangeAspect="1"/>
          </p:cNvPicPr>
          <p:nvPr/>
        </p:nvPicPr>
        <p:blipFill>
          <a:blip r:embed="rId2"/>
          <a:srcRect l="16529" t="18907" r="1889" b="15546"/>
          <a:stretch>
            <a:fillRect/>
          </a:stretch>
        </p:blipFill>
        <p:spPr>
          <a:xfrm>
            <a:off x="1739660" y="1712578"/>
            <a:ext cx="9946490" cy="4492972"/>
          </a:xfrm>
          <a:prstGeom prst="rect">
            <a:avLst/>
          </a:prstGeom>
        </p:spPr>
      </p:pic>
    </p:spTree>
    <p:extLst>
      <p:ext uri="{BB962C8B-B14F-4D97-AF65-F5344CB8AC3E}">
        <p14:creationId xmlns:p14="http://schemas.microsoft.com/office/powerpoint/2010/main" val="4148136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8363-9F45-7F0D-7A44-31483D1500A1}"/>
              </a:ext>
            </a:extLst>
          </p:cNvPr>
          <p:cNvSpPr>
            <a:spLocks noGrp="1"/>
          </p:cNvSpPr>
          <p:nvPr>
            <p:ph type="title"/>
          </p:nvPr>
        </p:nvSpPr>
        <p:spPr>
          <a:xfrm>
            <a:off x="408039" y="175598"/>
            <a:ext cx="2306129" cy="707337"/>
          </a:xfrm>
        </p:spPr>
        <p:txBody>
          <a:bodyPr>
            <a:normAutofit/>
          </a:bodyPr>
          <a:lstStyle/>
          <a:p>
            <a:r>
              <a:rPr lang="en-US" sz="2400" b="1">
                <a:highlight>
                  <a:srgbClr val="C0C0C0"/>
                </a:highlight>
                <a:latin typeface="Baskerville Old Face"/>
              </a:rPr>
              <a:t>CONCLUSION:</a:t>
            </a:r>
            <a:endParaRPr lang="en-IN" sz="2400" b="1">
              <a:highlight>
                <a:srgbClr val="C0C0C0"/>
              </a:highlight>
              <a:latin typeface="Baskerville Old Face"/>
            </a:endParaRPr>
          </a:p>
        </p:txBody>
      </p:sp>
      <p:sp>
        <p:nvSpPr>
          <p:cNvPr id="3" name="Content Placeholder 2">
            <a:extLst>
              <a:ext uri="{FF2B5EF4-FFF2-40B4-BE49-F238E27FC236}">
                <a16:creationId xmlns:a16="http://schemas.microsoft.com/office/drawing/2014/main" id="{1D0B2F66-3766-7EDF-2336-388A972F6EED}"/>
              </a:ext>
            </a:extLst>
          </p:cNvPr>
          <p:cNvSpPr>
            <a:spLocks noGrp="1"/>
          </p:cNvSpPr>
          <p:nvPr>
            <p:ph idx="1"/>
          </p:nvPr>
        </p:nvSpPr>
        <p:spPr>
          <a:xfrm>
            <a:off x="408039" y="882935"/>
            <a:ext cx="5889246" cy="5259721"/>
          </a:xfrm>
        </p:spPr>
        <p:txBody>
          <a:bodyPr vert="horz" lIns="91440" tIns="45720" rIns="91440" bIns="45720" rtlCol="0" anchor="t">
            <a:normAutofit lnSpcReduction="10000"/>
          </a:bodyPr>
          <a:lstStyle/>
          <a:p>
            <a:r>
              <a:rPr lang="en-US" sz="2400">
                <a:latin typeface="Tunga"/>
                <a:ea typeface="+mn-lt"/>
                <a:cs typeface="Tunga"/>
              </a:rPr>
              <a:t>Developed a real-time facial occlusion detection and classification system using </a:t>
            </a:r>
            <a:r>
              <a:rPr lang="en-US" sz="2400" b="1">
                <a:latin typeface="Tunga"/>
                <a:ea typeface="+mn-lt"/>
                <a:cs typeface="Tunga"/>
              </a:rPr>
              <a:t>YuNet, CNN (ResNet18), and OpenCV</a:t>
            </a:r>
            <a:r>
              <a:rPr lang="en-US" sz="2400">
                <a:latin typeface="Tunga"/>
                <a:ea typeface="+mn-lt"/>
                <a:cs typeface="Tunga"/>
              </a:rPr>
              <a:t>.</a:t>
            </a:r>
          </a:p>
          <a:p>
            <a:pPr marL="0" indent="0">
              <a:buNone/>
            </a:pPr>
            <a:endParaRPr lang="en-US" sz="2400" dirty="0">
              <a:latin typeface="Tunga"/>
              <a:ea typeface="+mn-lt"/>
              <a:cs typeface="Tunga"/>
            </a:endParaRPr>
          </a:p>
          <a:p>
            <a:r>
              <a:rPr lang="en-US" sz="2400">
                <a:latin typeface="Tunga"/>
                <a:ea typeface="+mn-lt"/>
                <a:cs typeface="Tunga"/>
              </a:rPr>
              <a:t>Classifies faces into three categories: </a:t>
            </a:r>
            <a:r>
              <a:rPr lang="en-US" sz="2400" b="1">
                <a:latin typeface="Tunga"/>
                <a:ea typeface="+mn-lt"/>
                <a:cs typeface="Tunga"/>
              </a:rPr>
              <a:t>Fully Visible, PPE Compliant, and Unauthorized Occlusion</a:t>
            </a:r>
            <a:r>
              <a:rPr lang="en-US" sz="2400">
                <a:latin typeface="Tunga"/>
                <a:ea typeface="+mn-lt"/>
                <a:cs typeface="Tunga"/>
              </a:rPr>
              <a:t>.</a:t>
            </a:r>
          </a:p>
          <a:p>
            <a:pPr marL="0" indent="0">
              <a:buNone/>
            </a:pPr>
            <a:endParaRPr lang="en-US" sz="2400" dirty="0">
              <a:latin typeface="Tunga"/>
              <a:ea typeface="+mn-lt"/>
              <a:cs typeface="Tunga"/>
            </a:endParaRPr>
          </a:p>
          <a:p>
            <a:r>
              <a:rPr lang="en-US" sz="2400">
                <a:latin typeface="Tunga"/>
                <a:ea typeface="+mn-lt"/>
                <a:cs typeface="Tunga"/>
              </a:rPr>
              <a:t>Displays predicted classes and confidence scores to support laboratory safety monitoring.</a:t>
            </a:r>
            <a:endParaRPr lang="en-US" sz="2400" dirty="0">
              <a:latin typeface="Tunga"/>
              <a:cs typeface="Tunga"/>
            </a:endParaRPr>
          </a:p>
          <a:p>
            <a:pPr marL="0" indent="0">
              <a:buNone/>
            </a:pPr>
            <a:endParaRPr lang="en-US" sz="2400" dirty="0">
              <a:latin typeface="Tunga"/>
              <a:ea typeface="+mn-lt"/>
              <a:cs typeface="Tunga"/>
            </a:endParaRPr>
          </a:p>
          <a:p>
            <a:r>
              <a:rPr lang="en-US" sz="2400">
                <a:latin typeface="Tunga"/>
                <a:ea typeface="+mn-lt"/>
                <a:cs typeface="Tunga"/>
              </a:rPr>
              <a:t>Provides a foundation for automated PPE compliance assessment in laboratory environments.</a:t>
            </a:r>
          </a:p>
          <a:p>
            <a:endParaRPr lang="en-US" sz="2400" dirty="0">
              <a:latin typeface="Tunga"/>
              <a:cs typeface="Tunga"/>
            </a:endParaRPr>
          </a:p>
        </p:txBody>
      </p:sp>
      <p:sp>
        <p:nvSpPr>
          <p:cNvPr id="4" name="TextBox 3">
            <a:extLst>
              <a:ext uri="{FF2B5EF4-FFF2-40B4-BE49-F238E27FC236}">
                <a16:creationId xmlns:a16="http://schemas.microsoft.com/office/drawing/2014/main" id="{556CAB25-5454-BFC0-7936-5006CB4F68E2}"/>
              </a:ext>
            </a:extLst>
          </p:cNvPr>
          <p:cNvSpPr txBox="1"/>
          <p:nvPr/>
        </p:nvSpPr>
        <p:spPr>
          <a:xfrm>
            <a:off x="6432152" y="296407"/>
            <a:ext cx="3638585" cy="461665"/>
          </a:xfrm>
          <a:prstGeom prst="rect">
            <a:avLst/>
          </a:prstGeom>
          <a:noFill/>
        </p:spPr>
        <p:txBody>
          <a:bodyPr wrap="square" lIns="91440" tIns="45720" rIns="91440" bIns="45720" rtlCol="0" anchor="t">
            <a:spAutoFit/>
          </a:bodyPr>
          <a:lstStyle/>
          <a:p>
            <a:r>
              <a:rPr lang="en-US" sz="2400" b="1">
                <a:highlight>
                  <a:srgbClr val="C0C0C0"/>
                </a:highlight>
                <a:latin typeface="Baskerville Old Face"/>
              </a:rPr>
              <a:t>FUTURE SCOPE:</a:t>
            </a:r>
            <a:endParaRPr lang="en-IN" sz="2400" b="1">
              <a:highlight>
                <a:srgbClr val="C0C0C0"/>
              </a:highlight>
              <a:latin typeface="Baskerville Old Face"/>
            </a:endParaRPr>
          </a:p>
        </p:txBody>
      </p:sp>
      <p:sp>
        <p:nvSpPr>
          <p:cNvPr id="5" name="TextBox 4">
            <a:extLst>
              <a:ext uri="{FF2B5EF4-FFF2-40B4-BE49-F238E27FC236}">
                <a16:creationId xmlns:a16="http://schemas.microsoft.com/office/drawing/2014/main" id="{E394F6E2-AE05-811D-CC40-E89BF6E48174}"/>
              </a:ext>
            </a:extLst>
          </p:cNvPr>
          <p:cNvSpPr txBox="1"/>
          <p:nvPr/>
        </p:nvSpPr>
        <p:spPr>
          <a:xfrm>
            <a:off x="6302754" y="881181"/>
            <a:ext cx="5893605" cy="5262979"/>
          </a:xfrm>
          <a:prstGeom prst="rect">
            <a:avLst/>
          </a:prstGeom>
          <a:noFill/>
        </p:spPr>
        <p:txBody>
          <a:bodyPr wrap="square" lIns="91440" tIns="45720" rIns="91440" bIns="45720" rtlCol="0" anchor="t">
            <a:spAutoFit/>
          </a:bodyPr>
          <a:lstStyle/>
          <a:p>
            <a:pPr marL="285750" indent="-285750">
              <a:buFont typeface="Arial"/>
              <a:buChar char="•"/>
            </a:pPr>
            <a:r>
              <a:rPr lang="en-US" sz="2400" b="1">
                <a:latin typeface="Tunga"/>
                <a:ea typeface="+mn-lt"/>
                <a:cs typeface="Tunga"/>
              </a:rPr>
              <a:t>Improve Accuracy:</a:t>
            </a:r>
            <a:r>
              <a:rPr lang="en-US" sz="2400">
                <a:latin typeface="Tunga"/>
                <a:ea typeface="+mn-lt"/>
                <a:cs typeface="Tunga"/>
              </a:rPr>
              <a:t> Train with larger and more diverse datasets.</a:t>
            </a:r>
          </a:p>
          <a:p>
            <a:pPr marL="285750" indent="-285750">
              <a:buFont typeface="Arial"/>
              <a:buChar char="•"/>
            </a:pPr>
            <a:r>
              <a:rPr lang="en-US" sz="2400" b="1">
                <a:latin typeface="Tunga"/>
                <a:ea typeface="+mn-lt"/>
                <a:cs typeface="Tunga"/>
              </a:rPr>
              <a:t>Advanced Detection:</a:t>
            </a:r>
            <a:r>
              <a:rPr lang="en-US" sz="2400">
                <a:latin typeface="Tunga"/>
                <a:ea typeface="+mn-lt"/>
                <a:cs typeface="Tunga"/>
              </a:rPr>
              <a:t> Improve performance under poor lighting, different angles, and partial occlusion.</a:t>
            </a:r>
            <a:endParaRPr lang="en-US" sz="2400">
              <a:latin typeface="Tunga"/>
              <a:cs typeface="Tunga"/>
            </a:endParaRPr>
          </a:p>
          <a:p>
            <a:pPr marL="285750" indent="-285750">
              <a:buFont typeface="Arial"/>
              <a:buChar char="•"/>
            </a:pPr>
            <a:r>
              <a:rPr lang="en-US" sz="2400" b="1">
                <a:latin typeface="Tunga"/>
                <a:ea typeface="+mn-lt"/>
                <a:cs typeface="Tunga"/>
              </a:rPr>
              <a:t>Automated Alerts:</a:t>
            </a:r>
            <a:r>
              <a:rPr lang="en-US" sz="2400">
                <a:latin typeface="Tunga"/>
                <a:ea typeface="+mn-lt"/>
                <a:cs typeface="Tunga"/>
              </a:rPr>
              <a:t> Generate alerts when potential PPE non-compliance is detected.</a:t>
            </a:r>
          </a:p>
          <a:p>
            <a:pPr marL="285750" indent="-285750">
              <a:buFont typeface="Arial"/>
              <a:buChar char="•"/>
            </a:pPr>
            <a:r>
              <a:rPr lang="en-US" sz="2400" b="1">
                <a:latin typeface="Tunga"/>
                <a:ea typeface="+mn-lt"/>
                <a:cs typeface="Tunga"/>
              </a:rPr>
              <a:t>Event Logging:</a:t>
            </a:r>
            <a:r>
              <a:rPr lang="en-US" sz="2400">
                <a:latin typeface="Tunga"/>
                <a:ea typeface="+mn-lt"/>
                <a:cs typeface="Tunga"/>
              </a:rPr>
              <a:t> Store detection results with timestamps for later review.</a:t>
            </a:r>
          </a:p>
          <a:p>
            <a:pPr marL="285750" indent="-285750">
              <a:buFont typeface="Arial"/>
              <a:buChar char="•"/>
            </a:pPr>
            <a:r>
              <a:rPr lang="en-US" sz="2400" b="1">
                <a:latin typeface="Tunga"/>
                <a:ea typeface="+mn-lt"/>
                <a:cs typeface="Tunga"/>
              </a:rPr>
              <a:t>CCTV Integration:</a:t>
            </a:r>
            <a:r>
              <a:rPr lang="en-US" sz="2400">
                <a:latin typeface="Tunga"/>
                <a:ea typeface="+mn-lt"/>
                <a:cs typeface="Tunga"/>
              </a:rPr>
              <a:t> Extend the system to support multiple surveillance cameras.</a:t>
            </a:r>
            <a:endParaRPr lang="en-US" sz="2400">
              <a:latin typeface="Tunga"/>
              <a:cs typeface="Tunga"/>
            </a:endParaRPr>
          </a:p>
          <a:p>
            <a:pPr marL="285750" indent="-285750">
              <a:buFont typeface="Arial"/>
              <a:buChar char="•"/>
            </a:pPr>
            <a:r>
              <a:rPr lang="en-US" sz="2400" b="1">
                <a:latin typeface="Tunga"/>
                <a:ea typeface="+mn-lt"/>
                <a:cs typeface="Tunga"/>
              </a:rPr>
              <a:t>Model Optimization:</a:t>
            </a:r>
            <a:r>
              <a:rPr lang="en-US" sz="2400">
                <a:latin typeface="Tunga"/>
                <a:ea typeface="+mn-lt"/>
                <a:cs typeface="Tunga"/>
              </a:rPr>
              <a:t> Reduce processing time for faster real-time performance.</a:t>
            </a:r>
          </a:p>
          <a:p>
            <a:endParaRPr lang="en-US" sz="2400">
              <a:latin typeface="Tunga"/>
              <a:cs typeface="Tunga"/>
            </a:endParaRPr>
          </a:p>
        </p:txBody>
      </p:sp>
    </p:spTree>
    <p:extLst>
      <p:ext uri="{BB962C8B-B14F-4D97-AF65-F5344CB8AC3E}">
        <p14:creationId xmlns:p14="http://schemas.microsoft.com/office/powerpoint/2010/main" val="1896412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DF91B-CC24-37DA-C97C-548D1DC0AE5D}"/>
              </a:ext>
            </a:extLst>
          </p:cNvPr>
          <p:cNvSpPr>
            <a:spLocks noGrp="1"/>
          </p:cNvSpPr>
          <p:nvPr>
            <p:ph type="title"/>
          </p:nvPr>
        </p:nvSpPr>
        <p:spPr/>
        <p:txBody>
          <a:bodyPr/>
          <a:lstStyle/>
          <a:p>
            <a:r>
              <a:rPr lang="en-US" b="1">
                <a:highlight>
                  <a:srgbClr val="C0C0C0"/>
                </a:highlight>
                <a:latin typeface="Baskerville Old Face" panose="02020602080505020303" pitchFamily="18" charset="0"/>
              </a:rPr>
              <a:t>REFERNCES</a:t>
            </a:r>
            <a:endParaRPr lang="en-IN" b="1">
              <a:highlight>
                <a:srgbClr val="C0C0C0"/>
              </a:highlight>
              <a:latin typeface="Baskerville Old Face" panose="02020602080505020303" pitchFamily="18" charset="0"/>
            </a:endParaRPr>
          </a:p>
        </p:txBody>
      </p:sp>
      <p:sp>
        <p:nvSpPr>
          <p:cNvPr id="4" name="Rectangle 1">
            <a:extLst>
              <a:ext uri="{FF2B5EF4-FFF2-40B4-BE49-F238E27FC236}">
                <a16:creationId xmlns:a16="http://schemas.microsoft.com/office/drawing/2014/main" id="{A6019A86-ED55-33BC-E4D0-721CE4FE3664}"/>
              </a:ext>
            </a:extLst>
          </p:cNvPr>
          <p:cNvSpPr>
            <a:spLocks noGrp="1" noChangeArrowheads="1"/>
          </p:cNvSpPr>
          <p:nvPr>
            <p:ph idx="1"/>
          </p:nvPr>
        </p:nvSpPr>
        <p:spPr bwMode="auto">
          <a:xfrm>
            <a:off x="956188" y="2106529"/>
            <a:ext cx="1112274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Rahmaniar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Head Pose Estimation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CNN-based approach for handling different head poses and partially covered faces. (2022).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Putro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Face Mask Detector</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Lightweight CNN approach for real-time face-mask detection.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Song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Occlusion Robust Face Recognition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Siamese Network approach for improving face recognition under facial occlusion. (2019).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Bookman Old Style" panose="02050604050505020204" pitchFamily="18" charset="0"/>
              </a:rPr>
              <a:t>Xia et al.</a:t>
            </a:r>
            <a:r>
              <a:rPr kumimoji="0" lang="en-US" altLang="en-US" sz="2000" b="0" i="0" u="none" strike="noStrike" cap="none" normalizeH="0" baseline="0">
                <a:ln>
                  <a:noFill/>
                </a:ln>
                <a:solidFill>
                  <a:schemeClr val="tx1"/>
                </a:solidFill>
                <a:effectLst/>
                <a:latin typeface="Bookman Old Style" panose="02050604050505020204" pitchFamily="18" charset="0"/>
              </a:rPr>
              <a:t> – </a:t>
            </a:r>
            <a:r>
              <a:rPr kumimoji="0" lang="en-US" altLang="en-US" sz="2000" b="0" i="1" u="none" strike="noStrike" cap="none" normalizeH="0" baseline="0">
                <a:ln>
                  <a:noFill/>
                </a:ln>
                <a:solidFill>
                  <a:schemeClr val="tx1"/>
                </a:solidFill>
                <a:effectLst/>
                <a:latin typeface="Bookman Old Style" panose="02050604050505020204" pitchFamily="18" charset="0"/>
              </a:rPr>
              <a:t>Face Occlusion Detection</a:t>
            </a:r>
            <a:br>
              <a:rPr kumimoji="0" lang="en-US" altLang="en-US" sz="2000" b="0" i="0" u="none" strike="noStrike" cap="none" normalizeH="0" baseline="0">
                <a:ln>
                  <a:noFill/>
                </a:ln>
                <a:solidFill>
                  <a:schemeClr val="tx1"/>
                </a:solidFill>
                <a:effectLst/>
                <a:latin typeface="Bookman Old Style" panose="02050604050505020204" pitchFamily="18" charset="0"/>
              </a:rPr>
            </a:br>
            <a:r>
              <a:rPr kumimoji="0" lang="en-US" altLang="en-US" sz="2000" b="0" i="0" u="none" strike="noStrike" cap="none" normalizeH="0" baseline="0">
                <a:ln>
                  <a:noFill/>
                </a:ln>
                <a:solidFill>
                  <a:schemeClr val="tx1"/>
                </a:solidFill>
                <a:effectLst/>
                <a:latin typeface="Bookman Old Style" panose="02050604050505020204" pitchFamily="18" charset="0"/>
              </a:rPr>
              <a:t>Multi-task CNN approach for detecting occluded facial regions. (2015).</a:t>
            </a:r>
          </a:p>
        </p:txBody>
      </p:sp>
    </p:spTree>
    <p:extLst>
      <p:ext uri="{BB962C8B-B14F-4D97-AF65-F5344CB8AC3E}">
        <p14:creationId xmlns:p14="http://schemas.microsoft.com/office/powerpoint/2010/main" val="396479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968E-C5DF-2CF1-DA04-49DDDDCD6284}"/>
              </a:ext>
            </a:extLst>
          </p:cNvPr>
          <p:cNvSpPr>
            <a:spLocks noGrp="1"/>
          </p:cNvSpPr>
          <p:nvPr>
            <p:ph type="title"/>
          </p:nvPr>
        </p:nvSpPr>
        <p:spPr>
          <a:xfrm>
            <a:off x="2873477" y="2533138"/>
            <a:ext cx="10515600" cy="1325563"/>
          </a:xfrm>
        </p:spPr>
        <p:txBody>
          <a:bodyPr>
            <a:normAutofit/>
          </a:bodyPr>
          <a:lstStyle/>
          <a:p>
            <a:r>
              <a:rPr lang="en-US" sz="6600" b="1">
                <a:latin typeface="Forte" panose="03060902040502070203" pitchFamily="66" charset="0"/>
              </a:rPr>
              <a:t>THANK YOU!</a:t>
            </a:r>
            <a:endParaRPr lang="en-IN" sz="6600" b="1">
              <a:latin typeface="Forte" panose="03060902040502070203" pitchFamily="66" charset="0"/>
            </a:endParaRPr>
          </a:p>
        </p:txBody>
      </p:sp>
    </p:spTree>
    <p:extLst>
      <p:ext uri="{BB962C8B-B14F-4D97-AF65-F5344CB8AC3E}">
        <p14:creationId xmlns:p14="http://schemas.microsoft.com/office/powerpoint/2010/main" val="2355001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Facial Occlusion Detection and Classification in Controlled Laboratory Environments</vt:lpstr>
      <vt:lpstr>ABSTRACT</vt:lpstr>
      <vt:lpstr>PROBLEM STATEMENTS</vt:lpstr>
      <vt:lpstr>OBJECTIVES</vt:lpstr>
      <vt:lpstr>LITERATURE SURVEY</vt:lpstr>
      <vt:lpstr>RESEARCH GAP</vt:lpstr>
      <vt:lpstr>PROPOSED SYSTEM</vt:lpstr>
      <vt:lpstr>SYSTEM ARCHITECTURE</vt:lpstr>
      <vt:lpstr>TECHNOLOGY USED</vt:lpstr>
      <vt:lpstr>IMPLEMENTATION</vt:lpstr>
      <vt:lpstr>DATA SETS</vt:lpstr>
      <vt:lpstr>GANTT CHART</vt:lpstr>
      <vt:lpstr>CONCLUSION:</vt:lpstr>
      <vt:lpstr>REFERNCES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Yagna Sujish</dc:creator>
  <cp:revision>138</cp:revision>
  <dcterms:created xsi:type="dcterms:W3CDTF">2026-09-28T06:57:11Z</dcterms:created>
  <dcterms:modified xsi:type="dcterms:W3CDTF">2026-10-30T03:50:12Z</dcterms:modified>
</cp:coreProperties>
</file>