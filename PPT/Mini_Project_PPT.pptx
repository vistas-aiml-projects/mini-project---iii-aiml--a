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0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00" autoAdjust="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126" y="2308788"/>
            <a:ext cx="11340084" cy="16989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5400" b="1" dirty="0">
                <a:solidFill>
                  <a:srgbClr val="F5F8FC"/>
                </a:solidFill>
                <a:latin typeface="Aptos"/>
              </a:rPr>
              <a:t>AI-Based Smart Expense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277" y="4221182"/>
            <a:ext cx="11340083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 dirty="0">
                <a:solidFill>
                  <a:srgbClr val="1FD3EC"/>
                </a:solidFill>
                <a:latin typeface="Aptos"/>
              </a:rPr>
              <a:t>Automated Categorization • Spending Prediction • Anomaly Detection • Budget</a:t>
            </a:r>
            <a:r>
              <a:rPr lang="en-IN" sz="2000" b="0" dirty="0">
                <a:solidFill>
                  <a:srgbClr val="1FD3EC"/>
                </a:solidFill>
                <a:latin typeface="Aptos"/>
              </a:rPr>
              <a:t> </a:t>
            </a:r>
            <a:r>
              <a:rPr sz="2000" b="0" dirty="0">
                <a:solidFill>
                  <a:srgbClr val="1FD3EC"/>
                </a:solidFill>
                <a:latin typeface="Aptos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5233797"/>
            <a:ext cx="1645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1FD3EC"/>
                </a:solidFill>
                <a:latin typeface="Aptos"/>
              </a:rPr>
              <a:t>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" y="5837301"/>
            <a:ext cx="32918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 dirty="0">
                <a:solidFill>
                  <a:srgbClr val="F5F8FC"/>
                </a:solidFill>
                <a:latin typeface="Aptos"/>
              </a:rPr>
              <a:t>Department of CSE (AI &amp; ML)
Vels University, Chennai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5233797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1FD3EC"/>
                </a:solidFill>
                <a:latin typeface="Apto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5562981"/>
            <a:ext cx="27432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Kotakonda Shravan B
S. Thahseen Basha
Varun Sekar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600" y="5244656"/>
            <a:ext cx="23774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 dirty="0">
                <a:solidFill>
                  <a:srgbClr val="1FD3EC"/>
                </a:solidFill>
                <a:latin typeface="Aptos"/>
              </a:rPr>
              <a:t>PROJECT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0600" y="5562981"/>
            <a:ext cx="2468880" cy="3139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US" dirty="0">
                <a:solidFill>
                  <a:srgbClr val="F5F8FC"/>
                </a:solidFill>
                <a:latin typeface="Aptos"/>
              </a:rPr>
              <a:t>Mrs. Janani P , </a:t>
            </a:r>
            <a:r>
              <a:rPr lang="en-US" dirty="0" err="1">
                <a:solidFill>
                  <a:srgbClr val="F5F8FC"/>
                </a:solidFill>
                <a:latin typeface="Aptos"/>
              </a:rPr>
              <a:t>M.tech</a:t>
            </a:r>
            <a:endParaRPr sz="1800" b="0" dirty="0">
              <a:solidFill>
                <a:srgbClr val="F5F8FC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223DE6-1576-3F72-CD3A-797C8CD46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8045"/>
            <a:ext cx="12192000" cy="2151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6076" y="155448"/>
            <a:ext cx="11155680" cy="71404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400" b="1" dirty="0">
                <a:solidFill>
                  <a:srgbClr val="F5F8FC"/>
                </a:solidFill>
                <a:latin typeface="Aptos"/>
              </a:rPr>
              <a:t>Project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057" y="1067927"/>
            <a:ext cx="1097280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just"/>
            <a:r>
              <a:rPr sz="2000" b="0" dirty="0">
                <a:solidFill>
                  <a:srgbClr val="F5F8FC"/>
                </a:solidFill>
                <a:latin typeface="Aptos"/>
              </a:rPr>
              <a:t>The AI-Based Smart Expense Management System automates personal expense tracking by capturing transaction details directly from payment notifications and converting them into structured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71" y="2353673"/>
            <a:ext cx="2749296" cy="2708794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6871" y="2508682"/>
            <a:ext cx="2184231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1FD3EC"/>
                </a:solidFill>
                <a:latin typeface="Aptos"/>
              </a:rPr>
              <a:t>Naive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603" y="2996196"/>
            <a:ext cx="2184231" cy="188359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Categorizes incoming transaction descriptions into preset expense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5305" y="2353673"/>
            <a:ext cx="2607762" cy="272708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92342" y="2503118"/>
            <a:ext cx="2184231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408BFF"/>
                </a:solidFill>
                <a:latin typeface="Aptos"/>
              </a:rPr>
              <a:t>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6076" y="3003131"/>
            <a:ext cx="2184231" cy="15758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Predicts future spending trends and month-end expenditure based on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6078" y="2353672"/>
            <a:ext cx="2559917" cy="2727083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72347" y="2508682"/>
            <a:ext cx="2184231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9550FF"/>
                </a:solidFill>
                <a:latin typeface="Aptos"/>
              </a:rPr>
              <a:t>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9551" y="3001227"/>
            <a:ext cx="2184231" cy="188359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Identifies and flags unusual transaction patterns and spending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9589" y="2353673"/>
            <a:ext cx="2622340" cy="272708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26202" y="2482632"/>
            <a:ext cx="2158734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3C78E"/>
                </a:solidFill>
                <a:latin typeface="Aptos"/>
              </a:rPr>
              <a:t>Storage &amp;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8506" y="2832294"/>
            <a:ext cx="2158734" cy="219136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Stores processed records in local SQLite database and generates personalized budget recommendations.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004" y="5208374"/>
            <a:ext cx="11365992" cy="1188720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489" y="5333834"/>
            <a:ext cx="1110144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400" b="1" dirty="0">
                <a:solidFill>
                  <a:srgbClr val="1FD3EC"/>
                </a:solidFill>
                <a:latin typeface="Aptos"/>
              </a:rPr>
              <a:t>Key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16" y="5740099"/>
            <a:ext cx="11101447" cy="5293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200" b="0" dirty="0">
                <a:solidFill>
                  <a:srgbClr val="F5F8FC"/>
                </a:solidFill>
                <a:latin typeface="Aptos"/>
              </a:rPr>
              <a:t>Automation + Intelligence + Real-Time Financial Insight.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04536" y="208295"/>
            <a:ext cx="11155680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600" b="1" dirty="0">
                <a:solidFill>
                  <a:srgbClr val="F5F8FC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885186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0">
                <a:solidFill>
                  <a:srgbClr val="1FD3EC"/>
                </a:solidFill>
                <a:latin typeface="Aptos"/>
              </a:rPr>
              <a:t>Research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754" y="1318479"/>
            <a:ext cx="11236006" cy="13295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800" b="0" dirty="0">
                <a:solidFill>
                  <a:srgbClr val="F5F8FC"/>
                </a:solidFill>
                <a:latin typeface="Aptos"/>
              </a:rPr>
              <a:t>An end-to-end unified workflow combining automated notification parsing, machine-learning classification, predictive modeling, anomaly detection, and actionable budgeting.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777" y="2875919"/>
            <a:ext cx="5156352" cy="150966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85603" y="2952627"/>
            <a:ext cx="4907425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1FD3EC"/>
                </a:solidFill>
                <a:latin typeface="Aptos"/>
              </a:rPr>
              <a:t>Manual &amp; Tedious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604" y="3475865"/>
            <a:ext cx="4907425" cy="65248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 dirty="0">
                <a:solidFill>
                  <a:srgbClr val="F5F8FC"/>
                </a:solidFill>
                <a:latin typeface="Aptos"/>
              </a:rPr>
              <a:t>Users frequently forget to log transactions, causing gaps in personal expense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5835" y="2875919"/>
            <a:ext cx="5200803" cy="150966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5347" y="2995097"/>
            <a:ext cx="4951876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408BFF"/>
                </a:solidFill>
                <a:latin typeface="Aptos"/>
              </a:rPr>
              <a:t>No Automatic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5347" y="3441860"/>
            <a:ext cx="4951876" cy="65248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 dirty="0">
                <a:solidFill>
                  <a:srgbClr val="F5F8FC"/>
                </a:solidFill>
                <a:latin typeface="Aptos"/>
              </a:rPr>
              <a:t>Conventional tools rely entirely on repetitive manual input and category selection.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737" y="4773415"/>
            <a:ext cx="5156352" cy="150966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897449"/>
            <a:ext cx="4907425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9550FF"/>
                </a:solidFill>
                <a:latin typeface="Aptos"/>
              </a:rPr>
              <a:t>Limited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50" y="5242159"/>
            <a:ext cx="4907425" cy="9602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 dirty="0">
                <a:solidFill>
                  <a:srgbClr val="F5F8FC"/>
                </a:solidFill>
                <a:latin typeface="Aptos"/>
              </a:rPr>
              <a:t>Standard trackers offer basic historical summaries without forward-looking spending projections.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2896" y="4750227"/>
            <a:ext cx="5200803" cy="150966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2408" y="4913829"/>
            <a:ext cx="4951876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23C78E"/>
                </a:solidFill>
                <a:latin typeface="Aptos"/>
              </a:rPr>
              <a:t>No Anomaly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359" y="5296942"/>
            <a:ext cx="4951876" cy="65248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0" dirty="0">
                <a:solidFill>
                  <a:srgbClr val="F5F8FC"/>
                </a:solidFill>
                <a:latin typeface="Aptos"/>
              </a:rPr>
              <a:t>Irregular or suspicious spending behavior goes unnoticed without automated alerts</a:t>
            </a:r>
            <a:r>
              <a:rPr sz="1800" b="0" dirty="0">
                <a:solidFill>
                  <a:srgbClr val="F5F8F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7096" y="128016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300" b="1" dirty="0">
                <a:solidFill>
                  <a:srgbClr val="F5F8FC"/>
                </a:solidFill>
                <a:latin typeface="Aptos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033745"/>
              </p:ext>
            </p:extLst>
          </p:nvPr>
        </p:nvGraphicFramePr>
        <p:xfrm>
          <a:off x="230310" y="785824"/>
          <a:ext cx="11731379" cy="5953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8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566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No.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Literature Area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Key Finding from Report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Method / Relevance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61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AI/ML in Personal Finance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AI/ML is increasingly vital for automated transaction analysis and personal decision-making.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Underpins categorization, prediction, anomaly detection, and budgeting.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77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F5F8FC"/>
                          </a:solidFill>
                          <a:latin typeface="Aptos"/>
                        </a:rPr>
                        <a:t>Transaction Classification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Text-based NLP techniques extract merchant names and descriptions to assign predefined spending categories.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Naive Bayes: Lightweight, fast, and computationally efficient for text data.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131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Expense Prediction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Historical trends can project upcoming short-term and monthly spending.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Linear Regression: Transparent, interpretable continuous estimation.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228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Anomaly Detection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Highlights transactions that deviate substantially from regular user habits.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Isolation Forest: Efficiently isolates rare or unusual outlier entries.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110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Research Gap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Existing solutions separate transaction capture from predictive and anomaly analytics.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F5F8FC"/>
                          </a:solidFill>
                          <a:latin typeface="Aptos"/>
                        </a:rPr>
                        <a:t>Unifies notification parsing, categorization, forecasting, and budgeting into one pipeline.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0" y="64008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300" b="1" dirty="0">
                <a:solidFill>
                  <a:srgbClr val="F5F8FC"/>
                </a:solidFill>
                <a:latin typeface="Aptos"/>
              </a:rPr>
              <a:t>Existing System vs. Proposed 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376844"/>
              </p:ext>
            </p:extLst>
          </p:nvPr>
        </p:nvGraphicFramePr>
        <p:xfrm>
          <a:off x="137160" y="707136"/>
          <a:ext cx="11795760" cy="5864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5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4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187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Existing System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1FD3EC"/>
                          </a:solidFill>
                          <a:latin typeface="Aptos"/>
                        </a:rPr>
                        <a:t>Proposed System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09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Data Entry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Manual transaction logging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Automated notification capture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09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Categorization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Manual category tagging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Machine learning (Naive Bayes)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21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Data Persistence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Unstructured or basic spreadsheets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Structured local SQLite storage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234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Future Forecasting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None or strictly descriptive summaries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Continuous predictive modeling (Linear Regression)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7677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Fraud / Anomaly Detection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Not integrated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Automated outlier detection (Isolation Forest)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21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Budgeting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Static, fixed user limits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Dynamic, personalized budget recommendations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63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5F8FC"/>
                          </a:solidFill>
                          <a:latin typeface="Aptos"/>
                        </a:rPr>
                        <a:t>Workflow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F5F8FC"/>
                          </a:solidFill>
                          <a:latin typeface="Aptos"/>
                        </a:rPr>
                        <a:t>Fragmented and multi-step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F5F8FC"/>
                          </a:solidFill>
                          <a:latin typeface="Aptos"/>
                        </a:rPr>
                        <a:t>Unified, end-to-end automated pipeline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91440"/>
            <a:ext cx="1170432" cy="16459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0616" y="6289810"/>
            <a:ext cx="1124712" cy="16459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935738" y="174327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300" b="1" dirty="0">
                <a:solidFill>
                  <a:srgbClr val="F5F8FC"/>
                </a:solidFill>
                <a:latin typeface="Aptos"/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766551"/>
            <a:ext cx="96012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1FD3EC"/>
                </a:solidFill>
                <a:latin typeface="Aptos"/>
              </a:rPr>
              <a:t>Existing solutions address individual functions, but the complete workflow remains fragmented.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" y="1667766"/>
            <a:ext cx="4828032" cy="1578354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2153412" y="1706411"/>
            <a:ext cx="4343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1FD3EC"/>
                </a:solidFill>
                <a:latin typeface="Aptos"/>
              </a:rPr>
              <a:t>Fragmented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2081377"/>
            <a:ext cx="4343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Transaction capture, categorization, prediction and anomaly analysis are often handled separately.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74080" y="1698926"/>
            <a:ext cx="4919472" cy="1444752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7328916" y="1758958"/>
            <a:ext cx="4343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408BFF"/>
                </a:solidFill>
                <a:latin typeface="Aptos"/>
              </a:rPr>
              <a:t>Manual Data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2095625"/>
            <a:ext cx="4343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Users may need to record transactions manually, creating gaps in expense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3418594"/>
            <a:ext cx="4681728" cy="1444752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002536" y="3434367"/>
            <a:ext cx="4343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550FF"/>
                </a:solidFill>
                <a:latin typeface="Aptos"/>
              </a:rPr>
              <a:t>Limited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756581"/>
            <a:ext cx="4343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Conventional trackers focus mainly on historical summaries instead of forward-looking spending.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4080" y="3367186"/>
            <a:ext cx="4919472" cy="1444752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559298" y="3405623"/>
            <a:ext cx="4343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23C78E"/>
                </a:solidFill>
                <a:latin typeface="Aptos"/>
              </a:rPr>
              <a:t>No Unified Anomaly + Budgeting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3756581"/>
            <a:ext cx="4343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Unusual spending detection and actionable budget support are not integrated into one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36192" y="5101089"/>
            <a:ext cx="9244584" cy="120883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837176" y="5094458"/>
            <a:ext cx="89364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9550FF"/>
                </a:solidFill>
                <a:latin typeface="Aptos"/>
              </a:rPr>
              <a:t>Gap Addressed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7721" y="5509201"/>
            <a:ext cx="893643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A unified end-to-end workflow connecting notification parsing, ML categorization, prediction, anomaly detection and budgeting.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E5B681-2359-0C87-5B02-D6578A33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312" y="150233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0863072" y="6724769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841248" y="242245"/>
            <a:ext cx="11155680" cy="5909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3600" b="1" dirty="0">
                <a:solidFill>
                  <a:srgbClr val="F5F8FC"/>
                </a:solidFill>
                <a:latin typeface="Aptos"/>
              </a:rPr>
              <a:t>Methodology &amp; Implementation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3" y="1183505"/>
            <a:ext cx="5586982" cy="119979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16863" y="1195256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FD3EC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62" y="1539942"/>
            <a:ext cx="5093207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Listen to and read incoming payment notifications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3504"/>
            <a:ext cx="5669280" cy="1205365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373368" y="1220439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408BFF"/>
                </a:solidFill>
                <a:latin typeface="Aptos"/>
              </a:rP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960" y="1540836"/>
            <a:ext cx="5757672" cy="79067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Parse raw notification text for amount, merchant name, date, and payment mode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541" y="2555104"/>
            <a:ext cx="5553459" cy="119979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68678" y="2578608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9550FF"/>
                </a:solidFill>
                <a:latin typeface="Aptos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8039"/>
            <a:ext cx="5446775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Naive Bayes maps text tokens to expense category (e.g., Food, Travel, Utilities).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579001"/>
            <a:ext cx="5669280" cy="119997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422137" y="2612577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23C78E"/>
                </a:solidFill>
                <a:latin typeface="Aptos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192" y="2902772"/>
            <a:ext cx="5093207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Linear Regression estimates month-end and category-level expenditure.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541" y="3926705"/>
            <a:ext cx="5553459" cy="1318022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FFB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41248" y="4018145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FFB147"/>
                </a:solidFill>
                <a:latin typeface="Apto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56473"/>
            <a:ext cx="5093207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>
                <a:solidFill>
                  <a:srgbClr val="F5F8FC"/>
                </a:solidFill>
                <a:latin typeface="Aptos"/>
              </a:rPr>
              <a:t>Isolation Forest analyzes transaction size and frequency to isolate outliers.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926705"/>
            <a:ext cx="5669280" cy="1299734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489192" y="3934900"/>
            <a:ext cx="5093207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FF6674"/>
                </a:solidFill>
                <a:latin typeface="Aptos"/>
              </a:rP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192" y="4314732"/>
            <a:ext cx="5093207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Budget engine generates adaptive financial advice and spending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86103"/>
            <a:ext cx="123444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FD3EC"/>
                </a:solidFill>
                <a:latin typeface="Aptos"/>
              </a:rPr>
              <a:t>Final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686103"/>
            <a:ext cx="932688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400" b="0" dirty="0">
                <a:solidFill>
                  <a:srgbClr val="F5F8FC"/>
                </a:solidFill>
                <a:latin typeface="Aptos"/>
              </a:rPr>
              <a:t>Clean transaction log • Forward expense forecast • Anomaly alerts • Dynamic budget advice.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6540" y="14027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>
                <a:solidFill>
                  <a:srgbClr val="F5F8FC"/>
                </a:solidFill>
                <a:latin typeface="Aptos"/>
              </a:rPr>
              <a:t>Implementation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700" y="72303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dirty="0">
                <a:solidFill>
                  <a:srgbClr val="1FD3EC"/>
                </a:solidFill>
                <a:latin typeface="Aptos"/>
              </a:rPr>
              <a:t>The system is organized into connected modules that transform raw payment notifications into actionable financial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427998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33272" y="1488879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D3EC"/>
                </a:solidFill>
                <a:latin typeface="Aptos"/>
              </a:rPr>
              <a:t>1. Notification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758039"/>
            <a:ext cx="45584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Reads incoming payment notifications and identifies relevant transaction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472" y="1427998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99632" y="1488879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408BFF"/>
                </a:solidFill>
                <a:latin typeface="Aptos"/>
              </a:rPr>
              <a:t>2. Text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758039"/>
            <a:ext cx="45584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Extracts amount, merchant, date and payment mode from raw notification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09326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033272" y="2970207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9550FF"/>
                </a:solidFill>
                <a:latin typeface="Aptos"/>
              </a:rPr>
              <a:t>3. ML Categorization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385964"/>
            <a:ext cx="45584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Naive Bayes classifies transactions into predefined expense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2472" y="2909326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199632" y="2970207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3C78E"/>
                </a:solidFill>
                <a:latin typeface="Aptos"/>
              </a:rPr>
              <a:t>4. Spending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3393255"/>
            <a:ext cx="45584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Linear Regression estimates future and month-end expenditure from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390654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FFB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033272" y="4451535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B147"/>
                </a:solidFill>
                <a:latin typeface="Aptos"/>
              </a:rPr>
              <a:t>5. 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720695"/>
            <a:ext cx="45584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Isolation Forest flags unusual transaction patterns and spending anomalies.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2472" y="4390654"/>
            <a:ext cx="4846320" cy="132164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199632" y="4451535"/>
            <a:ext cx="45584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6674"/>
                </a:solidFill>
                <a:latin typeface="Aptos"/>
              </a:rPr>
              <a:t>6. Budget &amp;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4720695"/>
            <a:ext cx="45584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5F8FC"/>
                </a:solidFill>
                <a:latin typeface="Aptos"/>
              </a:rPr>
              <a:t>Stores records in SQLite and provides budget tracking, alerts and recommendations.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6108192"/>
            <a:ext cx="9144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5F8FC"/>
                </a:solidFill>
                <a:latin typeface="Aptos"/>
              </a:rPr>
              <a:t>INPUT → PROCESSING → AI/ML ANALYSIS → STORAGE → INSIGHT &amp; ACTION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680" y="199338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>
                <a:solidFill>
                  <a:srgbClr val="F5F8FC"/>
                </a:solidFill>
                <a:latin typeface="Aptos"/>
              </a:rPr>
              <a:t>Result (Current Progress)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" y="793697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FD3EC"/>
                </a:solidFill>
                <a:latin typeface="Aptos"/>
              </a:rPr>
              <a:t>Current progress documented in the project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82460"/>
            <a:ext cx="4928616" cy="1633124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32457" y="1532277"/>
            <a:ext cx="463582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FD3EC"/>
                </a:solidFill>
                <a:latin typeface="Aptos"/>
              </a:rPr>
              <a:t>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465" y="2000932"/>
            <a:ext cx="4635827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End-to-end architecture and methodology flow have been defined.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82460"/>
            <a:ext cx="4928616" cy="1633124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53097" y="1583639"/>
            <a:ext cx="463582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9550FF"/>
                </a:solidFill>
                <a:latin typeface="Aptos"/>
              </a:rPr>
              <a:t>AI/ML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603" y="1890924"/>
            <a:ext cx="463582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Naive Bayes, Linear Regression and Isolation Forest are selected for the core intelligence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9820"/>
            <a:ext cx="4928616" cy="1633124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161469" y="3230870"/>
            <a:ext cx="463582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408BFF"/>
                </a:solidFill>
                <a:latin typeface="Aptos"/>
              </a:rPr>
              <a:t>Data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074" y="3609244"/>
            <a:ext cx="463582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SQLite is defined for structured storage of transactions, categories, budgets and user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219820"/>
            <a:ext cx="4928616" cy="1633124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135714" y="3266637"/>
            <a:ext cx="463582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23C78E"/>
                </a:solidFill>
                <a:latin typeface="Aptos"/>
              </a:rPr>
              <a:t>Testing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4059" y="3645380"/>
            <a:ext cx="463582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Dataset preparation, unit testing, model evaluation and end-to-end integration testing are scheduled.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5646" y="5314866"/>
            <a:ext cx="9191666" cy="1343795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FFB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606719" y="5290341"/>
            <a:ext cx="849088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B147"/>
                </a:solidFill>
                <a:latin typeface="Aptos"/>
              </a:rPr>
              <a:t>Current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843" y="5606852"/>
            <a:ext cx="849088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The project has defined the architecture, modules, models and development/testing workflow; quantitative model results are not included in the current PPT.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98E9F7-233B-B315-3A4C-5445A5D97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0"/>
            <a:ext cx="3073146" cy="6829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DF290A-8099-B6EB-4E44-6C15EFA44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70" b="2522"/>
          <a:stretch>
            <a:fillRect/>
          </a:stretch>
        </p:blipFill>
        <p:spPr>
          <a:xfrm>
            <a:off x="4552950" y="228600"/>
            <a:ext cx="3086100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5BE8B8-DDF0-09D9-F0E1-7E3366FE9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0F5EA3-B41E-F389-834B-B4B8D3680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4D8B09-72DD-9F10-71D7-4E4FAE22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008" y="0"/>
            <a:ext cx="30861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712565-54C6-AAA5-1A59-C37F36979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0"/>
            <a:ext cx="30861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" y="91440"/>
            <a:ext cx="1170432" cy="16459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35886" y="6128309"/>
            <a:ext cx="1124712" cy="16459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9086" y="164592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 dirty="0">
                <a:solidFill>
                  <a:srgbClr val="F5F8FC"/>
                </a:solidFill>
                <a:latin typeface="Aptos"/>
              </a:rPr>
              <a:t>Future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730" y="752600"/>
            <a:ext cx="99212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1FD3EC"/>
                </a:solidFill>
                <a:latin typeface="Aptos"/>
              </a:rPr>
              <a:t>Potential extensions to make the system more capable, adaptive and user-friendly.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9086" y="1410005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42830" y="1495048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FD3EC"/>
                </a:solidFill>
                <a:latin typeface="Aptos"/>
              </a:rPr>
              <a:t>More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974" y="1827947"/>
            <a:ext cx="46874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Extend capture beyond payment notifications to additional receipt and transaction 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5446" y="1410005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74334" y="1504309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408BFF"/>
                </a:solidFill>
                <a:latin typeface="Aptos"/>
              </a:rPr>
              <a:t>Advanced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4334" y="1827707"/>
            <a:ext cx="46874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Explore richer forecasting methods as more historical user data becomes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086" y="2936103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007974" y="2997962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9550FF"/>
                </a:solidFill>
                <a:latin typeface="Aptos"/>
              </a:rPr>
              <a:t>Smarter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542" y="3339631"/>
            <a:ext cx="46874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Improve anomaly analysis using user-specific spending patterns and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7490" y="2936102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248699" y="2932160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23C78E"/>
                </a:solidFill>
                <a:latin typeface="Aptos"/>
              </a:rPr>
              <a:t>Personalized Budgeting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699" y="3289438"/>
            <a:ext cx="46874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Generate more adaptive category limits and recommendations from individual behavior.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806" y="4662255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FFB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042830" y="4658553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B147"/>
                </a:solidFill>
                <a:latin typeface="Aptos"/>
              </a:rPr>
              <a:t>Mobile / Cloud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830" y="5016662"/>
            <a:ext cx="4687432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Support broader access, synchronization and a more complete user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7490" y="4629249"/>
            <a:ext cx="4983480" cy="1437307"/>
          </a:xfrm>
          <a:prstGeom prst="roundRect">
            <a:avLst/>
          </a:prstGeom>
          <a:solidFill>
            <a:srgbClr val="081628"/>
          </a:solidFill>
          <a:ln w="15240"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195514" y="4616000"/>
            <a:ext cx="468743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6674"/>
                </a:solidFill>
                <a:latin typeface="Aptos"/>
              </a:rPr>
              <a:t>Continuous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699" y="4937190"/>
            <a:ext cx="468743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Use corrected categories and user feedback to improve future classification and recommendations.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460" y="126932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300" b="1" dirty="0">
                <a:solidFill>
                  <a:srgbClr val="F5F8FC"/>
                </a:solidFill>
                <a:latin typeface="Aptos"/>
              </a:rPr>
              <a:t>Gantt Chart — Development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78417"/>
              </p:ext>
            </p:extLst>
          </p:nvPr>
        </p:nvGraphicFramePr>
        <p:xfrm>
          <a:off x="502920" y="1203897"/>
          <a:ext cx="11219688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Phase / Task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1FD3EC"/>
                          </a:solidFill>
                          <a:latin typeface="Aptos"/>
                        </a:rPr>
                        <a:t>W1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W2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W3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W4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W5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W6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W7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W8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Requirement Analysis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Literature Survey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UI &amp; Database Schema Design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Notification Parser Module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ML Categorization Engine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Spending Prediction Module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Anomaly Detection Pipeline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5F8FC"/>
                          </a:solidFill>
                          <a:latin typeface="Aptos"/>
                        </a:rPr>
                        <a:t>Dashboard &amp; Full Integration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dirty="0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23275E-49C0-E44A-6038-9C98DEA0F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878909"/>
              </p:ext>
            </p:extLst>
          </p:nvPr>
        </p:nvGraphicFramePr>
        <p:xfrm>
          <a:off x="4881774" y="667983"/>
          <a:ext cx="338841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413">
                  <a:extLst>
                    <a:ext uri="{9D8B030D-6E8A-4147-A177-3AD203B41FA5}">
                      <a16:colId xmlns:a16="http://schemas.microsoft.com/office/drawing/2014/main" val="181311533"/>
                    </a:ext>
                  </a:extLst>
                </a:gridCol>
              </a:tblGrid>
              <a:tr h="331282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JULY Month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230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4BEACB-5D1C-5F9E-7A3D-ACF7AFD39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8923"/>
              </p:ext>
            </p:extLst>
          </p:nvPr>
        </p:nvGraphicFramePr>
        <p:xfrm>
          <a:off x="8325308" y="667983"/>
          <a:ext cx="338841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413">
                  <a:extLst>
                    <a:ext uri="{9D8B030D-6E8A-4147-A177-3AD203B41FA5}">
                      <a16:colId xmlns:a16="http://schemas.microsoft.com/office/drawing/2014/main" val="181311533"/>
                    </a:ext>
                  </a:extLst>
                </a:gridCol>
              </a:tblGrid>
              <a:tr h="34382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AUGUST Month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2304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29883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300" b="1">
                <a:solidFill>
                  <a:srgbClr val="F5F8FC"/>
                </a:solidFill>
                <a:latin typeface="Aptos"/>
              </a:rPr>
              <a:t>Gantt Chart — Testing &amp; Delivery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17839"/>
              </p:ext>
            </p:extLst>
          </p:nvPr>
        </p:nvGraphicFramePr>
        <p:xfrm>
          <a:off x="411480" y="1150070"/>
          <a:ext cx="11338560" cy="5523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9583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Phase / Task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W1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W2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W3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W4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W5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W6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W7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D3EC"/>
                          </a:solidFill>
                          <a:latin typeface="Aptos"/>
                        </a:rPr>
                        <a:t>W8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Dataset Preparation &amp; Labeling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Unit Testing (Modules)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ML Model Evaluation &amp; Tuning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End-to-End Integration Testing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Bug Fixing &amp; Optimization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Documentation &amp; Report Drafting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F5F8FC"/>
                          </a:solidFill>
                          <a:latin typeface="Aptos"/>
                        </a:rPr>
                        <a:t>Prototype Demo Preparation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0B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50" b="1" dirty="0">
                          <a:solidFill>
                            <a:srgbClr val="F5F8FC"/>
                          </a:solidFill>
                          <a:latin typeface="Aptos"/>
                        </a:rPr>
                        <a:t>Final Review &amp; Submission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 dirty="0">
                          <a:solidFill>
                            <a:srgbClr val="1FD3EC"/>
                          </a:solidFill>
                          <a:latin typeface="Aptos"/>
                        </a:rPr>
                        <a:t>■</a:t>
                      </a:r>
                    </a:p>
                  </a:txBody>
                  <a:tcPr marL="45720" marR="45720" marT="27432" marB="27432">
                    <a:solidFill>
                      <a:srgbClr val="10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93971-08A8-3658-CEB7-67C560429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07352"/>
              </p:ext>
            </p:extLst>
          </p:nvPr>
        </p:nvGraphicFramePr>
        <p:xfrm>
          <a:off x="4992016" y="667983"/>
          <a:ext cx="338841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413">
                  <a:extLst>
                    <a:ext uri="{9D8B030D-6E8A-4147-A177-3AD203B41FA5}">
                      <a16:colId xmlns:a16="http://schemas.microsoft.com/office/drawing/2014/main" val="181311533"/>
                    </a:ext>
                  </a:extLst>
                </a:gridCol>
              </a:tblGrid>
              <a:tr h="33128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SEPTEMBER </a:t>
                      </a:r>
                      <a:r>
                        <a:rPr lang="en-IN" b="1" dirty="0"/>
                        <a:t>Month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2304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381FD0-C57B-661B-CFE3-5D751E8EA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32157"/>
              </p:ext>
            </p:extLst>
          </p:nvPr>
        </p:nvGraphicFramePr>
        <p:xfrm>
          <a:off x="8380429" y="667983"/>
          <a:ext cx="338841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413">
                  <a:extLst>
                    <a:ext uri="{9D8B030D-6E8A-4147-A177-3AD203B41FA5}">
                      <a16:colId xmlns:a16="http://schemas.microsoft.com/office/drawing/2014/main" val="181311533"/>
                    </a:ext>
                  </a:extLst>
                </a:gridCol>
              </a:tblGrid>
              <a:tr h="33128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OCTOBER </a:t>
                      </a:r>
                      <a:r>
                        <a:rPr lang="en-IN" b="1" dirty="0"/>
                        <a:t>Month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2304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1460" y="146304"/>
            <a:ext cx="11155680" cy="57246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3600" b="1" dirty="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4644"/>
            <a:ext cx="10972800" cy="6340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The proposed system brings transaction capture, AI categorization, spending prediction, anomaly detection and budgeting support into one lightweight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48" y="1744452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171583" y="1932713"/>
            <a:ext cx="2926457" cy="32624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1FD3EC"/>
                </a:solidFill>
                <a:latin typeface="Aptos"/>
              </a:rPr>
              <a:t>Unified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837" y="2325402"/>
            <a:ext cx="2926457" cy="12495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Replaces manual record</a:t>
            </a:r>
            <a:r>
              <a:rPr lang="en-IN" sz="200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2000" b="0" dirty="0">
                <a:solidFill>
                  <a:srgbClr val="F5F8FC"/>
                </a:solidFill>
                <a:latin typeface="Aptos"/>
              </a:rPr>
              <a:t>keeping with an automated, intelligent finance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6927" y="1744452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527552" y="1870222"/>
            <a:ext cx="2926457" cy="6340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408BFF"/>
                </a:solidFill>
                <a:latin typeface="Aptos"/>
              </a:rPr>
              <a:t>Automated Data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771" y="2551834"/>
            <a:ext cx="2926457" cy="9417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Eliminates manual data entry overhead through direct notification parsing.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60208" y="1744452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7938144" y="1933944"/>
            <a:ext cx="2926457" cy="32624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9550FF"/>
                </a:solidFill>
                <a:latin typeface="Aptos"/>
              </a:rPr>
              <a:t>Smart Categorization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8143" y="2397945"/>
            <a:ext cx="2926457" cy="12495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Uses lightweight Naive Bayes for high-speed textual transaction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0958" y="3997776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171584" y="4045221"/>
            <a:ext cx="2926457" cy="6340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23C78E"/>
                </a:solidFill>
                <a:latin typeface="Aptos"/>
              </a:rPr>
              <a:t>Forward-Looking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3594" y="4679241"/>
            <a:ext cx="2926457" cy="12495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Employs Linear Regression to project future financial commitments accurately.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4237" y="3997776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FFB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527553" y="4127550"/>
            <a:ext cx="2926457" cy="6340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FFB147"/>
                </a:solidFill>
                <a:latin typeface="Aptos"/>
              </a:rPr>
              <a:t>Proactive Security &amp;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878" y="4764407"/>
            <a:ext cx="3017764" cy="12495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Identifies abnormal transactions using Isolation Forest outlier detection.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7518" y="3997776"/>
            <a:ext cx="3227710" cy="206393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7910834" y="4118317"/>
            <a:ext cx="2926457" cy="32624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1" dirty="0">
                <a:solidFill>
                  <a:srgbClr val="1FD3EC"/>
                </a:solidFill>
                <a:latin typeface="Aptos"/>
              </a:rPr>
              <a:t>Intelligent Budgeting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154" y="4648307"/>
            <a:ext cx="2926457" cy="124957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000" b="0" dirty="0">
                <a:solidFill>
                  <a:srgbClr val="F5F8FC"/>
                </a:solidFill>
                <a:latin typeface="Aptos"/>
              </a:rPr>
              <a:t>Converts raw historical records into proactive, personalized financial guardrails.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28016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0789920" y="6711696"/>
            <a:ext cx="1234440" cy="18288"/>
          </a:xfrm>
          <a:prstGeom prst="rect">
            <a:avLst/>
          </a:prstGeom>
          <a:solidFill>
            <a:srgbClr val="1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34340" y="89333"/>
            <a:ext cx="1097280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4800" b="1" dirty="0">
                <a:solidFill>
                  <a:srgbClr val="F5F8FC"/>
                </a:solidFill>
                <a:latin typeface="Apto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" y="864930"/>
            <a:ext cx="10972800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FD3E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563" y="1446123"/>
            <a:ext cx="11348907" cy="1571117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1FD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488530" y="1503248"/>
            <a:ext cx="10965854" cy="41306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1FD3EC"/>
                </a:solidFill>
                <a:latin typeface="Aptos"/>
              </a:rPr>
              <a:t>Primary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041" y="1935651"/>
            <a:ext cx="10827709" cy="10525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200" b="0" dirty="0">
                <a:solidFill>
                  <a:srgbClr val="F5F8FC"/>
                </a:solidFill>
                <a:latin typeface="Aptos"/>
              </a:rPr>
              <a:t>AI-Based Smart Expense Management System with Automated Categorization and Budget Recommendations — Mini Project Report, Department of CSE (AI &amp; ML), Vels University, Chennai.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663" y="3162024"/>
            <a:ext cx="11263500" cy="134987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4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42096" y="3181895"/>
            <a:ext cx="10965854" cy="41306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408BFF"/>
                </a:solidFill>
                <a:latin typeface="Aptos"/>
              </a:rPr>
              <a:t>Literature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096" y="3596828"/>
            <a:ext cx="10965854" cy="78857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Section 2 (Literature Survey) — Covers AI/ML in personal finance, text-based expense classification, regression forecasting, and outlier isolation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07" y="4632436"/>
            <a:ext cx="5225403" cy="1824348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95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0622" y="4787020"/>
            <a:ext cx="5078104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9550FF"/>
                </a:solidFill>
                <a:latin typeface="Aptos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5088" y="5193285"/>
            <a:ext cx="5078104" cy="11449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IN" sz="2400" dirty="0">
                <a:solidFill>
                  <a:srgbClr val="F5F8FC"/>
                </a:solidFill>
                <a:latin typeface="Aptos"/>
              </a:rPr>
              <a:t>• </a:t>
            </a:r>
            <a:r>
              <a:rPr sz="2400" b="0" dirty="0" err="1">
                <a:solidFill>
                  <a:srgbClr val="F5F8FC"/>
                </a:solidFill>
                <a:latin typeface="Aptos"/>
              </a:rPr>
              <a:t>Kotakonda</a:t>
            </a:r>
            <a:r>
              <a:rPr sz="2400" b="0" dirty="0">
                <a:solidFill>
                  <a:srgbClr val="F5F8FC"/>
                </a:solidFill>
                <a:latin typeface="Aptos"/>
              </a:rPr>
              <a:t> Shravan B </a:t>
            </a:r>
            <a:endParaRPr lang="en-IN" sz="2400" b="0" dirty="0">
              <a:solidFill>
                <a:srgbClr val="F5F8FC"/>
              </a:solidFill>
              <a:latin typeface="Aptos"/>
            </a:endParaRPr>
          </a:p>
          <a:p>
            <a:r>
              <a:rPr sz="2400" b="0" dirty="0">
                <a:solidFill>
                  <a:srgbClr val="F5F8FC"/>
                </a:solidFill>
                <a:latin typeface="Aptos"/>
              </a:rPr>
              <a:t>• S. </a:t>
            </a:r>
            <a:r>
              <a:rPr sz="2400" b="0" dirty="0" err="1">
                <a:solidFill>
                  <a:srgbClr val="F5F8FC"/>
                </a:solidFill>
                <a:latin typeface="Aptos"/>
              </a:rPr>
              <a:t>Thahseen</a:t>
            </a:r>
            <a:r>
              <a:rPr sz="2400" b="0" dirty="0">
                <a:solidFill>
                  <a:srgbClr val="F5F8FC"/>
                </a:solidFill>
                <a:latin typeface="Aptos"/>
              </a:rPr>
              <a:t> Basha </a:t>
            </a:r>
            <a:endParaRPr lang="en-IN" sz="2400" b="0" dirty="0">
              <a:solidFill>
                <a:srgbClr val="F5F8FC"/>
              </a:solidFill>
              <a:latin typeface="Aptos"/>
            </a:endParaRPr>
          </a:p>
          <a:p>
            <a:r>
              <a:rPr sz="2400" b="0" dirty="0">
                <a:solidFill>
                  <a:srgbClr val="F5F8FC"/>
                </a:solidFill>
                <a:latin typeface="Aptos"/>
              </a:rPr>
              <a:t>• Varun Sekar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9896" y="4749652"/>
            <a:ext cx="5616550" cy="1304521"/>
          </a:xfrm>
          <a:prstGeom prst="roundRect">
            <a:avLst/>
          </a:prstGeom>
          <a:solidFill>
            <a:srgbClr val="101F36"/>
          </a:solidFill>
          <a:ln w="13970">
            <a:solidFill>
              <a:srgbClr val="23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6081820" y="4888422"/>
            <a:ext cx="5356610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 dirty="0">
                <a:solidFill>
                  <a:srgbClr val="23C78E"/>
                </a:solidFill>
                <a:latin typeface="Aptos"/>
              </a:rPr>
              <a:t>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1820" y="5375304"/>
            <a:ext cx="5356610" cy="4062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0" dirty="0">
                <a:solidFill>
                  <a:srgbClr val="F5F8FC"/>
                </a:solidFill>
                <a:latin typeface="Aptos"/>
              </a:rPr>
              <a:t>CSE (AI &amp; ML), Vels University, Chennai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1320</Words>
  <Application>Microsoft Office PowerPoint</Application>
  <PresentationFormat>Widescreen</PresentationFormat>
  <Paragraphs>244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likisha</dc:creator>
  <cp:keywords/>
  <dc:description>generated using python-pptx</dc:description>
  <cp:lastModifiedBy>likitha shravan T</cp:lastModifiedBy>
  <cp:revision>7</cp:revision>
  <dcterms:created xsi:type="dcterms:W3CDTF">2013-01-27T09:14:16Z</dcterms:created>
  <dcterms:modified xsi:type="dcterms:W3CDTF">2026-10-29T11:12:22Z</dcterms:modified>
  <cp:category/>
</cp:coreProperties>
</file>