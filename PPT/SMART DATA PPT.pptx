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9" r:id="rId4"/>
    <p:sldId id="279" r:id="rId5"/>
    <p:sldId id="261" r:id="rId6"/>
    <p:sldId id="263" r:id="rId7"/>
    <p:sldId id="270" r:id="rId8"/>
    <p:sldId id="280" r:id="rId9"/>
    <p:sldId id="274" r:id="rId10"/>
    <p:sldId id="275" r:id="rId11"/>
    <p:sldId id="276" r:id="rId12"/>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08A74C-0EED-4BD7-B239-25B68BBEFC47}" v="1" dt="2026-10-30T05:30:24.99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p:cViewPr varScale="1">
        <p:scale>
          <a:sx n="55" d="100"/>
          <a:sy n="55" d="100"/>
        </p:scale>
        <p:origin x="658"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hal selvam" userId="396d78d352291da4" providerId="LiveId" clId="{4F71BF1B-5A45-473A-9CED-510FCE67AA4C}"/>
    <pc:docChg chg="modSld">
      <pc:chgData name="vishal selvam" userId="396d78d352291da4" providerId="LiveId" clId="{4F71BF1B-5A45-473A-9CED-510FCE67AA4C}" dt="2026-10-30T05:32:46.723" v="115" actId="20577"/>
      <pc:docMkLst>
        <pc:docMk/>
      </pc:docMkLst>
      <pc:sldChg chg="addSp modSp mod">
        <pc:chgData name="vishal selvam" userId="396d78d352291da4" providerId="LiveId" clId="{4F71BF1B-5A45-473A-9CED-510FCE67AA4C}" dt="2026-10-30T05:32:46.723" v="115" actId="20577"/>
        <pc:sldMkLst>
          <pc:docMk/>
          <pc:sldMk cId="0" sldId="256"/>
        </pc:sldMkLst>
        <pc:spChg chg="mod">
          <ac:chgData name="vishal selvam" userId="396d78d352291da4" providerId="LiveId" clId="{4F71BF1B-5A45-473A-9CED-510FCE67AA4C}" dt="2026-10-30T05:30:00.125" v="0" actId="20577"/>
          <ac:spMkLst>
            <pc:docMk/>
            <pc:sldMk cId="0" sldId="256"/>
            <ac:spMk id="3" creationId="{00000000-0000-0000-0000-000000000000}"/>
          </ac:spMkLst>
        </pc:spChg>
        <pc:spChg chg="mod">
          <ac:chgData name="vishal selvam" userId="396d78d352291da4" providerId="LiveId" clId="{4F71BF1B-5A45-473A-9CED-510FCE67AA4C}" dt="2026-10-30T05:30:16.784" v="1" actId="688"/>
          <ac:spMkLst>
            <pc:docMk/>
            <pc:sldMk cId="0" sldId="256"/>
            <ac:spMk id="6" creationId="{00000000-0000-0000-0000-000000000000}"/>
          </ac:spMkLst>
        </pc:spChg>
        <pc:spChg chg="add mod">
          <ac:chgData name="vishal selvam" userId="396d78d352291da4" providerId="LiveId" clId="{4F71BF1B-5A45-473A-9CED-510FCE67AA4C}" dt="2026-10-30T05:32:46.723" v="115" actId="20577"/>
          <ac:spMkLst>
            <pc:docMk/>
            <pc:sldMk cId="0" sldId="256"/>
            <ac:spMk id="7" creationId="{0EAB27E4-0063-DD87-A7C9-367C6D188CD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6600" b="1" i="0">
                <a:solidFill>
                  <a:schemeClr val="tx1"/>
                </a:solidFill>
                <a:latin typeface="Tahoma"/>
                <a:cs typeface="Tahoma"/>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320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600" b="1" i="0">
                <a:solidFill>
                  <a:schemeClr val="tx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600" b="1" i="0">
                <a:solidFill>
                  <a:schemeClr val="tx1"/>
                </a:solidFill>
                <a:latin typeface="Tahoma"/>
                <a:cs typeface="Tahoma"/>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600" b="1" i="0">
                <a:solidFill>
                  <a:schemeClr val="tx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7046" y="-187999"/>
            <a:ext cx="15108073" cy="1301500"/>
          </a:xfrm>
          <a:prstGeom prst="rect">
            <a:avLst/>
          </a:prstGeom>
        </p:spPr>
        <p:txBody>
          <a:bodyPr wrap="square" lIns="0" tIns="0" rIns="0" bIns="0">
            <a:spAutoFit/>
          </a:bodyPr>
          <a:lstStyle>
            <a:lvl1pPr>
              <a:defRPr sz="6600" b="1" i="0">
                <a:solidFill>
                  <a:schemeClr val="tx1"/>
                </a:solidFill>
                <a:latin typeface="Tahoma"/>
                <a:cs typeface="Tahoma"/>
              </a:defRPr>
            </a:lvl1pPr>
          </a:lstStyle>
          <a:p>
            <a:endParaRPr/>
          </a:p>
        </p:txBody>
      </p:sp>
      <p:sp>
        <p:nvSpPr>
          <p:cNvPr id="3" name="Holder 3"/>
          <p:cNvSpPr>
            <a:spLocks noGrp="1"/>
          </p:cNvSpPr>
          <p:nvPr>
            <p:ph type="body" idx="1"/>
          </p:nvPr>
        </p:nvSpPr>
        <p:spPr>
          <a:xfrm>
            <a:off x="1092500" y="1547333"/>
            <a:ext cx="15695294" cy="6769100"/>
          </a:xfrm>
          <a:prstGeom prst="rect">
            <a:avLst/>
          </a:prstGeom>
        </p:spPr>
        <p:txBody>
          <a:bodyPr wrap="square" lIns="0" tIns="0" rIns="0" bIns="0">
            <a:spAutoFit/>
          </a:bodyPr>
          <a:lstStyle>
            <a:lvl1pPr>
              <a:defRPr sz="320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10/30/2026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177043" y="4579059"/>
            <a:ext cx="12164060" cy="1243930"/>
          </a:xfrm>
          <a:prstGeom prst="rect">
            <a:avLst/>
          </a:prstGeom>
        </p:spPr>
        <p:txBody>
          <a:bodyPr vert="horz" wrap="square" lIns="0" tIns="12700" rIns="0" bIns="0" rtlCol="0">
            <a:spAutoFit/>
          </a:bodyPr>
          <a:lstStyle/>
          <a:p>
            <a:pPr marL="12700" algn="ctr">
              <a:lnSpc>
                <a:spcPct val="100000"/>
              </a:lnSpc>
              <a:spcBef>
                <a:spcPts val="100"/>
              </a:spcBef>
            </a:pPr>
            <a:r>
              <a:rPr lang="en-GB" sz="4000" b="1" dirty="0">
                <a:latin typeface="Times New Roman" panose="02020603050405020304" pitchFamily="18" charset="0"/>
                <a:cs typeface="Times New Roman" panose="02020603050405020304" pitchFamily="18" charset="0"/>
              </a:rPr>
              <a:t>Smart data analyser</a:t>
            </a:r>
            <a:br>
              <a:rPr lang="en-GB" sz="4000" b="1" dirty="0">
                <a:latin typeface="Times New Roman" panose="02020603050405020304" pitchFamily="18" charset="0"/>
                <a:cs typeface="Times New Roman" panose="02020603050405020304" pitchFamily="18" charset="0"/>
              </a:rPr>
            </a:br>
            <a:r>
              <a:rPr lang="en-GB" sz="4000" b="1" dirty="0">
                <a:latin typeface="Times New Roman" panose="02020603050405020304" pitchFamily="18" charset="0"/>
                <a:cs typeface="Times New Roman" panose="02020603050405020304" pitchFamily="18" charset="0"/>
              </a:rPr>
              <a:t>turns raw data into valuable insights</a:t>
            </a:r>
            <a:endParaRPr sz="4000" b="1" dirty="0">
              <a:latin typeface="Times New Roman" panose="02020603050405020304" pitchFamily="18" charset="0"/>
              <a:cs typeface="Times New Roman" panose="02020603050405020304" pitchFamily="18" charset="0"/>
            </a:endParaRPr>
          </a:p>
        </p:txBody>
      </p:sp>
      <p:sp>
        <p:nvSpPr>
          <p:cNvPr id="3" name="object 3"/>
          <p:cNvSpPr txBox="1"/>
          <p:nvPr/>
        </p:nvSpPr>
        <p:spPr>
          <a:xfrm>
            <a:off x="352046" y="7581900"/>
            <a:ext cx="4067554" cy="1095300"/>
          </a:xfrm>
          <a:prstGeom prst="rect">
            <a:avLst/>
          </a:prstGeom>
        </p:spPr>
        <p:txBody>
          <a:bodyPr vert="horz" wrap="square" lIns="0" tIns="80645" rIns="0" bIns="0" rtlCol="0">
            <a:spAutoFit/>
          </a:bodyPr>
          <a:lstStyle/>
          <a:p>
            <a:pPr marL="12700" marR="471805">
              <a:lnSpc>
                <a:spcPts val="3829"/>
              </a:lnSpc>
              <a:spcBef>
                <a:spcPts val="635"/>
              </a:spcBef>
            </a:pPr>
            <a:r>
              <a:rPr sz="2800" b="1" dirty="0">
                <a:latin typeface="Times New Roman" panose="02020603050405020304" pitchFamily="18" charset="0"/>
                <a:cs typeface="Times New Roman" panose="02020603050405020304" pitchFamily="18" charset="0"/>
              </a:rPr>
              <a:t>Team </a:t>
            </a:r>
            <a:r>
              <a:rPr sz="2800" b="1" spc="-10" dirty="0">
                <a:latin typeface="Times New Roman" panose="02020603050405020304" pitchFamily="18" charset="0"/>
                <a:cs typeface="Times New Roman" panose="02020603050405020304" pitchFamily="18" charset="0"/>
              </a:rPr>
              <a:t>members:</a:t>
            </a:r>
            <a:endParaRPr lang="en-GB" sz="2800" b="1" spc="-10" dirty="0">
              <a:latin typeface="Times New Roman" panose="02020603050405020304" pitchFamily="18" charset="0"/>
              <a:cs typeface="Times New Roman" panose="02020603050405020304" pitchFamily="18" charset="0"/>
            </a:endParaRPr>
          </a:p>
          <a:p>
            <a:pPr marL="12700" marR="471805">
              <a:lnSpc>
                <a:spcPts val="3829"/>
              </a:lnSpc>
              <a:spcBef>
                <a:spcPts val="635"/>
              </a:spcBef>
            </a:pPr>
            <a:r>
              <a:rPr lang="en-GB" sz="2800" b="1" spc="-10" dirty="0">
                <a:latin typeface="Times New Roman" panose="02020603050405020304" pitchFamily="18" charset="0"/>
                <a:cs typeface="Times New Roman" panose="02020603050405020304" pitchFamily="18" charset="0"/>
              </a:rPr>
              <a:t>VISHWA S</a:t>
            </a:r>
          </a:p>
        </p:txBody>
      </p:sp>
      <p:pic>
        <p:nvPicPr>
          <p:cNvPr id="4" name="object 4" descr="Student Login"/>
          <p:cNvPicPr/>
          <p:nvPr/>
        </p:nvPicPr>
        <p:blipFill>
          <a:blip r:embed="rId2" cstate="print"/>
          <a:stretch>
            <a:fillRect/>
          </a:stretch>
        </p:blipFill>
        <p:spPr>
          <a:xfrm>
            <a:off x="4043032" y="0"/>
            <a:ext cx="10201933" cy="3882846"/>
          </a:xfrm>
          <a:prstGeom prst="rect">
            <a:avLst/>
          </a:prstGeom>
        </p:spPr>
      </p:pic>
      <p:sp>
        <p:nvSpPr>
          <p:cNvPr id="5" name="object 5"/>
          <p:cNvSpPr txBox="1"/>
          <p:nvPr/>
        </p:nvSpPr>
        <p:spPr>
          <a:xfrm>
            <a:off x="11963400" y="7277100"/>
            <a:ext cx="5690045" cy="2164823"/>
          </a:xfrm>
          <a:prstGeom prst="rect">
            <a:avLst/>
          </a:prstGeom>
        </p:spPr>
        <p:txBody>
          <a:bodyPr vert="horz" wrap="square" lIns="0" tIns="12700" rIns="0" bIns="0" rtlCol="0">
            <a:spAutoFit/>
          </a:bodyPr>
          <a:lstStyle/>
          <a:p>
            <a:pPr marL="12700">
              <a:lnSpc>
                <a:spcPts val="4295"/>
              </a:lnSpc>
              <a:spcBef>
                <a:spcPts val="100"/>
              </a:spcBef>
            </a:pPr>
            <a:r>
              <a:rPr sz="2800" b="1" dirty="0">
                <a:latin typeface="Times New Roman" panose="02020603050405020304" pitchFamily="18" charset="0"/>
                <a:cs typeface="Times New Roman" panose="02020603050405020304" pitchFamily="18" charset="0"/>
              </a:rPr>
              <a:t>Project</a:t>
            </a:r>
            <a:r>
              <a:rPr sz="2800" b="1" spc="-110" dirty="0">
                <a:latin typeface="Times New Roman" panose="02020603050405020304" pitchFamily="18" charset="0"/>
                <a:cs typeface="Times New Roman" panose="02020603050405020304" pitchFamily="18" charset="0"/>
              </a:rPr>
              <a:t> </a:t>
            </a:r>
            <a:r>
              <a:rPr sz="2800" b="1" spc="-10" dirty="0">
                <a:latin typeface="Times New Roman" panose="02020603050405020304" pitchFamily="18" charset="0"/>
                <a:cs typeface="Times New Roman" panose="02020603050405020304" pitchFamily="18" charset="0"/>
              </a:rPr>
              <a:t>Guide</a:t>
            </a:r>
            <a:r>
              <a:rPr lang="en-IN" sz="2800" b="1" spc="-10" dirty="0">
                <a:latin typeface="Times New Roman" panose="02020603050405020304" pitchFamily="18" charset="0"/>
                <a:cs typeface="Times New Roman" panose="02020603050405020304" pitchFamily="18" charset="0"/>
              </a:rPr>
              <a:t>:</a:t>
            </a:r>
            <a:endParaRPr sz="2800" dirty="0">
              <a:latin typeface="Times New Roman" panose="02020603050405020304" pitchFamily="18" charset="0"/>
              <a:cs typeface="Times New Roman" panose="02020603050405020304" pitchFamily="18" charset="0"/>
            </a:endParaRPr>
          </a:p>
          <a:p>
            <a:pPr marL="12700">
              <a:lnSpc>
                <a:spcPts val="4275"/>
              </a:lnSpc>
            </a:pPr>
            <a:r>
              <a:rPr lang="en-GB" sz="2800" b="1" spc="-10" dirty="0" err="1">
                <a:latin typeface="Times New Roman" panose="02020603050405020304" pitchFamily="18" charset="0"/>
                <a:cs typeface="Times New Roman" panose="02020603050405020304" pitchFamily="18" charset="0"/>
              </a:rPr>
              <a:t>Ms.S.Divya</a:t>
            </a:r>
            <a:r>
              <a:rPr lang="en-GB" sz="2800" b="1" spc="-10" dirty="0">
                <a:latin typeface="Times New Roman" panose="02020603050405020304" pitchFamily="18" charset="0"/>
                <a:cs typeface="Times New Roman" panose="02020603050405020304" pitchFamily="18" charset="0"/>
              </a:rPr>
              <a:t> </a:t>
            </a:r>
            <a:r>
              <a:rPr lang="en-GB" sz="2800" b="1" spc="-10" dirty="0" err="1">
                <a:latin typeface="Times New Roman" panose="02020603050405020304" pitchFamily="18" charset="0"/>
                <a:cs typeface="Times New Roman" panose="02020603050405020304" pitchFamily="18" charset="0"/>
              </a:rPr>
              <a:t>bairavi</a:t>
            </a:r>
            <a:r>
              <a:rPr lang="en-GB" sz="2800" b="1" spc="-10" dirty="0">
                <a:latin typeface="Times New Roman" panose="02020603050405020304" pitchFamily="18" charset="0"/>
                <a:cs typeface="Times New Roman" panose="02020603050405020304" pitchFamily="18" charset="0"/>
              </a:rPr>
              <a:t> ME.</a:t>
            </a:r>
            <a:r>
              <a:rPr lang="en-US" sz="2800" b="1" spc="-10" dirty="0">
                <a:latin typeface="Times New Roman" panose="02020603050405020304" pitchFamily="18" charset="0"/>
                <a:cs typeface="Times New Roman" panose="02020603050405020304" pitchFamily="18" charset="0"/>
              </a:rPr>
              <a:t>,(PH.D)</a:t>
            </a:r>
            <a:endParaRPr sz="2800" dirty="0">
              <a:latin typeface="Times New Roman" panose="02020603050405020304" pitchFamily="18" charset="0"/>
              <a:cs typeface="Times New Roman" panose="02020603050405020304" pitchFamily="18" charset="0"/>
            </a:endParaRPr>
          </a:p>
          <a:p>
            <a:pPr marL="12700">
              <a:lnSpc>
                <a:spcPts val="4275"/>
              </a:lnSpc>
            </a:pPr>
            <a:r>
              <a:rPr sz="2800" b="1" dirty="0">
                <a:latin typeface="Times New Roman" panose="02020603050405020304" pitchFamily="18" charset="0"/>
                <a:cs typeface="Times New Roman" panose="02020603050405020304" pitchFamily="18" charset="0"/>
              </a:rPr>
              <a:t>Assistant</a:t>
            </a:r>
            <a:r>
              <a:rPr sz="2800" b="1" spc="-140" dirty="0">
                <a:latin typeface="Times New Roman" panose="02020603050405020304" pitchFamily="18" charset="0"/>
                <a:cs typeface="Times New Roman" panose="02020603050405020304" pitchFamily="18" charset="0"/>
              </a:rPr>
              <a:t> </a:t>
            </a:r>
            <a:r>
              <a:rPr sz="2800" b="1" spc="-10" dirty="0">
                <a:latin typeface="Times New Roman" panose="02020603050405020304" pitchFamily="18" charset="0"/>
                <a:cs typeface="Times New Roman" panose="02020603050405020304" pitchFamily="18" charset="0"/>
              </a:rPr>
              <a:t>Professor</a:t>
            </a:r>
            <a:endParaRPr sz="2800" dirty="0">
              <a:latin typeface="Times New Roman" panose="02020603050405020304" pitchFamily="18" charset="0"/>
              <a:cs typeface="Times New Roman" panose="02020603050405020304" pitchFamily="18" charset="0"/>
            </a:endParaRPr>
          </a:p>
          <a:p>
            <a:pPr marL="12700">
              <a:lnSpc>
                <a:spcPts val="4295"/>
              </a:lnSpc>
            </a:pPr>
            <a:r>
              <a:rPr sz="2800" b="1" dirty="0">
                <a:latin typeface="Times New Roman" panose="02020603050405020304" pitchFamily="18" charset="0"/>
                <a:cs typeface="Times New Roman" panose="02020603050405020304" pitchFamily="18" charset="0"/>
              </a:rPr>
              <a:t>Department</a:t>
            </a:r>
            <a:r>
              <a:rPr sz="2800" b="1" spc="-70" dirty="0">
                <a:latin typeface="Times New Roman" panose="02020603050405020304" pitchFamily="18" charset="0"/>
                <a:cs typeface="Times New Roman" panose="02020603050405020304" pitchFamily="18" charset="0"/>
              </a:rPr>
              <a:t> </a:t>
            </a:r>
            <a:r>
              <a:rPr sz="2800" b="1" dirty="0">
                <a:latin typeface="Times New Roman" panose="02020603050405020304" pitchFamily="18" charset="0"/>
                <a:cs typeface="Times New Roman" panose="02020603050405020304" pitchFamily="18" charset="0"/>
              </a:rPr>
              <a:t>of</a:t>
            </a:r>
            <a:r>
              <a:rPr sz="2800" b="1" spc="-70" dirty="0">
                <a:latin typeface="Times New Roman" panose="02020603050405020304" pitchFamily="18" charset="0"/>
                <a:cs typeface="Times New Roman" panose="02020603050405020304" pitchFamily="18" charset="0"/>
              </a:rPr>
              <a:t> </a:t>
            </a:r>
            <a:r>
              <a:rPr sz="2800" b="1" dirty="0">
                <a:latin typeface="Times New Roman" panose="02020603050405020304" pitchFamily="18" charset="0"/>
                <a:cs typeface="Times New Roman" panose="02020603050405020304" pitchFamily="18" charset="0"/>
              </a:rPr>
              <a:t>AI</a:t>
            </a:r>
            <a:r>
              <a:rPr sz="2800" b="1" spc="-65" dirty="0">
                <a:latin typeface="Times New Roman" panose="02020603050405020304" pitchFamily="18" charset="0"/>
                <a:cs typeface="Times New Roman" panose="02020603050405020304" pitchFamily="18" charset="0"/>
              </a:rPr>
              <a:t> </a:t>
            </a:r>
            <a:r>
              <a:rPr sz="2800" b="1" dirty="0">
                <a:latin typeface="Times New Roman" panose="02020603050405020304" pitchFamily="18" charset="0"/>
                <a:cs typeface="Times New Roman" panose="02020603050405020304" pitchFamily="18" charset="0"/>
              </a:rPr>
              <a:t>&amp;</a:t>
            </a:r>
            <a:r>
              <a:rPr sz="2800" b="1" spc="-70" dirty="0">
                <a:latin typeface="Times New Roman" panose="02020603050405020304" pitchFamily="18" charset="0"/>
                <a:cs typeface="Times New Roman" panose="02020603050405020304" pitchFamily="18" charset="0"/>
              </a:rPr>
              <a:t> </a:t>
            </a:r>
            <a:r>
              <a:rPr sz="2800" b="1" spc="-25" dirty="0">
                <a:latin typeface="Times New Roman" panose="02020603050405020304" pitchFamily="18" charset="0"/>
                <a:cs typeface="Times New Roman" panose="02020603050405020304" pitchFamily="18" charset="0"/>
              </a:rPr>
              <a:t>ML</a:t>
            </a:r>
            <a:endParaRPr sz="2800" dirty="0">
              <a:latin typeface="Times New Roman" panose="02020603050405020304" pitchFamily="18" charset="0"/>
              <a:cs typeface="Times New Roman" panose="02020603050405020304" pitchFamily="18" charset="0"/>
            </a:endParaRPr>
          </a:p>
        </p:txBody>
      </p:sp>
      <p:sp>
        <p:nvSpPr>
          <p:cNvPr id="6" name="object 6"/>
          <p:cNvSpPr txBox="1"/>
          <p:nvPr/>
        </p:nvSpPr>
        <p:spPr>
          <a:xfrm>
            <a:off x="4419600" y="8115300"/>
            <a:ext cx="2438400" cy="538609"/>
          </a:xfrm>
          <a:prstGeom prst="rect">
            <a:avLst/>
          </a:prstGeom>
        </p:spPr>
        <p:txBody>
          <a:bodyPr vert="horz" wrap="square" lIns="0" tIns="12700" rIns="0" bIns="0" rtlCol="0">
            <a:spAutoFit/>
          </a:bodyPr>
          <a:lstStyle/>
          <a:p>
            <a:pPr marL="12700">
              <a:lnSpc>
                <a:spcPts val="4070"/>
              </a:lnSpc>
              <a:spcBef>
                <a:spcPts val="100"/>
              </a:spcBef>
            </a:pPr>
            <a:r>
              <a:rPr sz="3600" b="1" spc="-20" dirty="0">
                <a:latin typeface="Calibri"/>
                <a:cs typeface="Calibri"/>
              </a:rPr>
              <a:t>-</a:t>
            </a:r>
            <a:r>
              <a:rPr sz="2800" b="1" spc="-10" dirty="0">
                <a:latin typeface="Times New Roman" panose="02020603050405020304" pitchFamily="18" charset="0"/>
                <a:cs typeface="Times New Roman" panose="02020603050405020304" pitchFamily="18" charset="0"/>
              </a:rPr>
              <a:t>226191</a:t>
            </a:r>
            <a:r>
              <a:rPr lang="en-GB" sz="2800" b="1" spc="-10" dirty="0">
                <a:latin typeface="Times New Roman" panose="02020603050405020304" pitchFamily="18" charset="0"/>
                <a:cs typeface="Times New Roman" panose="02020603050405020304" pitchFamily="18" charset="0"/>
              </a:rPr>
              <a:t>75</a:t>
            </a:r>
          </a:p>
        </p:txBody>
      </p:sp>
      <p:sp>
        <p:nvSpPr>
          <p:cNvPr id="7" name="TextBox 6">
            <a:extLst>
              <a:ext uri="{FF2B5EF4-FFF2-40B4-BE49-F238E27FC236}">
                <a16:creationId xmlns:a16="http://schemas.microsoft.com/office/drawing/2014/main" id="{0EAB27E4-0063-DD87-A7C9-367C6D188CD6}"/>
              </a:ext>
            </a:extLst>
          </p:cNvPr>
          <p:cNvSpPr txBox="1"/>
          <p:nvPr/>
        </p:nvSpPr>
        <p:spPr>
          <a:xfrm>
            <a:off x="379755" y="8677200"/>
            <a:ext cx="5690045" cy="954107"/>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HEMNATH A                   -22619186</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ZIYAD Z                           -22619196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77046" y="-187999"/>
            <a:ext cx="15108073" cy="717139"/>
          </a:xfrm>
          <a:prstGeom prst="rect">
            <a:avLst/>
          </a:prstGeom>
        </p:spPr>
        <p:txBody>
          <a:bodyPr vert="horz" wrap="square" lIns="0" tIns="100603" rIns="0" bIns="0" rtlCol="0">
            <a:spAutoFit/>
          </a:bodyPr>
          <a:lstStyle/>
          <a:p>
            <a:pPr marL="140970">
              <a:lnSpc>
                <a:spcPct val="100000"/>
              </a:lnSpc>
              <a:spcBef>
                <a:spcPts val="100"/>
              </a:spcBef>
            </a:pPr>
            <a:r>
              <a:rPr sz="4000" spc="-10" dirty="0">
                <a:latin typeface="Times New Roman"/>
                <a:cs typeface="Times New Roman"/>
              </a:rPr>
              <a:t>ABSTRACT</a:t>
            </a:r>
          </a:p>
        </p:txBody>
      </p:sp>
      <p:sp>
        <p:nvSpPr>
          <p:cNvPr id="3" name="object 3"/>
          <p:cNvSpPr txBox="1"/>
          <p:nvPr/>
        </p:nvSpPr>
        <p:spPr>
          <a:xfrm>
            <a:off x="230111" y="1411960"/>
            <a:ext cx="17649190" cy="5063694"/>
          </a:xfrm>
          <a:prstGeom prst="rect">
            <a:avLst/>
          </a:prstGeom>
        </p:spPr>
        <p:txBody>
          <a:bodyPr vert="horz" wrap="square" lIns="0" tIns="12700" rIns="0" bIns="0" rtlCol="0">
            <a:spAutoFit/>
          </a:bodyPr>
          <a:lstStyle/>
          <a:p>
            <a:pPr marL="433705" marR="408305" algn="just">
              <a:lnSpc>
                <a:spcPct val="115199"/>
              </a:lnSpc>
              <a:spcBef>
                <a:spcPts val="100"/>
              </a:spcBef>
            </a:pPr>
            <a:r>
              <a:rPr lang="en-GB" sz="2800" spc="-20" dirty="0">
                <a:latin typeface="Times New Roman" panose="02020603050405020304" pitchFamily="18" charset="0"/>
                <a:cs typeface="Times New Roman" panose="02020603050405020304" pitchFamily="18" charset="0"/>
              </a:rPr>
              <a:t> </a:t>
            </a:r>
            <a:r>
              <a:rPr lang="en-US" sz="3200" dirty="0"/>
              <a:t>The </a:t>
            </a:r>
            <a:r>
              <a:rPr lang="en-US" sz="3200" b="1" dirty="0"/>
              <a:t>Smart Data Insight &amp; Pattern Analyzer</a:t>
            </a:r>
            <a:r>
              <a:rPr lang="en-US" sz="3200" dirty="0"/>
              <a:t> is a web-based application designed to simplify and automate the process of data analysis. In today’s data-driven environment, extracting meaningful insights from raw datasets is essential yet often complex and time-consuming. This system addresses the challenge by enabling users to upload structured data (CSV files) and instantly generate statistical summaries, visualizations, and interpretable </a:t>
            </a:r>
            <a:r>
              <a:rPr lang="en-US" sz="3200" dirty="0" err="1"/>
              <a:t>insightsThe</a:t>
            </a:r>
            <a:r>
              <a:rPr lang="en-US" sz="3200" dirty="0"/>
              <a:t> application integrates modern web technologies with data processing techniques to perform tasks such as data preprocessing, statistical computation, correlation analysis, and pattern detection. It presents results through intuitive charts and human-readable explanations, allowing users to easily understand trends, relationships, and anomalies within the dataset.</a:t>
            </a:r>
            <a:endParaRPr sz="3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21701" y="-57153"/>
            <a:ext cx="6675755" cy="1031240"/>
          </a:xfrm>
          <a:prstGeom prst="rect">
            <a:avLst/>
          </a:prstGeom>
        </p:spPr>
        <p:txBody>
          <a:bodyPr vert="horz" wrap="square" lIns="0" tIns="12700" rIns="0" bIns="0" rtlCol="0">
            <a:spAutoFit/>
          </a:bodyPr>
          <a:lstStyle/>
          <a:p>
            <a:pPr marL="12700">
              <a:lnSpc>
                <a:spcPct val="100000"/>
              </a:lnSpc>
              <a:spcBef>
                <a:spcPts val="100"/>
              </a:spcBef>
            </a:pPr>
            <a:r>
              <a:rPr spc="-30" dirty="0">
                <a:latin typeface="Times New Roman"/>
                <a:cs typeface="Times New Roman"/>
              </a:rPr>
              <a:t>INTRODUCTION</a:t>
            </a:r>
          </a:p>
        </p:txBody>
      </p:sp>
      <p:sp>
        <p:nvSpPr>
          <p:cNvPr id="3" name="object 3"/>
          <p:cNvSpPr txBox="1"/>
          <p:nvPr/>
        </p:nvSpPr>
        <p:spPr>
          <a:xfrm>
            <a:off x="761999" y="1485900"/>
            <a:ext cx="16686387" cy="8227124"/>
          </a:xfrm>
          <a:prstGeom prst="rect">
            <a:avLst/>
          </a:prstGeom>
        </p:spPr>
        <p:txBody>
          <a:bodyPr vert="horz" wrap="square" lIns="0" tIns="12700" rIns="0" bIns="0" rtlCol="0">
            <a:spAutoFit/>
          </a:bodyPr>
          <a:lstStyle/>
          <a:p>
            <a:r>
              <a:rPr lang="en-US" sz="4400" dirty="0"/>
              <a:t>In today’s digital world, large amounts of data are generated every day, but extracting meaningful insights from this data remains a challenge. Manual analysis is time-consuming and often requires technical expertise.</a:t>
            </a:r>
          </a:p>
          <a:p>
            <a:r>
              <a:rPr lang="en-US" sz="4400" dirty="0"/>
              <a:t>To address this, we developed the </a:t>
            </a:r>
            <a:r>
              <a:rPr lang="en-US" sz="4400" b="1" dirty="0"/>
              <a:t>Smart Data Insight &amp; Pattern Analyzer</a:t>
            </a:r>
            <a:r>
              <a:rPr lang="en-US" sz="4400" dirty="0"/>
              <a:t>, a web-based application that automates data analysis. It allows users to upload datasets and instantly generates statistical summaries, visualizations, and meaningful insights.</a:t>
            </a:r>
          </a:p>
          <a:p>
            <a:r>
              <a:rPr lang="en-US" sz="4400" dirty="0"/>
              <a:t>This system simplifies complex data analysis processes, making them accessible to both technical and non-technical users, and supports better data-driven decision-making.</a:t>
            </a:r>
          </a:p>
          <a:p>
            <a:pPr marL="12700" marR="5080" algn="just">
              <a:lnSpc>
                <a:spcPct val="115199"/>
              </a:lnSpc>
              <a:spcBef>
                <a:spcPts val="100"/>
              </a:spcBef>
            </a:pPr>
            <a:endParaRPr sz="4400" dirty="0">
              <a:latin typeface="Lucida Sans Unicode"/>
              <a:cs typeface="Lucida Sans Unicod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839AB-9226-97FD-B0DA-604762CFA826}"/>
              </a:ext>
            </a:extLst>
          </p:cNvPr>
          <p:cNvSpPr>
            <a:spLocks noGrp="1"/>
          </p:cNvSpPr>
          <p:nvPr>
            <p:ph type="title"/>
          </p:nvPr>
        </p:nvSpPr>
        <p:spPr>
          <a:xfrm>
            <a:off x="77046" y="-187999"/>
            <a:ext cx="15108073" cy="1015663"/>
          </a:xfrm>
        </p:spPr>
        <p:txBody>
          <a:bodyPr/>
          <a:lstStyle/>
          <a:p>
            <a:r>
              <a:rPr lang="en-US" dirty="0"/>
              <a:t>PROBLEM STATEMENT </a:t>
            </a:r>
          </a:p>
        </p:txBody>
      </p:sp>
      <p:sp>
        <p:nvSpPr>
          <p:cNvPr id="3" name="Text Placeholder 2">
            <a:extLst>
              <a:ext uri="{FF2B5EF4-FFF2-40B4-BE49-F238E27FC236}">
                <a16:creationId xmlns:a16="http://schemas.microsoft.com/office/drawing/2014/main" id="{1D7B4045-76A7-0D04-1EB6-0860D9519FA6}"/>
              </a:ext>
            </a:extLst>
          </p:cNvPr>
          <p:cNvSpPr>
            <a:spLocks noGrp="1"/>
          </p:cNvSpPr>
          <p:nvPr>
            <p:ph type="body" idx="1"/>
          </p:nvPr>
        </p:nvSpPr>
        <p:spPr>
          <a:xfrm>
            <a:off x="685800" y="1257300"/>
            <a:ext cx="16433500" cy="8617744"/>
          </a:xfrm>
        </p:spPr>
        <p:txBody>
          <a:bodyPr/>
          <a:lstStyle/>
          <a:p>
            <a:r>
              <a:rPr lang="en-US" sz="4000" dirty="0"/>
              <a:t>In today’s data-driven environment, large volumes of data are generated continuously, but extracting meaningful insights from this data remains a complex task. Existing data analysis tools often require technical expertise, manual effort, and significant time to preprocess, analyze, and interpret data.</a:t>
            </a:r>
          </a:p>
          <a:p>
            <a:r>
              <a:rPr lang="en-US" sz="4000" dirty="0"/>
              <a:t>Additionally, most tools provide only raw statistics and visualizations without meaningful explanations, making it difficult for non-technical users to understand the results. Data quality issues such as missing values and inconsistencies further complicate the analysis process.</a:t>
            </a:r>
          </a:p>
          <a:p>
            <a:r>
              <a:rPr lang="en-US" sz="4000" dirty="0"/>
              <a:t>Therefore, there is a need for an intelligent and user-friendly system that can automatically analyze datasets, identify patterns, and generate clear, actionable insights with minimal user effort.</a:t>
            </a:r>
          </a:p>
          <a:p>
            <a:endParaRPr lang="en-GB" sz="4000" dirty="0"/>
          </a:p>
        </p:txBody>
      </p:sp>
    </p:spTree>
    <p:extLst>
      <p:ext uri="{BB962C8B-B14F-4D97-AF65-F5344CB8AC3E}">
        <p14:creationId xmlns:p14="http://schemas.microsoft.com/office/powerpoint/2010/main" val="677065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32550" y="-83899"/>
            <a:ext cx="10994390" cy="1031240"/>
          </a:xfrm>
          <a:prstGeom prst="rect">
            <a:avLst/>
          </a:prstGeom>
        </p:spPr>
        <p:txBody>
          <a:bodyPr vert="horz" wrap="square" lIns="0" tIns="12700" rIns="0" bIns="0" rtlCol="0">
            <a:spAutoFit/>
          </a:bodyPr>
          <a:lstStyle/>
          <a:p>
            <a:pPr marL="12700">
              <a:lnSpc>
                <a:spcPct val="100000"/>
              </a:lnSpc>
              <a:spcBef>
                <a:spcPts val="100"/>
              </a:spcBef>
            </a:pPr>
            <a:r>
              <a:rPr spc="-35" dirty="0">
                <a:latin typeface="Times New Roman"/>
                <a:cs typeface="Times New Roman"/>
              </a:rPr>
              <a:t>PROPOSED</a:t>
            </a:r>
            <a:r>
              <a:rPr spc="-345" dirty="0">
                <a:latin typeface="Times New Roman"/>
                <a:cs typeface="Times New Roman"/>
              </a:rPr>
              <a:t> </a:t>
            </a:r>
            <a:r>
              <a:rPr spc="-10" dirty="0">
                <a:latin typeface="Times New Roman"/>
                <a:cs typeface="Times New Roman"/>
              </a:rPr>
              <a:t>METHODOLOY</a:t>
            </a:r>
          </a:p>
        </p:txBody>
      </p:sp>
      <p:pic>
        <p:nvPicPr>
          <p:cNvPr id="3" name="object 3"/>
          <p:cNvPicPr/>
          <p:nvPr/>
        </p:nvPicPr>
        <p:blipFill>
          <a:blip r:embed="rId2" cstate="print"/>
          <a:stretch>
            <a:fillRect/>
          </a:stretch>
        </p:blipFill>
        <p:spPr>
          <a:xfrm>
            <a:off x="1004887" y="1918017"/>
            <a:ext cx="142875" cy="142874"/>
          </a:xfrm>
          <a:prstGeom prst="rect">
            <a:avLst/>
          </a:prstGeom>
        </p:spPr>
      </p:pic>
      <p:pic>
        <p:nvPicPr>
          <p:cNvPr id="4" name="object 4"/>
          <p:cNvPicPr/>
          <p:nvPr/>
        </p:nvPicPr>
        <p:blipFill>
          <a:blip r:embed="rId3" cstate="print"/>
          <a:stretch>
            <a:fillRect/>
          </a:stretch>
        </p:blipFill>
        <p:spPr>
          <a:xfrm>
            <a:off x="1004887" y="2460942"/>
            <a:ext cx="142875" cy="142874"/>
          </a:xfrm>
          <a:prstGeom prst="rect">
            <a:avLst/>
          </a:prstGeom>
        </p:spPr>
      </p:pic>
      <p:pic>
        <p:nvPicPr>
          <p:cNvPr id="5" name="object 5"/>
          <p:cNvPicPr/>
          <p:nvPr/>
        </p:nvPicPr>
        <p:blipFill>
          <a:blip r:embed="rId4" cstate="print"/>
          <a:stretch>
            <a:fillRect/>
          </a:stretch>
        </p:blipFill>
        <p:spPr>
          <a:xfrm>
            <a:off x="1004887" y="3546792"/>
            <a:ext cx="142875" cy="142874"/>
          </a:xfrm>
          <a:prstGeom prst="rect">
            <a:avLst/>
          </a:prstGeom>
        </p:spPr>
      </p:pic>
      <p:pic>
        <p:nvPicPr>
          <p:cNvPr id="6" name="object 6"/>
          <p:cNvPicPr/>
          <p:nvPr/>
        </p:nvPicPr>
        <p:blipFill>
          <a:blip r:embed="rId5" cstate="print"/>
          <a:stretch>
            <a:fillRect/>
          </a:stretch>
        </p:blipFill>
        <p:spPr>
          <a:xfrm>
            <a:off x="1004887" y="5175567"/>
            <a:ext cx="142875" cy="142874"/>
          </a:xfrm>
          <a:prstGeom prst="rect">
            <a:avLst/>
          </a:prstGeom>
        </p:spPr>
      </p:pic>
      <p:pic>
        <p:nvPicPr>
          <p:cNvPr id="7" name="object 7"/>
          <p:cNvPicPr/>
          <p:nvPr/>
        </p:nvPicPr>
        <p:blipFill>
          <a:blip r:embed="rId6" cstate="print"/>
          <a:stretch>
            <a:fillRect/>
          </a:stretch>
        </p:blipFill>
        <p:spPr>
          <a:xfrm>
            <a:off x="1004887" y="5718492"/>
            <a:ext cx="142875" cy="142874"/>
          </a:xfrm>
          <a:prstGeom prst="rect">
            <a:avLst/>
          </a:prstGeom>
        </p:spPr>
      </p:pic>
      <p:pic>
        <p:nvPicPr>
          <p:cNvPr id="8" name="object 8"/>
          <p:cNvPicPr/>
          <p:nvPr/>
        </p:nvPicPr>
        <p:blipFill>
          <a:blip r:embed="rId7" cstate="print"/>
          <a:stretch>
            <a:fillRect/>
          </a:stretch>
        </p:blipFill>
        <p:spPr>
          <a:xfrm>
            <a:off x="1004887" y="6261417"/>
            <a:ext cx="142875" cy="142874"/>
          </a:xfrm>
          <a:prstGeom prst="rect">
            <a:avLst/>
          </a:prstGeom>
        </p:spPr>
      </p:pic>
      <p:pic>
        <p:nvPicPr>
          <p:cNvPr id="9" name="object 9"/>
          <p:cNvPicPr/>
          <p:nvPr/>
        </p:nvPicPr>
        <p:blipFill>
          <a:blip r:embed="rId8" cstate="print"/>
          <a:stretch>
            <a:fillRect/>
          </a:stretch>
        </p:blipFill>
        <p:spPr>
          <a:xfrm>
            <a:off x="1004887" y="7890192"/>
            <a:ext cx="142875" cy="142874"/>
          </a:xfrm>
          <a:prstGeom prst="rect">
            <a:avLst/>
          </a:prstGeom>
        </p:spPr>
      </p:pic>
      <p:pic>
        <p:nvPicPr>
          <p:cNvPr id="10" name="object 10"/>
          <p:cNvPicPr/>
          <p:nvPr/>
        </p:nvPicPr>
        <p:blipFill>
          <a:blip r:embed="rId9" cstate="print"/>
          <a:stretch>
            <a:fillRect/>
          </a:stretch>
        </p:blipFill>
        <p:spPr>
          <a:xfrm>
            <a:off x="1004887" y="8433117"/>
            <a:ext cx="142875" cy="142874"/>
          </a:xfrm>
          <a:prstGeom prst="rect">
            <a:avLst/>
          </a:prstGeom>
        </p:spPr>
      </p:pic>
      <p:pic>
        <p:nvPicPr>
          <p:cNvPr id="11" name="object 11"/>
          <p:cNvPicPr/>
          <p:nvPr/>
        </p:nvPicPr>
        <p:blipFill>
          <a:blip r:embed="rId9" cstate="print"/>
          <a:stretch>
            <a:fillRect/>
          </a:stretch>
        </p:blipFill>
        <p:spPr>
          <a:xfrm>
            <a:off x="1004887" y="9518967"/>
            <a:ext cx="142875" cy="142874"/>
          </a:xfrm>
          <a:prstGeom prst="rect">
            <a:avLst/>
          </a:prstGeom>
        </p:spPr>
      </p:pic>
      <p:sp>
        <p:nvSpPr>
          <p:cNvPr id="12" name="object 12"/>
          <p:cNvSpPr txBox="1"/>
          <p:nvPr/>
        </p:nvSpPr>
        <p:spPr>
          <a:xfrm>
            <a:off x="364807" y="1104900"/>
            <a:ext cx="17558385" cy="8947962"/>
          </a:xfrm>
          <a:prstGeom prst="rect">
            <a:avLst/>
          </a:prstGeom>
        </p:spPr>
        <p:txBody>
          <a:bodyPr vert="horz" wrap="square" lIns="0" tIns="83185" rIns="0" bIns="0" rtlCol="0">
            <a:spAutoFit/>
          </a:bodyPr>
          <a:lstStyle/>
          <a:p>
            <a:r>
              <a:rPr lang="en-US" sz="3600" dirty="0"/>
              <a:t>The proposed system follows an automated and structured approach to data analysis:</a:t>
            </a:r>
          </a:p>
          <a:p>
            <a:r>
              <a:rPr lang="en-US" sz="3600" b="1" dirty="0"/>
              <a:t>Data Input:</a:t>
            </a:r>
            <a:r>
              <a:rPr lang="en-US" sz="3600" dirty="0"/>
              <a:t> Users upload structured datasets in CSV format through the web interface. </a:t>
            </a:r>
          </a:p>
          <a:p>
            <a:r>
              <a:rPr lang="en-US" sz="3600" b="1" dirty="0"/>
              <a:t>Data Preprocessing:</a:t>
            </a:r>
            <a:r>
              <a:rPr lang="en-US" sz="3600" dirty="0"/>
              <a:t> The system identifies data types, handles missing values, and prepares clean data for analysis. </a:t>
            </a:r>
          </a:p>
          <a:p>
            <a:r>
              <a:rPr lang="en-US" sz="3600" b="1" dirty="0"/>
              <a:t>Statistical Analysis:</a:t>
            </a:r>
            <a:r>
              <a:rPr lang="en-US" sz="3600" dirty="0"/>
              <a:t> Key statistical measures such as mean, median, and standard deviation are computed. </a:t>
            </a:r>
          </a:p>
          <a:p>
            <a:r>
              <a:rPr lang="en-US" sz="3600" b="1" dirty="0"/>
              <a:t>Pattern Detection:</a:t>
            </a:r>
            <a:r>
              <a:rPr lang="en-US" sz="3600" dirty="0"/>
              <a:t> Relationships between variables are identified using correlation analysis and grouping techniques. </a:t>
            </a:r>
          </a:p>
          <a:p>
            <a:r>
              <a:rPr lang="en-US" sz="3600" b="1" dirty="0"/>
              <a:t>Data Visualization:</a:t>
            </a:r>
            <a:r>
              <a:rPr lang="en-US" sz="3600" dirty="0"/>
              <a:t> Graphs such as bar charts, histograms, and heatmaps are generated for better understanding. </a:t>
            </a:r>
          </a:p>
          <a:p>
            <a:r>
              <a:rPr lang="en-US" sz="3600" b="1" dirty="0"/>
              <a:t>Insight Generation:</a:t>
            </a:r>
            <a:r>
              <a:rPr lang="en-US" sz="3600" dirty="0"/>
              <a:t> The system produces human-readable insights highlighting trends, patterns, and anomalies. </a:t>
            </a:r>
          </a:p>
          <a:p>
            <a:r>
              <a:rPr lang="en-US" sz="3600" b="1" dirty="0"/>
              <a:t>Result Presentation:</a:t>
            </a:r>
            <a:r>
              <a:rPr lang="en-US" sz="3600" dirty="0"/>
              <a:t> All outputs are displayed through an interactive and user-friendly interface</a:t>
            </a:r>
          </a:p>
          <a:p>
            <a:endParaRPr lang="en-IN"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143000" y="419100"/>
            <a:ext cx="15108073" cy="1301500"/>
          </a:xfrm>
          <a:prstGeom prst="rect">
            <a:avLst/>
          </a:prstGeom>
        </p:spPr>
        <p:txBody>
          <a:bodyPr vert="horz" wrap="square" lIns="0" tIns="76079" rIns="0" bIns="0" rtlCol="0">
            <a:spAutoFit/>
          </a:bodyPr>
          <a:lstStyle/>
          <a:p>
            <a:pPr marL="114935">
              <a:lnSpc>
                <a:spcPct val="100000"/>
              </a:lnSpc>
              <a:spcBef>
                <a:spcPts val="100"/>
              </a:spcBef>
            </a:pPr>
            <a:r>
              <a:rPr dirty="0">
                <a:latin typeface="Times New Roman"/>
                <a:cs typeface="Times New Roman"/>
              </a:rPr>
              <a:t>SYSTEM</a:t>
            </a:r>
            <a:r>
              <a:rPr spc="-300" dirty="0">
                <a:latin typeface="Times New Roman"/>
                <a:cs typeface="Times New Roman"/>
              </a:rPr>
              <a:t> </a:t>
            </a:r>
            <a:r>
              <a:rPr spc="-10" dirty="0">
                <a:latin typeface="Times New Roman"/>
                <a:cs typeface="Times New Roman"/>
              </a:rPr>
              <a:t>MODULES</a:t>
            </a:r>
            <a:r>
              <a:rPr spc="-300" dirty="0">
                <a:latin typeface="Times New Roman"/>
                <a:cs typeface="Times New Roman"/>
              </a:rPr>
              <a:t> </a:t>
            </a:r>
            <a:r>
              <a:rPr dirty="0">
                <a:latin typeface="Times New Roman"/>
                <a:cs typeface="Times New Roman"/>
              </a:rPr>
              <a:t>&amp;</a:t>
            </a:r>
            <a:r>
              <a:rPr spc="-300" dirty="0">
                <a:latin typeface="Times New Roman"/>
                <a:cs typeface="Times New Roman"/>
              </a:rPr>
              <a:t> </a:t>
            </a:r>
            <a:r>
              <a:rPr spc="-10" dirty="0">
                <a:latin typeface="Times New Roman"/>
                <a:cs typeface="Times New Roman"/>
              </a:rPr>
              <a:t>TECHNOLOGY</a:t>
            </a:r>
          </a:p>
        </p:txBody>
      </p:sp>
      <p:sp>
        <p:nvSpPr>
          <p:cNvPr id="12" name="object 12"/>
          <p:cNvSpPr txBox="1"/>
          <p:nvPr/>
        </p:nvSpPr>
        <p:spPr>
          <a:xfrm>
            <a:off x="1362392" y="1562100"/>
            <a:ext cx="15563215" cy="7968848"/>
          </a:xfrm>
          <a:prstGeom prst="rect">
            <a:avLst/>
          </a:prstGeom>
        </p:spPr>
        <p:txBody>
          <a:bodyPr vert="horz" wrap="square" lIns="0" tIns="88900" rIns="0" bIns="0" rtlCol="0">
            <a:spAutoFit/>
          </a:bodyPr>
          <a:lstStyle/>
          <a:p>
            <a:r>
              <a:rPr lang="en-US" sz="3200" b="1" dirty="0"/>
              <a:t>Data Upload Module</a:t>
            </a:r>
            <a:br>
              <a:rPr lang="en-US" sz="3200" dirty="0"/>
            </a:br>
            <a:r>
              <a:rPr lang="en-US" sz="3200" dirty="0"/>
              <a:t>Allows users to upload CSV datasets into the system. </a:t>
            </a:r>
          </a:p>
          <a:p>
            <a:r>
              <a:rPr lang="en-US" sz="3200" b="1" dirty="0"/>
              <a:t>Data Preprocessing Module</a:t>
            </a:r>
            <a:br>
              <a:rPr lang="en-US" sz="3200" dirty="0"/>
            </a:br>
            <a:r>
              <a:rPr lang="en-US" sz="3200" dirty="0"/>
              <a:t>Cleans the data by handling missing values and identifying data types. </a:t>
            </a:r>
          </a:p>
          <a:p>
            <a:r>
              <a:rPr lang="en-US" sz="3200" b="1" dirty="0"/>
              <a:t>Statistical Analysis Module</a:t>
            </a:r>
            <a:br>
              <a:rPr lang="en-US" sz="3200" dirty="0"/>
            </a:br>
            <a:r>
              <a:rPr lang="en-US" sz="3200" dirty="0"/>
              <a:t>Computes key metrics such as mean, median, and standard deviation. </a:t>
            </a:r>
          </a:p>
          <a:p>
            <a:r>
              <a:rPr lang="en-US" sz="3200" b="1" dirty="0"/>
              <a:t>Pattern Detection Module</a:t>
            </a:r>
            <a:br>
              <a:rPr lang="en-US" sz="3200" dirty="0"/>
            </a:br>
            <a:r>
              <a:rPr lang="en-US" sz="3200" dirty="0"/>
              <a:t>Identifies relationships and trends using correlation and grouping. </a:t>
            </a:r>
          </a:p>
          <a:p>
            <a:r>
              <a:rPr lang="en-US" sz="3200" b="1" dirty="0"/>
              <a:t>Visualization Module</a:t>
            </a:r>
            <a:br>
              <a:rPr lang="en-US" sz="3200" dirty="0"/>
            </a:br>
            <a:r>
              <a:rPr lang="en-US" sz="3200" dirty="0"/>
              <a:t>Generates charts like bar graphs, histograms, and heatmaps. </a:t>
            </a:r>
          </a:p>
          <a:p>
            <a:r>
              <a:rPr lang="en-US" sz="3200" b="1" dirty="0"/>
              <a:t>Insight Generation Module</a:t>
            </a:r>
            <a:br>
              <a:rPr lang="en-US" sz="3200" dirty="0"/>
            </a:br>
            <a:r>
              <a:rPr lang="en-US" sz="3200" dirty="0"/>
              <a:t>Converts analytical results into human-readable insights. </a:t>
            </a:r>
          </a:p>
          <a:p>
            <a:r>
              <a:rPr lang="en-US" sz="3200" b="1" dirty="0"/>
              <a:t>User Interface Module</a:t>
            </a:r>
            <a:br>
              <a:rPr lang="en-US" sz="3200" dirty="0"/>
            </a:br>
            <a:r>
              <a:rPr lang="en-US" sz="3200" dirty="0"/>
              <a:t>Provides an interactive and easy-to-use web interface. </a:t>
            </a:r>
          </a:p>
          <a:p>
            <a:endParaRPr lang="en-US" sz="3200" b="1" dirty="0"/>
          </a:p>
          <a:p>
            <a:endParaRPr lang="en-IN"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77046" y="-187999"/>
            <a:ext cx="15108073" cy="1233196"/>
          </a:xfrm>
          <a:prstGeom prst="rect">
            <a:avLst/>
          </a:prstGeom>
        </p:spPr>
        <p:txBody>
          <a:bodyPr vert="horz" wrap="square" lIns="0" tIns="215430" rIns="0" bIns="0" rtlCol="0">
            <a:spAutoFit/>
          </a:bodyPr>
          <a:lstStyle/>
          <a:p>
            <a:pPr marL="54610">
              <a:lnSpc>
                <a:spcPct val="100000"/>
              </a:lnSpc>
              <a:spcBef>
                <a:spcPts val="100"/>
              </a:spcBef>
            </a:pPr>
            <a:r>
              <a:rPr lang="en-GB" spc="-869" dirty="0"/>
              <a:t>Sample Code:</a:t>
            </a:r>
            <a:endParaRPr spc="-869" dirty="0"/>
          </a:p>
        </p:txBody>
      </p:sp>
      <p:pic>
        <p:nvPicPr>
          <p:cNvPr id="10" name="Picture 9">
            <a:extLst>
              <a:ext uri="{FF2B5EF4-FFF2-40B4-BE49-F238E27FC236}">
                <a16:creationId xmlns:a16="http://schemas.microsoft.com/office/drawing/2014/main" id="{AED178A9-0F10-9FF7-2A07-36A070465E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11260"/>
            <a:ext cx="9372600" cy="5272087"/>
          </a:xfrm>
          <a:prstGeom prst="rect">
            <a:avLst/>
          </a:prstGeom>
        </p:spPr>
      </p:pic>
      <p:pic>
        <p:nvPicPr>
          <p:cNvPr id="12" name="Picture 11">
            <a:extLst>
              <a:ext uri="{FF2B5EF4-FFF2-40B4-BE49-F238E27FC236}">
                <a16:creationId xmlns:a16="http://schemas.microsoft.com/office/drawing/2014/main" id="{906EAF76-64E4-FB67-0BC2-4257ACF79B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31556" y="1109019"/>
            <a:ext cx="9225792" cy="51895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74C21-0D06-9DC0-272F-6BD4E230DD04}"/>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1EDA254E-2411-E428-18C9-58F669067E76}"/>
              </a:ext>
            </a:extLst>
          </p:cNvPr>
          <p:cNvSpPr txBox="1">
            <a:spLocks noGrp="1"/>
          </p:cNvSpPr>
          <p:nvPr>
            <p:ph type="title"/>
          </p:nvPr>
        </p:nvSpPr>
        <p:spPr>
          <a:xfrm>
            <a:off x="77046" y="-187999"/>
            <a:ext cx="15108073" cy="1233196"/>
          </a:xfrm>
          <a:prstGeom prst="rect">
            <a:avLst/>
          </a:prstGeom>
        </p:spPr>
        <p:txBody>
          <a:bodyPr vert="horz" wrap="square" lIns="0" tIns="215430" rIns="0" bIns="0" rtlCol="0">
            <a:spAutoFit/>
          </a:bodyPr>
          <a:lstStyle/>
          <a:p>
            <a:pPr marL="54610">
              <a:lnSpc>
                <a:spcPct val="100000"/>
              </a:lnSpc>
              <a:spcBef>
                <a:spcPts val="100"/>
              </a:spcBef>
            </a:pPr>
            <a:r>
              <a:rPr lang="en-GB" spc="-869" dirty="0"/>
              <a:t>Sample Code:</a:t>
            </a:r>
            <a:endParaRPr spc="-869" dirty="0"/>
          </a:p>
        </p:txBody>
      </p:sp>
      <p:pic>
        <p:nvPicPr>
          <p:cNvPr id="14" name="Picture 13">
            <a:extLst>
              <a:ext uri="{FF2B5EF4-FFF2-40B4-BE49-F238E27FC236}">
                <a16:creationId xmlns:a16="http://schemas.microsoft.com/office/drawing/2014/main" id="{9EBCB5AF-E6F6-895B-A4B0-7924A94E5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0" y="1490493"/>
            <a:ext cx="8794986" cy="4947180"/>
          </a:xfrm>
          <a:prstGeom prst="rect">
            <a:avLst/>
          </a:prstGeom>
        </p:spPr>
      </p:pic>
      <p:pic>
        <p:nvPicPr>
          <p:cNvPr id="17" name="Picture 16">
            <a:extLst>
              <a:ext uri="{FF2B5EF4-FFF2-40B4-BE49-F238E27FC236}">
                <a16:creationId xmlns:a16="http://schemas.microsoft.com/office/drawing/2014/main" id="{14291374-946C-54F1-21CB-0AC48405AD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1606173"/>
            <a:ext cx="8589333" cy="4831500"/>
          </a:xfrm>
          <a:prstGeom prst="rect">
            <a:avLst/>
          </a:prstGeom>
        </p:spPr>
      </p:pic>
    </p:spTree>
    <p:extLst>
      <p:ext uri="{BB962C8B-B14F-4D97-AF65-F5344CB8AC3E}">
        <p14:creationId xmlns:p14="http://schemas.microsoft.com/office/powerpoint/2010/main" val="175080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2960" rIns="0" bIns="0" rtlCol="0">
            <a:spAutoFit/>
          </a:bodyPr>
          <a:lstStyle/>
          <a:p>
            <a:pPr marL="256540">
              <a:lnSpc>
                <a:spcPct val="100000"/>
              </a:lnSpc>
              <a:spcBef>
                <a:spcPts val="100"/>
              </a:spcBef>
            </a:pPr>
            <a:r>
              <a:rPr spc="-795" dirty="0"/>
              <a:t>OUTPUT</a:t>
            </a:r>
            <a:r>
              <a:rPr spc="-685" dirty="0"/>
              <a:t> </a:t>
            </a:r>
            <a:r>
              <a:rPr spc="-695" dirty="0"/>
              <a:t>SCREENS</a:t>
            </a:r>
          </a:p>
        </p:txBody>
      </p:sp>
      <p:pic>
        <p:nvPicPr>
          <p:cNvPr id="5" name="Picture 4">
            <a:extLst>
              <a:ext uri="{FF2B5EF4-FFF2-40B4-BE49-F238E27FC236}">
                <a16:creationId xmlns:a16="http://schemas.microsoft.com/office/drawing/2014/main" id="{F2E0481E-6508-793B-2F37-70EC48A895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1562100"/>
            <a:ext cx="13614400" cy="76581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E013B54-1609-5C68-EF88-20439C42E5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600" y="1485900"/>
            <a:ext cx="13004800" cy="7315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2960" rIns="0" bIns="0" rtlCol="0">
            <a:spAutoFit/>
          </a:bodyPr>
          <a:lstStyle/>
          <a:p>
            <a:pPr marL="73660">
              <a:lnSpc>
                <a:spcPct val="100000"/>
              </a:lnSpc>
              <a:spcBef>
                <a:spcPts val="100"/>
              </a:spcBef>
            </a:pPr>
            <a:r>
              <a:rPr spc="-865" dirty="0"/>
              <a:t>CONCLUSION</a:t>
            </a:r>
          </a:p>
        </p:txBody>
      </p:sp>
      <p:sp>
        <p:nvSpPr>
          <p:cNvPr id="3" name="object 3"/>
          <p:cNvSpPr txBox="1"/>
          <p:nvPr/>
        </p:nvSpPr>
        <p:spPr>
          <a:xfrm>
            <a:off x="1167765" y="2324100"/>
            <a:ext cx="15952469" cy="3529171"/>
          </a:xfrm>
          <a:prstGeom prst="rect">
            <a:avLst/>
          </a:prstGeom>
        </p:spPr>
        <p:txBody>
          <a:bodyPr vert="horz" wrap="square" lIns="0" tIns="12700" rIns="0" bIns="0" rtlCol="0">
            <a:spAutoFit/>
          </a:bodyPr>
          <a:lstStyle/>
          <a:p>
            <a:pPr marL="12700" marR="5080">
              <a:lnSpc>
                <a:spcPct val="114900"/>
              </a:lnSpc>
              <a:spcBef>
                <a:spcPts val="100"/>
              </a:spcBef>
            </a:pPr>
            <a:r>
              <a:rPr lang="en-US" sz="4000" dirty="0"/>
              <a:t>The </a:t>
            </a:r>
            <a:r>
              <a:rPr lang="en-US" sz="4000" b="1" dirty="0"/>
              <a:t>Smart Data Insight &amp; Pattern Analyzer</a:t>
            </a:r>
            <a:r>
              <a:rPr lang="en-US" sz="4000" dirty="0"/>
              <a:t> successfully demonstrates an efficient approach to automated data analysis. </a:t>
            </a:r>
            <a:r>
              <a:rPr lang="en-US" sz="4000"/>
              <a:t>The system simplifies complex analytical processes by enabling users to upload datasets and instantly obtain statistical summaries, visualizations, and meaningful insights.</a:t>
            </a:r>
            <a:endParaRPr sz="4000" dirty="0">
              <a:latin typeface="Lucida Sans Unicode"/>
              <a:cs typeface="Lucida Sans Unicode"/>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62</TotalTime>
  <Words>677</Words>
  <Application>Microsoft Office PowerPoint</Application>
  <PresentationFormat>Custom</PresentationFormat>
  <Paragraphs>41</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Lucida Sans Unicode</vt:lpstr>
      <vt:lpstr>Tahoma</vt:lpstr>
      <vt:lpstr>Times New Roman</vt:lpstr>
      <vt:lpstr>Office Theme</vt:lpstr>
      <vt:lpstr>PowerPoint Presentation</vt:lpstr>
      <vt:lpstr>ABSTRACT</vt:lpstr>
      <vt:lpstr>INTRODUCTION</vt:lpstr>
      <vt:lpstr>PROBLEM STATEMENT </vt:lpstr>
      <vt:lpstr>PROPOSED METHODOLOY</vt:lpstr>
      <vt:lpstr>SYSTEM MODULES &amp; TECHNOLOGY</vt:lpstr>
      <vt:lpstr>Sample Code:</vt:lpstr>
      <vt:lpstr>Sample Code:</vt:lpstr>
      <vt:lpstr>OUTPUT SCREENS</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5_6055200358832021266.pptx</dc:title>
  <dc:creator>Aditya Anabayan</dc:creator>
  <cp:keywords>DAG3MibijTk,BAGR2i9Vpr4,0</cp:keywords>
  <cp:lastModifiedBy>vishal selvam</cp:lastModifiedBy>
  <cp:revision>7</cp:revision>
  <dcterms:created xsi:type="dcterms:W3CDTF">2026-03-14T05:28:40Z</dcterms:created>
  <dcterms:modified xsi:type="dcterms:W3CDTF">2026-10-30T05:32:55Z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2025-10-31T00:00:00Z</vt:filetime>
  </property>
  <property fmtid="{D5CDD505-2E9C-101B-9397-08002B2CF9AE}" pid="3" name="Creator">
    <vt:lpwstr>Canva</vt:lpwstr>
  </property>
  <property fmtid="{D5CDD505-2E9C-101B-9397-08002B2CF9AE}" pid="4" name="LastSaved">
    <vt:filetime>2026-03-14T00:00:00Z</vt:filetime>
  </property>
  <property fmtid="{D5CDD505-2E9C-101B-9397-08002B2CF9AE}" pid="5" name="Producer">
    <vt:lpwstr>Canva</vt:lpwstr>
  </property>
</Properties>
</file>