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AF7"/>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960120" y="2542032"/>
            <a:ext cx="10149840" cy="22860"/>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2907792"/>
            <a:ext cx="9875520" cy="502920"/>
          </a:xfrm>
          <a:prstGeom prst="rect">
            <a:avLst/>
          </a:prstGeom>
          <a:noFill/>
        </p:spPr>
        <p:txBody>
          <a:bodyPr wrap="none" lIns="45720" rIns="45720" anchor="ctr">
            <a:spAutoFit/>
          </a:bodyPr>
          <a:lstStyle/>
          <a:p>
            <a:pPr algn="l">
              <a:spcBef>
                <a:spcPts val="0"/>
              </a:spcBef>
              <a:spcAft>
                <a:spcPts val="0"/>
              </a:spcAft>
            </a:pPr>
            <a:r>
              <a:rPr sz="1800" b="1" i="0">
                <a:solidFill>
                  <a:srgbClr val="1B757D"/>
                </a:solidFill>
                <a:latin typeface="Aptos"/>
              </a:rPr>
              <a:t>FOODLOOP PROJECT PRESENTATION</a:t>
            </a:r>
          </a:p>
        </p:txBody>
      </p:sp>
      <p:sp>
        <p:nvSpPr>
          <p:cNvPr id="9" name="TextBox 8"/>
          <p:cNvSpPr txBox="1"/>
          <p:nvPr/>
        </p:nvSpPr>
        <p:spPr>
          <a:xfrm>
            <a:off x="960120" y="3566160"/>
            <a:ext cx="9875520" cy="502920"/>
          </a:xfrm>
          <a:prstGeom prst="rect">
            <a:avLst/>
          </a:prstGeom>
          <a:noFill/>
        </p:spPr>
        <p:txBody>
          <a:bodyPr wrap="none" lIns="45720" rIns="45720" anchor="ctr">
            <a:spAutoFit/>
          </a:bodyPr>
          <a:lstStyle/>
          <a:p>
            <a:pPr algn="l">
              <a:spcBef>
                <a:spcPts val="0"/>
              </a:spcBef>
              <a:spcAft>
                <a:spcPts val="0"/>
              </a:spcAft>
            </a:pPr>
            <a:r>
              <a:rPr sz="2300" b="1" i="0">
                <a:solidFill>
                  <a:srgbClr val="203330"/>
                </a:solidFill>
                <a:latin typeface="Aptos"/>
              </a:rPr>
              <a:t>Sukrish T   |   Arun A   |   Sadham Hussian R</a:t>
            </a:r>
          </a:p>
        </p:txBody>
      </p:sp>
      <p:sp>
        <p:nvSpPr>
          <p:cNvPr id="10" name="TextBox 9"/>
          <p:cNvSpPr txBox="1"/>
          <p:nvPr/>
        </p:nvSpPr>
        <p:spPr>
          <a:xfrm>
            <a:off x="960120" y="4187952"/>
            <a:ext cx="9875520" cy="384048"/>
          </a:xfrm>
          <a:prstGeom prst="rect">
            <a:avLst/>
          </a:prstGeom>
          <a:noFill/>
        </p:spPr>
        <p:txBody>
          <a:bodyPr wrap="none" lIns="45720" rIns="45720" anchor="ctr">
            <a:spAutoFit/>
          </a:bodyPr>
          <a:lstStyle/>
          <a:p>
            <a:pPr algn="l">
              <a:spcBef>
                <a:spcPts val="0"/>
              </a:spcBef>
              <a:spcAft>
                <a:spcPts val="0"/>
              </a:spcAft>
            </a:pPr>
            <a:r>
              <a:rPr sz="1900" b="0" i="0">
                <a:solidFill>
                  <a:srgbClr val="536963"/>
                </a:solidFill>
                <a:latin typeface="Aptos"/>
              </a:rPr>
              <a:t>Project Guide: Akash S</a:t>
            </a:r>
          </a:p>
        </p:txBody>
      </p:sp>
      <p:sp>
        <p:nvSpPr>
          <p:cNvPr id="11" name="Rounded Rectangle 10"/>
          <p:cNvSpPr/>
          <p:nvPr/>
        </p:nvSpPr>
        <p:spPr>
          <a:xfrm>
            <a:off x="960120" y="5074920"/>
            <a:ext cx="10149840" cy="777240"/>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207008" y="5193792"/>
            <a:ext cx="9646920" cy="475488"/>
          </a:xfrm>
          <a:prstGeom prst="rect">
            <a:avLst/>
          </a:prstGeom>
          <a:noFill/>
        </p:spPr>
        <p:txBody>
          <a:bodyPr wrap="none" lIns="45720" rIns="45720" anchor="ctr">
            <a:spAutoFit/>
          </a:bodyPr>
          <a:lstStyle/>
          <a:p>
            <a:pPr algn="l">
              <a:spcBef>
                <a:spcPts val="0"/>
              </a:spcBef>
              <a:spcAft>
                <a:spcPts val="0"/>
              </a:spcAft>
            </a:pPr>
            <a:r>
              <a:rPr sz="2000" b="0" i="0">
                <a:solidFill>
                  <a:srgbClr val="0F4A3D"/>
                </a:solidFill>
                <a:latin typeface="Aptos"/>
              </a:rPr>
              <a:t>A clear workflow for listing surplus food, matching recipients, and tracking collection.</a:t>
            </a:r>
          </a:p>
        </p:txBody>
      </p:sp>
      <p:sp>
        <p:nvSpPr>
          <p:cNvPr id="13" name="TextBox 12"/>
          <p:cNvSpPr txBox="1"/>
          <p:nvPr/>
        </p:nvSpPr>
        <p:spPr>
          <a:xfrm>
            <a:off x="11109960" y="6446520"/>
            <a:ext cx="50292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01</a:t>
            </a:r>
          </a:p>
        </p:txBody>
      </p:sp>
      <p:pic>
        <p:nvPicPr>
          <p:cNvPr id="14" name="Picture 13" descr="FoodLoop_Logo_Rescue_Redistribution.png"/>
          <p:cNvPicPr>
            <a:picLocks noChangeAspect="1"/>
          </p:cNvPicPr>
          <p:nvPr/>
        </p:nvPicPr>
        <p:blipFill>
          <a:blip r:embed="rId3"/>
          <a:stretch>
            <a:fillRect/>
          </a:stretch>
        </p:blipFill>
        <p:spPr>
          <a:xfrm>
            <a:off x="914400" y="594360"/>
            <a:ext cx="5486400" cy="150876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Abstract</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2</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TextBox 6"/>
          <p:cNvSpPr txBox="1"/>
          <p:nvPr/>
        </p:nvSpPr>
        <p:spPr>
          <a:xfrm>
            <a:off x="713232" y="1417320"/>
            <a:ext cx="10789920" cy="4480560"/>
          </a:xfrm>
          <a:prstGeom prst="rect">
            <a:avLst/>
          </a:prstGeom>
          <a:noFill/>
        </p:spPr>
        <p:txBody>
          <a:bodyPr wrap="square" lIns="73152" rIns="73152" tIns="73152" bIns="73152" anchor="t">
            <a:spAutoFit/>
          </a:bodyPr>
          <a:lstStyle/>
          <a:p>
            <a:pPr algn="l">
              <a:spcAft>
                <a:spcPts val="0"/>
              </a:spcAft>
            </a:pPr>
            <a:r>
              <a:rPr sz="2000" b="0" i="0">
                <a:solidFill>
                  <a:srgbClr val="162E2A"/>
                </a:solidFill>
                <a:latin typeface="Aptos"/>
              </a:rPr>
              <a:t>FoodLoop is a web-based surplus-food rescue and redistribution concept designed to make it easier for donors to share available food with recipient organisations that can use it. A donor can create a listing with the food category, quantity, pickup location, availability and collection deadline. Recipient organisations can review the available listings and compare them with their needs and pickup capacity. The system can then apply clear, rule-based checks to prioritise suitable donations using factors such as urgency, recipient fit and collection feasibility, while showing the main reasons behind a recommendation. After a recipient reserves a donation, the donor and recipient can confirm collection details and update the pickup outcome. These records can support a simple dashboard of completed, pending, cancelled and missed collections. FoodLoop’s aim is to connect listing, matching, reservation and collection tracking in one understandable workflow; cloud storage, authentication and live notifications should only be described as working features after they have been configured and tested.</a:t>
            </a:r>
          </a:p>
        </p:txBody>
      </p:sp>
      <p:sp>
        <p:nvSpPr>
          <p:cNvPr id="8" name="TextBox 7"/>
          <p:cNvSpPr txBox="1"/>
          <p:nvPr/>
        </p:nvSpPr>
        <p:spPr>
          <a:xfrm>
            <a:off x="749808" y="5879592"/>
            <a:ext cx="10652760" cy="384048"/>
          </a:xfrm>
          <a:prstGeom prst="rect">
            <a:avLst/>
          </a:prstGeom>
          <a:noFill/>
        </p:spPr>
        <p:txBody>
          <a:bodyPr wrap="square" lIns="18288" rIns="18288" tIns="18288" bIns="18288" anchor="t">
            <a:spAutoFit/>
          </a:bodyPr>
          <a:lstStyle/>
          <a:p>
            <a:pPr algn="l">
              <a:spcAft>
                <a:spcPts val="0"/>
              </a:spcAft>
            </a:pPr>
            <a:r>
              <a:rPr sz="1200" b="0" i="1">
                <a:solidFill>
                  <a:srgbClr val="4C5B59"/>
                </a:solidFill>
                <a:latin typeface="Aptos"/>
              </a:rPr>
              <a:t>Project scope: a clear donation-to-collection workflow; deployment and data persistence must be verified separately.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Problem Statement</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3</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TextBox 6"/>
          <p:cNvSpPr txBox="1"/>
          <p:nvPr/>
        </p:nvSpPr>
        <p:spPr>
          <a:xfrm>
            <a:off x="749808" y="1508760"/>
            <a:ext cx="10652760" cy="4434840"/>
          </a:xfrm>
          <a:prstGeom prst="rect">
            <a:avLst/>
          </a:prstGeom>
          <a:noFill/>
        </p:spPr>
        <p:txBody>
          <a:bodyPr wrap="square" lIns="73152" rIns="73152" tIns="73152" bIns="73152" anchor="t">
            <a:spAutoFit/>
          </a:bodyPr>
          <a:lstStyle/>
          <a:p>
            <a:pPr algn="l">
              <a:spcAft>
                <a:spcPts val="0"/>
              </a:spcAft>
            </a:pPr>
            <a:r>
              <a:rPr sz="2000" b="0" i="0">
                <a:solidFill>
                  <a:srgbClr val="162E2A"/>
                </a:solidFill>
                <a:latin typeface="Aptos"/>
              </a:rPr>
              <a:t>Edible surplus food can remain unused while community groups and people in need may struggle to find suitable supplies. In many donation situations, information about the food, quantity, collection location and time limit is shared through separate messages or inconsistent records. This makes it difficult for recipients to compare available donations quickly and decide which ones they can collect safely and on time. The coordination process can also become unclear when a donation needs to be reserved, when pickup arrangements change, or when a collection is cancelled or missed. Without a structured record of these events, donors and recipient organisations may find it difficult to understand the status of a donation or review the results of their work. A further challenge is that recommendations should not feel arbitrary: users need a clear explanation of why one eligible donation is prioritised over another. FoodLoop addresses this coordination problem by proposing one workflow for publishing surplus food, checking recipient suitability, prioritising listings transparently, recording reservations and tracking collection outcomes.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Project Objectives</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The main outcomes the FoodLoop concept is designed to support</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4</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713232" y="1572768"/>
            <a:ext cx="5230368" cy="1097280"/>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77824" y="1709928"/>
            <a:ext cx="438912" cy="502920"/>
          </a:xfrm>
          <a:prstGeom prst="rect">
            <a:avLst/>
          </a:prstGeom>
          <a:noFill/>
        </p:spPr>
        <p:txBody>
          <a:bodyPr wrap="none" lIns="45720" rIns="45720" anchor="ctr">
            <a:spAutoFit/>
          </a:bodyPr>
          <a:lstStyle/>
          <a:p>
            <a:pPr algn="ctr">
              <a:spcBef>
                <a:spcPts val="0"/>
              </a:spcBef>
              <a:spcAft>
                <a:spcPts val="0"/>
              </a:spcAft>
            </a:pPr>
            <a:r>
              <a:rPr sz="1900" b="1" i="0">
                <a:solidFill>
                  <a:srgbClr val="248058"/>
                </a:solidFill>
                <a:latin typeface="Aptos"/>
              </a:rPr>
              <a:t>01</a:t>
            </a:r>
          </a:p>
        </p:txBody>
      </p:sp>
      <p:sp>
        <p:nvSpPr>
          <p:cNvPr id="9" name="TextBox 8"/>
          <p:cNvSpPr txBox="1"/>
          <p:nvPr/>
        </p:nvSpPr>
        <p:spPr>
          <a:xfrm>
            <a:off x="1426464" y="1682495"/>
            <a:ext cx="4279392" cy="804672"/>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Create donation listings with category, quantity, location, and collection deadline</a:t>
            </a:r>
          </a:p>
        </p:txBody>
      </p:sp>
      <p:sp>
        <p:nvSpPr>
          <p:cNvPr id="10" name="Rounded Rectangle 9"/>
          <p:cNvSpPr/>
          <p:nvPr/>
        </p:nvSpPr>
        <p:spPr>
          <a:xfrm>
            <a:off x="6336792" y="1572768"/>
            <a:ext cx="5230368" cy="1097280"/>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01384" y="1709928"/>
            <a:ext cx="438912" cy="502920"/>
          </a:xfrm>
          <a:prstGeom prst="rect">
            <a:avLst/>
          </a:prstGeom>
          <a:noFill/>
        </p:spPr>
        <p:txBody>
          <a:bodyPr wrap="none" lIns="45720" rIns="45720" anchor="ctr">
            <a:spAutoFit/>
          </a:bodyPr>
          <a:lstStyle/>
          <a:p>
            <a:pPr algn="ctr">
              <a:spcBef>
                <a:spcPts val="0"/>
              </a:spcBef>
              <a:spcAft>
                <a:spcPts val="0"/>
              </a:spcAft>
            </a:pPr>
            <a:r>
              <a:rPr sz="1900" b="1" i="0">
                <a:solidFill>
                  <a:srgbClr val="248058"/>
                </a:solidFill>
                <a:latin typeface="Aptos"/>
              </a:rPr>
              <a:t>02</a:t>
            </a:r>
          </a:p>
        </p:txBody>
      </p:sp>
      <p:sp>
        <p:nvSpPr>
          <p:cNvPr id="12" name="TextBox 11"/>
          <p:cNvSpPr txBox="1"/>
          <p:nvPr/>
        </p:nvSpPr>
        <p:spPr>
          <a:xfrm>
            <a:off x="7050024" y="1682495"/>
            <a:ext cx="4279392" cy="804672"/>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Match available listings against recipient needs and capacity</a:t>
            </a:r>
          </a:p>
        </p:txBody>
      </p:sp>
      <p:sp>
        <p:nvSpPr>
          <p:cNvPr id="13" name="Rounded Rectangle 12"/>
          <p:cNvSpPr/>
          <p:nvPr/>
        </p:nvSpPr>
        <p:spPr>
          <a:xfrm>
            <a:off x="713232" y="2990088"/>
            <a:ext cx="5230368" cy="109728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77824" y="3127248"/>
            <a:ext cx="438912" cy="502920"/>
          </a:xfrm>
          <a:prstGeom prst="rect">
            <a:avLst/>
          </a:prstGeom>
          <a:noFill/>
        </p:spPr>
        <p:txBody>
          <a:bodyPr wrap="none" lIns="45720" rIns="45720" anchor="ctr">
            <a:spAutoFit/>
          </a:bodyPr>
          <a:lstStyle/>
          <a:p>
            <a:pPr algn="ctr">
              <a:spcBef>
                <a:spcPts val="0"/>
              </a:spcBef>
              <a:spcAft>
                <a:spcPts val="0"/>
              </a:spcAft>
            </a:pPr>
            <a:r>
              <a:rPr sz="1900" b="1" i="0">
                <a:solidFill>
                  <a:srgbClr val="248058"/>
                </a:solidFill>
                <a:latin typeface="Aptos"/>
              </a:rPr>
              <a:t>03</a:t>
            </a:r>
          </a:p>
        </p:txBody>
      </p:sp>
      <p:sp>
        <p:nvSpPr>
          <p:cNvPr id="15" name="TextBox 14"/>
          <p:cNvSpPr txBox="1"/>
          <p:nvPr/>
        </p:nvSpPr>
        <p:spPr>
          <a:xfrm>
            <a:off x="1426464" y="3099816"/>
            <a:ext cx="4279392" cy="804672"/>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Rank suitable donations using transparent urgency rules</a:t>
            </a:r>
          </a:p>
        </p:txBody>
      </p:sp>
      <p:sp>
        <p:nvSpPr>
          <p:cNvPr id="16" name="Rounded Rectangle 15"/>
          <p:cNvSpPr/>
          <p:nvPr/>
        </p:nvSpPr>
        <p:spPr>
          <a:xfrm>
            <a:off x="6336792" y="2990088"/>
            <a:ext cx="5230368" cy="109728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01384" y="3127248"/>
            <a:ext cx="438912" cy="502920"/>
          </a:xfrm>
          <a:prstGeom prst="rect">
            <a:avLst/>
          </a:prstGeom>
          <a:noFill/>
        </p:spPr>
        <p:txBody>
          <a:bodyPr wrap="none" lIns="45720" rIns="45720" anchor="ctr">
            <a:spAutoFit/>
          </a:bodyPr>
          <a:lstStyle/>
          <a:p>
            <a:pPr algn="ctr">
              <a:spcBef>
                <a:spcPts val="0"/>
              </a:spcBef>
              <a:spcAft>
                <a:spcPts val="0"/>
              </a:spcAft>
            </a:pPr>
            <a:r>
              <a:rPr sz="1900" b="1" i="0">
                <a:solidFill>
                  <a:srgbClr val="248058"/>
                </a:solidFill>
                <a:latin typeface="Aptos"/>
              </a:rPr>
              <a:t>04</a:t>
            </a:r>
          </a:p>
        </p:txBody>
      </p:sp>
      <p:sp>
        <p:nvSpPr>
          <p:cNvPr id="18" name="TextBox 17"/>
          <p:cNvSpPr txBox="1"/>
          <p:nvPr/>
        </p:nvSpPr>
        <p:spPr>
          <a:xfrm>
            <a:off x="7050024" y="3099816"/>
            <a:ext cx="4279392" cy="804672"/>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Explain why each listing is recommended</a:t>
            </a:r>
          </a:p>
        </p:txBody>
      </p:sp>
      <p:sp>
        <p:nvSpPr>
          <p:cNvPr id="19" name="Rounded Rectangle 18"/>
          <p:cNvSpPr/>
          <p:nvPr/>
        </p:nvSpPr>
        <p:spPr>
          <a:xfrm>
            <a:off x="713232" y="4407408"/>
            <a:ext cx="5230368" cy="109728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77824" y="4544568"/>
            <a:ext cx="438912" cy="502920"/>
          </a:xfrm>
          <a:prstGeom prst="rect">
            <a:avLst/>
          </a:prstGeom>
          <a:noFill/>
        </p:spPr>
        <p:txBody>
          <a:bodyPr wrap="none" lIns="45720" rIns="45720" anchor="ctr">
            <a:spAutoFit/>
          </a:bodyPr>
          <a:lstStyle/>
          <a:p>
            <a:pPr algn="ctr">
              <a:spcBef>
                <a:spcPts val="0"/>
              </a:spcBef>
              <a:spcAft>
                <a:spcPts val="0"/>
              </a:spcAft>
            </a:pPr>
            <a:r>
              <a:rPr sz="1900" b="1" i="0">
                <a:solidFill>
                  <a:srgbClr val="248058"/>
                </a:solidFill>
                <a:latin typeface="Aptos"/>
              </a:rPr>
              <a:t>05</a:t>
            </a:r>
          </a:p>
        </p:txBody>
      </p:sp>
      <p:sp>
        <p:nvSpPr>
          <p:cNvPr id="21" name="TextBox 20"/>
          <p:cNvSpPr txBox="1"/>
          <p:nvPr/>
        </p:nvSpPr>
        <p:spPr>
          <a:xfrm>
            <a:off x="1426464" y="4517136"/>
            <a:ext cx="4279392" cy="804672"/>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Track reservation, collection, cancellation, and missed pickup</a:t>
            </a:r>
          </a:p>
        </p:txBody>
      </p:sp>
      <p:sp>
        <p:nvSpPr>
          <p:cNvPr id="22" name="Rounded Rectangle 21"/>
          <p:cNvSpPr/>
          <p:nvPr/>
        </p:nvSpPr>
        <p:spPr>
          <a:xfrm>
            <a:off x="6336792" y="4407408"/>
            <a:ext cx="5230368" cy="109728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501384" y="4544568"/>
            <a:ext cx="438912" cy="502920"/>
          </a:xfrm>
          <a:prstGeom prst="rect">
            <a:avLst/>
          </a:prstGeom>
          <a:noFill/>
        </p:spPr>
        <p:txBody>
          <a:bodyPr wrap="none" lIns="45720" rIns="45720" anchor="ctr">
            <a:spAutoFit/>
          </a:bodyPr>
          <a:lstStyle/>
          <a:p>
            <a:pPr algn="ctr">
              <a:spcBef>
                <a:spcPts val="0"/>
              </a:spcBef>
              <a:spcAft>
                <a:spcPts val="0"/>
              </a:spcAft>
            </a:pPr>
            <a:r>
              <a:rPr sz="1900" b="1" i="0">
                <a:solidFill>
                  <a:srgbClr val="248058"/>
                </a:solidFill>
                <a:latin typeface="Aptos"/>
              </a:rPr>
              <a:t>06</a:t>
            </a:r>
          </a:p>
        </p:txBody>
      </p:sp>
      <p:sp>
        <p:nvSpPr>
          <p:cNvPr id="24" name="TextBox 23"/>
          <p:cNvSpPr txBox="1"/>
          <p:nvPr/>
        </p:nvSpPr>
        <p:spPr>
          <a:xfrm>
            <a:off x="7050024" y="4517136"/>
            <a:ext cx="4279392" cy="804672"/>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Summarise activity and outcomes from recorded data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Literature Survey</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5</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TextBox 6"/>
          <p:cNvSpPr txBox="1"/>
          <p:nvPr/>
        </p:nvSpPr>
        <p:spPr>
          <a:xfrm>
            <a:off x="658368" y="987552"/>
            <a:ext cx="10881360" cy="292608"/>
          </a:xfrm>
          <a:prstGeom prst="rect">
            <a:avLst/>
          </a:prstGeom>
          <a:noFill/>
        </p:spPr>
        <p:txBody>
          <a:bodyPr wrap="square" lIns="18288" rIns="18288" tIns="18288" bIns="18288" anchor="t">
            <a:spAutoFit/>
          </a:bodyPr>
          <a:lstStyle/>
          <a:p>
            <a:pPr algn="l">
              <a:spcAft>
                <a:spcPts val="0"/>
              </a:spcAft>
            </a:pPr>
            <a:r>
              <a:rPr sz="1300" b="0" i="0">
                <a:solidFill>
                  <a:srgbClr val="4C5B59"/>
                </a:solidFill>
                <a:latin typeface="Aptos"/>
              </a:rPr>
              <a:t>Selected published studies relevant to food redistribution, digital platforms and collection logistics</a:t>
            </a:r>
          </a:p>
        </p:txBody>
      </p:sp>
      <p:graphicFrame>
        <p:nvGraphicFramePr>
          <p:cNvPr id="8" name="Table 7"/>
          <p:cNvGraphicFramePr>
            <a:graphicFrameLocks noGrp="1"/>
          </p:cNvGraphicFramePr>
          <p:nvPr/>
        </p:nvGraphicFramePr>
        <p:xfrm>
          <a:off x="621792" y="1417320"/>
          <a:ext cx="10954512" cy="4535424"/>
        </p:xfrm>
        <a:graphic>
          <a:graphicData uri="http://schemas.openxmlformats.org/drawingml/2006/table">
            <a:tbl>
              <a:tblPr firstRow="1" bandRow="1">
                <a:tableStyleId>{5C22544A-7EE6-4342-B048-85BDC9FD1C3A}</a:tableStyleId>
              </a:tblPr>
              <a:tblGrid>
                <a:gridCol w="2852928"/>
                <a:gridCol w="1965960"/>
                <a:gridCol w="3246120"/>
                <a:gridCol w="2889504"/>
              </a:tblGrid>
              <a:tr h="512064">
                <a:tc>
                  <a:txBody>
                    <a:bodyPr/>
                    <a:lstStyle/>
                    <a:p>
                      <a:pPr algn="l">
                        <a:spcBef>
                          <a:spcPts val="0"/>
                        </a:spcBef>
                        <a:spcAft>
                          <a:spcPts val="0"/>
                        </a:spcAft>
                        <a:defRPr sz="1200" b="1">
                          <a:solidFill>
                            <a:srgbClr val="FFFFFF"/>
                          </a:solidFill>
                          <a:latin typeface="Aptos"/>
                        </a:defRPr>
                      </a:pPr>
                      <a:r>
                        <a:t>Paper / Study</a:t>
                      </a:r>
                    </a:p>
                  </a:txBody>
                  <a:tcPr marL="82296" marR="73152" marT="45720" marB="36576" anchor="ctr">
                    <a:solidFill>
                      <a:srgbClr val="0B5B45"/>
                    </a:solidFill>
                  </a:tcPr>
                </a:tc>
                <a:tc>
                  <a:txBody>
                    <a:bodyPr/>
                    <a:lstStyle/>
                    <a:p>
                      <a:pPr algn="l">
                        <a:spcBef>
                          <a:spcPts val="0"/>
                        </a:spcBef>
                        <a:spcAft>
                          <a:spcPts val="0"/>
                        </a:spcAft>
                        <a:defRPr sz="1200" b="1">
                          <a:solidFill>
                            <a:srgbClr val="FFFFFF"/>
                          </a:solidFill>
                          <a:latin typeface="Aptos"/>
                        </a:defRPr>
                      </a:pPr>
                      <a:r>
                        <a:t>Year &amp; Journal</a:t>
                      </a:r>
                    </a:p>
                  </a:txBody>
                  <a:tcPr marL="82296" marR="73152" marT="45720" marB="36576" anchor="ctr">
                    <a:solidFill>
                      <a:srgbClr val="0B5B45"/>
                    </a:solidFill>
                  </a:tcPr>
                </a:tc>
                <a:tc>
                  <a:txBody>
                    <a:bodyPr/>
                    <a:lstStyle/>
                    <a:p>
                      <a:pPr algn="l">
                        <a:spcBef>
                          <a:spcPts val="0"/>
                        </a:spcBef>
                        <a:spcAft>
                          <a:spcPts val="0"/>
                        </a:spcAft>
                        <a:defRPr sz="1200" b="1">
                          <a:solidFill>
                            <a:srgbClr val="FFFFFF"/>
                          </a:solidFill>
                          <a:latin typeface="Aptos"/>
                        </a:defRPr>
                      </a:pPr>
                      <a:r>
                        <a:t>Approach / Main Contribution</a:t>
                      </a:r>
                    </a:p>
                  </a:txBody>
                  <a:tcPr marL="82296" marR="73152" marT="45720" marB="36576" anchor="ctr">
                    <a:solidFill>
                      <a:srgbClr val="0B5B45"/>
                    </a:solidFill>
                  </a:tcPr>
                </a:tc>
                <a:tc>
                  <a:txBody>
                    <a:bodyPr/>
                    <a:lstStyle/>
                    <a:p>
                      <a:pPr algn="l">
                        <a:spcBef>
                          <a:spcPts val="0"/>
                        </a:spcBef>
                        <a:spcAft>
                          <a:spcPts val="0"/>
                        </a:spcAft>
                        <a:defRPr sz="1200" b="1">
                          <a:solidFill>
                            <a:srgbClr val="FFFFFF"/>
                          </a:solidFill>
                          <a:latin typeface="Aptos"/>
                        </a:defRPr>
                      </a:pPr>
                      <a:r>
                        <a:t>Relevance to FoodLoop</a:t>
                      </a:r>
                    </a:p>
                  </a:txBody>
                  <a:tcPr marL="82296" marR="73152" marT="45720" marB="36576" anchor="ctr">
                    <a:solidFill>
                      <a:srgbClr val="0B5B45"/>
                    </a:solidFill>
                  </a:tcPr>
                </a:tc>
              </a:tr>
              <a:tr h="1005840">
                <a:tc>
                  <a:txBody>
                    <a:bodyPr/>
                    <a:lstStyle/>
                    <a:p>
                      <a:pPr algn="l">
                        <a:spcBef>
                          <a:spcPts val="0"/>
                        </a:spcBef>
                        <a:spcAft>
                          <a:spcPts val="0"/>
                        </a:spcAft>
                        <a:defRPr sz="1100" b="0">
                          <a:solidFill>
                            <a:srgbClr val="162E2A"/>
                          </a:solidFill>
                          <a:latin typeface="Aptos"/>
                        </a:defRPr>
                      </a:pPr>
                      <a:r>
                        <a:t>Oroski &amp; da Silva — “Understanding food waste-reducing platforms: A mini-review”</a:t>
                      </a:r>
                    </a:p>
                  </a:txBody>
                  <a:tcPr marL="82296" marR="73152" marT="45720" marB="36576" anchor="t">
                    <a:solidFill>
                      <a:srgbClr val="F1F7F3"/>
                    </a:solidFill>
                  </a:tcPr>
                </a:tc>
                <a:tc>
                  <a:txBody>
                    <a:bodyPr/>
                    <a:lstStyle/>
                    <a:p>
                      <a:pPr algn="l">
                        <a:spcBef>
                          <a:spcPts val="0"/>
                        </a:spcBef>
                        <a:spcAft>
                          <a:spcPts val="0"/>
                        </a:spcAft>
                        <a:defRPr sz="1100" b="0">
                          <a:solidFill>
                            <a:srgbClr val="162E2A"/>
                          </a:solidFill>
                          <a:latin typeface="Aptos"/>
                        </a:defRPr>
                      </a:pPr>
                      <a:r>
                        <a:t>2023</a:t>
                      </a:r>
                    </a:p>
                    <a:p>
                      <a:pPr algn="l">
                        <a:spcBef>
                          <a:spcPts val="0"/>
                        </a:spcBef>
                        <a:spcAft>
                          <a:spcPts val="0"/>
                        </a:spcAft>
                        <a:defRPr sz="1100" b="0">
                          <a:solidFill>
                            <a:srgbClr val="162E2A"/>
                          </a:solidFill>
                          <a:latin typeface="Aptos"/>
                        </a:defRPr>
                      </a:pPr>
                      <a:r>
                        <a:t>Waste Management &amp; Research, 41(4), 816–827</a:t>
                      </a:r>
                    </a:p>
                  </a:txBody>
                  <a:tcPr marL="82296" marR="73152" marT="45720" marB="36576" anchor="t">
                    <a:solidFill>
                      <a:srgbClr val="F1F7F3"/>
                    </a:solidFill>
                  </a:tcPr>
                </a:tc>
                <a:tc>
                  <a:txBody>
                    <a:bodyPr/>
                    <a:lstStyle/>
                    <a:p>
                      <a:pPr algn="l">
                        <a:spcBef>
                          <a:spcPts val="0"/>
                        </a:spcBef>
                        <a:spcAft>
                          <a:spcPts val="0"/>
                        </a:spcAft>
                        <a:defRPr sz="1100" b="0">
                          <a:solidFill>
                            <a:srgbClr val="162E2A"/>
                          </a:solidFill>
                          <a:latin typeface="Aptos"/>
                        </a:defRPr>
                      </a:pPr>
                      <a:r>
                        <a:t>Reviews digital food-waste-reducing platforms and how they connect surplus supply with demand.</a:t>
                      </a:r>
                    </a:p>
                  </a:txBody>
                  <a:tcPr marL="82296" marR="73152" marT="45720" marB="36576" anchor="t">
                    <a:solidFill>
                      <a:srgbClr val="F1F7F3"/>
                    </a:solidFill>
                  </a:tcPr>
                </a:tc>
                <a:tc>
                  <a:txBody>
                    <a:bodyPr/>
                    <a:lstStyle/>
                    <a:p>
                      <a:pPr algn="l">
                        <a:spcBef>
                          <a:spcPts val="0"/>
                        </a:spcBef>
                        <a:spcAft>
                          <a:spcPts val="0"/>
                        </a:spcAft>
                        <a:defRPr sz="1100" b="0">
                          <a:solidFill>
                            <a:srgbClr val="162E2A"/>
                          </a:solidFill>
                          <a:latin typeface="Aptos"/>
                        </a:defRPr>
                      </a:pPr>
                      <a:r>
                        <a:t>Supports the use of a digital listing and donor–recipient connection workflow.</a:t>
                      </a:r>
                    </a:p>
                  </a:txBody>
                  <a:tcPr marL="82296" marR="73152" marT="45720" marB="36576" anchor="t">
                    <a:solidFill>
                      <a:srgbClr val="F1F7F3"/>
                    </a:solidFill>
                  </a:tcPr>
                </a:tc>
              </a:tr>
              <a:tr h="1005840">
                <a:tc>
                  <a:txBody>
                    <a:bodyPr/>
                    <a:lstStyle/>
                    <a:p>
                      <a:pPr algn="l">
                        <a:spcBef>
                          <a:spcPts val="0"/>
                        </a:spcBef>
                        <a:spcAft>
                          <a:spcPts val="0"/>
                        </a:spcAft>
                        <a:defRPr sz="1100" b="0">
                          <a:solidFill>
                            <a:srgbClr val="162E2A"/>
                          </a:solidFill>
                          <a:latin typeface="Aptos"/>
                        </a:defRPr>
                      </a:pPr>
                      <a:r>
                        <a:t>Orgut, Ivy, Uzsoy &amp; Hale — “Robust optimization approaches for the equitable and effective distribution of donated food”</a:t>
                      </a:r>
                    </a:p>
                  </a:txBody>
                  <a:tcPr marL="82296" marR="73152" marT="45720" marB="36576" anchor="t">
                    <a:solidFill>
                      <a:srgbClr val="FFFFFF"/>
                    </a:solidFill>
                  </a:tcPr>
                </a:tc>
                <a:tc>
                  <a:txBody>
                    <a:bodyPr/>
                    <a:lstStyle/>
                    <a:p>
                      <a:pPr algn="l">
                        <a:spcBef>
                          <a:spcPts val="0"/>
                        </a:spcBef>
                        <a:spcAft>
                          <a:spcPts val="0"/>
                        </a:spcAft>
                        <a:defRPr sz="1100" b="0">
                          <a:solidFill>
                            <a:srgbClr val="162E2A"/>
                          </a:solidFill>
                          <a:latin typeface="Aptos"/>
                        </a:defRPr>
                      </a:pPr>
                      <a:r>
                        <a:t>2018</a:t>
                      </a:r>
                    </a:p>
                    <a:p>
                      <a:pPr algn="l">
                        <a:spcBef>
                          <a:spcPts val="0"/>
                        </a:spcBef>
                        <a:spcAft>
                          <a:spcPts val="0"/>
                        </a:spcAft>
                        <a:defRPr sz="1100" b="0">
                          <a:solidFill>
                            <a:srgbClr val="162E2A"/>
                          </a:solidFill>
                          <a:latin typeface="Aptos"/>
                        </a:defRPr>
                      </a:pPr>
                      <a:r>
                        <a:t>European Journal of Operational Research, 269(2), 516–531</a:t>
                      </a:r>
                    </a:p>
                  </a:txBody>
                  <a:tcPr marL="82296" marR="73152" marT="45720" marB="36576" anchor="t">
                    <a:solidFill>
                      <a:srgbClr val="FFFFFF"/>
                    </a:solidFill>
                  </a:tcPr>
                </a:tc>
                <a:tc>
                  <a:txBody>
                    <a:bodyPr/>
                    <a:lstStyle/>
                    <a:p>
                      <a:pPr algn="l">
                        <a:spcBef>
                          <a:spcPts val="0"/>
                        </a:spcBef>
                        <a:spcAft>
                          <a:spcPts val="0"/>
                        </a:spcAft>
                        <a:defRPr sz="1100" b="0">
                          <a:solidFill>
                            <a:srgbClr val="162E2A"/>
                          </a:solidFill>
                          <a:latin typeface="Aptos"/>
                        </a:defRPr>
                      </a:pPr>
                      <a:r>
                        <a:t>Develops optimization approaches for fair and effective food-donation distribution under uncertainty.</a:t>
                      </a:r>
                    </a:p>
                  </a:txBody>
                  <a:tcPr marL="82296" marR="73152" marT="45720" marB="36576" anchor="t">
                    <a:solidFill>
                      <a:srgbClr val="FFFFFF"/>
                    </a:solidFill>
                  </a:tcPr>
                </a:tc>
                <a:tc>
                  <a:txBody>
                    <a:bodyPr/>
                    <a:lstStyle/>
                    <a:p>
                      <a:pPr algn="l">
                        <a:spcBef>
                          <a:spcPts val="0"/>
                        </a:spcBef>
                        <a:spcAft>
                          <a:spcPts val="0"/>
                        </a:spcAft>
                        <a:defRPr sz="1100" b="0">
                          <a:solidFill>
                            <a:srgbClr val="162E2A"/>
                          </a:solidFill>
                          <a:latin typeface="Aptos"/>
                        </a:defRPr>
                      </a:pPr>
                      <a:r>
                        <a:t>Highlights the importance of recipient capacity and fair allocation; FoodLoop uses simpler prototype rules.</a:t>
                      </a:r>
                    </a:p>
                  </a:txBody>
                  <a:tcPr marL="82296" marR="73152" marT="45720" marB="36576" anchor="t">
                    <a:solidFill>
                      <a:srgbClr val="FFFFFF"/>
                    </a:solidFill>
                  </a:tcPr>
                </a:tc>
              </a:tr>
              <a:tr h="1005840">
                <a:tc>
                  <a:txBody>
                    <a:bodyPr/>
                    <a:lstStyle/>
                    <a:p>
                      <a:pPr algn="l">
                        <a:spcBef>
                          <a:spcPts val="0"/>
                        </a:spcBef>
                        <a:spcAft>
                          <a:spcPts val="0"/>
                        </a:spcAft>
                        <a:defRPr sz="1100" b="0">
                          <a:solidFill>
                            <a:srgbClr val="162E2A"/>
                          </a:solidFill>
                          <a:latin typeface="Aptos"/>
                        </a:defRPr>
                      </a:pPr>
                      <a:r>
                        <a:t>Dubey &amp; Tanksale — “A multi-depot vehicle routing problem with time windows, split pickup and split delivery for surplus food recovery and redistribution”</a:t>
                      </a:r>
                    </a:p>
                  </a:txBody>
                  <a:tcPr marL="82296" marR="73152" marT="45720" marB="36576" anchor="t">
                    <a:solidFill>
                      <a:srgbClr val="F1F7F3"/>
                    </a:solidFill>
                  </a:tcPr>
                </a:tc>
                <a:tc>
                  <a:txBody>
                    <a:bodyPr/>
                    <a:lstStyle/>
                    <a:p>
                      <a:pPr algn="l">
                        <a:spcBef>
                          <a:spcPts val="0"/>
                        </a:spcBef>
                        <a:spcAft>
                          <a:spcPts val="0"/>
                        </a:spcAft>
                        <a:defRPr sz="1100" b="0">
                          <a:solidFill>
                            <a:srgbClr val="162E2A"/>
                          </a:solidFill>
                          <a:latin typeface="Aptos"/>
                        </a:defRPr>
                      </a:pPr>
                      <a:r>
                        <a:t>2023</a:t>
                      </a:r>
                    </a:p>
                    <a:p>
                      <a:pPr algn="l">
                        <a:spcBef>
                          <a:spcPts val="0"/>
                        </a:spcBef>
                        <a:spcAft>
                          <a:spcPts val="0"/>
                        </a:spcAft>
                        <a:defRPr sz="1100" b="0">
                          <a:solidFill>
                            <a:srgbClr val="162E2A"/>
                          </a:solidFill>
                          <a:latin typeface="Aptos"/>
                        </a:defRPr>
                      </a:pPr>
                      <a:r>
                        <a:t>Expert Systems with Applications, DOI: 10.1016/j.eswa.2023.120807</a:t>
                      </a:r>
                    </a:p>
                  </a:txBody>
                  <a:tcPr marL="82296" marR="73152" marT="45720" marB="36576" anchor="t">
                    <a:solidFill>
                      <a:srgbClr val="F1F7F3"/>
                    </a:solidFill>
                  </a:tcPr>
                </a:tc>
                <a:tc>
                  <a:txBody>
                    <a:bodyPr/>
                    <a:lstStyle/>
                    <a:p>
                      <a:pPr algn="l">
                        <a:spcBef>
                          <a:spcPts val="0"/>
                        </a:spcBef>
                        <a:spcAft>
                          <a:spcPts val="0"/>
                        </a:spcAft>
                        <a:defRPr sz="1100" b="0">
                          <a:solidFill>
                            <a:srgbClr val="162E2A"/>
                          </a:solidFill>
                          <a:latin typeface="Aptos"/>
                        </a:defRPr>
                      </a:pPr>
                      <a:r>
                        <a:t>Models surplus-food pickup and redistribution with vehicle capacity and time-window constraints.</a:t>
                      </a:r>
                    </a:p>
                  </a:txBody>
                  <a:tcPr marL="82296" marR="73152" marT="45720" marB="36576" anchor="t">
                    <a:solidFill>
                      <a:srgbClr val="F1F7F3"/>
                    </a:solidFill>
                  </a:tcPr>
                </a:tc>
                <a:tc>
                  <a:txBody>
                    <a:bodyPr/>
                    <a:lstStyle/>
                    <a:p>
                      <a:pPr algn="l">
                        <a:spcBef>
                          <a:spcPts val="0"/>
                        </a:spcBef>
                        <a:spcAft>
                          <a:spcPts val="0"/>
                        </a:spcAft>
                        <a:defRPr sz="1100" b="0">
                          <a:solidFill>
                            <a:srgbClr val="162E2A"/>
                          </a:solidFill>
                          <a:latin typeface="Aptos"/>
                        </a:defRPr>
                      </a:pPr>
                      <a:r>
                        <a:t>Shows why collection deadlines and feasibility matter; full route optimization is outside the current scope.</a:t>
                      </a:r>
                    </a:p>
                  </a:txBody>
                  <a:tcPr marL="82296" marR="73152" marT="45720" marB="36576" anchor="t">
                    <a:solidFill>
                      <a:srgbClr val="F1F7F3"/>
                    </a:solidFill>
                  </a:tcPr>
                </a:tc>
              </a:tr>
              <a:tr h="1005840">
                <a:tc>
                  <a:txBody>
                    <a:bodyPr/>
                    <a:lstStyle/>
                    <a:p>
                      <a:pPr algn="l">
                        <a:spcBef>
                          <a:spcPts val="0"/>
                        </a:spcBef>
                        <a:spcAft>
                          <a:spcPts val="0"/>
                        </a:spcAft>
                        <a:defRPr sz="1100" b="0">
                          <a:solidFill>
                            <a:srgbClr val="162E2A"/>
                          </a:solidFill>
                          <a:latin typeface="Aptos"/>
                        </a:defRPr>
                      </a:pPr>
                      <a:r>
                        <a:t>“From Waste to Worth: Enhancing Access to Edible Surplus Food Using a Mobile App for Better Distribution”</a:t>
                      </a:r>
                    </a:p>
                  </a:txBody>
                  <a:tcPr marL="82296" marR="73152" marT="45720" marB="36576" anchor="t">
                    <a:solidFill>
                      <a:srgbClr val="FFFFFF"/>
                    </a:solidFill>
                  </a:tcPr>
                </a:tc>
                <a:tc>
                  <a:txBody>
                    <a:bodyPr/>
                    <a:lstStyle/>
                    <a:p>
                      <a:pPr algn="l">
                        <a:spcBef>
                          <a:spcPts val="0"/>
                        </a:spcBef>
                        <a:spcAft>
                          <a:spcPts val="0"/>
                        </a:spcAft>
                        <a:defRPr sz="1100" b="0">
                          <a:solidFill>
                            <a:srgbClr val="162E2A"/>
                          </a:solidFill>
                          <a:latin typeface="Aptos"/>
                        </a:defRPr>
                      </a:pPr>
                      <a:r>
                        <a:t>2025</a:t>
                      </a:r>
                    </a:p>
                    <a:p>
                      <a:pPr algn="l">
                        <a:spcBef>
                          <a:spcPts val="0"/>
                        </a:spcBef>
                        <a:spcAft>
                          <a:spcPts val="0"/>
                        </a:spcAft>
                        <a:defRPr sz="1100" b="0">
                          <a:solidFill>
                            <a:srgbClr val="162E2A"/>
                          </a:solidFill>
                          <a:latin typeface="Aptos"/>
                        </a:defRPr>
                      </a:pPr>
                      <a:r>
                        <a:t>Procedia Computer Science, 269, 749–761</a:t>
                      </a:r>
                    </a:p>
                  </a:txBody>
                  <a:tcPr marL="82296" marR="73152" marT="45720" marB="36576" anchor="t">
                    <a:solidFill>
                      <a:srgbClr val="FFFFFF"/>
                    </a:solidFill>
                  </a:tcPr>
                </a:tc>
                <a:tc>
                  <a:txBody>
                    <a:bodyPr/>
                    <a:lstStyle/>
                    <a:p>
                      <a:pPr algn="l">
                        <a:spcBef>
                          <a:spcPts val="0"/>
                        </a:spcBef>
                        <a:spcAft>
                          <a:spcPts val="0"/>
                        </a:spcAft>
                        <a:defRPr sz="1100" b="0">
                          <a:solidFill>
                            <a:srgbClr val="162E2A"/>
                          </a:solidFill>
                          <a:latin typeface="Aptos"/>
                        </a:defRPr>
                      </a:pPr>
                      <a:r>
                        <a:t>Describes a mobile application concept using listings, pickup scheduling and geolocation to support redistribution.</a:t>
                      </a:r>
                    </a:p>
                  </a:txBody>
                  <a:tcPr marL="82296" marR="73152" marT="45720" marB="36576" anchor="t">
                    <a:solidFill>
                      <a:srgbClr val="FFFFFF"/>
                    </a:solidFill>
                  </a:tcPr>
                </a:tc>
                <a:tc>
                  <a:txBody>
                    <a:bodyPr/>
                    <a:lstStyle/>
                    <a:p>
                      <a:pPr algn="l">
                        <a:spcBef>
                          <a:spcPts val="0"/>
                        </a:spcBef>
                        <a:spcAft>
                          <a:spcPts val="0"/>
                        </a:spcAft>
                        <a:defRPr sz="1100" b="0">
                          <a:solidFill>
                            <a:srgbClr val="162E2A"/>
                          </a:solidFill>
                          <a:latin typeface="Aptos"/>
                        </a:defRPr>
                      </a:pPr>
                      <a:r>
                        <a:t>Relates to digital access and pickup coordination; FoodLoop should validate its own workflow with users.</a:t>
                      </a:r>
                    </a:p>
                  </a:txBody>
                  <a:tcPr marL="82296" marR="73152" marT="45720" marB="36576" anchor="t">
                    <a:solidFill>
                      <a:srgbClr val="FFFFFF"/>
                    </a:solidFill>
                  </a:tcPr>
                </a:tc>
              </a:tr>
            </a:tbl>
          </a:graphicData>
        </a:graphic>
      </p:graphicFrame>
      <p:sp>
        <p:nvSpPr>
          <p:cNvPr id="9" name="TextBox 8"/>
          <p:cNvSpPr txBox="1"/>
          <p:nvPr/>
        </p:nvSpPr>
        <p:spPr>
          <a:xfrm>
            <a:off x="694944" y="6007608"/>
            <a:ext cx="10835640" cy="320040"/>
          </a:xfrm>
          <a:prstGeom prst="rect">
            <a:avLst/>
          </a:prstGeom>
          <a:noFill/>
        </p:spPr>
        <p:txBody>
          <a:bodyPr wrap="square" lIns="18288" rIns="18288" tIns="18288" bIns="18288" anchor="t">
            <a:spAutoFit/>
          </a:bodyPr>
          <a:lstStyle/>
          <a:p>
            <a:pPr algn="l">
              <a:spcAft>
                <a:spcPts val="0"/>
              </a:spcAft>
            </a:pPr>
            <a:r>
              <a:rPr sz="1000" b="0" i="1">
                <a:solidFill>
                  <a:srgbClr val="4C5B59"/>
                </a:solidFill>
                <a:latin typeface="Aptos"/>
              </a:rPr>
              <a:t>Note: These studies inform the design; they do not prove FoodLoop’s effectiveness. Evaluate the prototype using local partner feedback and recorded test results.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Research Gap</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Comparing the workflow elements highlighted in the project</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6</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graphicFrame>
        <p:nvGraphicFramePr>
          <p:cNvPr id="7" name="Table 6"/>
          <p:cNvGraphicFramePr>
            <a:graphicFrameLocks noGrp="1"/>
          </p:cNvGraphicFramePr>
          <p:nvPr/>
        </p:nvGraphicFramePr>
        <p:xfrm>
          <a:off x="594360" y="1600200"/>
          <a:ext cx="11018520" cy="3246120"/>
        </p:xfrm>
        <a:graphic>
          <a:graphicData uri="http://schemas.openxmlformats.org/drawingml/2006/table">
            <a:tbl>
              <a:tblPr firstRow="1" bandRow="1">
                <a:tableStyleId>{5C22544A-7EE6-4342-B048-85BDC9FD1C3A}</a:tableStyleId>
              </a:tblPr>
              <a:tblGrid>
                <a:gridCol w="2057400"/>
                <a:gridCol w="1234440"/>
                <a:gridCol w="1325880"/>
                <a:gridCol w="1234440"/>
                <a:gridCol w="1645920"/>
                <a:gridCol w="1691640"/>
                <a:gridCol w="1828800"/>
              </a:tblGrid>
              <a:tr h="649224">
                <a:tc>
                  <a:txBody>
                    <a:bodyPr/>
                    <a:lstStyle/>
                    <a:p>
                      <a:pPr algn="l">
                        <a:defRPr sz="1300" b="1">
                          <a:solidFill>
                            <a:srgbClr val="FFFFFF"/>
                          </a:solidFill>
                          <a:latin typeface="Aptos"/>
                        </a:defRPr>
                      </a:pPr>
                      <a:r>
                        <a:t>Approach</a:t>
                      </a:r>
                    </a:p>
                  </a:txBody>
                  <a:tcPr marL="64008" marR="45720" marT="36576" marB="27432">
                    <a:solidFill>
                      <a:srgbClr val="0F4A3D"/>
                    </a:solidFill>
                  </a:tcPr>
                </a:tc>
                <a:tc>
                  <a:txBody>
                    <a:bodyPr/>
                    <a:lstStyle/>
                    <a:p>
                      <a:pPr algn="ctr">
                        <a:defRPr sz="1300" b="1">
                          <a:solidFill>
                            <a:srgbClr val="FFFFFF"/>
                          </a:solidFill>
                          <a:latin typeface="Aptos"/>
                        </a:defRPr>
                      </a:pPr>
                      <a:r>
                        <a:t>Listings</a:t>
                      </a:r>
                    </a:p>
                  </a:txBody>
                  <a:tcPr marL="64008" marR="45720" marT="36576" marB="27432">
                    <a:solidFill>
                      <a:srgbClr val="0F4A3D"/>
                    </a:solidFill>
                  </a:tcPr>
                </a:tc>
                <a:tc>
                  <a:txBody>
                    <a:bodyPr/>
                    <a:lstStyle/>
                    <a:p>
                      <a:pPr algn="ctr">
                        <a:defRPr sz="1300" b="1">
                          <a:solidFill>
                            <a:srgbClr val="FFFFFF"/>
                          </a:solidFill>
                          <a:latin typeface="Aptos"/>
                        </a:defRPr>
                      </a:pPr>
                      <a:r>
                        <a:t>Matching</a:t>
                      </a:r>
                    </a:p>
                  </a:txBody>
                  <a:tcPr marL="64008" marR="45720" marT="36576" marB="27432">
                    <a:solidFill>
                      <a:srgbClr val="0F4A3D"/>
                    </a:solidFill>
                  </a:tcPr>
                </a:tc>
                <a:tc>
                  <a:txBody>
                    <a:bodyPr/>
                    <a:lstStyle/>
                    <a:p>
                      <a:pPr algn="ctr">
                        <a:defRPr sz="1300" b="1">
                          <a:solidFill>
                            <a:srgbClr val="FFFFFF"/>
                          </a:solidFill>
                          <a:latin typeface="Aptos"/>
                        </a:defRPr>
                      </a:pPr>
                      <a:r>
                        <a:t>Urgency</a:t>
                      </a:r>
                    </a:p>
                  </a:txBody>
                  <a:tcPr marL="64008" marR="45720" marT="36576" marB="27432">
                    <a:solidFill>
                      <a:srgbClr val="0F4A3D"/>
                    </a:solidFill>
                  </a:tcPr>
                </a:tc>
                <a:tc>
                  <a:txBody>
                    <a:bodyPr/>
                    <a:lstStyle/>
                    <a:p>
                      <a:pPr algn="ctr">
                        <a:defRPr sz="1300" b="1">
                          <a:solidFill>
                            <a:srgbClr val="FFFFFF"/>
                          </a:solidFill>
                          <a:latin typeface="Aptos"/>
                        </a:defRPr>
                      </a:pPr>
                      <a:r>
                        <a:t>Explanation</a:t>
                      </a:r>
                    </a:p>
                  </a:txBody>
                  <a:tcPr marL="64008" marR="45720" marT="36576" marB="27432">
                    <a:solidFill>
                      <a:srgbClr val="0F4A3D"/>
                    </a:solidFill>
                  </a:tcPr>
                </a:tc>
                <a:tc>
                  <a:txBody>
                    <a:bodyPr/>
                    <a:lstStyle/>
                    <a:p>
                      <a:pPr algn="ctr">
                        <a:defRPr sz="1300" b="1">
                          <a:solidFill>
                            <a:srgbClr val="FFFFFF"/>
                          </a:solidFill>
                          <a:latin typeface="Aptos"/>
                        </a:defRPr>
                      </a:pPr>
                      <a:r>
                        <a:t>Pickup tracking</a:t>
                      </a:r>
                    </a:p>
                  </a:txBody>
                  <a:tcPr marL="64008" marR="45720" marT="36576" marB="27432">
                    <a:solidFill>
                      <a:srgbClr val="0F4A3D"/>
                    </a:solidFill>
                  </a:tcPr>
                </a:tc>
                <a:tc>
                  <a:txBody>
                    <a:bodyPr/>
                    <a:lstStyle/>
                    <a:p>
                      <a:pPr algn="ctr">
                        <a:defRPr sz="1300" b="1">
                          <a:solidFill>
                            <a:srgbClr val="FFFFFF"/>
                          </a:solidFill>
                          <a:latin typeface="Aptos"/>
                        </a:defRPr>
                      </a:pPr>
                      <a:r>
                        <a:t>Recurring analytics</a:t>
                      </a:r>
                    </a:p>
                  </a:txBody>
                  <a:tcPr marL="64008" marR="45720" marT="36576" marB="27432">
                    <a:solidFill>
                      <a:srgbClr val="0F4A3D"/>
                    </a:solidFill>
                  </a:tcPr>
                </a:tc>
              </a:tr>
              <a:tr h="649224">
                <a:tc>
                  <a:txBody>
                    <a:bodyPr/>
                    <a:lstStyle/>
                    <a:p>
                      <a:pPr algn="l">
                        <a:defRPr sz="1500" b="0">
                          <a:solidFill>
                            <a:srgbClr val="203330"/>
                          </a:solidFill>
                          <a:latin typeface="Aptos"/>
                        </a:defRPr>
                      </a:pPr>
                      <a:r>
                        <a:t>Manual coordination</a:t>
                      </a:r>
                    </a:p>
                  </a:txBody>
                  <a:tcPr marL="64008" marR="45720" marT="36576" marB="27432">
                    <a:solidFill>
                      <a:srgbClr val="FFFFFF"/>
                    </a:solidFill>
                  </a:tcPr>
                </a:tc>
                <a:tc>
                  <a:txBody>
                    <a:bodyPr/>
                    <a:lstStyle/>
                    <a:p>
                      <a:pPr algn="ctr">
                        <a:defRPr sz="1500" b="0">
                          <a:solidFill>
                            <a:srgbClr val="203330"/>
                          </a:solidFill>
                          <a:latin typeface="Aptos"/>
                        </a:defRPr>
                      </a:pPr>
                      <a:r>
                        <a:t>Limited</a:t>
                      </a:r>
                    </a:p>
                  </a:txBody>
                  <a:tcPr marL="64008" marR="45720" marT="36576" marB="27432">
                    <a:solidFill>
                      <a:srgbClr val="FFFFFF"/>
                    </a:solidFill>
                  </a:tcPr>
                </a:tc>
                <a:tc>
                  <a:txBody>
                    <a:bodyPr/>
                    <a:lstStyle/>
                    <a:p>
                      <a:pPr algn="ctr">
                        <a:defRPr sz="1500" b="0">
                          <a:solidFill>
                            <a:srgbClr val="203330"/>
                          </a:solidFill>
                          <a:latin typeface="Aptos"/>
                        </a:defRPr>
                      </a:pPr>
                      <a:r>
                        <a:t>Manual</a:t>
                      </a:r>
                    </a:p>
                  </a:txBody>
                  <a:tcPr marL="64008" marR="45720" marT="36576" marB="27432">
                    <a:solidFill>
                      <a:srgbClr val="FFFFFF"/>
                    </a:solidFill>
                  </a:tcPr>
                </a:tc>
                <a:tc>
                  <a:txBody>
                    <a:bodyPr/>
                    <a:lstStyle/>
                    <a:p>
                      <a:pPr algn="ctr">
                        <a:defRPr sz="1500" b="0">
                          <a:solidFill>
                            <a:srgbClr val="203330"/>
                          </a:solidFill>
                          <a:latin typeface="Aptos"/>
                        </a:defRPr>
                      </a:pPr>
                      <a:r>
                        <a:t>Varies</a:t>
                      </a:r>
                    </a:p>
                  </a:txBody>
                  <a:tcPr marL="64008" marR="45720" marT="36576" marB="27432">
                    <a:solidFill>
                      <a:srgbClr val="FFFFFF"/>
                    </a:solidFill>
                  </a:tcPr>
                </a:tc>
                <a:tc>
                  <a:txBody>
                    <a:bodyPr/>
                    <a:lstStyle/>
                    <a:p>
                      <a:pPr algn="ctr">
                        <a:defRPr sz="1500" b="0">
                          <a:solidFill>
                            <a:srgbClr val="203330"/>
                          </a:solidFill>
                          <a:latin typeface="Aptos"/>
                        </a:defRPr>
                      </a:pPr>
                      <a:r>
                        <a:t>—</a:t>
                      </a:r>
                    </a:p>
                  </a:txBody>
                  <a:tcPr marL="64008" marR="45720" marT="36576" marB="27432">
                    <a:solidFill>
                      <a:srgbClr val="FFFFFF"/>
                    </a:solidFill>
                  </a:tcPr>
                </a:tc>
                <a:tc>
                  <a:txBody>
                    <a:bodyPr/>
                    <a:lstStyle/>
                    <a:p>
                      <a:pPr algn="ctr">
                        <a:defRPr sz="1500" b="0">
                          <a:solidFill>
                            <a:srgbClr val="203330"/>
                          </a:solidFill>
                          <a:latin typeface="Aptos"/>
                        </a:defRPr>
                      </a:pPr>
                      <a:r>
                        <a:t>Limited</a:t>
                      </a:r>
                    </a:p>
                  </a:txBody>
                  <a:tcPr marL="64008" marR="45720" marT="36576" marB="27432">
                    <a:solidFill>
                      <a:srgbClr val="FFFFFF"/>
                    </a:solidFill>
                  </a:tcPr>
                </a:tc>
                <a:tc>
                  <a:txBody>
                    <a:bodyPr/>
                    <a:lstStyle/>
                    <a:p>
                      <a:pPr algn="ctr">
                        <a:defRPr sz="1500" b="0">
                          <a:solidFill>
                            <a:srgbClr val="203330"/>
                          </a:solidFill>
                          <a:latin typeface="Aptos"/>
                        </a:defRPr>
                      </a:pPr>
                      <a:r>
                        <a:t>—</a:t>
                      </a:r>
                    </a:p>
                  </a:txBody>
                  <a:tcPr marL="64008" marR="45720" marT="36576" marB="27432">
                    <a:solidFill>
                      <a:srgbClr val="FFFFFF"/>
                    </a:solidFill>
                  </a:tcPr>
                </a:tc>
              </a:tr>
              <a:tr h="649224">
                <a:tc>
                  <a:txBody>
                    <a:bodyPr/>
                    <a:lstStyle/>
                    <a:p>
                      <a:pPr algn="l">
                        <a:defRPr sz="1500" b="0">
                          <a:solidFill>
                            <a:srgbClr val="203330"/>
                          </a:solidFill>
                          <a:latin typeface="Aptos"/>
                        </a:defRPr>
                      </a:pPr>
                      <a:r>
                        <a:t>Donation portal</a:t>
                      </a:r>
                    </a:p>
                  </a:txBody>
                  <a:tcPr marL="64008" marR="45720" marT="36576" marB="27432">
                    <a:solidFill>
                      <a:srgbClr val="FFFFFF"/>
                    </a:solidFill>
                  </a:tcPr>
                </a:tc>
                <a:tc>
                  <a:txBody>
                    <a:bodyPr/>
                    <a:lstStyle/>
                    <a:p>
                      <a:pPr algn="ctr">
                        <a:defRPr sz="1500" b="0">
                          <a:solidFill>
                            <a:srgbClr val="203330"/>
                          </a:solidFill>
                          <a:latin typeface="Aptos"/>
                        </a:defRPr>
                      </a:pPr>
                      <a:r>
                        <a:t>Yes</a:t>
                      </a:r>
                    </a:p>
                  </a:txBody>
                  <a:tcPr marL="64008" marR="45720" marT="36576" marB="27432">
                    <a:solidFill>
                      <a:srgbClr val="FFFFFF"/>
                    </a:solidFill>
                  </a:tcPr>
                </a:tc>
                <a:tc>
                  <a:txBody>
                    <a:bodyPr/>
                    <a:lstStyle/>
                    <a:p>
                      <a:pPr algn="ctr">
                        <a:defRPr sz="1500" b="0">
                          <a:solidFill>
                            <a:srgbClr val="203330"/>
                          </a:solidFill>
                          <a:latin typeface="Aptos"/>
                        </a:defRPr>
                      </a:pPr>
                      <a:r>
                        <a:t>Yes</a:t>
                      </a:r>
                    </a:p>
                  </a:txBody>
                  <a:tcPr marL="64008" marR="45720" marT="36576" marB="27432">
                    <a:solidFill>
                      <a:srgbClr val="FFFFFF"/>
                    </a:solidFill>
                  </a:tcPr>
                </a:tc>
                <a:tc>
                  <a:txBody>
                    <a:bodyPr/>
                    <a:lstStyle/>
                    <a:p>
                      <a:pPr algn="ctr">
                        <a:defRPr sz="1500" b="0">
                          <a:solidFill>
                            <a:srgbClr val="203330"/>
                          </a:solidFill>
                          <a:latin typeface="Aptos"/>
                        </a:defRPr>
                      </a:pPr>
                      <a:r>
                        <a:t>Varies</a:t>
                      </a:r>
                    </a:p>
                  </a:txBody>
                  <a:tcPr marL="64008" marR="45720" marT="36576" marB="27432">
                    <a:solidFill>
                      <a:srgbClr val="FFFFFF"/>
                    </a:solidFill>
                  </a:tcPr>
                </a:tc>
                <a:tc>
                  <a:txBody>
                    <a:bodyPr/>
                    <a:lstStyle/>
                    <a:p>
                      <a:pPr algn="ctr">
                        <a:defRPr sz="1500" b="0">
                          <a:solidFill>
                            <a:srgbClr val="203330"/>
                          </a:solidFill>
                          <a:latin typeface="Aptos"/>
                        </a:defRPr>
                      </a:pPr>
                      <a:r>
                        <a:t>Limited</a:t>
                      </a:r>
                    </a:p>
                  </a:txBody>
                  <a:tcPr marL="64008" marR="45720" marT="36576" marB="27432">
                    <a:solidFill>
                      <a:srgbClr val="FFFFFF"/>
                    </a:solidFill>
                  </a:tcPr>
                </a:tc>
                <a:tc>
                  <a:txBody>
                    <a:bodyPr/>
                    <a:lstStyle/>
                    <a:p>
                      <a:pPr algn="ctr">
                        <a:defRPr sz="1500" b="0">
                          <a:solidFill>
                            <a:srgbClr val="203330"/>
                          </a:solidFill>
                          <a:latin typeface="Aptos"/>
                        </a:defRPr>
                      </a:pPr>
                      <a:r>
                        <a:t>Yes</a:t>
                      </a:r>
                    </a:p>
                  </a:txBody>
                  <a:tcPr marL="64008" marR="45720" marT="36576" marB="27432">
                    <a:solidFill>
                      <a:srgbClr val="FFFFFF"/>
                    </a:solidFill>
                  </a:tcPr>
                </a:tc>
                <a:tc>
                  <a:txBody>
                    <a:bodyPr/>
                    <a:lstStyle/>
                    <a:p>
                      <a:pPr algn="ctr">
                        <a:defRPr sz="1500" b="0">
                          <a:solidFill>
                            <a:srgbClr val="203330"/>
                          </a:solidFill>
                          <a:latin typeface="Aptos"/>
                        </a:defRPr>
                      </a:pPr>
                      <a:r>
                        <a:t>—</a:t>
                      </a:r>
                    </a:p>
                  </a:txBody>
                  <a:tcPr marL="64008" marR="45720" marT="36576" marB="27432">
                    <a:solidFill>
                      <a:srgbClr val="FFFFFF"/>
                    </a:solidFill>
                  </a:tcPr>
                </a:tc>
              </a:tr>
              <a:tr h="649224">
                <a:tc>
                  <a:txBody>
                    <a:bodyPr/>
                    <a:lstStyle/>
                    <a:p>
                      <a:pPr algn="l">
                        <a:defRPr sz="1500" b="0">
                          <a:solidFill>
                            <a:srgbClr val="203330"/>
                          </a:solidFill>
                          <a:latin typeface="Aptos"/>
                        </a:defRPr>
                      </a:pPr>
                      <a:r>
                        <a:t>Routing tool</a:t>
                      </a:r>
                    </a:p>
                  </a:txBody>
                  <a:tcPr marL="64008" marR="45720" marT="36576" marB="27432">
                    <a:solidFill>
                      <a:srgbClr val="FFFFFF"/>
                    </a:solidFill>
                  </a:tcPr>
                </a:tc>
                <a:tc>
                  <a:txBody>
                    <a:bodyPr/>
                    <a:lstStyle/>
                    <a:p>
                      <a:pPr algn="ctr">
                        <a:defRPr sz="1500" b="0">
                          <a:solidFill>
                            <a:srgbClr val="203330"/>
                          </a:solidFill>
                          <a:latin typeface="Aptos"/>
                        </a:defRPr>
                      </a:pPr>
                      <a:r>
                        <a:t>—</a:t>
                      </a:r>
                    </a:p>
                  </a:txBody>
                  <a:tcPr marL="64008" marR="45720" marT="36576" marB="27432">
                    <a:solidFill>
                      <a:srgbClr val="FFFFFF"/>
                    </a:solidFill>
                  </a:tcPr>
                </a:tc>
                <a:tc>
                  <a:txBody>
                    <a:bodyPr/>
                    <a:lstStyle/>
                    <a:p>
                      <a:pPr algn="ctr">
                        <a:defRPr sz="1500" b="0">
                          <a:solidFill>
                            <a:srgbClr val="203330"/>
                          </a:solidFill>
                          <a:latin typeface="Aptos"/>
                        </a:defRPr>
                      </a:pPr>
                      <a:r>
                        <a:t>Yes</a:t>
                      </a:r>
                    </a:p>
                  </a:txBody>
                  <a:tcPr marL="64008" marR="45720" marT="36576" marB="27432">
                    <a:solidFill>
                      <a:srgbClr val="FFFFFF"/>
                    </a:solidFill>
                  </a:tcPr>
                </a:tc>
                <a:tc>
                  <a:txBody>
                    <a:bodyPr/>
                    <a:lstStyle/>
                    <a:p>
                      <a:pPr algn="ctr">
                        <a:defRPr sz="1500" b="0">
                          <a:solidFill>
                            <a:srgbClr val="203330"/>
                          </a:solidFill>
                          <a:latin typeface="Aptos"/>
                        </a:defRPr>
                      </a:pPr>
                      <a:r>
                        <a:t>Yes</a:t>
                      </a:r>
                    </a:p>
                  </a:txBody>
                  <a:tcPr marL="64008" marR="45720" marT="36576" marB="27432">
                    <a:solidFill>
                      <a:srgbClr val="FFFFFF"/>
                    </a:solidFill>
                  </a:tcPr>
                </a:tc>
                <a:tc>
                  <a:txBody>
                    <a:bodyPr/>
                    <a:lstStyle/>
                    <a:p>
                      <a:pPr algn="ctr">
                        <a:defRPr sz="1500" b="0">
                          <a:solidFill>
                            <a:srgbClr val="203330"/>
                          </a:solidFill>
                          <a:latin typeface="Aptos"/>
                        </a:defRPr>
                      </a:pPr>
                      <a:r>
                        <a:t>—</a:t>
                      </a:r>
                    </a:p>
                  </a:txBody>
                  <a:tcPr marL="64008" marR="45720" marT="36576" marB="27432">
                    <a:solidFill>
                      <a:srgbClr val="FFFFFF"/>
                    </a:solidFill>
                  </a:tcPr>
                </a:tc>
                <a:tc>
                  <a:txBody>
                    <a:bodyPr/>
                    <a:lstStyle/>
                    <a:p>
                      <a:pPr algn="ctr">
                        <a:defRPr sz="1500" b="0">
                          <a:solidFill>
                            <a:srgbClr val="203330"/>
                          </a:solidFill>
                          <a:latin typeface="Aptos"/>
                        </a:defRPr>
                      </a:pPr>
                      <a:r>
                        <a:t>Limited</a:t>
                      </a:r>
                    </a:p>
                  </a:txBody>
                  <a:tcPr marL="64008" marR="45720" marT="36576" marB="27432">
                    <a:solidFill>
                      <a:srgbClr val="FFFFFF"/>
                    </a:solidFill>
                  </a:tcPr>
                </a:tc>
                <a:tc>
                  <a:txBody>
                    <a:bodyPr/>
                    <a:lstStyle/>
                    <a:p>
                      <a:pPr algn="ctr">
                        <a:defRPr sz="1500" b="0">
                          <a:solidFill>
                            <a:srgbClr val="203330"/>
                          </a:solidFill>
                          <a:latin typeface="Aptos"/>
                        </a:defRPr>
                      </a:pPr>
                      <a:r>
                        <a:t>Limited</a:t>
                      </a:r>
                    </a:p>
                  </a:txBody>
                  <a:tcPr marL="64008" marR="45720" marT="36576" marB="27432">
                    <a:solidFill>
                      <a:srgbClr val="FFFFFF"/>
                    </a:solidFill>
                  </a:tcPr>
                </a:tc>
              </a:tr>
              <a:tr h="649224">
                <a:tc>
                  <a:txBody>
                    <a:bodyPr/>
                    <a:lstStyle/>
                    <a:p>
                      <a:pPr algn="l">
                        <a:defRPr sz="1500" b="1">
                          <a:solidFill>
                            <a:srgbClr val="203330"/>
                          </a:solidFill>
                          <a:latin typeface="Aptos"/>
                        </a:defRPr>
                      </a:pPr>
                      <a:r>
                        <a:t>FoodLoop concept</a:t>
                      </a:r>
                    </a:p>
                  </a:txBody>
                  <a:tcPr marL="64008" marR="45720" marT="36576" marB="27432">
                    <a:solidFill>
                      <a:srgbClr val="E7F5EC"/>
                    </a:solidFill>
                  </a:tcPr>
                </a:tc>
                <a:tc>
                  <a:txBody>
                    <a:bodyPr/>
                    <a:lstStyle/>
                    <a:p>
                      <a:pPr algn="ctr">
                        <a:defRPr sz="1500" b="1">
                          <a:solidFill>
                            <a:srgbClr val="203330"/>
                          </a:solidFill>
                          <a:latin typeface="Aptos"/>
                        </a:defRPr>
                      </a:pPr>
                      <a:r>
                        <a:t>Yes</a:t>
                      </a:r>
                    </a:p>
                  </a:txBody>
                  <a:tcPr marL="64008" marR="45720" marT="36576" marB="27432">
                    <a:solidFill>
                      <a:srgbClr val="E7F5EC"/>
                    </a:solidFill>
                  </a:tcPr>
                </a:tc>
                <a:tc>
                  <a:txBody>
                    <a:bodyPr/>
                    <a:lstStyle/>
                    <a:p>
                      <a:pPr algn="ctr">
                        <a:defRPr sz="1500" b="1">
                          <a:solidFill>
                            <a:srgbClr val="203330"/>
                          </a:solidFill>
                          <a:latin typeface="Aptos"/>
                        </a:defRPr>
                      </a:pPr>
                      <a:r>
                        <a:t>Yes</a:t>
                      </a:r>
                    </a:p>
                  </a:txBody>
                  <a:tcPr marL="64008" marR="45720" marT="36576" marB="27432">
                    <a:solidFill>
                      <a:srgbClr val="E7F5EC"/>
                    </a:solidFill>
                  </a:tcPr>
                </a:tc>
                <a:tc>
                  <a:txBody>
                    <a:bodyPr/>
                    <a:lstStyle/>
                    <a:p>
                      <a:pPr algn="ctr">
                        <a:defRPr sz="1500" b="1">
                          <a:solidFill>
                            <a:srgbClr val="203330"/>
                          </a:solidFill>
                          <a:latin typeface="Aptos"/>
                        </a:defRPr>
                      </a:pPr>
                      <a:r>
                        <a:t>Yes</a:t>
                      </a:r>
                    </a:p>
                  </a:txBody>
                  <a:tcPr marL="64008" marR="45720" marT="36576" marB="27432">
                    <a:solidFill>
                      <a:srgbClr val="E7F5EC"/>
                    </a:solidFill>
                  </a:tcPr>
                </a:tc>
                <a:tc>
                  <a:txBody>
                    <a:bodyPr/>
                    <a:lstStyle/>
                    <a:p>
                      <a:pPr algn="ctr">
                        <a:defRPr sz="1500" b="1">
                          <a:solidFill>
                            <a:srgbClr val="203330"/>
                          </a:solidFill>
                          <a:latin typeface="Aptos"/>
                        </a:defRPr>
                      </a:pPr>
                      <a:r>
                        <a:t>Yes</a:t>
                      </a:r>
                    </a:p>
                  </a:txBody>
                  <a:tcPr marL="64008" marR="45720" marT="36576" marB="27432">
                    <a:solidFill>
                      <a:srgbClr val="E7F5EC"/>
                    </a:solidFill>
                  </a:tcPr>
                </a:tc>
                <a:tc>
                  <a:txBody>
                    <a:bodyPr/>
                    <a:lstStyle/>
                    <a:p>
                      <a:pPr algn="ctr">
                        <a:defRPr sz="1500" b="1">
                          <a:solidFill>
                            <a:srgbClr val="203330"/>
                          </a:solidFill>
                          <a:latin typeface="Aptos"/>
                        </a:defRPr>
                      </a:pPr>
                      <a:r>
                        <a:t>Yes</a:t>
                      </a:r>
                    </a:p>
                  </a:txBody>
                  <a:tcPr marL="64008" marR="45720" marT="36576" marB="27432">
                    <a:solidFill>
                      <a:srgbClr val="E7F5EC"/>
                    </a:solidFill>
                  </a:tcPr>
                </a:tc>
                <a:tc>
                  <a:txBody>
                    <a:bodyPr/>
                    <a:lstStyle/>
                    <a:p>
                      <a:pPr algn="ctr">
                        <a:defRPr sz="1500" b="1">
                          <a:solidFill>
                            <a:srgbClr val="203330"/>
                          </a:solidFill>
                          <a:latin typeface="Aptos"/>
                        </a:defRPr>
                      </a:pPr>
                      <a:r>
                        <a:t>Yes</a:t>
                      </a:r>
                    </a:p>
                  </a:txBody>
                  <a:tcPr marL="64008" marR="45720" marT="36576" marB="27432">
                    <a:solidFill>
                      <a:srgbClr val="E7F5EC"/>
                    </a:solidFill>
                  </a:tcPr>
                </a:tc>
              </a:tr>
            </a:tbl>
          </a:graphicData>
        </a:graphic>
      </p:graphicFrame>
      <p:sp>
        <p:nvSpPr>
          <p:cNvPr id="8" name="Rounded Rectangle 7"/>
          <p:cNvSpPr/>
          <p:nvPr/>
        </p:nvSpPr>
        <p:spPr>
          <a:xfrm>
            <a:off x="731520" y="5138928"/>
            <a:ext cx="10744200" cy="82296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5285232"/>
            <a:ext cx="10287000" cy="521207"/>
          </a:xfrm>
          <a:prstGeom prst="rect">
            <a:avLst/>
          </a:prstGeom>
          <a:noFill/>
        </p:spPr>
        <p:txBody>
          <a:bodyPr wrap="none" lIns="45720" rIns="45720" anchor="ctr">
            <a:spAutoFit/>
          </a:bodyPr>
          <a:lstStyle/>
          <a:p>
            <a:pPr algn="l">
              <a:spcBef>
                <a:spcPts val="0"/>
              </a:spcBef>
              <a:spcAft>
                <a:spcPts val="0"/>
              </a:spcAft>
            </a:pPr>
            <a:r>
              <a:rPr sz="1700" b="0" i="0">
                <a:solidFill>
                  <a:srgbClr val="0F4A3D"/>
                </a:solidFill>
                <a:latin typeface="Aptos"/>
              </a:rPr>
              <a:t>Research question: can listings, explainable prioritisation, reservations, and collection tracking work together in a simple workflow for the intended local context?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Existing Systems</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Common approaches and the gap FoodLoop explores</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7</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713232" y="1828800"/>
            <a:ext cx="3456432" cy="301752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41832" y="2121408"/>
            <a:ext cx="2999232" cy="566928"/>
          </a:xfrm>
          <a:prstGeom prst="rect">
            <a:avLst/>
          </a:prstGeom>
          <a:noFill/>
        </p:spPr>
        <p:txBody>
          <a:bodyPr wrap="none" lIns="45720" rIns="45720" anchor="ctr">
            <a:spAutoFit/>
          </a:bodyPr>
          <a:lstStyle/>
          <a:p>
            <a:pPr algn="l">
              <a:spcBef>
                <a:spcPts val="0"/>
              </a:spcBef>
              <a:spcAft>
                <a:spcPts val="0"/>
              </a:spcAft>
            </a:pPr>
            <a:r>
              <a:rPr sz="2100" b="1" i="0">
                <a:solidFill>
                  <a:srgbClr val="0F4A3D"/>
                </a:solidFill>
                <a:latin typeface="Aptos Display"/>
              </a:rPr>
              <a:t>Donation listings</a:t>
            </a:r>
          </a:p>
        </p:txBody>
      </p:sp>
      <p:sp>
        <p:nvSpPr>
          <p:cNvPr id="9" name="TextBox 8"/>
          <p:cNvSpPr txBox="1"/>
          <p:nvPr/>
        </p:nvSpPr>
        <p:spPr>
          <a:xfrm>
            <a:off x="941832" y="2852928"/>
            <a:ext cx="2999232" cy="1417320"/>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Publish surplus food details, but recipients may still need to compare options manually.</a:t>
            </a:r>
          </a:p>
        </p:txBody>
      </p:sp>
      <p:sp>
        <p:nvSpPr>
          <p:cNvPr id="10" name="Rectangle 9"/>
          <p:cNvSpPr/>
          <p:nvPr/>
        </p:nvSpPr>
        <p:spPr>
          <a:xfrm>
            <a:off x="941832" y="4434840"/>
            <a:ext cx="658368" cy="54864"/>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535424" y="1828800"/>
            <a:ext cx="3456432" cy="301752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64024" y="2121408"/>
            <a:ext cx="2999232" cy="566928"/>
          </a:xfrm>
          <a:prstGeom prst="rect">
            <a:avLst/>
          </a:prstGeom>
          <a:noFill/>
        </p:spPr>
        <p:txBody>
          <a:bodyPr wrap="none" lIns="45720" rIns="45720" anchor="ctr">
            <a:spAutoFit/>
          </a:bodyPr>
          <a:lstStyle/>
          <a:p>
            <a:pPr algn="l">
              <a:spcBef>
                <a:spcPts val="0"/>
              </a:spcBef>
              <a:spcAft>
                <a:spcPts val="0"/>
              </a:spcAft>
            </a:pPr>
            <a:r>
              <a:rPr sz="2100" b="1" i="0">
                <a:solidFill>
                  <a:srgbClr val="0F4A3D"/>
                </a:solidFill>
                <a:latin typeface="Aptos Display"/>
              </a:rPr>
              <a:t>Food-sharing services</a:t>
            </a:r>
          </a:p>
        </p:txBody>
      </p:sp>
      <p:sp>
        <p:nvSpPr>
          <p:cNvPr id="13" name="TextBox 12"/>
          <p:cNvSpPr txBox="1"/>
          <p:nvPr/>
        </p:nvSpPr>
        <p:spPr>
          <a:xfrm>
            <a:off x="4764024" y="2852928"/>
            <a:ext cx="2999232" cy="1417320"/>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Connect donors and recipients, with different eligibility and collection processes.</a:t>
            </a:r>
          </a:p>
        </p:txBody>
      </p:sp>
      <p:sp>
        <p:nvSpPr>
          <p:cNvPr id="14" name="Rectangle 13"/>
          <p:cNvSpPr/>
          <p:nvPr/>
        </p:nvSpPr>
        <p:spPr>
          <a:xfrm>
            <a:off x="4764024" y="4434840"/>
            <a:ext cx="658368" cy="54864"/>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357615" y="1828800"/>
            <a:ext cx="3456432" cy="3017520"/>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586215" y="2121408"/>
            <a:ext cx="2999232" cy="566928"/>
          </a:xfrm>
          <a:prstGeom prst="rect">
            <a:avLst/>
          </a:prstGeom>
          <a:noFill/>
        </p:spPr>
        <p:txBody>
          <a:bodyPr wrap="none" lIns="45720" rIns="45720" anchor="ctr">
            <a:spAutoFit/>
          </a:bodyPr>
          <a:lstStyle/>
          <a:p>
            <a:pPr algn="l">
              <a:spcBef>
                <a:spcPts val="0"/>
              </a:spcBef>
              <a:spcAft>
                <a:spcPts val="0"/>
              </a:spcAft>
            </a:pPr>
            <a:r>
              <a:rPr sz="2100" b="1" i="0">
                <a:solidFill>
                  <a:srgbClr val="0F4A3D"/>
                </a:solidFill>
                <a:latin typeface="Aptos Display"/>
              </a:rPr>
              <a:t>Logistics tools</a:t>
            </a:r>
          </a:p>
        </p:txBody>
      </p:sp>
      <p:sp>
        <p:nvSpPr>
          <p:cNvPr id="17" name="TextBox 16"/>
          <p:cNvSpPr txBox="1"/>
          <p:nvPr/>
        </p:nvSpPr>
        <p:spPr>
          <a:xfrm>
            <a:off x="8586215" y="2852928"/>
            <a:ext cx="2999232" cy="1417320"/>
          </a:xfrm>
          <a:prstGeom prst="rect">
            <a:avLst/>
          </a:prstGeom>
          <a:noFill/>
        </p:spPr>
        <p:txBody>
          <a:bodyPr wrap="square" lIns="45720" rIns="45720" anchor="ctr">
            <a:normAutofit/>
          </a:bodyPr>
          <a:lstStyle/>
          <a:p>
            <a:pPr algn="l">
              <a:spcBef>
                <a:spcPts val="0"/>
              </a:spcBef>
              <a:spcAft>
                <a:spcPts val="0"/>
              </a:spcAft>
            </a:pPr>
            <a:r>
              <a:rPr sz="1800" b="0" i="0">
                <a:solidFill>
                  <a:srgbClr val="203330"/>
                </a:solidFill>
                <a:latin typeface="Aptos"/>
              </a:rPr>
              <a:t>Support routing or scheduling, but may not cover the full donation lifecycle.</a:t>
            </a:r>
          </a:p>
        </p:txBody>
      </p:sp>
      <p:sp>
        <p:nvSpPr>
          <p:cNvPr id="18" name="Rectangle 17"/>
          <p:cNvSpPr/>
          <p:nvPr/>
        </p:nvSpPr>
        <p:spPr>
          <a:xfrm>
            <a:off x="8586215" y="4434840"/>
            <a:ext cx="658368" cy="54864"/>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1051560" y="5285232"/>
            <a:ext cx="10104120" cy="676656"/>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280160" y="5394960"/>
            <a:ext cx="9646920" cy="438912"/>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FoodLoop focuses on connecting listing, matching, explanation, reservation, and collection records in one workflow.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Proposed System</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From creating a listing to recording the collection outcome</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8</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658368" y="1627632"/>
            <a:ext cx="3456432" cy="1572768"/>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41247" y="1773936"/>
            <a:ext cx="502920" cy="402336"/>
          </a:xfrm>
          <a:prstGeom prst="rect">
            <a:avLst/>
          </a:prstGeom>
          <a:noFill/>
        </p:spPr>
        <p:txBody>
          <a:bodyPr wrap="none" lIns="45720" rIns="45720" anchor="ctr">
            <a:spAutoFit/>
          </a:bodyPr>
          <a:lstStyle/>
          <a:p>
            <a:pPr algn="l">
              <a:spcBef>
                <a:spcPts val="0"/>
              </a:spcBef>
              <a:spcAft>
                <a:spcPts val="0"/>
              </a:spcAft>
            </a:pPr>
            <a:r>
              <a:rPr sz="1800" b="1" i="0">
                <a:solidFill>
                  <a:srgbClr val="248058"/>
                </a:solidFill>
                <a:latin typeface="Aptos"/>
              </a:rPr>
              <a:t>01</a:t>
            </a:r>
          </a:p>
        </p:txBody>
      </p:sp>
      <p:sp>
        <p:nvSpPr>
          <p:cNvPr id="9" name="TextBox 8"/>
          <p:cNvSpPr txBox="1"/>
          <p:nvPr/>
        </p:nvSpPr>
        <p:spPr>
          <a:xfrm>
            <a:off x="1435607" y="1746504"/>
            <a:ext cx="2423160" cy="402336"/>
          </a:xfrm>
          <a:prstGeom prst="rect">
            <a:avLst/>
          </a:prstGeom>
          <a:noFill/>
        </p:spPr>
        <p:txBody>
          <a:bodyPr wrap="none" lIns="45720" rIns="45720" anchor="ctr">
            <a:spAutoFit/>
          </a:bodyPr>
          <a:lstStyle/>
          <a:p>
            <a:pPr algn="l">
              <a:spcBef>
                <a:spcPts val="0"/>
              </a:spcBef>
              <a:spcAft>
                <a:spcPts val="0"/>
              </a:spcAft>
            </a:pPr>
            <a:r>
              <a:rPr sz="1900" b="1" i="0">
                <a:solidFill>
                  <a:srgbClr val="0F4A3D"/>
                </a:solidFill>
                <a:latin typeface="Aptos Display"/>
              </a:rPr>
              <a:t>LIST</a:t>
            </a:r>
          </a:p>
        </p:txBody>
      </p:sp>
      <p:sp>
        <p:nvSpPr>
          <p:cNvPr id="10" name="TextBox 9"/>
          <p:cNvSpPr txBox="1"/>
          <p:nvPr/>
        </p:nvSpPr>
        <p:spPr>
          <a:xfrm>
            <a:off x="859536" y="2249424"/>
            <a:ext cx="3035808" cy="777240"/>
          </a:xfrm>
          <a:prstGeom prst="rect">
            <a:avLst/>
          </a:prstGeom>
          <a:noFill/>
        </p:spPr>
        <p:txBody>
          <a:bodyPr wrap="square" lIns="45720" rIns="45720" anchor="ctr">
            <a:normAutofit/>
          </a:bodyPr>
          <a:lstStyle/>
          <a:p>
            <a:pPr algn="l">
              <a:spcBef>
                <a:spcPts val="0"/>
              </a:spcBef>
              <a:spcAft>
                <a:spcPts val="0"/>
              </a:spcAft>
            </a:pPr>
            <a:r>
              <a:rPr sz="1500" b="0" i="0">
                <a:solidFill>
                  <a:srgbClr val="203330"/>
                </a:solidFill>
                <a:latin typeface="Aptos"/>
              </a:rPr>
              <a:t>Donor enters food details, quantity, location, and deadline.</a:t>
            </a:r>
          </a:p>
        </p:txBody>
      </p:sp>
      <p:sp>
        <p:nvSpPr>
          <p:cNvPr id="11" name="Rounded Rectangle 10"/>
          <p:cNvSpPr/>
          <p:nvPr/>
        </p:nvSpPr>
        <p:spPr>
          <a:xfrm>
            <a:off x="4480559" y="1627632"/>
            <a:ext cx="3456432" cy="1572768"/>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63440" y="1773936"/>
            <a:ext cx="502920" cy="402336"/>
          </a:xfrm>
          <a:prstGeom prst="rect">
            <a:avLst/>
          </a:prstGeom>
          <a:noFill/>
        </p:spPr>
        <p:txBody>
          <a:bodyPr wrap="none" lIns="45720" rIns="45720" anchor="ctr">
            <a:spAutoFit/>
          </a:bodyPr>
          <a:lstStyle/>
          <a:p>
            <a:pPr algn="l">
              <a:spcBef>
                <a:spcPts val="0"/>
              </a:spcBef>
              <a:spcAft>
                <a:spcPts val="0"/>
              </a:spcAft>
            </a:pPr>
            <a:r>
              <a:rPr sz="1800" b="1" i="0">
                <a:solidFill>
                  <a:srgbClr val="248058"/>
                </a:solidFill>
                <a:latin typeface="Aptos"/>
              </a:rPr>
              <a:t>02</a:t>
            </a:r>
          </a:p>
        </p:txBody>
      </p:sp>
      <p:sp>
        <p:nvSpPr>
          <p:cNvPr id="13" name="TextBox 12"/>
          <p:cNvSpPr txBox="1"/>
          <p:nvPr/>
        </p:nvSpPr>
        <p:spPr>
          <a:xfrm>
            <a:off x="5257799" y="1746504"/>
            <a:ext cx="2423160" cy="402336"/>
          </a:xfrm>
          <a:prstGeom prst="rect">
            <a:avLst/>
          </a:prstGeom>
          <a:noFill/>
        </p:spPr>
        <p:txBody>
          <a:bodyPr wrap="none" lIns="45720" rIns="45720" anchor="ctr">
            <a:spAutoFit/>
          </a:bodyPr>
          <a:lstStyle/>
          <a:p>
            <a:pPr algn="l">
              <a:spcBef>
                <a:spcPts val="0"/>
              </a:spcBef>
              <a:spcAft>
                <a:spcPts val="0"/>
              </a:spcAft>
            </a:pPr>
            <a:r>
              <a:rPr sz="1900" b="1" i="0">
                <a:solidFill>
                  <a:srgbClr val="0F4A3D"/>
                </a:solidFill>
                <a:latin typeface="Aptos Display"/>
              </a:rPr>
              <a:t>CHECK</a:t>
            </a:r>
          </a:p>
        </p:txBody>
      </p:sp>
      <p:sp>
        <p:nvSpPr>
          <p:cNvPr id="14" name="TextBox 13"/>
          <p:cNvSpPr txBox="1"/>
          <p:nvPr/>
        </p:nvSpPr>
        <p:spPr>
          <a:xfrm>
            <a:off x="4681727" y="2249424"/>
            <a:ext cx="3035808" cy="777240"/>
          </a:xfrm>
          <a:prstGeom prst="rect">
            <a:avLst/>
          </a:prstGeom>
          <a:noFill/>
        </p:spPr>
        <p:txBody>
          <a:bodyPr wrap="square" lIns="45720" rIns="45720" anchor="ctr">
            <a:normAutofit/>
          </a:bodyPr>
          <a:lstStyle/>
          <a:p>
            <a:pPr algn="l">
              <a:spcBef>
                <a:spcPts val="0"/>
              </a:spcBef>
              <a:spcAft>
                <a:spcPts val="0"/>
              </a:spcAft>
            </a:pPr>
            <a:r>
              <a:rPr sz="1500" b="0" i="0">
                <a:solidFill>
                  <a:srgbClr val="203330"/>
                </a:solidFill>
                <a:latin typeface="Aptos"/>
              </a:rPr>
              <a:t>System validates required fields and checks recipient fit.</a:t>
            </a:r>
          </a:p>
        </p:txBody>
      </p:sp>
      <p:sp>
        <p:nvSpPr>
          <p:cNvPr id="15" name="Rounded Rectangle 14"/>
          <p:cNvSpPr/>
          <p:nvPr/>
        </p:nvSpPr>
        <p:spPr>
          <a:xfrm>
            <a:off x="8302752" y="1627632"/>
            <a:ext cx="3456432" cy="1572768"/>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85632" y="1773936"/>
            <a:ext cx="502920" cy="402336"/>
          </a:xfrm>
          <a:prstGeom prst="rect">
            <a:avLst/>
          </a:prstGeom>
          <a:noFill/>
        </p:spPr>
        <p:txBody>
          <a:bodyPr wrap="none" lIns="45720" rIns="45720" anchor="ctr">
            <a:spAutoFit/>
          </a:bodyPr>
          <a:lstStyle/>
          <a:p>
            <a:pPr algn="l">
              <a:spcBef>
                <a:spcPts val="0"/>
              </a:spcBef>
              <a:spcAft>
                <a:spcPts val="0"/>
              </a:spcAft>
            </a:pPr>
            <a:r>
              <a:rPr sz="1800" b="1" i="0">
                <a:solidFill>
                  <a:srgbClr val="248058"/>
                </a:solidFill>
                <a:latin typeface="Aptos"/>
              </a:rPr>
              <a:t>03</a:t>
            </a:r>
          </a:p>
        </p:txBody>
      </p:sp>
      <p:sp>
        <p:nvSpPr>
          <p:cNvPr id="17" name="TextBox 16"/>
          <p:cNvSpPr txBox="1"/>
          <p:nvPr/>
        </p:nvSpPr>
        <p:spPr>
          <a:xfrm>
            <a:off x="9079992" y="1746504"/>
            <a:ext cx="2423160" cy="402336"/>
          </a:xfrm>
          <a:prstGeom prst="rect">
            <a:avLst/>
          </a:prstGeom>
          <a:noFill/>
        </p:spPr>
        <p:txBody>
          <a:bodyPr wrap="none" lIns="45720" rIns="45720" anchor="ctr">
            <a:spAutoFit/>
          </a:bodyPr>
          <a:lstStyle/>
          <a:p>
            <a:pPr algn="l">
              <a:spcBef>
                <a:spcPts val="0"/>
              </a:spcBef>
              <a:spcAft>
                <a:spcPts val="0"/>
              </a:spcAft>
            </a:pPr>
            <a:r>
              <a:rPr sz="1900" b="1" i="0">
                <a:solidFill>
                  <a:srgbClr val="0F4A3D"/>
                </a:solidFill>
                <a:latin typeface="Aptos Display"/>
              </a:rPr>
              <a:t>RANK</a:t>
            </a:r>
          </a:p>
        </p:txBody>
      </p:sp>
      <p:sp>
        <p:nvSpPr>
          <p:cNvPr id="18" name="TextBox 17"/>
          <p:cNvSpPr txBox="1"/>
          <p:nvPr/>
        </p:nvSpPr>
        <p:spPr>
          <a:xfrm>
            <a:off x="8503920" y="2249424"/>
            <a:ext cx="3035808" cy="777240"/>
          </a:xfrm>
          <a:prstGeom prst="rect">
            <a:avLst/>
          </a:prstGeom>
          <a:noFill/>
        </p:spPr>
        <p:txBody>
          <a:bodyPr wrap="square" lIns="45720" rIns="45720" anchor="ctr">
            <a:normAutofit/>
          </a:bodyPr>
          <a:lstStyle/>
          <a:p>
            <a:pPr algn="l">
              <a:spcBef>
                <a:spcPts val="0"/>
              </a:spcBef>
              <a:spcAft>
                <a:spcPts val="0"/>
              </a:spcAft>
            </a:pPr>
            <a:r>
              <a:rPr sz="1500" b="0" i="0">
                <a:solidFill>
                  <a:srgbClr val="203330"/>
                </a:solidFill>
                <a:latin typeface="Aptos"/>
              </a:rPr>
              <a:t>Transparent rules consider urgency and collection feasibility.</a:t>
            </a:r>
          </a:p>
        </p:txBody>
      </p:sp>
      <p:sp>
        <p:nvSpPr>
          <p:cNvPr id="19" name="Rounded Rectangle 18"/>
          <p:cNvSpPr/>
          <p:nvPr/>
        </p:nvSpPr>
        <p:spPr>
          <a:xfrm>
            <a:off x="658368" y="3639312"/>
            <a:ext cx="3456432" cy="15727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41247" y="3785616"/>
            <a:ext cx="502920" cy="402336"/>
          </a:xfrm>
          <a:prstGeom prst="rect">
            <a:avLst/>
          </a:prstGeom>
          <a:noFill/>
        </p:spPr>
        <p:txBody>
          <a:bodyPr wrap="none" lIns="45720" rIns="45720" anchor="ctr">
            <a:spAutoFit/>
          </a:bodyPr>
          <a:lstStyle/>
          <a:p>
            <a:pPr algn="l">
              <a:spcBef>
                <a:spcPts val="0"/>
              </a:spcBef>
              <a:spcAft>
                <a:spcPts val="0"/>
              </a:spcAft>
            </a:pPr>
            <a:r>
              <a:rPr sz="1800" b="1" i="0">
                <a:solidFill>
                  <a:srgbClr val="248058"/>
                </a:solidFill>
                <a:latin typeface="Aptos"/>
              </a:rPr>
              <a:t>04</a:t>
            </a:r>
          </a:p>
        </p:txBody>
      </p:sp>
      <p:sp>
        <p:nvSpPr>
          <p:cNvPr id="21" name="TextBox 20"/>
          <p:cNvSpPr txBox="1"/>
          <p:nvPr/>
        </p:nvSpPr>
        <p:spPr>
          <a:xfrm>
            <a:off x="1435607" y="3758184"/>
            <a:ext cx="2423160" cy="402336"/>
          </a:xfrm>
          <a:prstGeom prst="rect">
            <a:avLst/>
          </a:prstGeom>
          <a:noFill/>
        </p:spPr>
        <p:txBody>
          <a:bodyPr wrap="none" lIns="45720" rIns="45720" anchor="ctr">
            <a:spAutoFit/>
          </a:bodyPr>
          <a:lstStyle/>
          <a:p>
            <a:pPr algn="l">
              <a:spcBef>
                <a:spcPts val="0"/>
              </a:spcBef>
              <a:spcAft>
                <a:spcPts val="0"/>
              </a:spcAft>
            </a:pPr>
            <a:r>
              <a:rPr sz="1900" b="1" i="0">
                <a:solidFill>
                  <a:srgbClr val="0F4A3D"/>
                </a:solidFill>
                <a:latin typeface="Aptos Display"/>
              </a:rPr>
              <a:t>EXPLAIN</a:t>
            </a:r>
          </a:p>
        </p:txBody>
      </p:sp>
      <p:sp>
        <p:nvSpPr>
          <p:cNvPr id="22" name="TextBox 21"/>
          <p:cNvSpPr txBox="1"/>
          <p:nvPr/>
        </p:nvSpPr>
        <p:spPr>
          <a:xfrm>
            <a:off x="859536" y="4261104"/>
            <a:ext cx="3035808" cy="777240"/>
          </a:xfrm>
          <a:prstGeom prst="rect">
            <a:avLst/>
          </a:prstGeom>
          <a:noFill/>
        </p:spPr>
        <p:txBody>
          <a:bodyPr wrap="square" lIns="45720" rIns="45720" anchor="ctr">
            <a:normAutofit/>
          </a:bodyPr>
          <a:lstStyle/>
          <a:p>
            <a:pPr algn="l">
              <a:spcBef>
                <a:spcPts val="0"/>
              </a:spcBef>
              <a:spcAft>
                <a:spcPts val="0"/>
              </a:spcAft>
            </a:pPr>
            <a:r>
              <a:rPr sz="1500" b="0" i="0">
                <a:solidFill>
                  <a:srgbClr val="203330"/>
                </a:solidFill>
                <a:latin typeface="Aptos"/>
              </a:rPr>
              <a:t>Recipient can see why an option is prioritised.</a:t>
            </a:r>
          </a:p>
        </p:txBody>
      </p:sp>
      <p:sp>
        <p:nvSpPr>
          <p:cNvPr id="23" name="Rounded Rectangle 22"/>
          <p:cNvSpPr/>
          <p:nvPr/>
        </p:nvSpPr>
        <p:spPr>
          <a:xfrm>
            <a:off x="4480559" y="3639312"/>
            <a:ext cx="3456432" cy="15727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663440" y="3785616"/>
            <a:ext cx="502920" cy="402336"/>
          </a:xfrm>
          <a:prstGeom prst="rect">
            <a:avLst/>
          </a:prstGeom>
          <a:noFill/>
        </p:spPr>
        <p:txBody>
          <a:bodyPr wrap="none" lIns="45720" rIns="45720" anchor="ctr">
            <a:spAutoFit/>
          </a:bodyPr>
          <a:lstStyle/>
          <a:p>
            <a:pPr algn="l">
              <a:spcBef>
                <a:spcPts val="0"/>
              </a:spcBef>
              <a:spcAft>
                <a:spcPts val="0"/>
              </a:spcAft>
            </a:pPr>
            <a:r>
              <a:rPr sz="1800" b="1" i="0">
                <a:solidFill>
                  <a:srgbClr val="248058"/>
                </a:solidFill>
                <a:latin typeface="Aptos"/>
              </a:rPr>
              <a:t>05</a:t>
            </a:r>
          </a:p>
        </p:txBody>
      </p:sp>
      <p:sp>
        <p:nvSpPr>
          <p:cNvPr id="25" name="TextBox 24"/>
          <p:cNvSpPr txBox="1"/>
          <p:nvPr/>
        </p:nvSpPr>
        <p:spPr>
          <a:xfrm>
            <a:off x="5257799" y="3758184"/>
            <a:ext cx="2423160" cy="402336"/>
          </a:xfrm>
          <a:prstGeom prst="rect">
            <a:avLst/>
          </a:prstGeom>
          <a:noFill/>
        </p:spPr>
        <p:txBody>
          <a:bodyPr wrap="none" lIns="45720" rIns="45720" anchor="ctr">
            <a:spAutoFit/>
          </a:bodyPr>
          <a:lstStyle/>
          <a:p>
            <a:pPr algn="l">
              <a:spcBef>
                <a:spcPts val="0"/>
              </a:spcBef>
              <a:spcAft>
                <a:spcPts val="0"/>
              </a:spcAft>
            </a:pPr>
            <a:r>
              <a:rPr sz="1900" b="1" i="0">
                <a:solidFill>
                  <a:srgbClr val="0F4A3D"/>
                </a:solidFill>
                <a:latin typeface="Aptos Display"/>
              </a:rPr>
              <a:t>RESERVE</a:t>
            </a:r>
          </a:p>
        </p:txBody>
      </p:sp>
      <p:sp>
        <p:nvSpPr>
          <p:cNvPr id="26" name="TextBox 25"/>
          <p:cNvSpPr txBox="1"/>
          <p:nvPr/>
        </p:nvSpPr>
        <p:spPr>
          <a:xfrm>
            <a:off x="4681727" y="4261104"/>
            <a:ext cx="3035808" cy="777240"/>
          </a:xfrm>
          <a:prstGeom prst="rect">
            <a:avLst/>
          </a:prstGeom>
          <a:noFill/>
        </p:spPr>
        <p:txBody>
          <a:bodyPr wrap="square" lIns="45720" rIns="45720" anchor="ctr">
            <a:normAutofit/>
          </a:bodyPr>
          <a:lstStyle/>
          <a:p>
            <a:pPr algn="l">
              <a:spcBef>
                <a:spcPts val="0"/>
              </a:spcBef>
              <a:spcAft>
                <a:spcPts val="0"/>
              </a:spcAft>
            </a:pPr>
            <a:r>
              <a:rPr sz="1500" b="0" i="0">
                <a:solidFill>
                  <a:srgbClr val="203330"/>
                </a:solidFill>
                <a:latin typeface="Aptos"/>
              </a:rPr>
              <a:t>Recipient reserves the donation and confirms collection details.</a:t>
            </a:r>
          </a:p>
        </p:txBody>
      </p:sp>
      <p:sp>
        <p:nvSpPr>
          <p:cNvPr id="27" name="Rounded Rectangle 26"/>
          <p:cNvSpPr/>
          <p:nvPr/>
        </p:nvSpPr>
        <p:spPr>
          <a:xfrm>
            <a:off x="8302752" y="3639312"/>
            <a:ext cx="3456432" cy="15727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85632" y="3785616"/>
            <a:ext cx="502920" cy="402336"/>
          </a:xfrm>
          <a:prstGeom prst="rect">
            <a:avLst/>
          </a:prstGeom>
          <a:noFill/>
        </p:spPr>
        <p:txBody>
          <a:bodyPr wrap="none" lIns="45720" rIns="45720" anchor="ctr">
            <a:spAutoFit/>
          </a:bodyPr>
          <a:lstStyle/>
          <a:p>
            <a:pPr algn="l">
              <a:spcBef>
                <a:spcPts val="0"/>
              </a:spcBef>
              <a:spcAft>
                <a:spcPts val="0"/>
              </a:spcAft>
            </a:pPr>
            <a:r>
              <a:rPr sz="1800" b="1" i="0">
                <a:solidFill>
                  <a:srgbClr val="248058"/>
                </a:solidFill>
                <a:latin typeface="Aptos"/>
              </a:rPr>
              <a:t>06</a:t>
            </a:r>
          </a:p>
        </p:txBody>
      </p:sp>
      <p:sp>
        <p:nvSpPr>
          <p:cNvPr id="29" name="TextBox 28"/>
          <p:cNvSpPr txBox="1"/>
          <p:nvPr/>
        </p:nvSpPr>
        <p:spPr>
          <a:xfrm>
            <a:off x="9079992" y="3758184"/>
            <a:ext cx="2423160" cy="402336"/>
          </a:xfrm>
          <a:prstGeom prst="rect">
            <a:avLst/>
          </a:prstGeom>
          <a:noFill/>
        </p:spPr>
        <p:txBody>
          <a:bodyPr wrap="none" lIns="45720" rIns="45720" anchor="ctr">
            <a:spAutoFit/>
          </a:bodyPr>
          <a:lstStyle/>
          <a:p>
            <a:pPr algn="l">
              <a:spcBef>
                <a:spcPts val="0"/>
              </a:spcBef>
              <a:spcAft>
                <a:spcPts val="0"/>
              </a:spcAft>
            </a:pPr>
            <a:r>
              <a:rPr sz="1900" b="1" i="0">
                <a:solidFill>
                  <a:srgbClr val="0F4A3D"/>
                </a:solidFill>
                <a:latin typeface="Aptos Display"/>
              </a:rPr>
              <a:t>RECORD</a:t>
            </a:r>
          </a:p>
        </p:txBody>
      </p:sp>
      <p:sp>
        <p:nvSpPr>
          <p:cNvPr id="30" name="TextBox 29"/>
          <p:cNvSpPr txBox="1"/>
          <p:nvPr/>
        </p:nvSpPr>
        <p:spPr>
          <a:xfrm>
            <a:off x="8503920" y="4261104"/>
            <a:ext cx="3035808" cy="777240"/>
          </a:xfrm>
          <a:prstGeom prst="rect">
            <a:avLst/>
          </a:prstGeom>
          <a:noFill/>
        </p:spPr>
        <p:txBody>
          <a:bodyPr wrap="square" lIns="45720" rIns="45720" anchor="ctr">
            <a:normAutofit/>
          </a:bodyPr>
          <a:lstStyle/>
          <a:p>
            <a:pPr algn="l">
              <a:spcBef>
                <a:spcPts val="0"/>
              </a:spcBef>
              <a:spcAft>
                <a:spcPts val="0"/>
              </a:spcAft>
            </a:pPr>
            <a:r>
              <a:rPr sz="1500" b="0" i="0">
                <a:solidFill>
                  <a:srgbClr val="203330"/>
                </a:solidFill>
                <a:latin typeface="Aptos"/>
              </a:rPr>
              <a:t>Pickup status and outcome are recorded for the dashboard.</a:t>
            </a:r>
          </a:p>
        </p:txBody>
      </p:sp>
      <p:sp>
        <p:nvSpPr>
          <p:cNvPr id="31" name="TextBox 30"/>
          <p:cNvSpPr txBox="1"/>
          <p:nvPr/>
        </p:nvSpPr>
        <p:spPr>
          <a:xfrm>
            <a:off x="822960" y="5870448"/>
            <a:ext cx="10515600" cy="384048"/>
          </a:xfrm>
          <a:prstGeom prst="rect">
            <a:avLst/>
          </a:prstGeom>
          <a:noFill/>
        </p:spPr>
        <p:txBody>
          <a:bodyPr wrap="none" lIns="45720" rIns="45720" anchor="ctr">
            <a:spAutoFit/>
          </a:bodyPr>
          <a:lstStyle/>
          <a:p>
            <a:pPr algn="ctr">
              <a:spcBef>
                <a:spcPts val="0"/>
              </a:spcBef>
              <a:spcAft>
                <a:spcPts val="0"/>
              </a:spcAft>
            </a:pPr>
            <a:r>
              <a:rPr sz="1800" b="1" i="0">
                <a:solidFill>
                  <a:srgbClr val="248058"/>
                </a:solidFill>
                <a:latin typeface="Aptos"/>
              </a:rPr>
              <a:t>LIST  →  CHECK  →  RANK  →  EXPLAIN  →  RESERVE  →  COLLECT  →  RECORD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109553.png"/>
          <p:cNvPicPr>
            <a:picLocks noChangeAspect="1"/>
          </p:cNvPicPr>
          <p:nvPr/>
        </p:nvPicPr>
        <p:blipFill>
          <a:blip r:embed="rId2"/>
          <a:stretch>
            <a:fillRect/>
          </a:stretch>
        </p:blipFill>
        <p:spPr>
          <a:xfrm>
            <a:off x="952347" y="0"/>
            <a:ext cx="10287000" cy="685800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Methodology — Prototype Workflow</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The steps followed by the proposed workflow</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10</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777240" y="1490472"/>
            <a:ext cx="10652760" cy="56692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45336"/>
            <a:ext cx="566928" cy="384048"/>
          </a:xfrm>
          <a:prstGeom prst="rect">
            <a:avLst/>
          </a:prstGeom>
          <a:noFill/>
        </p:spPr>
        <p:txBody>
          <a:bodyPr wrap="none" lIns="45720" rIns="45720" anchor="ctr">
            <a:spAutoFit/>
          </a:bodyPr>
          <a:lstStyle/>
          <a:p>
            <a:pPr algn="l">
              <a:spcBef>
                <a:spcPts val="0"/>
              </a:spcBef>
              <a:spcAft>
                <a:spcPts val="0"/>
              </a:spcAft>
            </a:pPr>
            <a:r>
              <a:rPr sz="1600" b="1" i="0">
                <a:solidFill>
                  <a:srgbClr val="248058"/>
                </a:solidFill>
                <a:latin typeface="Aptos"/>
              </a:rPr>
              <a:t>01</a:t>
            </a:r>
          </a:p>
        </p:txBody>
      </p:sp>
      <p:sp>
        <p:nvSpPr>
          <p:cNvPr id="9" name="TextBox 8"/>
          <p:cNvSpPr txBox="1"/>
          <p:nvPr/>
        </p:nvSpPr>
        <p:spPr>
          <a:xfrm>
            <a:off x="1664208" y="1536192"/>
            <a:ext cx="214884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Submit listing</a:t>
            </a:r>
          </a:p>
        </p:txBody>
      </p:sp>
      <p:sp>
        <p:nvSpPr>
          <p:cNvPr id="10" name="TextBox 9"/>
          <p:cNvSpPr txBox="1"/>
          <p:nvPr/>
        </p:nvSpPr>
        <p:spPr>
          <a:xfrm>
            <a:off x="3840480" y="1536192"/>
            <a:ext cx="726948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Donor enters the available food, quantity, location, and deadline.</a:t>
            </a:r>
          </a:p>
        </p:txBody>
      </p:sp>
      <p:sp>
        <p:nvSpPr>
          <p:cNvPr id="11" name="Rounded Rectangle 10"/>
          <p:cNvSpPr/>
          <p:nvPr/>
        </p:nvSpPr>
        <p:spPr>
          <a:xfrm>
            <a:off x="777240" y="2203704"/>
            <a:ext cx="10652760" cy="56692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2258568"/>
            <a:ext cx="566928" cy="384048"/>
          </a:xfrm>
          <a:prstGeom prst="rect">
            <a:avLst/>
          </a:prstGeom>
          <a:noFill/>
        </p:spPr>
        <p:txBody>
          <a:bodyPr wrap="none" lIns="45720" rIns="45720" anchor="ctr">
            <a:spAutoFit/>
          </a:bodyPr>
          <a:lstStyle/>
          <a:p>
            <a:pPr algn="l">
              <a:spcBef>
                <a:spcPts val="0"/>
              </a:spcBef>
              <a:spcAft>
                <a:spcPts val="0"/>
              </a:spcAft>
            </a:pPr>
            <a:r>
              <a:rPr sz="1600" b="1" i="0">
                <a:solidFill>
                  <a:srgbClr val="248058"/>
                </a:solidFill>
                <a:latin typeface="Aptos"/>
              </a:rPr>
              <a:t>02</a:t>
            </a:r>
          </a:p>
        </p:txBody>
      </p:sp>
      <p:sp>
        <p:nvSpPr>
          <p:cNvPr id="13" name="TextBox 12"/>
          <p:cNvSpPr txBox="1"/>
          <p:nvPr/>
        </p:nvSpPr>
        <p:spPr>
          <a:xfrm>
            <a:off x="1664208" y="2249424"/>
            <a:ext cx="214884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Validate details</a:t>
            </a:r>
          </a:p>
        </p:txBody>
      </p:sp>
      <p:sp>
        <p:nvSpPr>
          <p:cNvPr id="14" name="TextBox 13"/>
          <p:cNvSpPr txBox="1"/>
          <p:nvPr/>
        </p:nvSpPr>
        <p:spPr>
          <a:xfrm>
            <a:off x="3840480" y="2249424"/>
            <a:ext cx="726948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Check required fields and reject missing or invalid values.</a:t>
            </a:r>
          </a:p>
        </p:txBody>
      </p:sp>
      <p:sp>
        <p:nvSpPr>
          <p:cNvPr id="15" name="Rounded Rectangle 14"/>
          <p:cNvSpPr/>
          <p:nvPr/>
        </p:nvSpPr>
        <p:spPr>
          <a:xfrm>
            <a:off x="777240" y="2916936"/>
            <a:ext cx="10652760" cy="56692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2971800"/>
            <a:ext cx="566928" cy="384048"/>
          </a:xfrm>
          <a:prstGeom prst="rect">
            <a:avLst/>
          </a:prstGeom>
          <a:noFill/>
        </p:spPr>
        <p:txBody>
          <a:bodyPr wrap="none" lIns="45720" rIns="45720" anchor="ctr">
            <a:spAutoFit/>
          </a:bodyPr>
          <a:lstStyle/>
          <a:p>
            <a:pPr algn="l">
              <a:spcBef>
                <a:spcPts val="0"/>
              </a:spcBef>
              <a:spcAft>
                <a:spcPts val="0"/>
              </a:spcAft>
            </a:pPr>
            <a:r>
              <a:rPr sz="1600" b="1" i="0">
                <a:solidFill>
                  <a:srgbClr val="248058"/>
                </a:solidFill>
                <a:latin typeface="Aptos"/>
              </a:rPr>
              <a:t>03</a:t>
            </a:r>
          </a:p>
        </p:txBody>
      </p:sp>
      <p:sp>
        <p:nvSpPr>
          <p:cNvPr id="17" name="TextBox 16"/>
          <p:cNvSpPr txBox="1"/>
          <p:nvPr/>
        </p:nvSpPr>
        <p:spPr>
          <a:xfrm>
            <a:off x="1664208" y="2962656"/>
            <a:ext cx="214884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Check recipient fit</a:t>
            </a:r>
          </a:p>
        </p:txBody>
      </p:sp>
      <p:sp>
        <p:nvSpPr>
          <p:cNvPr id="18" name="TextBox 17"/>
          <p:cNvSpPr txBox="1"/>
          <p:nvPr/>
        </p:nvSpPr>
        <p:spPr>
          <a:xfrm>
            <a:off x="3840480" y="2962656"/>
            <a:ext cx="726948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Compare listing details with recipient needs and capacity.</a:t>
            </a:r>
          </a:p>
        </p:txBody>
      </p:sp>
      <p:sp>
        <p:nvSpPr>
          <p:cNvPr id="19" name="Rounded Rectangle 18"/>
          <p:cNvSpPr/>
          <p:nvPr/>
        </p:nvSpPr>
        <p:spPr>
          <a:xfrm>
            <a:off x="777240" y="3630168"/>
            <a:ext cx="10652760" cy="56692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3685031"/>
            <a:ext cx="566928" cy="384048"/>
          </a:xfrm>
          <a:prstGeom prst="rect">
            <a:avLst/>
          </a:prstGeom>
          <a:noFill/>
        </p:spPr>
        <p:txBody>
          <a:bodyPr wrap="none" lIns="45720" rIns="45720" anchor="ctr">
            <a:spAutoFit/>
          </a:bodyPr>
          <a:lstStyle/>
          <a:p>
            <a:pPr algn="l">
              <a:spcBef>
                <a:spcPts val="0"/>
              </a:spcBef>
              <a:spcAft>
                <a:spcPts val="0"/>
              </a:spcAft>
            </a:pPr>
            <a:r>
              <a:rPr sz="1600" b="1" i="0">
                <a:solidFill>
                  <a:srgbClr val="248058"/>
                </a:solidFill>
                <a:latin typeface="Aptos"/>
              </a:rPr>
              <a:t>04</a:t>
            </a:r>
          </a:p>
        </p:txBody>
      </p:sp>
      <p:sp>
        <p:nvSpPr>
          <p:cNvPr id="21" name="TextBox 20"/>
          <p:cNvSpPr txBox="1"/>
          <p:nvPr/>
        </p:nvSpPr>
        <p:spPr>
          <a:xfrm>
            <a:off x="1664208" y="3675887"/>
            <a:ext cx="214884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Rank options</a:t>
            </a:r>
          </a:p>
        </p:txBody>
      </p:sp>
      <p:sp>
        <p:nvSpPr>
          <p:cNvPr id="22" name="TextBox 21"/>
          <p:cNvSpPr txBox="1"/>
          <p:nvPr/>
        </p:nvSpPr>
        <p:spPr>
          <a:xfrm>
            <a:off x="3840480" y="3675887"/>
            <a:ext cx="726948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Apply transparent urgency and feasibility rules.</a:t>
            </a:r>
          </a:p>
        </p:txBody>
      </p:sp>
      <p:sp>
        <p:nvSpPr>
          <p:cNvPr id="23" name="Rounded Rectangle 22"/>
          <p:cNvSpPr/>
          <p:nvPr/>
        </p:nvSpPr>
        <p:spPr>
          <a:xfrm>
            <a:off x="777240" y="4343400"/>
            <a:ext cx="10652760" cy="56692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60120" y="4398264"/>
            <a:ext cx="566928" cy="384048"/>
          </a:xfrm>
          <a:prstGeom prst="rect">
            <a:avLst/>
          </a:prstGeom>
          <a:noFill/>
        </p:spPr>
        <p:txBody>
          <a:bodyPr wrap="none" lIns="45720" rIns="45720" anchor="ctr">
            <a:spAutoFit/>
          </a:bodyPr>
          <a:lstStyle/>
          <a:p>
            <a:pPr algn="l">
              <a:spcBef>
                <a:spcPts val="0"/>
              </a:spcBef>
              <a:spcAft>
                <a:spcPts val="0"/>
              </a:spcAft>
            </a:pPr>
            <a:r>
              <a:rPr sz="1600" b="1" i="0">
                <a:solidFill>
                  <a:srgbClr val="248058"/>
                </a:solidFill>
                <a:latin typeface="Aptos"/>
              </a:rPr>
              <a:t>05</a:t>
            </a:r>
          </a:p>
        </p:txBody>
      </p:sp>
      <p:sp>
        <p:nvSpPr>
          <p:cNvPr id="25" name="TextBox 24"/>
          <p:cNvSpPr txBox="1"/>
          <p:nvPr/>
        </p:nvSpPr>
        <p:spPr>
          <a:xfrm>
            <a:off x="1664208" y="4389120"/>
            <a:ext cx="214884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Reserve donation</a:t>
            </a:r>
          </a:p>
        </p:txBody>
      </p:sp>
      <p:sp>
        <p:nvSpPr>
          <p:cNvPr id="26" name="TextBox 25"/>
          <p:cNvSpPr txBox="1"/>
          <p:nvPr/>
        </p:nvSpPr>
        <p:spPr>
          <a:xfrm>
            <a:off x="3840480" y="4389120"/>
            <a:ext cx="726948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Record the reservation and agreed collection details.</a:t>
            </a:r>
          </a:p>
        </p:txBody>
      </p:sp>
      <p:sp>
        <p:nvSpPr>
          <p:cNvPr id="27" name="Rounded Rectangle 26"/>
          <p:cNvSpPr/>
          <p:nvPr/>
        </p:nvSpPr>
        <p:spPr>
          <a:xfrm>
            <a:off x="777240" y="5056632"/>
            <a:ext cx="10652760" cy="56692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60120" y="5111496"/>
            <a:ext cx="566928" cy="384048"/>
          </a:xfrm>
          <a:prstGeom prst="rect">
            <a:avLst/>
          </a:prstGeom>
          <a:noFill/>
        </p:spPr>
        <p:txBody>
          <a:bodyPr wrap="none" lIns="45720" rIns="45720" anchor="ctr">
            <a:spAutoFit/>
          </a:bodyPr>
          <a:lstStyle/>
          <a:p>
            <a:pPr algn="l">
              <a:spcBef>
                <a:spcPts val="0"/>
              </a:spcBef>
              <a:spcAft>
                <a:spcPts val="0"/>
              </a:spcAft>
            </a:pPr>
            <a:r>
              <a:rPr sz="1600" b="1" i="0">
                <a:solidFill>
                  <a:srgbClr val="248058"/>
                </a:solidFill>
                <a:latin typeface="Aptos"/>
              </a:rPr>
              <a:t>06</a:t>
            </a:r>
          </a:p>
        </p:txBody>
      </p:sp>
      <p:sp>
        <p:nvSpPr>
          <p:cNvPr id="29" name="TextBox 28"/>
          <p:cNvSpPr txBox="1"/>
          <p:nvPr/>
        </p:nvSpPr>
        <p:spPr>
          <a:xfrm>
            <a:off x="1664208" y="5102352"/>
            <a:ext cx="214884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Record outcome</a:t>
            </a:r>
          </a:p>
        </p:txBody>
      </p:sp>
      <p:sp>
        <p:nvSpPr>
          <p:cNvPr id="30" name="TextBox 29"/>
          <p:cNvSpPr txBox="1"/>
          <p:nvPr/>
        </p:nvSpPr>
        <p:spPr>
          <a:xfrm>
            <a:off x="3840480" y="5102352"/>
            <a:ext cx="726948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Update collection status and use records in dashboard summaries.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Technology Used</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Technologies described in the project and their intended role</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11</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749808" y="1417320"/>
            <a:ext cx="10698480" cy="694944"/>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490472"/>
            <a:ext cx="1874519" cy="512064"/>
          </a:xfrm>
          <a:prstGeom prst="rect">
            <a:avLst/>
          </a:prstGeom>
          <a:noFill/>
        </p:spPr>
        <p:txBody>
          <a:bodyPr wrap="none" lIns="45720" rIns="45720" anchor="ctr">
            <a:spAutoFit/>
          </a:bodyPr>
          <a:lstStyle/>
          <a:p>
            <a:pPr algn="l">
              <a:spcBef>
                <a:spcPts val="0"/>
              </a:spcBef>
              <a:spcAft>
                <a:spcPts val="0"/>
              </a:spcAft>
            </a:pPr>
            <a:r>
              <a:rPr sz="1300" b="1" i="0">
                <a:solidFill>
                  <a:srgbClr val="248058"/>
                </a:solidFill>
                <a:latin typeface="Aptos"/>
              </a:rPr>
              <a:t>FRONTEND</a:t>
            </a:r>
          </a:p>
        </p:txBody>
      </p:sp>
      <p:sp>
        <p:nvSpPr>
          <p:cNvPr id="9" name="TextBox 8"/>
          <p:cNvSpPr txBox="1"/>
          <p:nvPr/>
        </p:nvSpPr>
        <p:spPr>
          <a:xfrm>
            <a:off x="2743200" y="1490472"/>
            <a:ext cx="2971800" cy="51206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HTML5 / HTML</a:t>
            </a:r>
          </a:p>
        </p:txBody>
      </p:sp>
      <p:sp>
        <p:nvSpPr>
          <p:cNvPr id="10" name="TextBox 9"/>
          <p:cNvSpPr txBox="1"/>
          <p:nvPr/>
        </p:nvSpPr>
        <p:spPr>
          <a:xfrm>
            <a:off x="5760720" y="1490472"/>
            <a:ext cx="5349240" cy="512064"/>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Page structure and content.</a:t>
            </a:r>
          </a:p>
        </p:txBody>
      </p:sp>
      <p:sp>
        <p:nvSpPr>
          <p:cNvPr id="11" name="Rounded Rectangle 10"/>
          <p:cNvSpPr/>
          <p:nvPr/>
        </p:nvSpPr>
        <p:spPr>
          <a:xfrm>
            <a:off x="749808" y="2276856"/>
            <a:ext cx="10698480" cy="694944"/>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50976" y="2350008"/>
            <a:ext cx="1874519" cy="512064"/>
          </a:xfrm>
          <a:prstGeom prst="rect">
            <a:avLst/>
          </a:prstGeom>
          <a:noFill/>
        </p:spPr>
        <p:txBody>
          <a:bodyPr wrap="none" lIns="45720" rIns="45720" anchor="ctr">
            <a:spAutoFit/>
          </a:bodyPr>
          <a:lstStyle/>
          <a:p>
            <a:pPr algn="l">
              <a:spcBef>
                <a:spcPts val="0"/>
              </a:spcBef>
              <a:spcAft>
                <a:spcPts val="0"/>
              </a:spcAft>
            </a:pPr>
            <a:r>
              <a:rPr sz="1300" b="1" i="0">
                <a:solidFill>
                  <a:srgbClr val="248058"/>
                </a:solidFill>
                <a:latin typeface="Aptos"/>
              </a:rPr>
              <a:t>STYLING</a:t>
            </a:r>
          </a:p>
        </p:txBody>
      </p:sp>
      <p:sp>
        <p:nvSpPr>
          <p:cNvPr id="13" name="TextBox 12"/>
          <p:cNvSpPr txBox="1"/>
          <p:nvPr/>
        </p:nvSpPr>
        <p:spPr>
          <a:xfrm>
            <a:off x="2743200" y="2350008"/>
            <a:ext cx="2971800" cy="51206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CSS3</a:t>
            </a:r>
          </a:p>
        </p:txBody>
      </p:sp>
      <p:sp>
        <p:nvSpPr>
          <p:cNvPr id="14" name="TextBox 13"/>
          <p:cNvSpPr txBox="1"/>
          <p:nvPr/>
        </p:nvSpPr>
        <p:spPr>
          <a:xfrm>
            <a:off x="5760720" y="2350008"/>
            <a:ext cx="5349240" cy="512064"/>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Layout, readability, and responsive presentation.</a:t>
            </a:r>
          </a:p>
        </p:txBody>
      </p:sp>
      <p:sp>
        <p:nvSpPr>
          <p:cNvPr id="15" name="Rounded Rectangle 14"/>
          <p:cNvSpPr/>
          <p:nvPr/>
        </p:nvSpPr>
        <p:spPr>
          <a:xfrm>
            <a:off x="749808" y="3136391"/>
            <a:ext cx="10698480" cy="694944"/>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50976" y="3209544"/>
            <a:ext cx="1874519" cy="512064"/>
          </a:xfrm>
          <a:prstGeom prst="rect">
            <a:avLst/>
          </a:prstGeom>
          <a:noFill/>
        </p:spPr>
        <p:txBody>
          <a:bodyPr wrap="none" lIns="45720" rIns="45720" anchor="ctr">
            <a:spAutoFit/>
          </a:bodyPr>
          <a:lstStyle/>
          <a:p>
            <a:pPr algn="l">
              <a:spcBef>
                <a:spcPts val="0"/>
              </a:spcBef>
              <a:spcAft>
                <a:spcPts val="0"/>
              </a:spcAft>
            </a:pPr>
            <a:r>
              <a:rPr sz="1300" b="1" i="0">
                <a:solidFill>
                  <a:srgbClr val="248058"/>
                </a:solidFill>
                <a:latin typeface="Aptos"/>
              </a:rPr>
              <a:t>APPLICATION LOGIC</a:t>
            </a:r>
          </a:p>
        </p:txBody>
      </p:sp>
      <p:sp>
        <p:nvSpPr>
          <p:cNvPr id="17" name="TextBox 16"/>
          <p:cNvSpPr txBox="1"/>
          <p:nvPr/>
        </p:nvSpPr>
        <p:spPr>
          <a:xfrm>
            <a:off x="2743200" y="3209544"/>
            <a:ext cx="2971800" cy="51206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JavaScript</a:t>
            </a:r>
          </a:p>
        </p:txBody>
      </p:sp>
      <p:sp>
        <p:nvSpPr>
          <p:cNvPr id="18" name="TextBox 17"/>
          <p:cNvSpPr txBox="1"/>
          <p:nvPr/>
        </p:nvSpPr>
        <p:spPr>
          <a:xfrm>
            <a:off x="5760720" y="3209544"/>
            <a:ext cx="5349240" cy="512064"/>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Forms, validation, matching rules, and interface behaviour.</a:t>
            </a:r>
          </a:p>
        </p:txBody>
      </p:sp>
      <p:sp>
        <p:nvSpPr>
          <p:cNvPr id="19" name="Rounded Rectangle 18"/>
          <p:cNvSpPr/>
          <p:nvPr/>
        </p:nvSpPr>
        <p:spPr>
          <a:xfrm>
            <a:off x="749808" y="3995928"/>
            <a:ext cx="10698480" cy="694944"/>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069080"/>
            <a:ext cx="1874519" cy="512064"/>
          </a:xfrm>
          <a:prstGeom prst="rect">
            <a:avLst/>
          </a:prstGeom>
          <a:noFill/>
        </p:spPr>
        <p:txBody>
          <a:bodyPr wrap="none" lIns="45720" rIns="45720" anchor="ctr">
            <a:spAutoFit/>
          </a:bodyPr>
          <a:lstStyle/>
          <a:p>
            <a:pPr algn="l">
              <a:spcBef>
                <a:spcPts val="0"/>
              </a:spcBef>
              <a:spcAft>
                <a:spcPts val="0"/>
              </a:spcAft>
            </a:pPr>
            <a:r>
              <a:rPr sz="1300" b="1" i="0">
                <a:solidFill>
                  <a:srgbClr val="248058"/>
                </a:solidFill>
                <a:latin typeface="Aptos"/>
              </a:rPr>
              <a:t>STATIC HOSTING</a:t>
            </a:r>
          </a:p>
        </p:txBody>
      </p:sp>
      <p:sp>
        <p:nvSpPr>
          <p:cNvPr id="21" name="TextBox 20"/>
          <p:cNvSpPr txBox="1"/>
          <p:nvPr/>
        </p:nvSpPr>
        <p:spPr>
          <a:xfrm>
            <a:off x="2743200" y="4069080"/>
            <a:ext cx="2971800" cy="51206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Netlify</a:t>
            </a:r>
          </a:p>
        </p:txBody>
      </p:sp>
      <p:sp>
        <p:nvSpPr>
          <p:cNvPr id="22" name="TextBox 21"/>
          <p:cNvSpPr txBox="1"/>
          <p:nvPr/>
        </p:nvSpPr>
        <p:spPr>
          <a:xfrm>
            <a:off x="5760720" y="4069080"/>
            <a:ext cx="5349240" cy="512064"/>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Possible hosting for a static web front end.</a:t>
            </a:r>
          </a:p>
        </p:txBody>
      </p:sp>
      <p:sp>
        <p:nvSpPr>
          <p:cNvPr id="23" name="Rounded Rectangle 22"/>
          <p:cNvSpPr/>
          <p:nvPr/>
        </p:nvSpPr>
        <p:spPr>
          <a:xfrm>
            <a:off x="749808" y="4855464"/>
            <a:ext cx="10698480" cy="694944"/>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50976" y="4928616"/>
            <a:ext cx="1874519" cy="512064"/>
          </a:xfrm>
          <a:prstGeom prst="rect">
            <a:avLst/>
          </a:prstGeom>
          <a:noFill/>
        </p:spPr>
        <p:txBody>
          <a:bodyPr wrap="none" lIns="45720" rIns="45720" anchor="ctr">
            <a:spAutoFit/>
          </a:bodyPr>
          <a:lstStyle/>
          <a:p>
            <a:pPr algn="l">
              <a:spcBef>
                <a:spcPts val="0"/>
              </a:spcBef>
              <a:spcAft>
                <a:spcPts val="0"/>
              </a:spcAft>
            </a:pPr>
            <a:r>
              <a:rPr sz="1300" b="1" i="0">
                <a:solidFill>
                  <a:srgbClr val="248058"/>
                </a:solidFill>
                <a:latin typeface="Aptos"/>
              </a:rPr>
              <a:t>TARGET DATA LAYER</a:t>
            </a:r>
          </a:p>
        </p:txBody>
      </p:sp>
      <p:sp>
        <p:nvSpPr>
          <p:cNvPr id="25" name="TextBox 24"/>
          <p:cNvSpPr txBox="1"/>
          <p:nvPr/>
        </p:nvSpPr>
        <p:spPr>
          <a:xfrm>
            <a:off x="2743200" y="4928616"/>
            <a:ext cx="2971800" cy="51206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Supabase PostgreSQL + Auth</a:t>
            </a:r>
          </a:p>
        </p:txBody>
      </p:sp>
      <p:sp>
        <p:nvSpPr>
          <p:cNvPr id="26" name="TextBox 25"/>
          <p:cNvSpPr txBox="1"/>
          <p:nvPr/>
        </p:nvSpPr>
        <p:spPr>
          <a:xfrm>
            <a:off x="5760720" y="4928616"/>
            <a:ext cx="5349240" cy="512064"/>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Target shared database and authentication design, if configured and tested.</a:t>
            </a:r>
          </a:p>
        </p:txBody>
      </p:sp>
      <p:sp>
        <p:nvSpPr>
          <p:cNvPr id="27" name="TextBox 26"/>
          <p:cNvSpPr txBox="1"/>
          <p:nvPr/>
        </p:nvSpPr>
        <p:spPr>
          <a:xfrm>
            <a:off x="822960" y="5870448"/>
            <a:ext cx="10424160" cy="384048"/>
          </a:xfrm>
          <a:prstGeom prst="rect">
            <a:avLst/>
          </a:prstGeom>
          <a:noFill/>
        </p:spPr>
        <p:txBody>
          <a:bodyPr wrap="none" lIns="45720" rIns="45720" anchor="ctr">
            <a:spAutoFit/>
          </a:bodyPr>
          <a:lstStyle/>
          <a:p>
            <a:pPr algn="l">
              <a:spcBef>
                <a:spcPts val="0"/>
              </a:spcBef>
              <a:spcAft>
                <a:spcPts val="0"/>
              </a:spcAft>
            </a:pPr>
            <a:r>
              <a:rPr sz="1400" b="0" i="1">
                <a:solidFill>
                  <a:srgbClr val="536963"/>
                </a:solidFill>
                <a:latin typeface="Aptos"/>
              </a:rPr>
              <a:t>Do not present target cloud services as completed features unless deployment, authentication, and persistence have been verified.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Dataset and Data Requirements</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Core records needed to compare donations and track collection</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12</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graphicFrame>
        <p:nvGraphicFramePr>
          <p:cNvPr id="7" name="Table 6"/>
          <p:cNvGraphicFramePr>
            <a:graphicFrameLocks noGrp="1"/>
          </p:cNvGraphicFramePr>
          <p:nvPr/>
        </p:nvGraphicFramePr>
        <p:xfrm>
          <a:off x="749808" y="1481328"/>
          <a:ext cx="10698480" cy="4462272"/>
        </p:xfrm>
        <a:graphic>
          <a:graphicData uri="http://schemas.openxmlformats.org/drawingml/2006/table">
            <a:tbl>
              <a:tblPr firstRow="1" bandRow="1">
                <a:tableStyleId>{5C22544A-7EE6-4342-B048-85BDC9FD1C3A}</a:tableStyleId>
              </a:tblPr>
              <a:tblGrid>
                <a:gridCol w="2331720"/>
                <a:gridCol w="8366760"/>
              </a:tblGrid>
              <a:tr h="557784">
                <a:tc>
                  <a:txBody>
                    <a:bodyPr/>
                    <a:lstStyle/>
                    <a:p>
                      <a:pPr algn="l">
                        <a:defRPr sz="1600" b="1">
                          <a:solidFill>
                            <a:srgbClr val="FFFFFF"/>
                          </a:solidFill>
                          <a:latin typeface="Aptos"/>
                        </a:defRPr>
                      </a:pPr>
                      <a:r>
                        <a:t>Record</a:t>
                      </a:r>
                    </a:p>
                  </a:txBody>
                  <a:tcPr marL="137160" marR="109728" marT="36576" marB="18288">
                    <a:solidFill>
                      <a:srgbClr val="0F4A3D"/>
                    </a:solidFill>
                  </a:tcPr>
                </a:tc>
                <a:tc>
                  <a:txBody>
                    <a:bodyPr/>
                    <a:lstStyle/>
                    <a:p>
                      <a:pPr algn="l">
                        <a:defRPr sz="1600" b="1">
                          <a:solidFill>
                            <a:srgbClr val="FFFFFF"/>
                          </a:solidFill>
                          <a:latin typeface="Aptos"/>
                        </a:defRPr>
                      </a:pPr>
                      <a:r>
                        <a:t>Key fields</a:t>
                      </a:r>
                    </a:p>
                  </a:txBody>
                  <a:tcPr marL="137160" marR="109728" marT="36576" marB="18288">
                    <a:solidFill>
                      <a:srgbClr val="0F4A3D"/>
                    </a:solidFill>
                  </a:tcPr>
                </a:tc>
              </a:tr>
              <a:tr h="557784">
                <a:tc>
                  <a:txBody>
                    <a:bodyPr/>
                    <a:lstStyle/>
                    <a:p>
                      <a:pPr algn="l">
                        <a:defRPr sz="1500" b="1">
                          <a:solidFill>
                            <a:srgbClr val="203330"/>
                          </a:solidFill>
                          <a:latin typeface="Aptos"/>
                        </a:defRPr>
                      </a:pPr>
                      <a:r>
                        <a:t>Donation</a:t>
                      </a:r>
                    </a:p>
                  </a:txBody>
                  <a:tcPr marL="137160" marR="109728" marT="36576" marB="18288">
                    <a:solidFill>
                      <a:srgbClr val="E7F5EC"/>
                    </a:solidFill>
                  </a:tcPr>
                </a:tc>
                <a:tc>
                  <a:txBody>
                    <a:bodyPr/>
                    <a:lstStyle/>
                    <a:p>
                      <a:pPr algn="l">
                        <a:defRPr sz="1500" b="0">
                          <a:solidFill>
                            <a:srgbClr val="203330"/>
                          </a:solidFill>
                          <a:latin typeface="Aptos"/>
                        </a:defRPr>
                      </a:pPr>
                      <a:r>
                        <a:t>Category, quantity, unit, availability time, pickup location, deadline</a:t>
                      </a:r>
                    </a:p>
                  </a:txBody>
                  <a:tcPr marL="137160" marR="109728" marT="36576" marB="18288">
                    <a:solidFill>
                      <a:srgbClr val="E7F5EC"/>
                    </a:solidFill>
                  </a:tcPr>
                </a:tc>
              </a:tr>
              <a:tr h="557784">
                <a:tc>
                  <a:txBody>
                    <a:bodyPr/>
                    <a:lstStyle/>
                    <a:p>
                      <a:pPr algn="l">
                        <a:defRPr sz="1500" b="1">
                          <a:solidFill>
                            <a:srgbClr val="203330"/>
                          </a:solidFill>
                          <a:latin typeface="Aptos"/>
                        </a:defRPr>
                      </a:pPr>
                      <a:r>
                        <a:t>Donor</a:t>
                      </a:r>
                    </a:p>
                  </a:txBody>
                  <a:tcPr marL="137160" marR="109728" marT="36576" marB="18288">
                    <a:solidFill>
                      <a:srgbClr val="FFFFFF"/>
                    </a:solidFill>
                  </a:tcPr>
                </a:tc>
                <a:tc>
                  <a:txBody>
                    <a:bodyPr/>
                    <a:lstStyle/>
                    <a:p>
                      <a:pPr algn="l">
                        <a:defRPr sz="1500" b="0">
                          <a:solidFill>
                            <a:srgbClr val="203330"/>
                          </a:solidFill>
                          <a:latin typeface="Aptos"/>
                        </a:defRPr>
                      </a:pPr>
                      <a:r>
                        <a:t>Contact or organisation ID, listing details</a:t>
                      </a:r>
                    </a:p>
                  </a:txBody>
                  <a:tcPr marL="137160" marR="109728" marT="36576" marB="18288">
                    <a:solidFill>
                      <a:srgbClr val="FFFFFF"/>
                    </a:solidFill>
                  </a:tcPr>
                </a:tc>
              </a:tr>
              <a:tr h="557784">
                <a:tc>
                  <a:txBody>
                    <a:bodyPr/>
                    <a:lstStyle/>
                    <a:p>
                      <a:pPr algn="l">
                        <a:defRPr sz="1500" b="1">
                          <a:solidFill>
                            <a:srgbClr val="203330"/>
                          </a:solidFill>
                          <a:latin typeface="Aptos"/>
                        </a:defRPr>
                      </a:pPr>
                      <a:r>
                        <a:t>Recipient</a:t>
                      </a:r>
                    </a:p>
                  </a:txBody>
                  <a:tcPr marL="137160" marR="109728" marT="36576" marB="18288">
                    <a:solidFill>
                      <a:srgbClr val="E7F5EC"/>
                    </a:solidFill>
                  </a:tcPr>
                </a:tc>
                <a:tc>
                  <a:txBody>
                    <a:bodyPr/>
                    <a:lstStyle/>
                    <a:p>
                      <a:pPr algn="l">
                        <a:defRPr sz="1500" b="0">
                          <a:solidFill>
                            <a:srgbClr val="203330"/>
                          </a:solidFill>
                          <a:latin typeface="Aptos"/>
                        </a:defRPr>
                      </a:pPr>
                      <a:r>
                        <a:t>Food categories, required quantity, service location, pickup capacity</a:t>
                      </a:r>
                    </a:p>
                  </a:txBody>
                  <a:tcPr marL="137160" marR="109728" marT="36576" marB="18288">
                    <a:solidFill>
                      <a:srgbClr val="E7F5EC"/>
                    </a:solidFill>
                  </a:tcPr>
                </a:tc>
              </a:tr>
              <a:tr h="557784">
                <a:tc>
                  <a:txBody>
                    <a:bodyPr/>
                    <a:lstStyle/>
                    <a:p>
                      <a:pPr algn="l">
                        <a:defRPr sz="1500" b="1">
                          <a:solidFill>
                            <a:srgbClr val="203330"/>
                          </a:solidFill>
                          <a:latin typeface="Aptos"/>
                        </a:defRPr>
                      </a:pPr>
                      <a:r>
                        <a:t>Reservation</a:t>
                      </a:r>
                    </a:p>
                  </a:txBody>
                  <a:tcPr marL="137160" marR="109728" marT="36576" marB="18288">
                    <a:solidFill>
                      <a:srgbClr val="FFFFFF"/>
                    </a:solidFill>
                  </a:tcPr>
                </a:tc>
                <a:tc>
                  <a:txBody>
                    <a:bodyPr/>
                    <a:lstStyle/>
                    <a:p>
                      <a:pPr algn="l">
                        <a:defRPr sz="1500" b="0">
                          <a:solidFill>
                            <a:srgbClr val="203330"/>
                          </a:solidFill>
                          <a:latin typeface="Aptos"/>
                        </a:defRPr>
                      </a:pPr>
                      <a:r>
                        <a:t>Donation, recipient, reservation time, status</a:t>
                      </a:r>
                    </a:p>
                  </a:txBody>
                  <a:tcPr marL="137160" marR="109728" marT="36576" marB="18288">
                    <a:solidFill>
                      <a:srgbClr val="FFFFFF"/>
                    </a:solidFill>
                  </a:tcPr>
                </a:tc>
              </a:tr>
              <a:tr h="557784">
                <a:tc>
                  <a:txBody>
                    <a:bodyPr/>
                    <a:lstStyle/>
                    <a:p>
                      <a:pPr algn="l">
                        <a:defRPr sz="1500" b="1">
                          <a:solidFill>
                            <a:srgbClr val="203330"/>
                          </a:solidFill>
                          <a:latin typeface="Aptos"/>
                        </a:defRPr>
                      </a:pPr>
                      <a:r>
                        <a:t>Collection</a:t>
                      </a:r>
                    </a:p>
                  </a:txBody>
                  <a:tcPr marL="137160" marR="109728" marT="36576" marB="18288">
                    <a:solidFill>
                      <a:srgbClr val="E7F5EC"/>
                    </a:solidFill>
                  </a:tcPr>
                </a:tc>
                <a:tc>
                  <a:txBody>
                    <a:bodyPr/>
                    <a:lstStyle/>
                    <a:p>
                      <a:pPr algn="l">
                        <a:defRPr sz="1500" b="0">
                          <a:solidFill>
                            <a:srgbClr val="203330"/>
                          </a:solidFill>
                          <a:latin typeface="Aptos"/>
                        </a:defRPr>
                      </a:pPr>
                      <a:r>
                        <a:t>Pickup status, completion time, cancellation or missed pickup</a:t>
                      </a:r>
                    </a:p>
                  </a:txBody>
                  <a:tcPr marL="137160" marR="109728" marT="36576" marB="18288">
                    <a:solidFill>
                      <a:srgbClr val="E7F5EC"/>
                    </a:solidFill>
                  </a:tcPr>
                </a:tc>
              </a:tr>
              <a:tr h="557784">
                <a:tc>
                  <a:txBody>
                    <a:bodyPr/>
                    <a:lstStyle/>
                    <a:p>
                      <a:pPr algn="l">
                        <a:defRPr sz="1500" b="1">
                          <a:solidFill>
                            <a:srgbClr val="203330"/>
                          </a:solidFill>
                          <a:latin typeface="Aptos"/>
                        </a:defRPr>
                      </a:pPr>
                      <a:r>
                        <a:t>Notes / notifications</a:t>
                      </a:r>
                    </a:p>
                  </a:txBody>
                  <a:tcPr marL="137160" marR="109728" marT="36576" marB="18288">
                    <a:solidFill>
                      <a:srgbClr val="FFFFFF"/>
                    </a:solidFill>
                  </a:tcPr>
                </a:tc>
                <a:tc>
                  <a:txBody>
                    <a:bodyPr/>
                    <a:lstStyle/>
                    <a:p>
                      <a:pPr algn="l">
                        <a:defRPr sz="1500" b="0">
                          <a:solidFill>
                            <a:srgbClr val="203330"/>
                          </a:solidFill>
                          <a:latin typeface="Aptos"/>
                        </a:defRPr>
                      </a:pPr>
                      <a:r>
                        <a:t>Work notes, resolution summary, recipient, read flag</a:t>
                      </a:r>
                    </a:p>
                  </a:txBody>
                  <a:tcPr marL="137160" marR="109728" marT="36576" marB="18288">
                    <a:solidFill>
                      <a:srgbClr val="FFFFFF"/>
                    </a:solidFill>
                  </a:tcPr>
                </a:tc>
              </a:tr>
              <a:tr h="557784">
                <a:tc>
                  <a:txBody>
                    <a:bodyPr/>
                    <a:lstStyle/>
                    <a:p>
                      <a:pPr algn="l">
                        <a:defRPr sz="1500" b="1">
                          <a:solidFill>
                            <a:srgbClr val="203330"/>
                          </a:solidFill>
                          <a:latin typeface="Aptos"/>
                        </a:defRPr>
                      </a:pPr>
                      <a:r>
                        <a:t>Optional photos</a:t>
                      </a:r>
                    </a:p>
                  </a:txBody>
                  <a:tcPr marL="137160" marR="109728" marT="36576" marB="18288">
                    <a:solidFill>
                      <a:srgbClr val="E7F5EC"/>
                    </a:solidFill>
                  </a:tcPr>
                </a:tc>
                <a:tc>
                  <a:txBody>
                    <a:bodyPr/>
                    <a:lstStyle/>
                    <a:p>
                      <a:pPr algn="l">
                        <a:defRPr sz="1500" b="0">
                          <a:solidFill>
                            <a:srgbClr val="203330"/>
                          </a:solidFill>
                          <a:latin typeface="Aptos"/>
                        </a:defRPr>
                      </a:pPr>
                      <a:r>
                        <a:t>Storage path, linked record, upload time</a:t>
                      </a:r>
                    </a:p>
                  </a:txBody>
                  <a:tcPr marL="137160" marR="109728" marT="36576" marB="18288">
                    <a:solidFill>
                      <a:srgbClr val="E7F5EC"/>
                    </a:solidFill>
                  </a:tcPr>
                </a:tc>
              </a:tr>
            </a:tbl>
          </a:graphicData>
        </a:graphic>
      </p:graphicFrame>
      <p:sp>
        <p:nvSpPr>
          <p:cNvPr id="8" name="TextBox 7"/>
          <p:cNvSpPr txBox="1"/>
          <p:nvPr/>
        </p:nvSpPr>
        <p:spPr>
          <a:xfrm>
            <a:off x="822960" y="6080760"/>
            <a:ext cx="10424160" cy="228600"/>
          </a:xfrm>
          <a:prstGeom prst="rect">
            <a:avLst/>
          </a:prstGeom>
          <a:noFill/>
        </p:spPr>
        <p:txBody>
          <a:bodyPr wrap="none" lIns="45720" rIns="45720" anchor="ctr">
            <a:spAutoFit/>
          </a:bodyPr>
          <a:lstStyle/>
          <a:p>
            <a:pPr algn="l">
              <a:spcBef>
                <a:spcPts val="0"/>
              </a:spcBef>
              <a:spcAft>
                <a:spcPts val="0"/>
              </a:spcAft>
            </a:pPr>
            <a:r>
              <a:rPr sz="1300" b="0" i="1">
                <a:solidFill>
                  <a:srgbClr val="536963"/>
                </a:solidFill>
                <a:latin typeface="Aptos"/>
              </a:rPr>
              <a:t>Use clearly labelled demo records until verified partner data is available.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System Modules</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Modules intended to connect donation input with collection outcomes</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13</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749808" y="1481328"/>
            <a:ext cx="5138928" cy="11155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50976" y="1591056"/>
            <a:ext cx="4709160" cy="32918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Display"/>
              </a:rPr>
              <a:t>Donation input</a:t>
            </a:r>
          </a:p>
        </p:txBody>
      </p:sp>
      <p:sp>
        <p:nvSpPr>
          <p:cNvPr id="9" name="TextBox 8"/>
          <p:cNvSpPr txBox="1"/>
          <p:nvPr/>
        </p:nvSpPr>
        <p:spPr>
          <a:xfrm>
            <a:off x="950976" y="1965960"/>
            <a:ext cx="4709160" cy="475488"/>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Create listings and validate required fields.</a:t>
            </a:r>
          </a:p>
        </p:txBody>
      </p:sp>
      <p:sp>
        <p:nvSpPr>
          <p:cNvPr id="10" name="Rounded Rectangle 9"/>
          <p:cNvSpPr/>
          <p:nvPr/>
        </p:nvSpPr>
        <p:spPr>
          <a:xfrm>
            <a:off x="6281928" y="1481328"/>
            <a:ext cx="5138928" cy="11155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83096" y="1591056"/>
            <a:ext cx="4709160" cy="32918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Display"/>
              </a:rPr>
              <a:t>Recipient profile</a:t>
            </a:r>
          </a:p>
        </p:txBody>
      </p:sp>
      <p:sp>
        <p:nvSpPr>
          <p:cNvPr id="12" name="TextBox 11"/>
          <p:cNvSpPr txBox="1"/>
          <p:nvPr/>
        </p:nvSpPr>
        <p:spPr>
          <a:xfrm>
            <a:off x="6483096" y="1965960"/>
            <a:ext cx="4709160" cy="475488"/>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Store recipient requirements and pickup capacity.</a:t>
            </a:r>
          </a:p>
        </p:txBody>
      </p:sp>
      <p:sp>
        <p:nvSpPr>
          <p:cNvPr id="13" name="Rounded Rectangle 12"/>
          <p:cNvSpPr/>
          <p:nvPr/>
        </p:nvSpPr>
        <p:spPr>
          <a:xfrm>
            <a:off x="749808" y="2898648"/>
            <a:ext cx="5138928" cy="11155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50976" y="3008376"/>
            <a:ext cx="4709160" cy="32918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Display"/>
              </a:rPr>
              <a:t>Matching &amp; urgency ranking</a:t>
            </a:r>
          </a:p>
        </p:txBody>
      </p:sp>
      <p:sp>
        <p:nvSpPr>
          <p:cNvPr id="15" name="TextBox 14"/>
          <p:cNvSpPr txBox="1"/>
          <p:nvPr/>
        </p:nvSpPr>
        <p:spPr>
          <a:xfrm>
            <a:off x="950976" y="3383280"/>
            <a:ext cx="4709160" cy="475488"/>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Compare suitability and prioritise by transparent rules.</a:t>
            </a:r>
          </a:p>
        </p:txBody>
      </p:sp>
      <p:sp>
        <p:nvSpPr>
          <p:cNvPr id="16" name="Rounded Rectangle 15"/>
          <p:cNvSpPr/>
          <p:nvPr/>
        </p:nvSpPr>
        <p:spPr>
          <a:xfrm>
            <a:off x="6281928" y="2898648"/>
            <a:ext cx="5138928" cy="11155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83096" y="3008376"/>
            <a:ext cx="4709160" cy="32918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Display"/>
              </a:rPr>
              <a:t>Recommendation explanation</a:t>
            </a:r>
          </a:p>
        </p:txBody>
      </p:sp>
      <p:sp>
        <p:nvSpPr>
          <p:cNvPr id="18" name="TextBox 17"/>
          <p:cNvSpPr txBox="1"/>
          <p:nvPr/>
        </p:nvSpPr>
        <p:spPr>
          <a:xfrm>
            <a:off x="6483096" y="3383280"/>
            <a:ext cx="4709160" cy="475488"/>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Show the main reasons a listing is prioritised.</a:t>
            </a:r>
          </a:p>
        </p:txBody>
      </p:sp>
      <p:sp>
        <p:nvSpPr>
          <p:cNvPr id="19" name="Rounded Rectangle 18"/>
          <p:cNvSpPr/>
          <p:nvPr/>
        </p:nvSpPr>
        <p:spPr>
          <a:xfrm>
            <a:off x="749808" y="4315968"/>
            <a:ext cx="5138928" cy="11155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50976" y="4425696"/>
            <a:ext cx="4709160" cy="32918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Display"/>
              </a:rPr>
              <a:t>Reservation &amp; pickup</a:t>
            </a:r>
          </a:p>
        </p:txBody>
      </p:sp>
      <p:sp>
        <p:nvSpPr>
          <p:cNvPr id="21" name="TextBox 20"/>
          <p:cNvSpPr txBox="1"/>
          <p:nvPr/>
        </p:nvSpPr>
        <p:spPr>
          <a:xfrm>
            <a:off x="950976" y="4800600"/>
            <a:ext cx="4709160" cy="475488"/>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Track reservation, collection, cancellation, and missed pickup.</a:t>
            </a:r>
          </a:p>
        </p:txBody>
      </p:sp>
      <p:sp>
        <p:nvSpPr>
          <p:cNvPr id="22" name="Rounded Rectangle 21"/>
          <p:cNvSpPr/>
          <p:nvPr/>
        </p:nvSpPr>
        <p:spPr>
          <a:xfrm>
            <a:off x="6281928" y="4315968"/>
            <a:ext cx="5138928" cy="1115568"/>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83096" y="4425696"/>
            <a:ext cx="4709160" cy="329184"/>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Display"/>
              </a:rPr>
              <a:t>Analytics dashboard</a:t>
            </a:r>
          </a:p>
        </p:txBody>
      </p:sp>
      <p:sp>
        <p:nvSpPr>
          <p:cNvPr id="24" name="TextBox 23"/>
          <p:cNvSpPr txBox="1"/>
          <p:nvPr/>
        </p:nvSpPr>
        <p:spPr>
          <a:xfrm>
            <a:off x="6483096" y="4800600"/>
            <a:ext cx="4709160" cy="475488"/>
          </a:xfrm>
          <a:prstGeom prst="rect">
            <a:avLst/>
          </a:prstGeom>
          <a:noFill/>
        </p:spPr>
        <p:txBody>
          <a:bodyPr wrap="none" lIns="45720" rIns="45720" anchor="ctr">
            <a:spAutoFit/>
          </a:bodyPr>
          <a:lstStyle/>
          <a:p>
            <a:pPr algn="l">
              <a:spcBef>
                <a:spcPts val="0"/>
              </a:spcBef>
              <a:spcAft>
                <a:spcPts val="0"/>
              </a:spcAft>
            </a:pPr>
            <a:r>
              <a:rPr sz="1500" b="0" i="0">
                <a:solidFill>
                  <a:srgbClr val="203330"/>
                </a:solidFill>
                <a:latin typeface="Aptos"/>
              </a:rPr>
              <a:t>Summarise completed, pending, and missed collections.</a:t>
            </a:r>
          </a:p>
        </p:txBody>
      </p:sp>
      <p:sp>
        <p:nvSpPr>
          <p:cNvPr id="25" name="TextBox 24"/>
          <p:cNvSpPr txBox="1"/>
          <p:nvPr/>
        </p:nvSpPr>
        <p:spPr>
          <a:xfrm>
            <a:off x="822960" y="5925312"/>
            <a:ext cx="10424160" cy="329184"/>
          </a:xfrm>
          <a:prstGeom prst="rect">
            <a:avLst/>
          </a:prstGeom>
          <a:noFill/>
        </p:spPr>
        <p:txBody>
          <a:bodyPr wrap="none" lIns="45720" rIns="45720" anchor="ctr">
            <a:spAutoFit/>
          </a:bodyPr>
          <a:lstStyle/>
          <a:p>
            <a:pPr algn="l">
              <a:spcBef>
                <a:spcPts val="0"/>
              </a:spcBef>
              <a:spcAft>
                <a:spcPts val="0"/>
              </a:spcAft>
            </a:pPr>
            <a:r>
              <a:rPr sz="1400" b="0" i="1">
                <a:solidFill>
                  <a:srgbClr val="536963"/>
                </a:solidFill>
                <a:latin typeface="Aptos"/>
              </a:rPr>
              <a:t>Shared cloud data depends on the deployed implementation and must be verified before claiming it is live.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Testing &amp; Evaluation</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Checks to run before presenting the prototype as reliable</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14</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TextBox 6"/>
          <p:cNvSpPr txBox="1"/>
          <p:nvPr/>
        </p:nvSpPr>
        <p:spPr>
          <a:xfrm>
            <a:off x="822960" y="1353312"/>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8" name="TextBox 7"/>
          <p:cNvSpPr txBox="1"/>
          <p:nvPr/>
        </p:nvSpPr>
        <p:spPr>
          <a:xfrm>
            <a:off x="1298448" y="1353312"/>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Listing validation</a:t>
            </a:r>
          </a:p>
        </p:txBody>
      </p:sp>
      <p:sp>
        <p:nvSpPr>
          <p:cNvPr id="9" name="TextBox 8"/>
          <p:cNvSpPr txBox="1"/>
          <p:nvPr/>
        </p:nvSpPr>
        <p:spPr>
          <a:xfrm>
            <a:off x="3703320" y="1353312"/>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Create a complete listing; reject missing or invalid values.</a:t>
            </a:r>
          </a:p>
        </p:txBody>
      </p:sp>
      <p:sp>
        <p:nvSpPr>
          <p:cNvPr id="10" name="Rectangle 9"/>
          <p:cNvSpPr/>
          <p:nvPr/>
        </p:nvSpPr>
        <p:spPr>
          <a:xfrm>
            <a:off x="1298448" y="1874519"/>
            <a:ext cx="9875520" cy="10972"/>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22960" y="2011680"/>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12" name="TextBox 11"/>
          <p:cNvSpPr txBox="1"/>
          <p:nvPr/>
        </p:nvSpPr>
        <p:spPr>
          <a:xfrm>
            <a:off x="1298448" y="2011680"/>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Availability rules</a:t>
            </a:r>
          </a:p>
        </p:txBody>
      </p:sp>
      <p:sp>
        <p:nvSpPr>
          <p:cNvPr id="13" name="TextBox 12"/>
          <p:cNvSpPr txBox="1"/>
          <p:nvPr/>
        </p:nvSpPr>
        <p:spPr>
          <a:xfrm>
            <a:off x="3703320" y="2011680"/>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Confirm expired or reserved donations are not shown as available.</a:t>
            </a:r>
          </a:p>
        </p:txBody>
      </p:sp>
      <p:sp>
        <p:nvSpPr>
          <p:cNvPr id="14" name="Rectangle 13"/>
          <p:cNvSpPr/>
          <p:nvPr/>
        </p:nvSpPr>
        <p:spPr>
          <a:xfrm>
            <a:off x="1298448" y="2532888"/>
            <a:ext cx="9875520" cy="10972"/>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22960" y="2670048"/>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16" name="TextBox 15"/>
          <p:cNvSpPr txBox="1"/>
          <p:nvPr/>
        </p:nvSpPr>
        <p:spPr>
          <a:xfrm>
            <a:off x="1298448" y="2670048"/>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Matching behaviour</a:t>
            </a:r>
          </a:p>
        </p:txBody>
      </p:sp>
      <p:sp>
        <p:nvSpPr>
          <p:cNvPr id="17" name="TextBox 16"/>
          <p:cNvSpPr txBox="1"/>
          <p:nvPr/>
        </p:nvSpPr>
        <p:spPr>
          <a:xfrm>
            <a:off x="3703320" y="2670048"/>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Change recipient needs and confirm ranking responds appropriately.</a:t>
            </a:r>
          </a:p>
        </p:txBody>
      </p:sp>
      <p:sp>
        <p:nvSpPr>
          <p:cNvPr id="18" name="Rectangle 17"/>
          <p:cNvSpPr/>
          <p:nvPr/>
        </p:nvSpPr>
        <p:spPr>
          <a:xfrm>
            <a:off x="1298448" y="3191256"/>
            <a:ext cx="9875520" cy="10972"/>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22960" y="3328416"/>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20" name="TextBox 19"/>
          <p:cNvSpPr txBox="1"/>
          <p:nvPr/>
        </p:nvSpPr>
        <p:spPr>
          <a:xfrm>
            <a:off x="1298448" y="3328416"/>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Reservation conflicts</a:t>
            </a:r>
          </a:p>
        </p:txBody>
      </p:sp>
      <p:sp>
        <p:nvSpPr>
          <p:cNvPr id="21" name="TextBox 20"/>
          <p:cNvSpPr txBox="1"/>
          <p:nvPr/>
        </p:nvSpPr>
        <p:spPr>
          <a:xfrm>
            <a:off x="3703320" y="3328416"/>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Attempt duplicate reservations and check for conflicts.</a:t>
            </a:r>
          </a:p>
        </p:txBody>
      </p:sp>
      <p:sp>
        <p:nvSpPr>
          <p:cNvPr id="22" name="Rectangle 21"/>
          <p:cNvSpPr/>
          <p:nvPr/>
        </p:nvSpPr>
        <p:spPr>
          <a:xfrm>
            <a:off x="1298448" y="3849624"/>
            <a:ext cx="9875520" cy="10972"/>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22960" y="3986783"/>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24" name="TextBox 23"/>
          <p:cNvSpPr txBox="1"/>
          <p:nvPr/>
        </p:nvSpPr>
        <p:spPr>
          <a:xfrm>
            <a:off x="1298448" y="3986783"/>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Persistence</a:t>
            </a:r>
          </a:p>
        </p:txBody>
      </p:sp>
      <p:sp>
        <p:nvSpPr>
          <p:cNvPr id="25" name="TextBox 24"/>
          <p:cNvSpPr txBox="1"/>
          <p:nvPr/>
        </p:nvSpPr>
        <p:spPr>
          <a:xfrm>
            <a:off x="3703320" y="3986783"/>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Refresh the page and verify saved records remain available.</a:t>
            </a:r>
          </a:p>
        </p:txBody>
      </p:sp>
      <p:sp>
        <p:nvSpPr>
          <p:cNvPr id="26" name="Rectangle 25"/>
          <p:cNvSpPr/>
          <p:nvPr/>
        </p:nvSpPr>
        <p:spPr>
          <a:xfrm>
            <a:off x="1298448" y="4507992"/>
            <a:ext cx="9875520" cy="10972"/>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22960" y="4645152"/>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28" name="TextBox 27"/>
          <p:cNvSpPr txBox="1"/>
          <p:nvPr/>
        </p:nvSpPr>
        <p:spPr>
          <a:xfrm>
            <a:off x="1298448" y="4645152"/>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Dashboard accuracy</a:t>
            </a:r>
          </a:p>
        </p:txBody>
      </p:sp>
      <p:sp>
        <p:nvSpPr>
          <p:cNvPr id="29" name="TextBox 28"/>
          <p:cNvSpPr txBox="1"/>
          <p:nvPr/>
        </p:nvSpPr>
        <p:spPr>
          <a:xfrm>
            <a:off x="3703320" y="4645152"/>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Compare dashboard totals with the underlying records.</a:t>
            </a:r>
          </a:p>
        </p:txBody>
      </p:sp>
      <p:sp>
        <p:nvSpPr>
          <p:cNvPr id="30" name="Rectangle 29"/>
          <p:cNvSpPr/>
          <p:nvPr/>
        </p:nvSpPr>
        <p:spPr>
          <a:xfrm>
            <a:off x="1298448" y="5166360"/>
            <a:ext cx="9875520" cy="10972"/>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22960" y="5303520"/>
            <a:ext cx="347472" cy="393192"/>
          </a:xfrm>
          <a:prstGeom prst="rect">
            <a:avLst/>
          </a:prstGeom>
          <a:noFill/>
        </p:spPr>
        <p:txBody>
          <a:bodyPr wrap="none" lIns="45720" rIns="45720" anchor="ctr">
            <a:spAutoFit/>
          </a:bodyPr>
          <a:lstStyle/>
          <a:p>
            <a:pPr algn="l">
              <a:spcBef>
                <a:spcPts val="0"/>
              </a:spcBef>
              <a:spcAft>
                <a:spcPts val="0"/>
              </a:spcAft>
            </a:pPr>
            <a:r>
              <a:rPr sz="2000" b="1" i="0">
                <a:solidFill>
                  <a:srgbClr val="248058"/>
                </a:solidFill>
                <a:latin typeface="Aptos"/>
              </a:rPr>
              <a:t>□</a:t>
            </a:r>
          </a:p>
        </p:txBody>
      </p:sp>
      <p:sp>
        <p:nvSpPr>
          <p:cNvPr id="32" name="TextBox 31"/>
          <p:cNvSpPr txBox="1"/>
          <p:nvPr/>
        </p:nvSpPr>
        <p:spPr>
          <a:xfrm>
            <a:off x="1298448" y="5303520"/>
            <a:ext cx="2423160" cy="393192"/>
          </a:xfrm>
          <a:prstGeom prst="rect">
            <a:avLst/>
          </a:prstGeom>
          <a:noFill/>
        </p:spPr>
        <p:txBody>
          <a:bodyPr wrap="none" lIns="45720" rIns="45720" anchor="ctr">
            <a:spAutoFit/>
          </a:bodyPr>
          <a:lstStyle/>
          <a:p>
            <a:pPr algn="l">
              <a:spcBef>
                <a:spcPts val="0"/>
              </a:spcBef>
              <a:spcAft>
                <a:spcPts val="0"/>
              </a:spcAft>
            </a:pPr>
            <a:r>
              <a:rPr sz="1700" b="1" i="0">
                <a:solidFill>
                  <a:srgbClr val="0F4A3D"/>
                </a:solidFill>
                <a:latin typeface="Aptos"/>
              </a:rPr>
              <a:t>Access control</a:t>
            </a:r>
          </a:p>
        </p:txBody>
      </p:sp>
      <p:sp>
        <p:nvSpPr>
          <p:cNvPr id="33" name="TextBox 32"/>
          <p:cNvSpPr txBox="1"/>
          <p:nvPr/>
        </p:nvSpPr>
        <p:spPr>
          <a:xfrm>
            <a:off x="3703320" y="5303520"/>
            <a:ext cx="7406640" cy="393192"/>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Verify users can change only records they are allowed to access.</a:t>
            </a:r>
          </a:p>
        </p:txBody>
      </p:sp>
      <p:sp>
        <p:nvSpPr>
          <p:cNvPr id="34" name="TextBox 33"/>
          <p:cNvSpPr txBox="1"/>
          <p:nvPr/>
        </p:nvSpPr>
        <p:spPr>
          <a:xfrm>
            <a:off x="822960" y="6108192"/>
            <a:ext cx="10424160" cy="228600"/>
          </a:xfrm>
          <a:prstGeom prst="rect">
            <a:avLst/>
          </a:prstGeom>
          <a:noFill/>
        </p:spPr>
        <p:txBody>
          <a:bodyPr wrap="none" lIns="45720" rIns="45720" anchor="ctr">
            <a:spAutoFit/>
          </a:bodyPr>
          <a:lstStyle/>
          <a:p>
            <a:pPr algn="l">
              <a:spcBef>
                <a:spcPts val="0"/>
              </a:spcBef>
              <a:spcAft>
                <a:spcPts val="0"/>
              </a:spcAft>
            </a:pPr>
            <a:r>
              <a:rPr sz="1300" b="0" i="1">
                <a:solidFill>
                  <a:srgbClr val="536963"/>
                </a:solidFill>
                <a:latin typeface="Aptos"/>
              </a:rPr>
              <a:t>Report observed test results only; do not imply tests passed before they are run.</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Future Enhancements</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Possible next steps after prototype testing and partner feedback</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15</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822960" y="1463040"/>
            <a:ext cx="10561320" cy="667512"/>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51560" y="1536192"/>
            <a:ext cx="2926080" cy="493776"/>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Live map and routing</a:t>
            </a:r>
          </a:p>
        </p:txBody>
      </p:sp>
      <p:sp>
        <p:nvSpPr>
          <p:cNvPr id="9" name="TextBox 8"/>
          <p:cNvSpPr txBox="1"/>
          <p:nvPr/>
        </p:nvSpPr>
        <p:spPr>
          <a:xfrm>
            <a:off x="4069080" y="1536192"/>
            <a:ext cx="6903720" cy="493776"/>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Help partners plan practical collection routes.</a:t>
            </a:r>
          </a:p>
        </p:txBody>
      </p:sp>
      <p:sp>
        <p:nvSpPr>
          <p:cNvPr id="10" name="Rounded Rectangle 9"/>
          <p:cNvSpPr/>
          <p:nvPr/>
        </p:nvSpPr>
        <p:spPr>
          <a:xfrm>
            <a:off x="822960" y="2313432"/>
            <a:ext cx="10561320" cy="667512"/>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051560" y="2386584"/>
            <a:ext cx="2926080" cy="493776"/>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Status notifications</a:t>
            </a:r>
          </a:p>
        </p:txBody>
      </p:sp>
      <p:sp>
        <p:nvSpPr>
          <p:cNvPr id="12" name="TextBox 11"/>
          <p:cNvSpPr txBox="1"/>
          <p:nvPr/>
        </p:nvSpPr>
        <p:spPr>
          <a:xfrm>
            <a:off x="4069080" y="2386584"/>
            <a:ext cx="6903720" cy="493776"/>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Send reminders and updates for reservation and pickup changes.</a:t>
            </a:r>
          </a:p>
        </p:txBody>
      </p:sp>
      <p:sp>
        <p:nvSpPr>
          <p:cNvPr id="13" name="Rounded Rectangle 12"/>
          <p:cNvSpPr/>
          <p:nvPr/>
        </p:nvSpPr>
        <p:spPr>
          <a:xfrm>
            <a:off x="822960" y="3163824"/>
            <a:ext cx="10561320" cy="667512"/>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3236976"/>
            <a:ext cx="2926080" cy="493776"/>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Verified organisations</a:t>
            </a:r>
          </a:p>
        </p:txBody>
      </p:sp>
      <p:sp>
        <p:nvSpPr>
          <p:cNvPr id="15" name="TextBox 14"/>
          <p:cNvSpPr txBox="1"/>
          <p:nvPr/>
        </p:nvSpPr>
        <p:spPr>
          <a:xfrm>
            <a:off x="4069080" y="3236976"/>
            <a:ext cx="6903720" cy="493776"/>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Introduce checks for participating donors and recipient organisations.</a:t>
            </a:r>
          </a:p>
        </p:txBody>
      </p:sp>
      <p:sp>
        <p:nvSpPr>
          <p:cNvPr id="16" name="Rounded Rectangle 15"/>
          <p:cNvSpPr/>
          <p:nvPr/>
        </p:nvSpPr>
        <p:spPr>
          <a:xfrm>
            <a:off x="822960" y="4014216"/>
            <a:ext cx="10561320" cy="667512"/>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051560" y="4087368"/>
            <a:ext cx="2926080" cy="493776"/>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Ranking evaluation</a:t>
            </a:r>
          </a:p>
        </p:txBody>
      </p:sp>
      <p:sp>
        <p:nvSpPr>
          <p:cNvPr id="18" name="TextBox 17"/>
          <p:cNvSpPr txBox="1"/>
          <p:nvPr/>
        </p:nvSpPr>
        <p:spPr>
          <a:xfrm>
            <a:off x="4069080" y="4087368"/>
            <a:ext cx="6903720" cy="493776"/>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Use completed pickup records to assess whether ranking rules are useful.</a:t>
            </a:r>
          </a:p>
        </p:txBody>
      </p:sp>
      <p:sp>
        <p:nvSpPr>
          <p:cNvPr id="19" name="Rounded Rectangle 18"/>
          <p:cNvSpPr/>
          <p:nvPr/>
        </p:nvSpPr>
        <p:spPr>
          <a:xfrm>
            <a:off x="822960" y="4864608"/>
            <a:ext cx="10561320" cy="667512"/>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051560" y="4937760"/>
            <a:ext cx="2926080" cy="493776"/>
          </a:xfrm>
          <a:prstGeom prst="rect">
            <a:avLst/>
          </a:prstGeom>
          <a:noFill/>
        </p:spPr>
        <p:txBody>
          <a:bodyPr wrap="none" lIns="45720" rIns="45720" anchor="ctr">
            <a:spAutoFit/>
          </a:bodyPr>
          <a:lstStyle/>
          <a:p>
            <a:pPr algn="l">
              <a:spcBef>
                <a:spcPts val="0"/>
              </a:spcBef>
              <a:spcAft>
                <a:spcPts val="0"/>
              </a:spcAft>
            </a:pPr>
            <a:r>
              <a:rPr sz="1800" b="1" i="0">
                <a:solidFill>
                  <a:srgbClr val="0F4A3D"/>
                </a:solidFill>
                <a:latin typeface="Aptos"/>
              </a:rPr>
              <a:t>Local pilot</a:t>
            </a:r>
          </a:p>
        </p:txBody>
      </p:sp>
      <p:sp>
        <p:nvSpPr>
          <p:cNvPr id="21" name="TextBox 20"/>
          <p:cNvSpPr txBox="1"/>
          <p:nvPr/>
        </p:nvSpPr>
        <p:spPr>
          <a:xfrm>
            <a:off x="4069080" y="4937760"/>
            <a:ext cx="6903720" cy="493776"/>
          </a:xfrm>
          <a:prstGeom prst="rect">
            <a:avLst/>
          </a:prstGeom>
          <a:noFill/>
        </p:spPr>
        <p:txBody>
          <a:bodyPr wrap="none" lIns="45720" rIns="45720" anchor="ctr">
            <a:spAutoFit/>
          </a:bodyPr>
          <a:lstStyle/>
          <a:p>
            <a:pPr algn="l">
              <a:spcBef>
                <a:spcPts val="0"/>
              </a:spcBef>
              <a:spcAft>
                <a:spcPts val="0"/>
              </a:spcAft>
            </a:pPr>
            <a:r>
              <a:rPr sz="1600" b="0" i="0">
                <a:solidFill>
                  <a:srgbClr val="203330"/>
                </a:solidFill>
                <a:latin typeface="Aptos"/>
              </a:rPr>
              <a:t>Work with partners and measure collection outcomes in a real setting.</a:t>
            </a:r>
          </a:p>
        </p:txBody>
      </p:sp>
      <p:sp>
        <p:nvSpPr>
          <p:cNvPr id="22" name="TextBox 21"/>
          <p:cNvSpPr txBox="1"/>
          <p:nvPr/>
        </p:nvSpPr>
        <p:spPr>
          <a:xfrm>
            <a:off x="868680" y="5961888"/>
            <a:ext cx="10424160" cy="329184"/>
          </a:xfrm>
          <a:prstGeom prst="rect">
            <a:avLst/>
          </a:prstGeom>
          <a:noFill/>
        </p:spPr>
        <p:txBody>
          <a:bodyPr wrap="none" lIns="45720" rIns="45720" anchor="ctr">
            <a:spAutoFit/>
          </a:bodyPr>
          <a:lstStyle/>
          <a:p>
            <a:pPr algn="l">
              <a:spcBef>
                <a:spcPts val="0"/>
              </a:spcBef>
              <a:spcAft>
                <a:spcPts val="0"/>
              </a:spcAft>
            </a:pPr>
            <a:r>
              <a:rPr sz="1400" b="0" i="1">
                <a:solidFill>
                  <a:srgbClr val="536963"/>
                </a:solidFill>
                <a:latin typeface="Aptos"/>
              </a:rPr>
              <a:t>These are proposed enhancements, not claims about features already implemented.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66928" y="228600"/>
            <a:ext cx="11064240" cy="512064"/>
          </a:xfrm>
          <a:prstGeom prst="rect">
            <a:avLst/>
          </a:prstGeom>
          <a:noFill/>
        </p:spPr>
        <p:txBody>
          <a:bodyPr wrap="none" lIns="45720" rIns="45720" anchor="ctr">
            <a:spAutoFit/>
          </a:bodyPr>
          <a:lstStyle/>
          <a:p>
            <a:pPr algn="l">
              <a:spcBef>
                <a:spcPts val="0"/>
              </a:spcBef>
              <a:spcAft>
                <a:spcPts val="0"/>
              </a:spcAft>
            </a:pPr>
            <a:r>
              <a:rPr sz="3000" b="1" i="0">
                <a:solidFill>
                  <a:srgbClr val="0F4A3D"/>
                </a:solidFill>
                <a:latin typeface="Aptos Display"/>
              </a:rPr>
              <a:t>Limitations &amp; Conclusion</a:t>
            </a:r>
          </a:p>
        </p:txBody>
      </p:sp>
      <p:sp>
        <p:nvSpPr>
          <p:cNvPr id="3" name="Rectangle 2"/>
          <p:cNvSpPr/>
          <p:nvPr/>
        </p:nvSpPr>
        <p:spPr>
          <a:xfrm>
            <a:off x="603504" y="832104"/>
            <a:ext cx="658368" cy="50292"/>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03504" y="932688"/>
            <a:ext cx="10972800" cy="393192"/>
          </a:xfrm>
          <a:prstGeom prst="rect">
            <a:avLst/>
          </a:prstGeom>
          <a:noFill/>
        </p:spPr>
        <p:txBody>
          <a:bodyPr wrap="none" lIns="45720" rIns="45720" anchor="ctr">
            <a:spAutoFit/>
          </a:bodyPr>
          <a:lstStyle/>
          <a:p>
            <a:pPr algn="l">
              <a:spcBef>
                <a:spcPts val="0"/>
              </a:spcBef>
              <a:spcAft>
                <a:spcPts val="0"/>
              </a:spcAft>
            </a:pPr>
            <a:r>
              <a:rPr sz="1600" b="0" i="0">
                <a:solidFill>
                  <a:srgbClr val="536963"/>
                </a:solidFill>
                <a:latin typeface="Aptos"/>
              </a:rPr>
              <a:t>What the concept supports—and what still needs validation</a:t>
            </a:r>
          </a:p>
        </p:txBody>
      </p:sp>
      <p:sp>
        <p:nvSpPr>
          <p:cNvPr id="5" name="TextBox 4"/>
          <p:cNvSpPr txBox="1"/>
          <p:nvPr/>
        </p:nvSpPr>
        <p:spPr>
          <a:xfrm>
            <a:off x="11201400" y="6473952"/>
            <a:ext cx="41148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16</a:t>
            </a:r>
          </a:p>
        </p:txBody>
      </p:sp>
      <p:sp>
        <p:nvSpPr>
          <p:cNvPr id="6" name="TextBox 5"/>
          <p:cNvSpPr txBox="1"/>
          <p:nvPr/>
        </p:nvSpPr>
        <p:spPr>
          <a:xfrm>
            <a:off x="603504" y="6455664"/>
            <a:ext cx="4572000" cy="201168"/>
          </a:xfrm>
          <a:prstGeom prst="rect">
            <a:avLst/>
          </a:prstGeom>
          <a:noFill/>
        </p:spPr>
        <p:txBody>
          <a:bodyPr wrap="none" lIns="45720" rIns="45720" anchor="ctr">
            <a:spAutoFit/>
          </a:bodyPr>
          <a:lstStyle/>
          <a:p>
            <a:pPr algn="l">
              <a:spcBef>
                <a:spcPts val="0"/>
              </a:spcBef>
              <a:spcAft>
                <a:spcPts val="0"/>
              </a:spcAft>
            </a:pPr>
            <a:r>
              <a:rPr sz="900" b="1" i="0">
                <a:solidFill>
                  <a:srgbClr val="536963"/>
                </a:solidFill>
                <a:latin typeface="Aptos"/>
              </a:rPr>
              <a:t>FOODLOOP  |  PROJECT PRESENTATION</a:t>
            </a:r>
          </a:p>
        </p:txBody>
      </p:sp>
      <p:sp>
        <p:nvSpPr>
          <p:cNvPr id="7" name="Rounded Rectangle 6"/>
          <p:cNvSpPr/>
          <p:nvPr/>
        </p:nvSpPr>
        <p:spPr>
          <a:xfrm>
            <a:off x="713232" y="1536192"/>
            <a:ext cx="5285232" cy="4462272"/>
          </a:xfrm>
          <a:prstGeom prst="roundRect">
            <a:avLst>
              <a:gd name="adj" fmla="val 12000"/>
            </a:avLst>
          </a:prstGeom>
          <a:solidFill>
            <a:srgbClr val="F7FAF7"/>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199632" y="1536192"/>
            <a:ext cx="5285232" cy="4462272"/>
          </a:xfrm>
          <a:prstGeom prst="roundRect">
            <a:avLst>
              <a:gd name="adj" fmla="val 12000"/>
            </a:avLst>
          </a:prstGeom>
          <a:solidFill>
            <a:srgbClr val="E7F5EC"/>
          </a:solidFill>
          <a:ln w="13970">
            <a:solidFill>
              <a:srgbClr val="CDE1D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87552" y="1773936"/>
            <a:ext cx="4663440" cy="438912"/>
          </a:xfrm>
          <a:prstGeom prst="rect">
            <a:avLst/>
          </a:prstGeom>
          <a:noFill/>
        </p:spPr>
        <p:txBody>
          <a:bodyPr wrap="none" lIns="45720" rIns="45720" anchor="ctr">
            <a:spAutoFit/>
          </a:bodyPr>
          <a:lstStyle/>
          <a:p>
            <a:pPr algn="l">
              <a:spcBef>
                <a:spcPts val="0"/>
              </a:spcBef>
              <a:spcAft>
                <a:spcPts val="0"/>
              </a:spcAft>
            </a:pPr>
            <a:r>
              <a:rPr sz="2100" b="1" i="0">
                <a:solidFill>
                  <a:srgbClr val="1B757D"/>
                </a:solidFill>
                <a:latin typeface="Aptos Display"/>
              </a:rPr>
              <a:t>LIMITATIONS</a:t>
            </a:r>
          </a:p>
        </p:txBody>
      </p:sp>
      <p:sp>
        <p:nvSpPr>
          <p:cNvPr id="10" name="TextBox 9"/>
          <p:cNvSpPr txBox="1"/>
          <p:nvPr/>
        </p:nvSpPr>
        <p:spPr>
          <a:xfrm>
            <a:off x="987552" y="2331720"/>
            <a:ext cx="4617720" cy="3246120"/>
          </a:xfrm>
          <a:prstGeom prst="rect">
            <a:avLst/>
          </a:prstGeom>
          <a:noFill/>
        </p:spPr>
        <p:txBody>
          <a:bodyPr wrap="square" lIns="73152" rIns="73152">
            <a:spAutoFit/>
          </a:bodyPr>
          <a:lstStyle/>
          <a:p>
            <a:pPr>
              <a:spcBef>
                <a:spcPts val="0"/>
              </a:spcBef>
              <a:spcAft>
                <a:spcPts val="1200"/>
              </a:spcAft>
              <a:defRPr sz="1700">
                <a:solidFill>
                  <a:srgbClr val="203330"/>
                </a:solidFill>
                <a:latin typeface="Aptos"/>
              </a:defRPr>
            </a:pPr>
            <a:r>
              <a:t>•  Ranking depends on the quality of details entered by users.</a:t>
            </a:r>
          </a:p>
          <a:p>
            <a:pPr>
              <a:spcBef>
                <a:spcPts val="0"/>
              </a:spcBef>
              <a:spcAft>
                <a:spcPts val="1200"/>
              </a:spcAft>
              <a:defRPr sz="1700">
                <a:solidFill>
                  <a:srgbClr val="203330"/>
                </a:solidFill>
                <a:latin typeface="Aptos"/>
              </a:defRPr>
            </a:pPr>
            <a:r>
              <a:t>•  Location and travel-time estimates may be unavailable or approximate.</a:t>
            </a:r>
          </a:p>
          <a:p>
            <a:pPr>
              <a:spcBef>
                <a:spcPts val="0"/>
              </a:spcBef>
              <a:spcAft>
                <a:spcPts val="1200"/>
              </a:spcAft>
              <a:defRPr sz="1700">
                <a:solidFill>
                  <a:srgbClr val="203330"/>
                </a:solidFill>
                <a:latin typeface="Aptos"/>
              </a:defRPr>
            </a:pPr>
            <a:r>
              <a:t>•  FoodLoop does not independently verify food safety or guarantee pickup.</a:t>
            </a:r>
          </a:p>
          <a:p>
            <a:pPr>
              <a:spcBef>
                <a:spcPts val="0"/>
              </a:spcBef>
              <a:spcAft>
                <a:spcPts val="1200"/>
              </a:spcAft>
              <a:defRPr sz="1700">
                <a:solidFill>
                  <a:srgbClr val="203330"/>
                </a:solidFill>
                <a:latin typeface="Aptos"/>
              </a:defRPr>
            </a:pPr>
            <a:r>
              <a:t>•  Real-world impact requires partner testing and reliable collection records.</a:t>
            </a:r>
          </a:p>
        </p:txBody>
      </p:sp>
      <p:sp>
        <p:nvSpPr>
          <p:cNvPr id="11" name="TextBox 10"/>
          <p:cNvSpPr txBox="1"/>
          <p:nvPr/>
        </p:nvSpPr>
        <p:spPr>
          <a:xfrm>
            <a:off x="6473952" y="1773936"/>
            <a:ext cx="4663440" cy="438912"/>
          </a:xfrm>
          <a:prstGeom prst="rect">
            <a:avLst/>
          </a:prstGeom>
          <a:noFill/>
        </p:spPr>
        <p:txBody>
          <a:bodyPr wrap="none" lIns="45720" rIns="45720" anchor="ctr">
            <a:spAutoFit/>
          </a:bodyPr>
          <a:lstStyle/>
          <a:p>
            <a:pPr algn="l">
              <a:spcBef>
                <a:spcPts val="0"/>
              </a:spcBef>
              <a:spcAft>
                <a:spcPts val="0"/>
              </a:spcAft>
            </a:pPr>
            <a:r>
              <a:rPr sz="2100" b="1" i="0">
                <a:solidFill>
                  <a:srgbClr val="0F4A3D"/>
                </a:solidFill>
                <a:latin typeface="Aptos Display"/>
              </a:rPr>
              <a:t>CONCLUSION</a:t>
            </a:r>
          </a:p>
        </p:txBody>
      </p:sp>
      <p:sp>
        <p:nvSpPr>
          <p:cNvPr id="12" name="TextBox 11"/>
          <p:cNvSpPr txBox="1"/>
          <p:nvPr/>
        </p:nvSpPr>
        <p:spPr>
          <a:xfrm>
            <a:off x="6473952" y="2331720"/>
            <a:ext cx="4617720" cy="3246120"/>
          </a:xfrm>
          <a:prstGeom prst="rect">
            <a:avLst/>
          </a:prstGeom>
          <a:noFill/>
        </p:spPr>
        <p:txBody>
          <a:bodyPr wrap="square" lIns="73152" rIns="73152">
            <a:spAutoFit/>
          </a:bodyPr>
          <a:lstStyle/>
          <a:p>
            <a:pPr>
              <a:spcBef>
                <a:spcPts val="0"/>
              </a:spcBef>
              <a:spcAft>
                <a:spcPts val="1200"/>
              </a:spcAft>
              <a:defRPr sz="1700">
                <a:solidFill>
                  <a:srgbClr val="203330"/>
                </a:solidFill>
                <a:latin typeface="Aptos"/>
              </a:defRPr>
            </a:pPr>
            <a:r>
              <a:t>•  Brings donation listings, recipient matching, and pickup tracking into one proposed workflow.</a:t>
            </a:r>
          </a:p>
          <a:p>
            <a:pPr>
              <a:spcBef>
                <a:spcPts val="0"/>
              </a:spcBef>
              <a:spcAft>
                <a:spcPts val="1200"/>
              </a:spcAft>
              <a:defRPr sz="1700">
                <a:solidFill>
                  <a:srgbClr val="203330"/>
                </a:solidFill>
                <a:latin typeface="Aptos"/>
              </a:defRPr>
            </a:pPr>
            <a:r>
              <a:t>•  Transparent rules can help users understand why a donation is prioritised.</a:t>
            </a:r>
          </a:p>
          <a:p>
            <a:pPr>
              <a:spcBef>
                <a:spcPts val="0"/>
              </a:spcBef>
              <a:spcAft>
                <a:spcPts val="1200"/>
              </a:spcAft>
              <a:defRPr sz="1700">
                <a:solidFill>
                  <a:srgbClr val="203330"/>
                </a:solidFill>
                <a:latin typeface="Aptos"/>
              </a:defRPr>
            </a:pPr>
            <a:r>
              <a:t>•  Next steps are to test the prototype, verify persistence, and report measured results.</a:t>
            </a:r>
          </a:p>
          <a:p>
            <a:pPr>
              <a:spcBef>
                <a:spcPts val="0"/>
              </a:spcBef>
              <a:spcAft>
                <a:spcPts val="1200"/>
              </a:spcAft>
              <a:defRPr sz="1700">
                <a:solidFill>
                  <a:srgbClr val="203330"/>
                </a:solidFill>
                <a:latin typeface="Aptos"/>
              </a:defRPr>
            </a:pPr>
            <a:r>
              <a:t>•  The goal is practical: make suitable surplus food easier to discover and collect.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7FAF7"/>
        </a:solidFill>
        <a:effectLst/>
      </p:bgPr>
    </p:bg>
    <p:spTree>
      <p:nvGrpSpPr>
        <p:cNvPr id="1" name=""/>
        <p:cNvGrpSpPr/>
        <p:nvPr/>
      </p:nvGrpSpPr>
      <p:grpSpPr/>
      <p:sp>
        <p:nvSpPr>
          <p:cNvPr id="2" name="Rectangle 1"/>
          <p:cNvSpPr/>
          <p:nvPr/>
        </p:nvSpPr>
        <p:spPr>
          <a:xfrm>
            <a:off x="0" y="0"/>
            <a:ext cx="201168" cy="6858000"/>
          </a:xfrm>
          <a:prstGeom prst="rect">
            <a:avLst/>
          </a:prstGeom>
          <a:solidFill>
            <a:srgbClr val="24805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32720" cy="914400"/>
          </a:xfrm>
          <a:prstGeom prst="rect">
            <a:avLst/>
          </a:prstGeom>
          <a:noFill/>
        </p:spPr>
        <p:txBody>
          <a:bodyPr wrap="none" lIns="45720" rIns="45720" anchor="ctr">
            <a:spAutoFit/>
          </a:bodyPr>
          <a:lstStyle/>
          <a:p>
            <a:pPr algn="ctr">
              <a:spcBef>
                <a:spcPts val="0"/>
              </a:spcBef>
              <a:spcAft>
                <a:spcPts val="0"/>
              </a:spcAft>
            </a:pPr>
            <a:r>
              <a:rPr sz="4200" b="1" i="0">
                <a:solidFill>
                  <a:srgbClr val="0F4A3D"/>
                </a:solidFill>
                <a:latin typeface="Aptos Display"/>
              </a:rPr>
              <a:t>Thank You</a:t>
            </a:r>
          </a:p>
        </p:txBody>
      </p:sp>
      <p:sp>
        <p:nvSpPr>
          <p:cNvPr id="4" name="TextBox 3"/>
          <p:cNvSpPr txBox="1"/>
          <p:nvPr/>
        </p:nvSpPr>
        <p:spPr>
          <a:xfrm>
            <a:off x="1097280" y="2606040"/>
            <a:ext cx="9966960" cy="457200"/>
          </a:xfrm>
          <a:prstGeom prst="rect">
            <a:avLst/>
          </a:prstGeom>
          <a:noFill/>
        </p:spPr>
        <p:txBody>
          <a:bodyPr wrap="none" lIns="45720" rIns="45720" anchor="ctr">
            <a:spAutoFit/>
          </a:bodyPr>
          <a:lstStyle/>
          <a:p>
            <a:pPr algn="ctr">
              <a:spcBef>
                <a:spcPts val="0"/>
              </a:spcBef>
              <a:spcAft>
                <a:spcPts val="0"/>
              </a:spcAft>
            </a:pPr>
            <a:r>
              <a:rPr sz="2200" b="0" i="0">
                <a:solidFill>
                  <a:srgbClr val="248058"/>
                </a:solidFill>
                <a:latin typeface="Aptos"/>
              </a:rPr>
              <a:t>FoodLoop — Smart Food Rescue and Redistribution Platform</a:t>
            </a:r>
          </a:p>
        </p:txBody>
      </p:sp>
      <p:sp>
        <p:nvSpPr>
          <p:cNvPr id="5" name="Rectangle 4"/>
          <p:cNvSpPr/>
          <p:nvPr/>
        </p:nvSpPr>
        <p:spPr>
          <a:xfrm>
            <a:off x="3977639" y="3310128"/>
            <a:ext cx="4251960" cy="22860"/>
          </a:xfrm>
          <a:prstGeom prst="rect">
            <a:avLst/>
          </a:prstGeom>
          <a:solidFill>
            <a:srgbClr val="CDE1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3703320"/>
            <a:ext cx="10332720" cy="502920"/>
          </a:xfrm>
          <a:prstGeom prst="rect">
            <a:avLst/>
          </a:prstGeom>
          <a:noFill/>
        </p:spPr>
        <p:txBody>
          <a:bodyPr wrap="none" lIns="45720" rIns="45720" anchor="ctr">
            <a:spAutoFit/>
          </a:bodyPr>
          <a:lstStyle/>
          <a:p>
            <a:pPr algn="ctr">
              <a:spcBef>
                <a:spcPts val="0"/>
              </a:spcBef>
              <a:spcAft>
                <a:spcPts val="0"/>
              </a:spcAft>
            </a:pPr>
            <a:r>
              <a:rPr sz="2200" b="1" i="0">
                <a:solidFill>
                  <a:srgbClr val="203330"/>
                </a:solidFill>
                <a:latin typeface="Aptos"/>
              </a:rPr>
              <a:t>Sukrish T   |   Arun A   |   Sadham Hussian R</a:t>
            </a:r>
          </a:p>
        </p:txBody>
      </p:sp>
      <p:sp>
        <p:nvSpPr>
          <p:cNvPr id="7" name="TextBox 6"/>
          <p:cNvSpPr txBox="1"/>
          <p:nvPr/>
        </p:nvSpPr>
        <p:spPr>
          <a:xfrm>
            <a:off x="914400" y="4343400"/>
            <a:ext cx="10332720" cy="365760"/>
          </a:xfrm>
          <a:prstGeom prst="rect">
            <a:avLst/>
          </a:prstGeom>
          <a:noFill/>
        </p:spPr>
        <p:txBody>
          <a:bodyPr wrap="none" lIns="45720" rIns="45720" anchor="ctr">
            <a:spAutoFit/>
          </a:bodyPr>
          <a:lstStyle/>
          <a:p>
            <a:pPr algn="ctr">
              <a:spcBef>
                <a:spcPts val="0"/>
              </a:spcBef>
              <a:spcAft>
                <a:spcPts val="0"/>
              </a:spcAft>
            </a:pPr>
            <a:r>
              <a:rPr sz="1800" b="0" i="0">
                <a:solidFill>
                  <a:srgbClr val="536963"/>
                </a:solidFill>
                <a:latin typeface="Aptos"/>
              </a:rPr>
              <a:t>Project Guide: Akash S</a:t>
            </a:r>
          </a:p>
        </p:txBody>
      </p:sp>
      <p:sp>
        <p:nvSpPr>
          <p:cNvPr id="8" name="TextBox 7"/>
          <p:cNvSpPr txBox="1"/>
          <p:nvPr/>
        </p:nvSpPr>
        <p:spPr>
          <a:xfrm>
            <a:off x="11109960" y="6446520"/>
            <a:ext cx="502920" cy="201168"/>
          </a:xfrm>
          <a:prstGeom prst="rect">
            <a:avLst/>
          </a:prstGeom>
          <a:noFill/>
        </p:spPr>
        <p:txBody>
          <a:bodyPr wrap="none" lIns="45720" rIns="45720" anchor="ctr">
            <a:spAutoFit/>
          </a:bodyPr>
          <a:lstStyle/>
          <a:p>
            <a:pPr algn="r">
              <a:spcBef>
                <a:spcPts val="0"/>
              </a:spcBef>
              <a:spcAft>
                <a:spcPts val="0"/>
              </a:spcAft>
            </a:pPr>
            <a:r>
              <a:rPr sz="1000" b="0" i="0">
                <a:solidFill>
                  <a:srgbClr val="536963"/>
                </a:solidFill>
                <a:latin typeface="Aptos"/>
              </a:rPr>
              <a:t>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FoodLoop — Smart Food Rescue and Redistribution Platform</dc:title>
  <dc:subject>Project presentation</dc:subject>
  <dc:creator>FoodLoop Project Team</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