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5" r:id="rId5"/>
    <p:sldId id="259" r:id="rId6"/>
    <p:sldId id="266" r:id="rId7"/>
    <p:sldId id="260" r:id="rId8"/>
    <p:sldId id="261" r:id="rId9"/>
    <p:sldId id="267" r:id="rId10"/>
    <p:sldId id="268" r:id="rId11"/>
    <p:sldId id="269" r:id="rId12"/>
    <p:sldId id="277" r:id="rId13"/>
    <p:sldId id="276" r:id="rId14"/>
    <p:sldId id="262" r:id="rId15"/>
    <p:sldId id="263" r:id="rId16"/>
    <p:sldId id="264" r:id="rId17"/>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hamed Irfaan" initials="MI" lastIdx="2" clrIdx="0"/>
  <p:cmAuthor id="2" name="Bhuvanesh Murugan" initials="BM" lastIdx="1" clrIdx="1">
    <p:extLst>
      <p:ext uri="{19B8F6BF-5375-455C-9EA6-DF929625EA0E}">
        <p15:presenceInfo xmlns:p15="http://schemas.microsoft.com/office/powerpoint/2012/main" userId="db01f28be799859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1" d="100"/>
          <a:sy n="91" d="100"/>
        </p:scale>
        <p:origin x="32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ags" Target="tags/tag1.xml" /><Relationship Id="rId3" Type="http://schemas.openxmlformats.org/officeDocument/2006/relationships/slide" Target="slides/slide2.xml" /><Relationship Id="rId21"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commentAuthors" Target="commentAuthor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heme" Target="theme/theme1.xml" /></Relationships>
</file>

<file path=ppt/comments/comment1.xml><?xml version="1.0" encoding="utf-8"?>
<p:cmLst xmlns:a="http://schemas.openxmlformats.org/drawingml/2006/main" xmlns:r="http://schemas.openxmlformats.org/officeDocument/2006/relationships" xmlns:p="http://schemas.openxmlformats.org/presentationml/2006/main">
  <p:cm authorId="2" dt="2026-10-29T23:56:32.808" idx="1">
    <p:pos x="10" y="10"/>
    <p:text/>
    <p:extLst>
      <p:ext uri="{C676402C-5697-4E1C-873F-D02D1690AC5C}">
        <p15:threadingInfo xmlns:p15="http://schemas.microsoft.com/office/powerpoint/2012/main" timeZoneBias="-33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0A9BC26F-050C-4C2A-B499-648EA9BEB743}" type="datetimeFigureOut">
              <a:rPr lang="en-IN" smtClean="0"/>
              <a:t>30-10-2026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95A2D7-1ACD-49E6-9054-3F7F9AD9B41B}"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A9BC26F-050C-4C2A-B499-648EA9BEB743}" type="datetimeFigureOut">
              <a:rPr lang="en-IN" smtClean="0"/>
              <a:t>30-10-2026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95A2D7-1ACD-49E6-9054-3F7F9AD9B41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9BC26F-050C-4C2A-B499-648EA9BEB743}" type="datetimeFigureOut">
              <a:rPr lang="en-IN" smtClean="0"/>
              <a:t>30-10-2026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95A2D7-1ACD-49E6-9054-3F7F9AD9B41B}"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0A9BC26F-050C-4C2A-B499-648EA9BEB743}" type="datetimeFigureOut">
              <a:rPr lang="en-IN" smtClean="0"/>
              <a:t>30-10-2026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95A2D7-1ACD-49E6-9054-3F7F9AD9B41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A9BC26F-050C-4C2A-B499-648EA9BEB743}" type="datetimeFigureOut">
              <a:rPr lang="en-IN" smtClean="0"/>
              <a:t>30-10-2026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B95A2D7-1ACD-49E6-9054-3F7F9AD9B41B}"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A9BC26F-050C-4C2A-B499-648EA9BEB743}" type="datetimeFigureOut">
              <a:rPr lang="en-IN" smtClean="0"/>
              <a:t>30-10-2026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B95A2D7-1ACD-49E6-9054-3F7F9AD9B41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9BC26F-050C-4C2A-B499-648EA9BEB743}" type="datetimeFigureOut">
              <a:rPr lang="en-IN" smtClean="0"/>
              <a:t>30-10-2026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B95A2D7-1ACD-49E6-9054-3F7F9AD9B41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9BC26F-050C-4C2A-B499-648EA9BEB743}" type="datetimeFigureOut">
              <a:rPr lang="en-IN" smtClean="0"/>
              <a:t>30-10-2026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95A2D7-1ACD-49E6-9054-3F7F9AD9B41B}"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9BC26F-050C-4C2A-B499-648EA9BEB743}" type="datetimeFigureOut">
              <a:rPr lang="en-IN" smtClean="0"/>
              <a:t>30-10-2026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95A2D7-1ACD-49E6-9054-3F7F9AD9B41B}"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A9BC26F-050C-4C2A-B499-648EA9BEB743}" type="datetimeFigureOut">
              <a:rPr lang="en-IN" smtClean="0"/>
              <a:t>30-10-2026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95A2D7-1ACD-49E6-9054-3F7F9AD9B41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A9BC26F-050C-4C2A-B499-648EA9BEB743}" type="datetimeFigureOut">
              <a:rPr lang="en-IN" smtClean="0"/>
              <a:t>30-10-2026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95A2D7-1ACD-49E6-9054-3F7F9AD9B41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9BC26F-050C-4C2A-B499-648EA9BEB743}" type="datetimeFigureOut">
              <a:rPr lang="en-IN" smtClean="0"/>
              <a:t>30-10-2026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95A2D7-1ACD-49E6-9054-3F7F9AD9B41B}"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6.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standalone="yes"?>
<Relationships xmlns="http://schemas.openxmlformats.org/package/2006/relationships"><Relationship Id="rId2" Type="http://schemas.openxmlformats.org/officeDocument/2006/relationships/comments" Target="../comments/comment1.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3.png" /><Relationship Id="rId1" Type="http://schemas.openxmlformats.org/officeDocument/2006/relationships/slideLayout" Target="../slideLayouts/slideLayout6.xml" /></Relationships>
</file>

<file path=ppt/slides/_rels/slide13.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6.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Diagonal Corners Snipped 8"/>
          <p:cNvSpPr/>
          <p:nvPr/>
        </p:nvSpPr>
        <p:spPr>
          <a:xfrm>
            <a:off x="559042" y="1668379"/>
            <a:ext cx="11159716" cy="1195137"/>
          </a:xfrm>
          <a:prstGeom prst="snip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ctrTitle"/>
          </p:nvPr>
        </p:nvSpPr>
        <p:spPr>
          <a:xfrm>
            <a:off x="559042" y="1757714"/>
            <a:ext cx="11073916" cy="1035820"/>
          </a:xfrm>
        </p:spPr>
        <p:txBody>
          <a:bodyPr anchor="t">
            <a:noAutofit/>
          </a:bodyPr>
          <a:lstStyle/>
          <a:p>
            <a:r>
              <a:rPr lang="en-US" sz="2800" b="1" dirty="0">
                <a:latin typeface="Times New Roman" panose="02020603050405020304" pitchFamily="18" charset="0"/>
                <a:cs typeface="Times New Roman" panose="02020603050405020304" pitchFamily="18" charset="0"/>
              </a:rPr>
              <a:t>HYBRID BERT-BASED FAKE NEWS DETECTION USING LINGUISTIC FEATURES AND EXPLAINABLE AI</a:t>
            </a:r>
            <a:endParaRPr lang="en-IN" sz="28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559042" y="4544288"/>
            <a:ext cx="3871009" cy="1385455"/>
          </a:xfrm>
        </p:spPr>
        <p:txBody>
          <a:bodyPr>
            <a:normAutofit/>
          </a:bodyPr>
          <a:lstStyle/>
          <a:p>
            <a:pPr algn="l"/>
            <a:r>
              <a:rPr lang="en-IN" sz="1600" b="1" dirty="0">
                <a:latin typeface="Times New Roman" panose="02020603050405020304" pitchFamily="18" charset="0"/>
                <a:cs typeface="Times New Roman" panose="02020603050405020304" pitchFamily="18" charset="0"/>
              </a:rPr>
              <a:t>Presented by</a:t>
            </a:r>
          </a:p>
          <a:p>
            <a:pPr algn="l"/>
            <a:r>
              <a:rPr lang="en-IN" sz="1600" dirty="0">
                <a:latin typeface="Times New Roman" panose="02020603050405020304" pitchFamily="18" charset="0"/>
                <a:cs typeface="Times New Roman" panose="02020603050405020304" pitchFamily="18" charset="0"/>
              </a:rPr>
              <a:t>Mohamed Irfaan M (24619122)</a:t>
            </a:r>
          </a:p>
          <a:p>
            <a:pPr algn="l"/>
            <a:r>
              <a:rPr lang="en-IN" sz="1600" dirty="0" err="1">
                <a:latin typeface="Times New Roman" panose="02020603050405020304" pitchFamily="18" charset="0"/>
                <a:cs typeface="Times New Roman" panose="02020603050405020304" pitchFamily="18" charset="0"/>
              </a:rPr>
              <a:t>Bhuvanesh</a:t>
            </a:r>
            <a:r>
              <a:rPr lang="en-IN" sz="1600" dirty="0">
                <a:latin typeface="Times New Roman" panose="02020603050405020304" pitchFamily="18" charset="0"/>
                <a:cs typeface="Times New Roman" panose="02020603050405020304" pitchFamily="18" charset="0"/>
              </a:rPr>
              <a:t> M (24619104)</a:t>
            </a:r>
          </a:p>
          <a:p>
            <a:pPr algn="l"/>
            <a:r>
              <a:rPr lang="en-IN" sz="1600" dirty="0">
                <a:latin typeface="Times New Roman" panose="02020603050405020304" pitchFamily="18" charset="0"/>
                <a:cs typeface="Times New Roman" panose="02020603050405020304" pitchFamily="18" charset="0"/>
              </a:rPr>
              <a:t>Harish Hariharan MU (24619114)</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4547" y="0"/>
            <a:ext cx="7202907" cy="1532021"/>
          </a:xfrm>
          <a:prstGeom prst="rect">
            <a:avLst/>
          </a:prstGeom>
        </p:spPr>
      </p:pic>
      <p:sp>
        <p:nvSpPr>
          <p:cNvPr id="7" name="TextBox 6"/>
          <p:cNvSpPr txBox="1"/>
          <p:nvPr/>
        </p:nvSpPr>
        <p:spPr>
          <a:xfrm>
            <a:off x="0" y="3153202"/>
            <a:ext cx="12192000" cy="830997"/>
          </a:xfrm>
          <a:prstGeom prst="rect">
            <a:avLst/>
          </a:prstGeom>
          <a:noFill/>
        </p:spPr>
        <p:txBody>
          <a:bodyPr wrap="square" rtlCol="0">
            <a:spAutoFit/>
          </a:bodyPr>
          <a:lstStyle/>
          <a:p>
            <a:pPr algn="ctr"/>
            <a:r>
              <a:rPr lang="en-US" sz="2400" b="1" dirty="0"/>
              <a:t>Department of Artificial Intelligence and Machine Learning</a:t>
            </a:r>
            <a:br>
              <a:rPr lang="en-US" sz="2400" dirty="0"/>
            </a:br>
            <a:r>
              <a:rPr lang="en-US" sz="2400" b="1" dirty="0" err="1"/>
              <a:t>Vels</a:t>
            </a:r>
            <a:r>
              <a:rPr lang="en-US" sz="2400" b="1" dirty="0"/>
              <a:t> Institute of Science, Technology &amp; Advanced Studies (VISTAS)</a:t>
            </a:r>
            <a:endParaRPr lang="en-IN" sz="2400" dirty="0"/>
          </a:p>
        </p:txBody>
      </p:sp>
      <p:sp>
        <p:nvSpPr>
          <p:cNvPr id="8" name="TextBox 7"/>
          <p:cNvSpPr txBox="1"/>
          <p:nvPr/>
        </p:nvSpPr>
        <p:spPr>
          <a:xfrm>
            <a:off x="8996219" y="4544288"/>
            <a:ext cx="2309091" cy="786754"/>
          </a:xfrm>
          <a:prstGeom prst="rect">
            <a:avLst/>
          </a:prstGeom>
          <a:noFill/>
        </p:spPr>
        <p:txBody>
          <a:bodyPr wrap="square" rtlCol="0" anchor="ctr">
            <a:spAutoFit/>
          </a:bodyPr>
          <a:lstStyle/>
          <a:p>
            <a:pPr algn="just">
              <a:lnSpc>
                <a:spcPct val="150000"/>
              </a:lnSpc>
            </a:pPr>
            <a:r>
              <a:rPr lang="en-IN" sz="1600" b="1" dirty="0">
                <a:latin typeface="Times New Roman" panose="02020603050405020304" pitchFamily="18" charset="0"/>
                <a:cs typeface="Times New Roman" panose="02020603050405020304" pitchFamily="18" charset="0"/>
              </a:rPr>
              <a:t>Guided by</a:t>
            </a:r>
          </a:p>
          <a:p>
            <a:pPr algn="just">
              <a:lnSpc>
                <a:spcPct val="150000"/>
              </a:lnSpc>
            </a:pPr>
            <a:r>
              <a:rPr lang="en-IN" sz="1600" dirty="0" err="1">
                <a:latin typeface="Times New Roman" panose="02020603050405020304" pitchFamily="18" charset="0"/>
                <a:cs typeface="Times New Roman" panose="02020603050405020304" pitchFamily="18" charset="0"/>
              </a:rPr>
              <a:t>Dr.Anandan.R</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Diagonal Corners Rounded 3"/>
          <p:cNvSpPr/>
          <p:nvPr/>
        </p:nvSpPr>
        <p:spPr>
          <a:xfrm>
            <a:off x="541421" y="537411"/>
            <a:ext cx="1965158" cy="593557"/>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635000" y="83128"/>
            <a:ext cx="9949873" cy="1468581"/>
          </a:xfrm>
        </p:spPr>
        <p:txBody>
          <a:bodyPr>
            <a:normAutofit/>
          </a:bodyPr>
          <a:lstStyle/>
          <a:p>
            <a:r>
              <a:rPr lang="en-IN" sz="3200" b="1"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838200" y="1300017"/>
            <a:ext cx="10515600" cy="5134339"/>
          </a:xfrm>
        </p:spPr>
        <p:txBody>
          <a:bodyPr>
            <a:normAutofit fontScale="92500" lnSpcReduction="10000"/>
          </a:bodyPr>
          <a:lstStyle/>
          <a:p>
            <a:r>
              <a:rPr lang="en-US" sz="2400" dirty="0">
                <a:latin typeface="Times New Roman" panose="02020603050405020304" pitchFamily="18" charset="0"/>
                <a:cs typeface="Times New Roman" panose="02020603050405020304" pitchFamily="18" charset="0"/>
              </a:rPr>
              <a:t>The rapid spread of misinformation through digital news platforms has created a need for reliable and interpretable fake news detection systems. This project, Hybrid BERT-Based Fake News Detection Using Linguistic Features and Explainable AI, proposes a text-based classification system that combines contextual language representations with handcrafted linguistic features to classify news articles as real or fake.</a:t>
            </a:r>
          </a:p>
          <a:p>
            <a:r>
              <a:rPr lang="en-US" sz="2400" dirty="0">
                <a:latin typeface="Times New Roman" panose="02020603050405020304" pitchFamily="18" charset="0"/>
                <a:cs typeface="Times New Roman" panose="02020603050405020304" pitchFamily="18" charset="0"/>
              </a:rPr>
              <a:t>The proposed system uses a pretrained, frozen BERT model (`</a:t>
            </a:r>
            <a:r>
              <a:rPr lang="en-US" sz="2400" dirty="0" err="1">
                <a:latin typeface="Times New Roman" panose="02020603050405020304" pitchFamily="18" charset="0"/>
                <a:cs typeface="Times New Roman" panose="02020603050405020304" pitchFamily="18" charset="0"/>
              </a:rPr>
              <a:t>bert</a:t>
            </a:r>
            <a:r>
              <a:rPr lang="en-US" sz="2400" dirty="0">
                <a:latin typeface="Times New Roman" panose="02020603050405020304" pitchFamily="18" charset="0"/>
                <a:cs typeface="Times New Roman" panose="02020603050405020304" pitchFamily="18" charset="0"/>
              </a:rPr>
              <a:t>-base-uncased`) to extract a 768-dimensional contextual representation from the input text. This representation is combined with 19 handcrafted linguistic features to form a 787-dimensional feature vector. A Logistic Regression classifier processes this combined representation to predict whether the submitted news article is real or fake. To improve interpretability, </a:t>
            </a:r>
            <a:r>
              <a:rPr lang="en-US" sz="2400" dirty="0" err="1">
                <a:latin typeface="Times New Roman" panose="02020603050405020304" pitchFamily="18" charset="0"/>
                <a:cs typeface="Times New Roman" panose="02020603050405020304" pitchFamily="18" charset="0"/>
              </a:rPr>
              <a:t>SHapley</a:t>
            </a:r>
            <a:r>
              <a:rPr lang="en-US" sz="2400" dirty="0">
                <a:latin typeface="Times New Roman" panose="02020603050405020304" pitchFamily="18" charset="0"/>
                <a:cs typeface="Times New Roman" panose="02020603050405020304" pitchFamily="18" charset="0"/>
              </a:rPr>
              <a:t> Additive </a:t>
            </a:r>
            <a:r>
              <a:rPr lang="en-US" sz="2400" dirty="0" err="1">
                <a:latin typeface="Times New Roman" panose="02020603050405020304" pitchFamily="18" charset="0"/>
                <a:cs typeface="Times New Roman" panose="02020603050405020304" pitchFamily="18" charset="0"/>
              </a:rPr>
              <a:t>exPlanations</a:t>
            </a:r>
            <a:r>
              <a:rPr lang="en-US" sz="2400" dirty="0">
                <a:latin typeface="Times New Roman" panose="02020603050405020304" pitchFamily="18" charset="0"/>
                <a:cs typeface="Times New Roman" panose="02020603050405020304" pitchFamily="18" charset="0"/>
              </a:rPr>
              <a:t> (SHAP) are used to identify features that contribute to the model's predictions. The system is deployed through a </a:t>
            </a:r>
            <a:r>
              <a:rPr lang="en-US" sz="2400" dirty="0" err="1">
                <a:latin typeface="Times New Roman" panose="02020603050405020304" pitchFamily="18" charset="0"/>
                <a:cs typeface="Times New Roman" panose="02020603050405020304" pitchFamily="18" charset="0"/>
              </a:rPr>
              <a:t>Streamlit</a:t>
            </a:r>
            <a:r>
              <a:rPr lang="en-US" sz="2400" dirty="0">
                <a:latin typeface="Times New Roman" panose="02020603050405020304" pitchFamily="18" charset="0"/>
                <a:cs typeface="Times New Roman" panose="02020603050405020304" pitchFamily="18" charset="0"/>
              </a:rPr>
              <a:t> web application that accepts a news title and article and displays the predicted classification with supporting explanations.</a:t>
            </a:r>
          </a:p>
          <a:p>
            <a:r>
              <a:rPr lang="en-US" sz="2400" dirty="0">
                <a:latin typeface="Times New Roman" panose="02020603050405020304" pitchFamily="18" charset="0"/>
                <a:cs typeface="Times New Roman" panose="02020603050405020304" pitchFamily="18" charset="0"/>
              </a:rPr>
              <a:t>Keywords: Fake News Detection, BERT, Linguistic Features, Logistic Regression, SHAP, Explainable Artificial Intelligence, </a:t>
            </a:r>
            <a:r>
              <a:rPr lang="en-US" sz="2400" dirty="0" err="1">
                <a:latin typeface="Times New Roman" panose="02020603050405020304" pitchFamily="18" charset="0"/>
                <a:cs typeface="Times New Roman" panose="02020603050405020304" pitchFamily="18" charset="0"/>
              </a:rPr>
              <a:t>Streamlit</a:t>
            </a:r>
            <a:r>
              <a:rPr lang="en-US" sz="2400" dirty="0">
                <a:latin typeface="Times New Roman" panose="02020603050405020304" pitchFamily="18" charset="0"/>
                <a:cs typeface="Times New Roman" panose="02020603050405020304" pitchFamily="18" charset="0"/>
              </a:rPr>
              <a:t>.</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Top Corners One Rounded and One Snipped 4"/>
          <p:cNvSpPr/>
          <p:nvPr/>
        </p:nvSpPr>
        <p:spPr>
          <a:xfrm>
            <a:off x="312820" y="629089"/>
            <a:ext cx="3898232" cy="609693"/>
          </a:xfrm>
          <a:prstGeom prst="snip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487217" y="264300"/>
            <a:ext cx="10598728" cy="1339273"/>
          </a:xfrm>
        </p:spPr>
        <p:txBody>
          <a:bodyPr>
            <a:normAutofit/>
          </a:bodyPr>
          <a:lstStyle/>
          <a:p>
            <a:r>
              <a:rPr lang="en-IN" sz="3200" b="1" dirty="0">
                <a:latin typeface="Times New Roman" panose="02020603050405020304" pitchFamily="18" charset="0"/>
                <a:cs typeface="Times New Roman" panose="02020603050405020304" pitchFamily="18" charset="0"/>
              </a:rPr>
              <a:t>Problem Statement</a:t>
            </a:r>
          </a:p>
        </p:txBody>
      </p:sp>
      <p:sp>
        <p:nvSpPr>
          <p:cNvPr id="4" name="Rectangle 1"/>
          <p:cNvSpPr>
            <a:spLocks noGrp="1" noChangeArrowheads="1"/>
          </p:cNvSpPr>
          <p:nvPr>
            <p:ph idx="1"/>
          </p:nvPr>
        </p:nvSpPr>
        <p:spPr bwMode="auto">
          <a:xfrm>
            <a:off x="560947" y="1844826"/>
            <a:ext cx="10598728"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50000"/>
              </a:lnSpc>
              <a:spcBef>
                <a:spcPct val="0"/>
              </a:spcBef>
              <a:spcAft>
                <a:spcPct val="0"/>
              </a:spcAft>
              <a:buClrTx/>
              <a:buSzTx/>
              <a:buFontTx/>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The rapid circulation of online news makes it difficult for readers to distinguish genuine information from misinformation. Traditional text classification methods may fail to capture contextual meaning, while complex machine learning models can be difficult to interpret.</a:t>
            </a:r>
          </a:p>
          <a:p>
            <a:pPr marL="0" lvl="0" indent="0" eaLnBrk="0" fontAlgn="base" hangingPunct="0">
              <a:lnSpc>
                <a:spcPct val="15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Therefore, this project aims to develop a text-based fake news detection system that combines contextual representations from BERT with handcrafted linguistic features. It also incorporates explainability through SHAP to help users understand the factors influencing predictions.</a:t>
            </a:r>
          </a:p>
          <a:p>
            <a:pPr marL="0" lvl="0" indent="0" eaLnBrk="0" fontAlgn="base" hangingPunct="0">
              <a:lnSpc>
                <a:spcPct val="15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The system must be evaluated on both internal test data and an external dataset to examine its performance beyond the original evaluation setting.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Terminator 4"/>
          <p:cNvSpPr/>
          <p:nvPr/>
        </p:nvSpPr>
        <p:spPr>
          <a:xfrm>
            <a:off x="355600" y="658495"/>
            <a:ext cx="2342515" cy="739775"/>
          </a:xfrm>
          <a:prstGeom prst="flowChartTerminator">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9585" y="365125"/>
            <a:ext cx="10941050" cy="1325880"/>
          </a:xfrm>
        </p:spPr>
        <p:txBody>
          <a:bodyPr/>
          <a:lstStyle/>
          <a:p>
            <a:pPr algn="l"/>
            <a:r>
              <a:rPr lang="en-US" altLang="en-US" sz="3200" b="1" dirty="0">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sz="half" idx="1"/>
          </p:nvPr>
        </p:nvSpPr>
        <p:spPr>
          <a:xfrm>
            <a:off x="838199" y="1970404"/>
            <a:ext cx="10495327" cy="3977389"/>
          </a:xfrm>
        </p:spPr>
        <p:txBody>
          <a:bodyPr>
            <a:normAutofit/>
          </a:bodyPr>
          <a:lstStyle/>
          <a:p>
            <a:pPr marL="0" indent="0">
              <a:buNone/>
            </a:pPr>
            <a:r>
              <a:rPr lang="en-US" altLang="en-US" sz="2000" dirty="0">
                <a:latin typeface="Times New Roman" panose="02020603050405020304" pitchFamily="18" charset="0"/>
                <a:cs typeface="Times New Roman" panose="02020603050405020304" pitchFamily="18" charset="0"/>
              </a:rPr>
              <a:t>1. To develop a text-based fake news detection system using a pretrained BERT model.</a:t>
            </a:r>
          </a:p>
          <a:p>
            <a:pPr marL="0" indent="0">
              <a:buNone/>
            </a:pPr>
            <a:r>
              <a:rPr lang="en-US" altLang="en-US" sz="2000" dirty="0">
                <a:latin typeface="Times New Roman" panose="02020603050405020304" pitchFamily="18" charset="0"/>
                <a:cs typeface="Times New Roman" panose="02020603050405020304" pitchFamily="18" charset="0"/>
              </a:rPr>
              <a:t>2. To extract contextual text representations using `</a:t>
            </a:r>
            <a:r>
              <a:rPr lang="en-US" altLang="en-US" sz="2000" dirty="0" err="1">
                <a:latin typeface="Times New Roman" panose="02020603050405020304" pitchFamily="18" charset="0"/>
                <a:cs typeface="Times New Roman" panose="02020603050405020304" pitchFamily="18" charset="0"/>
              </a:rPr>
              <a:t>bert</a:t>
            </a:r>
            <a:r>
              <a:rPr lang="en-US" altLang="en-US" sz="2000" dirty="0">
                <a:latin typeface="Times New Roman" panose="02020603050405020304" pitchFamily="18" charset="0"/>
                <a:cs typeface="Times New Roman" panose="02020603050405020304" pitchFamily="18" charset="0"/>
              </a:rPr>
              <a:t>-base-uncased`.</a:t>
            </a:r>
          </a:p>
          <a:p>
            <a:pPr marL="0" indent="0">
              <a:buNone/>
            </a:pPr>
            <a:r>
              <a:rPr lang="en-US" altLang="en-US" sz="2000" dirty="0">
                <a:latin typeface="Times New Roman" panose="02020603050405020304" pitchFamily="18" charset="0"/>
                <a:cs typeface="Times New Roman" panose="02020603050405020304" pitchFamily="18" charset="0"/>
              </a:rPr>
              <a:t>3. To combine BERT embeddings with 19 handcrafted linguistic features.</a:t>
            </a:r>
          </a:p>
          <a:p>
            <a:pPr marL="0" indent="0">
              <a:buNone/>
            </a:pPr>
            <a:r>
              <a:rPr lang="en-US" altLang="en-US" sz="2000" dirty="0">
                <a:latin typeface="Times New Roman" panose="02020603050405020304" pitchFamily="18" charset="0"/>
                <a:cs typeface="Times New Roman" panose="02020603050405020304" pitchFamily="18" charset="0"/>
              </a:rPr>
              <a:t>4. To classify news articles using Logistic Regression.</a:t>
            </a:r>
          </a:p>
          <a:p>
            <a:pPr marL="0" indent="0">
              <a:buNone/>
            </a:pPr>
            <a:r>
              <a:rPr lang="en-US" altLang="en-US" sz="2000" dirty="0">
                <a:latin typeface="Times New Roman" panose="02020603050405020304" pitchFamily="18" charset="0"/>
                <a:cs typeface="Times New Roman" panose="02020603050405020304" pitchFamily="18" charset="0"/>
              </a:rPr>
              <a:t>5. To use SHAP to explain model predictions.</a:t>
            </a:r>
          </a:p>
          <a:p>
            <a:pPr marL="0" indent="0">
              <a:buNone/>
            </a:pPr>
            <a:r>
              <a:rPr lang="en-US" altLang="en-US" sz="2000" dirty="0">
                <a:latin typeface="Times New Roman" panose="02020603050405020304" pitchFamily="18" charset="0"/>
                <a:cs typeface="Times New Roman" panose="02020603050405020304" pitchFamily="18" charset="0"/>
              </a:rPr>
              <a:t>6. To develop an interactive </a:t>
            </a:r>
            <a:r>
              <a:rPr lang="en-US" altLang="en-US" sz="2000" dirty="0" err="1">
                <a:latin typeface="Times New Roman" panose="02020603050405020304" pitchFamily="18" charset="0"/>
                <a:cs typeface="Times New Roman" panose="02020603050405020304" pitchFamily="18" charset="0"/>
              </a:rPr>
              <a:t>Streamlit</a:t>
            </a:r>
            <a:r>
              <a:rPr lang="en-US" altLang="en-US" sz="2000" dirty="0">
                <a:latin typeface="Times New Roman" panose="02020603050405020304" pitchFamily="18" charset="0"/>
                <a:cs typeface="Times New Roman" panose="02020603050405020304" pitchFamily="18" charset="0"/>
              </a:rPr>
              <a:t> application for entering news text and viewing predictions.</a:t>
            </a:r>
          </a:p>
          <a:p>
            <a:pPr marL="0" indent="0">
              <a:buNone/>
            </a:pPr>
            <a:r>
              <a:rPr lang="en-US" altLang="en-US" sz="2000" dirty="0">
                <a:latin typeface="Times New Roman" panose="02020603050405020304" pitchFamily="18" charset="0"/>
                <a:cs typeface="Times New Roman" panose="02020603050405020304" pitchFamily="18" charset="0"/>
              </a:rPr>
              <a:t>7. To evaluate the system using internal test data and an external IFND dataset.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p:cNvSpPr/>
          <p:nvPr/>
        </p:nvSpPr>
        <p:spPr>
          <a:xfrm>
            <a:off x="288758" y="560889"/>
            <a:ext cx="3729789" cy="6657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471054" y="245052"/>
            <a:ext cx="10808855" cy="1297421"/>
          </a:xfrm>
        </p:spPr>
        <p:txBody>
          <a:bodyPr>
            <a:normAutofit/>
          </a:bodyPr>
          <a:lstStyle/>
          <a:p>
            <a:r>
              <a:rPr lang="en-IN" sz="3200" b="1" dirty="0">
                <a:latin typeface="Times New Roman" panose="02020603050405020304" pitchFamily="18" charset="0"/>
                <a:cs typeface="Times New Roman" panose="02020603050405020304" pitchFamily="18" charset="0"/>
              </a:rPr>
              <a:t>Literature Survey</a:t>
            </a:r>
          </a:p>
        </p:txBody>
      </p:sp>
      <p:graphicFrame>
        <p:nvGraphicFramePr>
          <p:cNvPr id="5" name="Table 5"/>
          <p:cNvGraphicFramePr>
            <a:graphicFrameLocks noGrp="1"/>
          </p:cNvGraphicFramePr>
          <p:nvPr>
            <p:ph idx="1"/>
            <p:extLst>
              <p:ext uri="{D42A27DB-BD31-4B8C-83A1-F6EECF244321}">
                <p14:modId xmlns:p14="http://schemas.microsoft.com/office/powerpoint/2010/main" val="588529923"/>
              </p:ext>
            </p:extLst>
          </p:nvPr>
        </p:nvGraphicFramePr>
        <p:xfrm>
          <a:off x="544945" y="1542473"/>
          <a:ext cx="11102110" cy="4516582"/>
        </p:xfrm>
        <a:graphic>
          <a:graphicData uri="http://schemas.openxmlformats.org/drawingml/2006/table">
            <a:tbl>
              <a:tblPr firstRow="1" bandRow="1">
                <a:tableStyleId>{5C22544A-7EE6-4342-B048-85BDC9FD1C3A}</a:tableStyleId>
              </a:tblPr>
              <a:tblGrid>
                <a:gridCol w="2366035">
                  <a:extLst>
                    <a:ext uri="{9D8B030D-6E8A-4147-A177-3AD203B41FA5}">
                      <a16:colId xmlns:a16="http://schemas.microsoft.com/office/drawing/2014/main" val="20000"/>
                    </a:ext>
                  </a:extLst>
                </a:gridCol>
                <a:gridCol w="2224438">
                  <a:extLst>
                    <a:ext uri="{9D8B030D-6E8A-4147-A177-3AD203B41FA5}">
                      <a16:colId xmlns:a16="http://schemas.microsoft.com/office/drawing/2014/main" val="20001"/>
                    </a:ext>
                  </a:extLst>
                </a:gridCol>
                <a:gridCol w="2715491">
                  <a:extLst>
                    <a:ext uri="{9D8B030D-6E8A-4147-A177-3AD203B41FA5}">
                      <a16:colId xmlns:a16="http://schemas.microsoft.com/office/drawing/2014/main" val="20002"/>
                    </a:ext>
                  </a:extLst>
                </a:gridCol>
                <a:gridCol w="3796146">
                  <a:extLst>
                    <a:ext uri="{9D8B030D-6E8A-4147-A177-3AD203B41FA5}">
                      <a16:colId xmlns:a16="http://schemas.microsoft.com/office/drawing/2014/main" val="20003"/>
                    </a:ext>
                  </a:extLst>
                </a:gridCol>
              </a:tblGrid>
              <a:tr h="858982">
                <a:tc>
                  <a:txBody>
                    <a:bodyPr/>
                    <a:lstStyle/>
                    <a:p>
                      <a:pPr algn="ctr"/>
                      <a:r>
                        <a:rPr lang="en-IN" sz="2000" i="1" dirty="0">
                          <a:latin typeface="Times New Roman" panose="02020603050405020304" pitchFamily="18" charset="0"/>
                          <a:cs typeface="Times New Roman" panose="02020603050405020304" pitchFamily="18" charset="0"/>
                        </a:rPr>
                        <a:t>Paper</a:t>
                      </a:r>
                    </a:p>
                  </a:txBody>
                  <a:tcPr anchor="ctr"/>
                </a:tc>
                <a:tc>
                  <a:txBody>
                    <a:bodyPr/>
                    <a:lstStyle/>
                    <a:p>
                      <a:pPr algn="ctr"/>
                      <a:r>
                        <a:rPr lang="en-IN" sz="2000" i="1" dirty="0">
                          <a:latin typeface="Times New Roman" panose="02020603050405020304" pitchFamily="18" charset="0"/>
                          <a:cs typeface="Times New Roman" panose="02020603050405020304" pitchFamily="18" charset="0"/>
                        </a:rPr>
                        <a:t>Year</a:t>
                      </a:r>
                    </a:p>
                  </a:txBody>
                  <a:tcPr anchor="ctr"/>
                </a:tc>
                <a:tc>
                  <a:txBody>
                    <a:bodyPr/>
                    <a:lstStyle/>
                    <a:p>
                      <a:pPr algn="ctr"/>
                      <a:r>
                        <a:rPr lang="en-IN" sz="2000" i="1" dirty="0">
                          <a:latin typeface="Times New Roman" panose="02020603050405020304" pitchFamily="18" charset="0"/>
                          <a:cs typeface="Times New Roman" panose="02020603050405020304" pitchFamily="18" charset="0"/>
                        </a:rPr>
                        <a:t>Main Approach</a:t>
                      </a:r>
                    </a:p>
                  </a:txBody>
                  <a:tcPr anchor="ctr"/>
                </a:tc>
                <a:tc>
                  <a:txBody>
                    <a:bodyPr/>
                    <a:lstStyle/>
                    <a:p>
                      <a:pPr algn="ctr"/>
                      <a:r>
                        <a:rPr lang="en-IN" sz="2000" i="1" dirty="0">
                          <a:latin typeface="Times New Roman" panose="02020603050405020304" pitchFamily="18" charset="0"/>
                          <a:cs typeface="Times New Roman" panose="02020603050405020304" pitchFamily="18" charset="0"/>
                        </a:rPr>
                        <a:t>Key Finding / Limitation</a:t>
                      </a:r>
                    </a:p>
                  </a:txBody>
                  <a:tcPr anchor="ctr"/>
                </a:tc>
                <a:extLst>
                  <a:ext uri="{0D108BD9-81ED-4DB2-BD59-A6C34878D82A}">
                    <a16:rowId xmlns:a16="http://schemas.microsoft.com/office/drawing/2014/main" val="10000"/>
                  </a:ext>
                </a:extLst>
              </a:tr>
              <a:tr h="857134">
                <a:tc>
                  <a:txBody>
                    <a:bodyPr/>
                    <a:lstStyle/>
                    <a:p>
                      <a:pPr algn="l"/>
                      <a:r>
                        <a:rPr lang="en-US" sz="1600" i="1" dirty="0">
                          <a:latin typeface="Times New Roman" panose="02020603050405020304" pitchFamily="18" charset="0"/>
                          <a:cs typeface="Times New Roman" panose="02020603050405020304" pitchFamily="18" charset="0"/>
                        </a:rPr>
                        <a:t>Park &amp; Chai – User-Centered Fake News Detection</a:t>
                      </a:r>
                      <a:endParaRPr lang="en-IN" sz="1600" i="1" dirty="0">
                        <a:latin typeface="Times New Roman" panose="02020603050405020304" pitchFamily="18" charset="0"/>
                        <a:cs typeface="Times New Roman" panose="02020603050405020304" pitchFamily="18" charset="0"/>
                      </a:endParaRPr>
                    </a:p>
                  </a:txBody>
                  <a:tcPr/>
                </a:tc>
                <a:tc>
                  <a:txBody>
                    <a:bodyPr/>
                    <a:lstStyle/>
                    <a:p>
                      <a:pPr algn="ctr"/>
                      <a:r>
                        <a:rPr lang="en-IN" sz="1800" i="1" dirty="0">
                          <a:latin typeface="Times New Roman" panose="02020603050405020304" pitchFamily="18" charset="0"/>
                          <a:cs typeface="Times New Roman" panose="02020603050405020304" pitchFamily="18" charset="0"/>
                        </a:rPr>
                        <a:t>2023</a:t>
                      </a:r>
                    </a:p>
                  </a:txBody>
                  <a:tcPr anchor="ctr"/>
                </a:tc>
                <a:tc>
                  <a:txBody>
                    <a:bodyPr/>
                    <a:lstStyle/>
                    <a:p>
                      <a:pPr algn="l" fontAlgn="base"/>
                      <a:r>
                        <a:rPr lang="en-IN" i="1" dirty="0" err="1">
                          <a:effectLst/>
                          <a:latin typeface="Times New Roman" panose="02020603050405020304" pitchFamily="18" charset="0"/>
                          <a:cs typeface="Times New Roman" panose="02020603050405020304" pitchFamily="18" charset="0"/>
                        </a:rPr>
                        <a:t>XGBoost</a:t>
                      </a:r>
                      <a:r>
                        <a:rPr lang="en-IN" i="1" dirty="0">
                          <a:effectLst/>
                          <a:latin typeface="Times New Roman" panose="02020603050405020304" pitchFamily="18" charset="0"/>
                          <a:cs typeface="Times New Roman" panose="02020603050405020304" pitchFamily="18" charset="0"/>
                        </a:rPr>
                        <a:t> + LR, RF, SVM, CART, NNET</a:t>
                      </a:r>
                    </a:p>
                  </a:txBody>
                  <a:tcPr anchor="ctr"/>
                </a:tc>
                <a:tc>
                  <a:txBody>
                    <a:bodyPr/>
                    <a:lstStyle/>
                    <a:p>
                      <a:r>
                        <a:rPr lang="en-US" sz="1800" i="1" dirty="0">
                          <a:latin typeface="Times New Roman" panose="02020603050405020304" pitchFamily="18" charset="0"/>
                          <a:cs typeface="Times New Roman" panose="02020603050405020304" pitchFamily="18" charset="0"/>
                        </a:rPr>
                        <a:t>Uses content, user and network characteristics; identifies need for explainable and more general systems.</a:t>
                      </a:r>
                      <a:endParaRPr lang="en-IN" sz="1800" i="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60416">
                <a:tc>
                  <a:txBody>
                    <a:bodyPr/>
                    <a:lstStyle/>
                    <a:p>
                      <a:r>
                        <a:rPr lang="en-IN" sz="1600" i="1" dirty="0">
                          <a:latin typeface="Times New Roman" panose="02020603050405020304" pitchFamily="18" charset="0"/>
                          <a:cs typeface="Times New Roman" panose="02020603050405020304" pitchFamily="18" charset="0"/>
                        </a:rPr>
                        <a:t>Kang et al. – User Engagements in Korean Fake News Detection</a:t>
                      </a:r>
                    </a:p>
                  </a:txBody>
                  <a:tcPr/>
                </a:tc>
                <a:tc>
                  <a:txBody>
                    <a:bodyPr/>
                    <a:lstStyle/>
                    <a:p>
                      <a:pPr algn="ctr"/>
                      <a:r>
                        <a:rPr lang="en-IN" i="1" dirty="0">
                          <a:latin typeface="Times New Roman" panose="02020603050405020304" pitchFamily="18" charset="0"/>
                          <a:cs typeface="Times New Roman" panose="02020603050405020304" pitchFamily="18" charset="0"/>
                        </a:rPr>
                        <a:t>2022</a:t>
                      </a:r>
                    </a:p>
                  </a:txBody>
                  <a:tcPr anchor="ctr"/>
                </a:tc>
                <a:tc>
                  <a:txBody>
                    <a:bodyPr/>
                    <a:lstStyle/>
                    <a:p>
                      <a:pPr algn="l"/>
                      <a:r>
                        <a:rPr lang="en-IN" b="0" i="1" dirty="0">
                          <a:solidFill>
                            <a:schemeClr val="tx1"/>
                          </a:solidFill>
                          <a:effectLst/>
                          <a:latin typeface="Times New Roman" panose="02020603050405020304" pitchFamily="18" charset="0"/>
                          <a:cs typeface="Times New Roman" panose="02020603050405020304" pitchFamily="18" charset="0"/>
                        </a:rPr>
                        <a:t>K-FANG, </a:t>
                      </a:r>
                      <a:r>
                        <a:rPr lang="en-IN" b="0" i="1" dirty="0" err="1">
                          <a:solidFill>
                            <a:schemeClr val="tx1"/>
                          </a:solidFill>
                          <a:effectLst/>
                          <a:latin typeface="Times New Roman" panose="02020603050405020304" pitchFamily="18" charset="0"/>
                          <a:cs typeface="Times New Roman" panose="02020603050405020304" pitchFamily="18" charset="0"/>
                        </a:rPr>
                        <a:t>GraphSAGE</a:t>
                      </a:r>
                      <a:r>
                        <a:rPr lang="en-IN" b="0" i="1" dirty="0">
                          <a:solidFill>
                            <a:schemeClr val="tx1"/>
                          </a:solidFill>
                          <a:effectLst/>
                          <a:latin typeface="Times New Roman" panose="02020603050405020304" pitchFamily="18" charset="0"/>
                          <a:cs typeface="Times New Roman" panose="02020603050405020304" pitchFamily="18" charset="0"/>
                        </a:rPr>
                        <a:t> + Bi-LSTM</a:t>
                      </a:r>
                      <a:endParaRPr lang="en-IN"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US" i="1" dirty="0">
                          <a:latin typeface="Times New Roman" panose="02020603050405020304" pitchFamily="18" charset="0"/>
                          <a:cs typeface="Times New Roman" panose="02020603050405020304" pitchFamily="18" charset="0"/>
                        </a:rPr>
                        <a:t>Uses user-news interactions and social context; K-FANG outperformed the </a:t>
                      </a:r>
                      <a:r>
                        <a:rPr lang="en-US" i="1" dirty="0" err="1">
                          <a:latin typeface="Times New Roman" panose="02020603050405020304" pitchFamily="18" charset="0"/>
                          <a:cs typeface="Times New Roman" panose="02020603050405020304" pitchFamily="18" charset="0"/>
                        </a:rPr>
                        <a:t>KoBERT</a:t>
                      </a:r>
                      <a:r>
                        <a:rPr lang="en-US" i="1" dirty="0">
                          <a:latin typeface="Times New Roman" panose="02020603050405020304" pitchFamily="18" charset="0"/>
                          <a:cs typeface="Times New Roman" panose="02020603050405020304" pitchFamily="18" charset="0"/>
                        </a:rPr>
                        <a:t> baseline.</a:t>
                      </a:r>
                      <a:endParaRPr lang="en-IN" i="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714895">
                <a:tc>
                  <a:txBody>
                    <a:bodyPr/>
                    <a:lstStyle/>
                    <a:p>
                      <a:r>
                        <a:rPr lang="en-US" sz="1600" i="1" dirty="0" err="1">
                          <a:latin typeface="Times New Roman" panose="02020603050405020304" pitchFamily="18" charset="0"/>
                          <a:cs typeface="Times New Roman" panose="02020603050405020304" pitchFamily="18" charset="0"/>
                        </a:rPr>
                        <a:t>Almarashy</a:t>
                      </a:r>
                      <a:r>
                        <a:rPr lang="en-US" sz="1600" i="1" dirty="0">
                          <a:latin typeface="Times New Roman" panose="02020603050405020304" pitchFamily="18" charset="0"/>
                          <a:cs typeface="Times New Roman" panose="02020603050405020304" pitchFamily="18" charset="0"/>
                        </a:rPr>
                        <a:t> et al. – Fused Multi-Modal Features</a:t>
                      </a:r>
                      <a:endParaRPr lang="en-IN" sz="1600" i="1" dirty="0">
                        <a:latin typeface="Times New Roman" panose="02020603050405020304" pitchFamily="18" charset="0"/>
                        <a:cs typeface="Times New Roman" panose="02020603050405020304" pitchFamily="18" charset="0"/>
                      </a:endParaRPr>
                    </a:p>
                  </a:txBody>
                  <a:tcPr/>
                </a:tc>
                <a:tc>
                  <a:txBody>
                    <a:bodyPr/>
                    <a:lstStyle/>
                    <a:p>
                      <a:pPr algn="ctr"/>
                      <a:r>
                        <a:rPr lang="en-IN" i="1" dirty="0">
                          <a:latin typeface="Times New Roman" panose="02020603050405020304" pitchFamily="18" charset="0"/>
                          <a:cs typeface="Times New Roman" panose="02020603050405020304" pitchFamily="18" charset="0"/>
                        </a:rPr>
                        <a:t>2024</a:t>
                      </a:r>
                    </a:p>
                  </a:txBody>
                  <a:tcPr anchor="ctr"/>
                </a:tc>
                <a:tc>
                  <a:txBody>
                    <a:bodyPr/>
                    <a:lstStyle/>
                    <a:p>
                      <a:pPr algn="l" fontAlgn="base"/>
                      <a:r>
                        <a:rPr lang="en-IN" i="1" dirty="0">
                          <a:effectLst/>
                          <a:latin typeface="Times New Roman" panose="02020603050405020304" pitchFamily="18" charset="0"/>
                          <a:cs typeface="Times New Roman" panose="02020603050405020304" pitchFamily="18" charset="0"/>
                        </a:rPr>
                        <a:t>BERT + CNN + GRU + </a:t>
                      </a:r>
                      <a:r>
                        <a:rPr lang="en-IN" i="1" dirty="0" err="1">
                          <a:effectLst/>
                          <a:latin typeface="Times New Roman" panose="02020603050405020304" pitchFamily="18" charset="0"/>
                          <a:cs typeface="Times New Roman" panose="02020603050405020304" pitchFamily="18" charset="0"/>
                        </a:rPr>
                        <a:t>ResNet</a:t>
                      </a:r>
                      <a:r>
                        <a:rPr lang="en-IN" i="1" dirty="0">
                          <a:effectLst/>
                          <a:latin typeface="Times New Roman" panose="02020603050405020304" pitchFamily="18" charset="0"/>
                          <a:cs typeface="Times New Roman" panose="02020603050405020304" pitchFamily="18" charset="0"/>
                        </a:rPr>
                        <a:t>-CBAM + Autoencoder + FLN</a:t>
                      </a:r>
                    </a:p>
                  </a:txBody>
                  <a:tcPr anchor="ctr"/>
                </a:tc>
                <a:tc>
                  <a:txBody>
                    <a:bodyPr/>
                    <a:lstStyle/>
                    <a:p>
                      <a:r>
                        <a:rPr lang="en-US" i="1" dirty="0">
                          <a:latin typeface="Times New Roman" panose="02020603050405020304" pitchFamily="18" charset="0"/>
                          <a:cs typeface="Times New Roman" panose="02020603050405020304" pitchFamily="18" charset="0"/>
                        </a:rPr>
                        <a:t>Combines text and image features; achieved 88% on Weibo and 98% on </a:t>
                      </a:r>
                      <a:r>
                        <a:rPr lang="en-US" i="1" dirty="0" err="1">
                          <a:latin typeface="Times New Roman" panose="02020603050405020304" pitchFamily="18" charset="0"/>
                          <a:cs typeface="Times New Roman" panose="02020603050405020304" pitchFamily="18" charset="0"/>
                        </a:rPr>
                        <a:t>Fakeddit</a:t>
                      </a:r>
                      <a:r>
                        <a:rPr lang="en-US" i="1" dirty="0">
                          <a:latin typeface="Times New Roman" panose="02020603050405020304" pitchFamily="18" charset="0"/>
                          <a:cs typeface="Times New Roman" panose="02020603050405020304" pitchFamily="18" charset="0"/>
                        </a:rPr>
                        <a:t>.</a:t>
                      </a:r>
                      <a:endParaRPr lang="en-IN" i="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439116">
                <a:tc>
                  <a:txBody>
                    <a:bodyPr/>
                    <a:lstStyle/>
                    <a:p>
                      <a:r>
                        <a:rPr lang="en-IN" sz="1600" i="1" dirty="0" err="1">
                          <a:latin typeface="Times New Roman" panose="02020603050405020304" pitchFamily="18" charset="0"/>
                          <a:cs typeface="Times New Roman" panose="02020603050405020304" pitchFamily="18" charset="0"/>
                        </a:rPr>
                        <a:t>Gedara</a:t>
                      </a:r>
                      <a:r>
                        <a:rPr lang="en-IN" sz="1600" i="1" dirty="0">
                          <a:latin typeface="Times New Roman" panose="02020603050405020304" pitchFamily="18" charset="0"/>
                          <a:cs typeface="Times New Roman" panose="02020603050405020304" pitchFamily="18" charset="0"/>
                        </a:rPr>
                        <a:t> et al. – Explainable Multimodal Fake News Detection</a:t>
                      </a:r>
                    </a:p>
                  </a:txBody>
                  <a:tcPr/>
                </a:tc>
                <a:tc>
                  <a:txBody>
                    <a:bodyPr/>
                    <a:lstStyle/>
                    <a:p>
                      <a:pPr algn="ctr"/>
                      <a:r>
                        <a:rPr lang="en-IN" i="1" dirty="0">
                          <a:latin typeface="Times New Roman" panose="02020603050405020304" pitchFamily="18" charset="0"/>
                          <a:cs typeface="Times New Roman" panose="02020603050405020304" pitchFamily="18" charset="0"/>
                        </a:rPr>
                        <a:t>2025</a:t>
                      </a:r>
                    </a:p>
                  </a:txBody>
                  <a:tcPr anchor="ctr"/>
                </a:tc>
                <a:tc>
                  <a:txBody>
                    <a:bodyPr/>
                    <a:lstStyle/>
                    <a:p>
                      <a:r>
                        <a:rPr lang="en-US" b="0" i="1" dirty="0">
                          <a:solidFill>
                            <a:schemeClr val="tx1"/>
                          </a:solidFill>
                          <a:effectLst/>
                          <a:latin typeface="Times New Roman" panose="02020603050405020304" pitchFamily="18" charset="0"/>
                          <a:cs typeface="Times New Roman" panose="02020603050405020304" pitchFamily="18" charset="0"/>
                        </a:rPr>
                        <a:t>Prompt Learning + </a:t>
                      </a:r>
                      <a:r>
                        <a:rPr lang="en-US" b="0" i="1" dirty="0" err="1">
                          <a:solidFill>
                            <a:schemeClr val="tx1"/>
                          </a:solidFill>
                          <a:effectLst/>
                          <a:latin typeface="Times New Roman" panose="02020603050405020304" pitchFamily="18" charset="0"/>
                          <a:cs typeface="Times New Roman" panose="02020603050405020304" pitchFamily="18" charset="0"/>
                        </a:rPr>
                        <a:t>AutoML</a:t>
                      </a:r>
                      <a:r>
                        <a:rPr lang="en-US" b="0" i="1" dirty="0">
                          <a:solidFill>
                            <a:schemeClr val="tx1"/>
                          </a:solidFill>
                          <a:effectLst/>
                          <a:latin typeface="Times New Roman" panose="02020603050405020304" pitchFamily="18" charset="0"/>
                          <a:cs typeface="Times New Roman" panose="02020603050405020304" pitchFamily="18" charset="0"/>
                        </a:rPr>
                        <a:t> + Functional Network</a:t>
                      </a:r>
                      <a:endParaRPr lang="en-IN"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algn="l" defTabSz="914400" rtl="0" eaLnBrk="1" latinLnBrk="0" hangingPunct="1"/>
                      <a:r>
                        <a:rPr lang="en-US" sz="1800" i="1" kern="1200" dirty="0">
                          <a:solidFill>
                            <a:schemeClr val="dk1"/>
                          </a:solidFill>
                          <a:latin typeface="Times New Roman" panose="02020603050405020304" pitchFamily="18" charset="0"/>
                          <a:ea typeface="+mn-ea"/>
                          <a:cs typeface="Times New Roman" panose="02020603050405020304" pitchFamily="18" charset="0"/>
                        </a:rPr>
                        <a:t>Combines text/image modalities and explicitly addresses </a:t>
                      </a:r>
                      <a:r>
                        <a:rPr lang="en-US" sz="1800" i="1" kern="1200" dirty="0" err="1">
                          <a:solidFill>
                            <a:schemeClr val="dk1"/>
                          </a:solidFill>
                          <a:latin typeface="Times New Roman" panose="02020603050405020304" pitchFamily="18" charset="0"/>
                          <a:ea typeface="+mn-ea"/>
                          <a:cs typeface="Times New Roman" panose="02020603050405020304" pitchFamily="18" charset="0"/>
                        </a:rPr>
                        <a:t>explainability</a:t>
                      </a:r>
                      <a:r>
                        <a:rPr lang="en-US" sz="1800" i="1" kern="1200" dirty="0">
                          <a:solidFill>
                            <a:schemeClr val="dk1"/>
                          </a:solidFill>
                          <a:latin typeface="Times New Roman" panose="02020603050405020304" pitchFamily="18" charset="0"/>
                          <a:ea typeface="+mn-ea"/>
                          <a:cs typeface="Times New Roman" panose="02020603050405020304" pitchFamily="18" charset="0"/>
                        </a:rPr>
                        <a:t>.</a:t>
                      </a:r>
                      <a:endParaRPr lang="en-IN" sz="1800" i="1"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op Corners Rounded Rectangle 6"/>
          <p:cNvSpPr/>
          <p:nvPr/>
        </p:nvSpPr>
        <p:spPr>
          <a:xfrm>
            <a:off x="6089650" y="2056765"/>
            <a:ext cx="2543810" cy="550545"/>
          </a:xfrm>
          <a:prstGeom prst="round2Same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6" name="Top Corners Rounded Rectangle 5"/>
          <p:cNvSpPr/>
          <p:nvPr/>
        </p:nvSpPr>
        <p:spPr>
          <a:xfrm>
            <a:off x="650240" y="1915795"/>
            <a:ext cx="3634740" cy="586105"/>
          </a:xfrm>
          <a:prstGeom prst="round2Same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Rounded Rectangle 4"/>
          <p:cNvSpPr/>
          <p:nvPr/>
        </p:nvSpPr>
        <p:spPr>
          <a:xfrm>
            <a:off x="245110" y="608330"/>
            <a:ext cx="3000375" cy="7797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46405" y="365125"/>
            <a:ext cx="10907395" cy="1266825"/>
          </a:xfrm>
        </p:spPr>
        <p:txBody>
          <a:bodyPr/>
          <a:lstStyle/>
          <a:p>
            <a:r>
              <a:rPr lang="en-US" altLang="en-US" sz="3200" b="1">
                <a:latin typeface="Times New Roman" panose="02020603050405020304" pitchFamily="18" charset="0"/>
                <a:cs typeface="Times New Roman" panose="02020603050405020304" pitchFamily="18" charset="0"/>
              </a:rPr>
              <a:t>Research Gap</a:t>
            </a:r>
          </a:p>
        </p:txBody>
      </p:sp>
      <p:sp>
        <p:nvSpPr>
          <p:cNvPr id="3" name="Content Placeholder 2"/>
          <p:cNvSpPr>
            <a:spLocks noGrp="1"/>
          </p:cNvSpPr>
          <p:nvPr>
            <p:ph sz="half" idx="1"/>
          </p:nvPr>
        </p:nvSpPr>
        <p:spPr>
          <a:xfrm>
            <a:off x="650240" y="1990725"/>
            <a:ext cx="5369560" cy="4186555"/>
          </a:xfrm>
        </p:spPr>
        <p:txBody>
          <a:bodyPr/>
          <a:lstStyle/>
          <a:p>
            <a:pPr marL="0" indent="0">
              <a:buNone/>
            </a:pPr>
            <a:r>
              <a:rPr lang="en-US" altLang="en-US" b="1">
                <a:latin typeface="Times New Roman" panose="02020603050405020304" pitchFamily="18" charset="0"/>
                <a:cs typeface="Times New Roman" panose="02020603050405020304" pitchFamily="18" charset="0"/>
              </a:rPr>
              <a:t>Existing Systems Lack</a:t>
            </a:r>
          </a:p>
          <a:p>
            <a:pPr marL="0" indent="0">
              <a:buNone/>
            </a:pPr>
            <a:endParaRPr lang="en-US" altLang="en-US" sz="2400" b="1">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L</a:t>
            </a:r>
            <a:r>
              <a:rPr lang="en-US" altLang="en-US" sz="2000">
                <a:latin typeface="Times New Roman" panose="02020603050405020304" pitchFamily="18" charset="0"/>
                <a:cs typeface="Times New Roman" panose="02020603050405020304" pitchFamily="18" charset="0"/>
              </a:rPr>
              <a:t>imited multi-source feature integration</a:t>
            </a:r>
          </a:p>
          <a:p>
            <a:r>
              <a:rPr lang="en-US" altLang="en-US" sz="2000">
                <a:latin typeface="Times New Roman" panose="02020603050405020304" pitchFamily="18" charset="0"/>
                <a:cs typeface="Times New Roman" panose="02020603050405020304" pitchFamily="18" charset="0"/>
              </a:rPr>
              <a:t>Limited contextual understanding of news content</a:t>
            </a:r>
          </a:p>
          <a:p>
            <a:r>
              <a:rPr lang="en-US" altLang="en-US" sz="2000">
                <a:latin typeface="Times New Roman" panose="02020603050405020304" pitchFamily="18" charset="0"/>
                <a:cs typeface="Times New Roman" panose="02020603050405020304" pitchFamily="18" charset="0"/>
              </a:rPr>
              <a:t>Lack of explainable predictions</a:t>
            </a:r>
          </a:p>
          <a:p>
            <a:r>
              <a:rPr lang="en-US" altLang="en-US" sz="2000">
                <a:latin typeface="Times New Roman" panose="02020603050405020304" pitchFamily="18" charset="0"/>
                <a:cs typeface="Times New Roman" panose="02020603050405020304" pitchFamily="18" charset="0"/>
              </a:rPr>
              <a:t>High computational cost in complex deep-learning models</a:t>
            </a:r>
          </a:p>
        </p:txBody>
      </p:sp>
      <p:sp>
        <p:nvSpPr>
          <p:cNvPr id="4" name="Content Placeholder 3"/>
          <p:cNvSpPr>
            <a:spLocks noGrp="1"/>
          </p:cNvSpPr>
          <p:nvPr>
            <p:ph sz="half" idx="2"/>
          </p:nvPr>
        </p:nvSpPr>
        <p:spPr>
          <a:xfrm>
            <a:off x="6172200" y="2072640"/>
            <a:ext cx="5181600" cy="4104640"/>
          </a:xfrm>
        </p:spPr>
        <p:txBody>
          <a:bodyPr>
            <a:normAutofit/>
          </a:bodyPr>
          <a:lstStyle/>
          <a:p>
            <a:pPr marL="0" indent="0">
              <a:buNone/>
            </a:pPr>
            <a:r>
              <a:rPr lang="en-US" altLang="en-US" b="1" dirty="0">
                <a:latin typeface="Times New Roman" panose="02020603050405020304" pitchFamily="18" charset="0"/>
                <a:cs typeface="Times New Roman" panose="02020603050405020304" pitchFamily="18" charset="0"/>
              </a:rPr>
              <a:t>Our Approach</a:t>
            </a:r>
          </a:p>
          <a:p>
            <a:pPr marL="0" indent="0">
              <a:buNone/>
            </a:pPr>
            <a:endParaRPr lang="en-US" altLang="en-US" b="1"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BERT for contextual text representation</a:t>
            </a:r>
          </a:p>
          <a:p>
            <a:r>
              <a:rPr lang="en-US" altLang="en-US" sz="2000" dirty="0">
                <a:latin typeface="Times New Roman" panose="02020603050405020304" pitchFamily="18" charset="0"/>
                <a:cs typeface="Times New Roman" panose="02020603050405020304" pitchFamily="18" charset="0"/>
              </a:rPr>
              <a:t>19 linguistic features for text </a:t>
            </a:r>
            <a:r>
              <a:rPr lang="en-US" altLang="en-US" sz="2000" dirty="0" err="1">
                <a:latin typeface="Times New Roman" panose="02020603050405020304" pitchFamily="18" charset="0"/>
                <a:cs typeface="Times New Roman" panose="02020603050405020304" pitchFamily="18" charset="0"/>
              </a:rPr>
              <a:t>analysisUser</a:t>
            </a:r>
            <a:r>
              <a:rPr lang="en-US" altLang="en-US" sz="2000" dirty="0">
                <a:latin typeface="Times New Roman" panose="02020603050405020304" pitchFamily="18" charset="0"/>
                <a:cs typeface="Times New Roman" panose="02020603050405020304" pitchFamily="18" charset="0"/>
              </a:rPr>
              <a:t> &amp; network features for additional information</a:t>
            </a:r>
          </a:p>
          <a:p>
            <a:r>
              <a:rPr lang="en-US" altLang="en-US" sz="2000" dirty="0">
                <a:latin typeface="Times New Roman" panose="02020603050405020304" pitchFamily="18" charset="0"/>
                <a:cs typeface="Times New Roman" panose="02020603050405020304" pitchFamily="18" charset="0"/>
              </a:rPr>
              <a:t>Logistic Regression* for classification.</a:t>
            </a:r>
          </a:p>
          <a:p>
            <a:r>
              <a:rPr lang="en-US" altLang="en-US" sz="2000" dirty="0">
                <a:latin typeface="Times New Roman" panose="02020603050405020304" pitchFamily="18" charset="0"/>
                <a:cs typeface="Times New Roman" panose="02020603050405020304" pitchFamily="18" charset="0"/>
              </a:rPr>
              <a:t>SHAP for explainable predictions.</a:t>
            </a:r>
          </a:p>
          <a:p>
            <a:r>
              <a:rPr lang="en-US" altLang="en-US" sz="2000" dirty="0" err="1">
                <a:latin typeface="Times New Roman" panose="02020603050405020304" pitchFamily="18" charset="0"/>
                <a:cs typeface="Times New Roman" panose="02020603050405020304" pitchFamily="18" charset="0"/>
              </a:rPr>
              <a:t>Streamlit</a:t>
            </a:r>
            <a:r>
              <a:rPr lang="en-US" altLang="en-US" sz="2000" dirty="0">
                <a:latin typeface="Times New Roman" panose="02020603050405020304" pitchFamily="18" charset="0"/>
                <a:cs typeface="Times New Roman" panose="02020603050405020304" pitchFamily="18" charset="0"/>
              </a:rPr>
              <a:t> for interactive detection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p:cNvSpPr/>
          <p:nvPr/>
        </p:nvSpPr>
        <p:spPr>
          <a:xfrm>
            <a:off x="192505" y="264695"/>
            <a:ext cx="3416968" cy="9667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81000" y="429294"/>
            <a:ext cx="10515600" cy="613443"/>
          </a:xfrm>
        </p:spPr>
        <p:txBody>
          <a:bodyPr>
            <a:normAutofit/>
          </a:bodyPr>
          <a:lstStyle/>
          <a:p>
            <a:r>
              <a:rPr lang="en-IN" sz="3200" b="1" dirty="0">
                <a:latin typeface="Times New Roman" panose="02020603050405020304" pitchFamily="18" charset="0"/>
                <a:cs typeface="Times New Roman" panose="02020603050405020304" pitchFamily="18" charset="0"/>
              </a:rPr>
              <a:t>Existing System</a:t>
            </a:r>
          </a:p>
        </p:txBody>
      </p:sp>
      <p:sp>
        <p:nvSpPr>
          <p:cNvPr id="3" name="Content Placeholder 2"/>
          <p:cNvSpPr>
            <a:spLocks noGrp="1"/>
          </p:cNvSpPr>
          <p:nvPr>
            <p:ph idx="1"/>
          </p:nvPr>
        </p:nvSpPr>
        <p:spPr>
          <a:xfrm>
            <a:off x="818147" y="1231400"/>
            <a:ext cx="11373852" cy="5442117"/>
          </a:xfrm>
        </p:spPr>
        <p:txBody>
          <a:bodyPr anchor="ctr">
            <a:normAutofit fontScale="32500" lnSpcReduction="20000"/>
          </a:bodyPr>
          <a:lstStyle/>
          <a:p>
            <a:pPr marL="0" indent="0">
              <a:lnSpc>
                <a:spcPct val="170000"/>
              </a:lnSpc>
              <a:buNone/>
            </a:pPr>
            <a:r>
              <a:rPr lang="en-US" sz="5600" dirty="0">
                <a:latin typeface="Times New Roman" panose="02020603050405020304" pitchFamily="18" charset="0"/>
                <a:cs typeface="Times New Roman" panose="02020603050405020304" pitchFamily="18" charset="0"/>
              </a:rPr>
              <a:t>The original Park &amp; Chai system considers </a:t>
            </a:r>
            <a:r>
              <a:rPr lang="en-US" sz="5600" b="1" dirty="0">
                <a:solidFill>
                  <a:schemeClr val="accent1"/>
                </a:solidFill>
                <a:latin typeface="Times New Roman" panose="02020603050405020304" pitchFamily="18" charset="0"/>
                <a:cs typeface="Times New Roman" panose="02020603050405020304" pitchFamily="18" charset="0"/>
              </a:rPr>
              <a:t>three major categories of information</a:t>
            </a:r>
            <a:r>
              <a:rPr lang="en-US" sz="4800" dirty="0">
                <a:solidFill>
                  <a:schemeClr val="accent1"/>
                </a:solidFill>
                <a:latin typeface="Times New Roman" panose="02020603050405020304" pitchFamily="18" charset="0"/>
                <a:cs typeface="Times New Roman" panose="02020603050405020304" pitchFamily="18" charset="0"/>
              </a:rPr>
              <a:t>:</a:t>
            </a:r>
          </a:p>
          <a:p>
            <a:pPr marL="0" indent="0">
              <a:buNone/>
            </a:pPr>
            <a:r>
              <a:rPr lang="en-US" sz="4000" b="1" dirty="0">
                <a:latin typeface="Times New Roman" panose="02020603050405020304" pitchFamily="18" charset="0"/>
                <a:cs typeface="Times New Roman" panose="02020603050405020304" pitchFamily="18" charset="0"/>
              </a:rPr>
              <a:t>1. Content Features</a:t>
            </a:r>
            <a:endParaRPr lang="en-US" sz="4000" dirty="0">
              <a:latin typeface="Times New Roman" panose="02020603050405020304" pitchFamily="18" charset="0"/>
              <a:cs typeface="Times New Roman" panose="02020603050405020304" pitchFamily="18" charset="0"/>
            </a:endParaRPr>
          </a:p>
          <a:p>
            <a:r>
              <a:rPr lang="en-US" sz="4000" dirty="0">
                <a:latin typeface="Times New Roman" panose="02020603050405020304" pitchFamily="18" charset="0"/>
                <a:cs typeface="Times New Roman" panose="02020603050405020304" pitchFamily="18" charset="0"/>
              </a:rPr>
              <a:t>Sentiment </a:t>
            </a:r>
          </a:p>
          <a:p>
            <a:r>
              <a:rPr lang="en-US" sz="4000" dirty="0">
                <a:latin typeface="Times New Roman" panose="02020603050405020304" pitchFamily="18" charset="0"/>
                <a:cs typeface="Times New Roman" panose="02020603050405020304" pitchFamily="18" charset="0"/>
              </a:rPr>
              <a:t>Text similarity </a:t>
            </a:r>
          </a:p>
          <a:p>
            <a:r>
              <a:rPr lang="en-US" sz="4000" dirty="0">
                <a:latin typeface="Times New Roman" panose="02020603050405020304" pitchFamily="18" charset="0"/>
                <a:cs typeface="Times New Roman" panose="02020603050405020304" pitchFamily="18" charset="0"/>
              </a:rPr>
              <a:t>Readability / linguistic characteristics </a:t>
            </a:r>
          </a:p>
          <a:p>
            <a:pPr marL="0" indent="0">
              <a:buNone/>
            </a:pPr>
            <a:r>
              <a:rPr lang="en-US" sz="4300" b="1" dirty="0">
                <a:latin typeface="Times New Roman" panose="02020603050405020304" pitchFamily="18" charset="0"/>
                <a:cs typeface="Times New Roman" panose="02020603050405020304" pitchFamily="18" charset="0"/>
              </a:rPr>
              <a:t>2. User Features</a:t>
            </a:r>
            <a:endParaRPr lang="en-US" sz="4300" dirty="0">
              <a:latin typeface="Times New Roman" panose="02020603050405020304" pitchFamily="18" charset="0"/>
              <a:cs typeface="Times New Roman" panose="02020603050405020304" pitchFamily="18" charset="0"/>
            </a:endParaRPr>
          </a:p>
          <a:p>
            <a:r>
              <a:rPr lang="en-US" sz="4000" dirty="0">
                <a:latin typeface="Times New Roman" panose="02020603050405020304" pitchFamily="18" charset="0"/>
                <a:cs typeface="Times New Roman" panose="02020603050405020304" pitchFamily="18" charset="0"/>
              </a:rPr>
              <a:t>Number of tweets </a:t>
            </a:r>
          </a:p>
          <a:p>
            <a:pPr>
              <a:lnSpc>
                <a:spcPct val="120000"/>
              </a:lnSpc>
            </a:pPr>
            <a:r>
              <a:rPr lang="en-US" sz="4000" dirty="0">
                <a:latin typeface="Times New Roman" panose="02020603050405020304" pitchFamily="18" charset="0"/>
                <a:cs typeface="Times New Roman" panose="02020603050405020304" pitchFamily="18" charset="0"/>
              </a:rPr>
              <a:t>Likes </a:t>
            </a:r>
          </a:p>
          <a:p>
            <a:r>
              <a:rPr lang="en-US" sz="4000" dirty="0">
                <a:latin typeface="Times New Roman" panose="02020603050405020304" pitchFamily="18" charset="0"/>
                <a:cs typeface="Times New Roman" panose="02020603050405020304" pitchFamily="18" charset="0"/>
              </a:rPr>
              <a:t>Retweets </a:t>
            </a:r>
          </a:p>
          <a:p>
            <a:r>
              <a:rPr lang="en-US" sz="4000" dirty="0">
                <a:latin typeface="Times New Roman" panose="02020603050405020304" pitchFamily="18" charset="0"/>
                <a:cs typeface="Times New Roman" panose="02020603050405020304" pitchFamily="18" charset="0"/>
              </a:rPr>
              <a:t>User activity </a:t>
            </a:r>
          </a:p>
          <a:p>
            <a:pPr marL="0" indent="0">
              <a:buNone/>
            </a:pPr>
            <a:r>
              <a:rPr lang="en-US" sz="4400" b="1" dirty="0">
                <a:latin typeface="Times New Roman" panose="02020603050405020304" pitchFamily="18" charset="0"/>
                <a:cs typeface="Times New Roman" panose="02020603050405020304" pitchFamily="18" charset="0"/>
              </a:rPr>
              <a:t>3. Network Features</a:t>
            </a:r>
          </a:p>
          <a:p>
            <a:r>
              <a:rPr lang="en-US" sz="4000" dirty="0">
                <a:latin typeface="Times New Roman" panose="02020603050405020304" pitchFamily="18" charset="0"/>
                <a:cs typeface="Times New Roman" panose="02020603050405020304" pitchFamily="18" charset="0"/>
              </a:rPr>
              <a:t>Followers/following </a:t>
            </a:r>
          </a:p>
          <a:p>
            <a:r>
              <a:rPr lang="en-US" sz="4000" dirty="0">
                <a:latin typeface="Times New Roman" panose="02020603050405020304" pitchFamily="18" charset="0"/>
                <a:cs typeface="Times New Roman" panose="02020603050405020304" pitchFamily="18" charset="0"/>
              </a:rPr>
              <a:t>Network centrality </a:t>
            </a:r>
          </a:p>
          <a:p>
            <a:r>
              <a:rPr lang="en-US" sz="4000" dirty="0">
                <a:latin typeface="Times New Roman" panose="02020603050405020304" pitchFamily="18" charset="0"/>
                <a:cs typeface="Times New Roman" panose="02020603050405020304" pitchFamily="18" charset="0"/>
              </a:rPr>
              <a:t>User relationships </a:t>
            </a:r>
          </a:p>
          <a:p>
            <a:r>
              <a:rPr lang="en-US" sz="4000" dirty="0" err="1">
                <a:latin typeface="Times New Roman" panose="02020603050405020304" pitchFamily="18" charset="0"/>
                <a:cs typeface="Times New Roman" panose="02020603050405020304" pitchFamily="18" charset="0"/>
              </a:rPr>
              <a:t>XGBoost</a:t>
            </a:r>
            <a:r>
              <a:rPr lang="en-US" sz="4000" dirty="0">
                <a:latin typeface="Times New Roman" panose="02020603050405020304" pitchFamily="18" charset="0"/>
                <a:cs typeface="Times New Roman" panose="02020603050405020304" pitchFamily="18" charset="0"/>
              </a:rPr>
              <a:t> is used for feature selection, followed by:</a:t>
            </a:r>
          </a:p>
          <a:p>
            <a:r>
              <a:rPr lang="en-US" sz="4000" dirty="0">
                <a:latin typeface="Times New Roman" panose="02020603050405020304" pitchFamily="18" charset="0"/>
                <a:cs typeface="Times New Roman" panose="02020603050405020304" pitchFamily="18" charset="0"/>
              </a:rPr>
              <a:t>LR | Random Forest | SVM | CART | Neural Network</a:t>
            </a:r>
          </a:p>
          <a:p>
            <a:r>
              <a:rPr lang="en-US" sz="4000" dirty="0">
                <a:latin typeface="Times New Roman" panose="02020603050405020304" pitchFamily="18" charset="0"/>
                <a:cs typeface="Times New Roman" panose="02020603050405020304" pitchFamily="18" charset="0"/>
              </a:rPr>
              <a:t>The models are compared to identify the best-performing classifier. </a:t>
            </a:r>
          </a:p>
          <a:p>
            <a:pPr marL="0" indent="0">
              <a:buNone/>
            </a:pPr>
            <a:endParaRPr lang="en-IN" dirty="0"/>
          </a:p>
        </p:txBody>
      </p:sp>
      <p:sp>
        <p:nvSpPr>
          <p:cNvPr id="6" name="Oval 5"/>
          <p:cNvSpPr/>
          <p:nvPr/>
        </p:nvSpPr>
        <p:spPr>
          <a:xfrm>
            <a:off x="6280483" y="2377442"/>
            <a:ext cx="2069432" cy="5422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p:cNvSpPr txBox="1"/>
          <p:nvPr/>
        </p:nvSpPr>
        <p:spPr>
          <a:xfrm>
            <a:off x="6505073" y="2306857"/>
            <a:ext cx="5462336" cy="2985433"/>
          </a:xfrm>
          <a:prstGeom prst="rect">
            <a:avLst/>
          </a:prstGeom>
          <a:noFill/>
        </p:spPr>
        <p:txBody>
          <a:bodyPr wrap="square" rtlCol="0">
            <a:spAutoFit/>
          </a:bodyPr>
          <a:lstStyle/>
          <a:p>
            <a:pPr>
              <a:lnSpc>
                <a:spcPct val="150000"/>
              </a:lnSpc>
            </a:pPr>
            <a:r>
              <a:rPr lang="en-US" sz="2400" b="1" i="1" dirty="0">
                <a:latin typeface="Times New Roman" panose="02020603050405020304" pitchFamily="18" charset="0"/>
                <a:cs typeface="Times New Roman" panose="02020603050405020304" pitchFamily="18" charset="0"/>
              </a:rPr>
              <a:t>Limitations</a:t>
            </a:r>
          </a:p>
          <a:p>
            <a:pPr>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Primarily focused on Twitter. </a:t>
            </a:r>
          </a:p>
          <a:p>
            <a:pPr>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English-only data. </a:t>
            </a:r>
          </a:p>
          <a:p>
            <a:pPr>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Classical ML-based classification. </a:t>
            </a:r>
          </a:p>
          <a:p>
            <a:pPr>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Ensemble predictions can be difficult to interpret. </a:t>
            </a:r>
          </a:p>
          <a:p>
            <a:pPr>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paper itself identifies the need for </a:t>
            </a:r>
            <a:r>
              <a:rPr lang="en-US" sz="1600" b="1" dirty="0">
                <a:solidFill>
                  <a:schemeClr val="accent1"/>
                </a:solidFill>
                <a:latin typeface="Times New Roman" panose="02020603050405020304" pitchFamily="18" charset="0"/>
                <a:cs typeface="Times New Roman" panose="02020603050405020304" pitchFamily="18" charset="0"/>
              </a:rPr>
              <a:t>higher accuracy and explainable AI</a:t>
            </a:r>
            <a:r>
              <a:rPr lang="en-US" sz="1600" dirty="0"/>
              <a:t>.</a:t>
            </a:r>
          </a:p>
          <a:p>
            <a:endParaRPr lang="en-IN"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Rounded Corners 38"/>
          <p:cNvSpPr/>
          <p:nvPr/>
        </p:nvSpPr>
        <p:spPr>
          <a:xfrm>
            <a:off x="6958266" y="1453612"/>
            <a:ext cx="2171123" cy="1692771"/>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38" name="Rectangle: Rounded Corners 37"/>
          <p:cNvSpPr/>
          <p:nvPr/>
        </p:nvSpPr>
        <p:spPr>
          <a:xfrm>
            <a:off x="4114799" y="4184966"/>
            <a:ext cx="3135086" cy="118725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37" name="Rectangle: Rounded Corners 36"/>
          <p:cNvSpPr/>
          <p:nvPr/>
        </p:nvSpPr>
        <p:spPr>
          <a:xfrm>
            <a:off x="4114799" y="2939124"/>
            <a:ext cx="2482519" cy="94556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35" name="Rectangle: Rounded Corners 34"/>
          <p:cNvSpPr/>
          <p:nvPr/>
        </p:nvSpPr>
        <p:spPr>
          <a:xfrm>
            <a:off x="4114799" y="1476323"/>
            <a:ext cx="2578773" cy="129266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34" name="Rectangle: Rounded Corners 33"/>
          <p:cNvSpPr/>
          <p:nvPr/>
        </p:nvSpPr>
        <p:spPr>
          <a:xfrm>
            <a:off x="553720" y="3982720"/>
            <a:ext cx="3288665" cy="254825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33" name="Rectangle: Rounded Corners 32"/>
          <p:cNvSpPr/>
          <p:nvPr/>
        </p:nvSpPr>
        <p:spPr>
          <a:xfrm>
            <a:off x="611606" y="2455104"/>
            <a:ext cx="3142245" cy="139787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32" name="Rectangle: Rounded Corners 31"/>
          <p:cNvSpPr/>
          <p:nvPr/>
        </p:nvSpPr>
        <p:spPr>
          <a:xfrm>
            <a:off x="617621" y="1486276"/>
            <a:ext cx="3142245" cy="842222"/>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5" name="Flowchart: Preparation 4"/>
          <p:cNvSpPr/>
          <p:nvPr/>
        </p:nvSpPr>
        <p:spPr>
          <a:xfrm>
            <a:off x="184484" y="200529"/>
            <a:ext cx="3208421" cy="786060"/>
          </a:xfrm>
          <a:prstGeom prst="flowChartPrepara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48916" y="344906"/>
            <a:ext cx="3043989" cy="521369"/>
          </a:xfrm>
        </p:spPr>
        <p:txBody>
          <a:bodyPr>
            <a:normAutofit fontScale="90000"/>
          </a:bodyPr>
          <a:lstStyle/>
          <a:p>
            <a:r>
              <a:rPr lang="en-IN" sz="3200" b="1" dirty="0">
                <a:latin typeface="Times New Roman" panose="02020603050405020304" pitchFamily="18" charset="0"/>
                <a:cs typeface="Times New Roman" panose="02020603050405020304" pitchFamily="18" charset="0"/>
              </a:rPr>
              <a:t>Proposed System</a:t>
            </a:r>
          </a:p>
        </p:txBody>
      </p:sp>
      <p:sp>
        <p:nvSpPr>
          <p:cNvPr id="3" name="Content Placeholder 2"/>
          <p:cNvSpPr>
            <a:spLocks noGrp="1"/>
          </p:cNvSpPr>
          <p:nvPr>
            <p:ph idx="1"/>
          </p:nvPr>
        </p:nvSpPr>
        <p:spPr>
          <a:xfrm>
            <a:off x="709930" y="4093845"/>
            <a:ext cx="2994660" cy="2314575"/>
          </a:xfrm>
        </p:spPr>
        <p:txBody>
          <a:bodyPr anchor="ctr">
            <a:noAutofit/>
          </a:bodyPr>
          <a:lstStyle/>
          <a:p>
            <a:pPr marL="0" indent="0">
              <a:buNone/>
            </a:pPr>
            <a:r>
              <a:rPr lang="en-IN" sz="1400" b="1" dirty="0">
                <a:solidFill>
                  <a:schemeClr val="accent1"/>
                </a:solidFill>
                <a:latin typeface="Times New Roman" panose="02020603050405020304" pitchFamily="18" charset="0"/>
                <a:cs typeface="Times New Roman" panose="02020603050405020304" pitchFamily="18" charset="0"/>
              </a:rPr>
              <a:t>Step 3 — Feature Extraction</a:t>
            </a:r>
            <a:endParaRPr lang="en-IN" sz="1400" dirty="0">
              <a:solidFill>
                <a:schemeClr val="accent1"/>
              </a:solidFill>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BERT → 768-dimensional contextual embeddings. </a:t>
            </a:r>
          </a:p>
          <a:p>
            <a:r>
              <a:rPr lang="en-IN" sz="1200" dirty="0">
                <a:latin typeface="Times New Roman" panose="02020603050405020304" pitchFamily="18" charset="0"/>
                <a:cs typeface="Times New Roman" panose="02020603050405020304" pitchFamily="18" charset="0"/>
              </a:rPr>
              <a:t>Linguistic analysis → 19 handcrafted features.</a:t>
            </a:r>
          </a:p>
        </p:txBody>
      </p:sp>
      <p:sp>
        <p:nvSpPr>
          <p:cNvPr id="18" name="TextBox 17"/>
          <p:cNvSpPr txBox="1"/>
          <p:nvPr/>
        </p:nvSpPr>
        <p:spPr>
          <a:xfrm>
            <a:off x="709862" y="1486276"/>
            <a:ext cx="3056021" cy="555217"/>
          </a:xfrm>
          <a:prstGeom prst="rect">
            <a:avLst/>
          </a:prstGeom>
          <a:noFill/>
        </p:spPr>
        <p:txBody>
          <a:bodyPr wrap="square" rtlCol="0">
            <a:spAutoFit/>
          </a:bodyPr>
          <a:lstStyle/>
          <a:p>
            <a:r>
              <a:rPr lang="en-US" sz="1400" b="1" dirty="0">
                <a:solidFill>
                  <a:schemeClr val="accent1"/>
                </a:solidFill>
                <a:latin typeface="Times New Roman" panose="02020603050405020304" pitchFamily="18" charset="0"/>
                <a:cs typeface="Times New Roman" panose="02020603050405020304" pitchFamily="18" charset="0"/>
              </a:rPr>
              <a:t>Step 1 — Data Input</a:t>
            </a:r>
            <a:endParaRPr lang="en-US" sz="1400" dirty="0">
              <a:solidFill>
                <a:schemeClr val="accent1"/>
              </a:solidFill>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 Enter news title and article in </a:t>
            </a:r>
            <a:r>
              <a:rPr lang="en-US" sz="1200" dirty="0" err="1">
                <a:latin typeface="Times New Roman" panose="02020603050405020304" pitchFamily="18" charset="0"/>
                <a:cs typeface="Times New Roman" panose="02020603050405020304" pitchFamily="18" charset="0"/>
              </a:rPr>
              <a:t>Streamlit</a:t>
            </a:r>
            <a:endParaRPr lang="en-IN" dirty="0"/>
          </a:p>
        </p:txBody>
      </p:sp>
      <p:sp>
        <p:nvSpPr>
          <p:cNvPr id="22" name="TextBox 21"/>
          <p:cNvSpPr txBox="1"/>
          <p:nvPr/>
        </p:nvSpPr>
        <p:spPr>
          <a:xfrm>
            <a:off x="709862" y="2698055"/>
            <a:ext cx="2747210" cy="896656"/>
          </a:xfrm>
          <a:prstGeom prst="rect">
            <a:avLst/>
          </a:prstGeom>
          <a:noFill/>
        </p:spPr>
        <p:txBody>
          <a:bodyPr wrap="square" rtlCol="0" anchor="ctr">
            <a:spAutoFit/>
          </a:bodyPr>
          <a:lstStyle/>
          <a:p>
            <a:r>
              <a:rPr lang="en-US" sz="1400" b="1" dirty="0">
                <a:solidFill>
                  <a:schemeClr val="accent1"/>
                </a:solidFill>
                <a:latin typeface="Times New Roman" panose="02020603050405020304" pitchFamily="18" charset="0"/>
                <a:cs typeface="Times New Roman" panose="02020603050405020304" pitchFamily="18" charset="0"/>
              </a:rPr>
              <a:t>Step 2 — Text Preprocessing</a:t>
            </a:r>
            <a:endParaRPr lang="en-US" sz="1400" dirty="0">
              <a:solidFill>
                <a:schemeClr val="accent1"/>
              </a:solidFill>
              <a:latin typeface="Times New Roman" panose="02020603050405020304" pitchFamily="18" charset="0"/>
              <a:cs typeface="Times New Roman" panose="02020603050405020304" pitchFamily="18" charset="0"/>
            </a:endParaRPr>
          </a:p>
          <a:p>
            <a:pPr marL="228600" indent="-228600">
              <a:lnSpc>
                <a:spcPct val="90000"/>
              </a:lnSpc>
              <a:spcBef>
                <a:spcPts val="1000"/>
              </a:spcBef>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Combine title and article.</a:t>
            </a:r>
          </a:p>
          <a:p>
            <a:pPr marL="228600" indent="-228600">
              <a:lnSpc>
                <a:spcPct val="90000"/>
              </a:lnSpc>
              <a:spcBef>
                <a:spcPts val="1000"/>
              </a:spcBef>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Tokenize text for BERT input.</a:t>
            </a:r>
          </a:p>
        </p:txBody>
      </p:sp>
      <p:sp>
        <p:nvSpPr>
          <p:cNvPr id="27" name="TextBox 26"/>
          <p:cNvSpPr txBox="1"/>
          <p:nvPr/>
        </p:nvSpPr>
        <p:spPr>
          <a:xfrm>
            <a:off x="4211053" y="1540294"/>
            <a:ext cx="2482519" cy="832216"/>
          </a:xfrm>
          <a:prstGeom prst="rect">
            <a:avLst/>
          </a:prstGeom>
          <a:noFill/>
        </p:spPr>
        <p:txBody>
          <a:bodyPr wrap="square" rtlCol="0">
            <a:spAutoFit/>
          </a:bodyPr>
          <a:lstStyle/>
          <a:p>
            <a:r>
              <a:rPr lang="en-US" sz="1400" b="1" dirty="0">
                <a:solidFill>
                  <a:schemeClr val="accent1"/>
                </a:solidFill>
                <a:latin typeface="Times New Roman" panose="02020603050405020304" pitchFamily="18" charset="0"/>
                <a:cs typeface="Times New Roman" panose="02020603050405020304" pitchFamily="18" charset="0"/>
              </a:rPr>
              <a:t>Step 4 — Feature Fusion</a:t>
            </a:r>
          </a:p>
          <a:p>
            <a:pPr marL="171450" indent="-171450">
              <a:lnSpc>
                <a:spcPct val="15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Combine both feature sets into a 787-dimensional vector.</a:t>
            </a:r>
            <a:endParaRPr lang="en-IN" dirty="0"/>
          </a:p>
        </p:txBody>
      </p:sp>
      <p:sp>
        <p:nvSpPr>
          <p:cNvPr id="29" name="TextBox 28"/>
          <p:cNvSpPr txBox="1"/>
          <p:nvPr/>
        </p:nvSpPr>
        <p:spPr>
          <a:xfrm>
            <a:off x="4114799" y="3022917"/>
            <a:ext cx="2482519" cy="861774"/>
          </a:xfrm>
          <a:prstGeom prst="rect">
            <a:avLst/>
          </a:prstGeom>
          <a:noFill/>
        </p:spPr>
        <p:txBody>
          <a:bodyPr wrap="square" rtlCol="0">
            <a:spAutoFit/>
          </a:bodyPr>
          <a:lstStyle/>
          <a:p>
            <a:r>
              <a:rPr lang="en-US" sz="1400" b="1" dirty="0">
                <a:solidFill>
                  <a:schemeClr val="accent1"/>
                </a:solidFill>
                <a:latin typeface="Times New Roman" panose="02020603050405020304" pitchFamily="18" charset="0"/>
                <a:cs typeface="Times New Roman" panose="02020603050405020304" pitchFamily="18" charset="0"/>
              </a:rPr>
              <a:t>Step 5 — Classification</a:t>
            </a:r>
          </a:p>
          <a:p>
            <a:r>
              <a:rPr lang="en-US"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Logistic Regression predicts Real or Fake</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30" name="TextBox 29"/>
          <p:cNvSpPr txBox="1"/>
          <p:nvPr/>
        </p:nvSpPr>
        <p:spPr>
          <a:xfrm>
            <a:off x="4114799" y="4337817"/>
            <a:ext cx="3233058" cy="677108"/>
          </a:xfrm>
          <a:prstGeom prst="rect">
            <a:avLst/>
          </a:prstGeom>
          <a:noFill/>
        </p:spPr>
        <p:txBody>
          <a:bodyPr wrap="square" rtlCol="0">
            <a:spAutoFit/>
          </a:bodyPr>
          <a:lstStyle/>
          <a:p>
            <a:r>
              <a:rPr lang="en-US" sz="1400" b="1" dirty="0">
                <a:solidFill>
                  <a:schemeClr val="accent1"/>
                </a:solidFill>
                <a:latin typeface="Times New Roman" panose="02020603050405020304" pitchFamily="18" charset="0"/>
                <a:cs typeface="Times New Roman" panose="02020603050405020304" pitchFamily="18" charset="0"/>
              </a:rPr>
              <a:t>Step 6 — </a:t>
            </a:r>
            <a:r>
              <a:rPr lang="en-US" sz="1400" b="1" dirty="0" err="1">
                <a:solidFill>
                  <a:schemeClr val="accent1"/>
                </a:solidFill>
                <a:latin typeface="Times New Roman" panose="02020603050405020304" pitchFamily="18" charset="0"/>
                <a:cs typeface="Times New Roman" panose="02020603050405020304" pitchFamily="18" charset="0"/>
              </a:rPr>
              <a:t>Explainability</a:t>
            </a:r>
            <a:endParaRPr lang="en-US" sz="1400" b="1" dirty="0">
              <a:solidFill>
                <a:schemeClr val="accent1"/>
              </a:solidFill>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SHAP identifies influential features in the prediction.</a:t>
            </a:r>
            <a:endParaRPr lang="en-IN" sz="1200" dirty="0">
              <a:latin typeface="Times New Roman" panose="02020603050405020304" pitchFamily="18" charset="0"/>
              <a:cs typeface="Times New Roman" panose="02020603050405020304" pitchFamily="18" charset="0"/>
            </a:endParaRPr>
          </a:p>
        </p:txBody>
      </p:sp>
      <p:sp>
        <p:nvSpPr>
          <p:cNvPr id="31" name="TextBox 30"/>
          <p:cNvSpPr txBox="1"/>
          <p:nvPr/>
        </p:nvSpPr>
        <p:spPr>
          <a:xfrm>
            <a:off x="7042488" y="1540294"/>
            <a:ext cx="1978615" cy="1415772"/>
          </a:xfrm>
          <a:prstGeom prst="rect">
            <a:avLst/>
          </a:prstGeom>
          <a:noFill/>
        </p:spPr>
        <p:txBody>
          <a:bodyPr wrap="square" rtlCol="0">
            <a:spAutoFit/>
          </a:bodyPr>
          <a:lstStyle/>
          <a:p>
            <a:r>
              <a:rPr lang="en-US" sz="1400" b="1" dirty="0">
                <a:solidFill>
                  <a:schemeClr val="accent1"/>
                </a:solidFill>
                <a:latin typeface="Times New Roman" panose="02020603050405020304" pitchFamily="18" charset="0"/>
                <a:cs typeface="Times New Roman" panose="02020603050405020304" pitchFamily="18" charset="0"/>
              </a:rPr>
              <a:t>Step 7 — Evaluation</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Internal test accuracy: 99.2%.</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External IFND evaluation accuracy: 70.10%.</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Evaluate generalization across datasets.</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52755" y="743585"/>
            <a:ext cx="3954780" cy="61976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58165" y="390525"/>
            <a:ext cx="10515600" cy="1325563"/>
          </a:xfrm>
        </p:spPr>
        <p:txBody>
          <a:bodyPr/>
          <a:lstStyle/>
          <a:p>
            <a:r>
              <a:rPr lang="en-US" sz="3200" b="1">
                <a:latin typeface="Times New Roman" panose="02020603050405020304" pitchFamily="18" charset="0"/>
                <a:cs typeface="Times New Roman" panose="02020603050405020304" pitchFamily="18" charset="0"/>
              </a:rPr>
              <a:t>System Architecture</a:t>
            </a:r>
          </a:p>
        </p:txBody>
      </p:sp>
      <p:pic>
        <p:nvPicPr>
          <p:cNvPr id="4" name="Picture 3">
            <a:extLst>
              <a:ext uri="{FF2B5EF4-FFF2-40B4-BE49-F238E27FC236}">
                <a16:creationId xmlns:a16="http://schemas.microsoft.com/office/drawing/2014/main" id="{22AD7CD6-0F37-8C16-EF08-FE4143BFA370}"/>
              </a:ext>
            </a:extLst>
          </p:cNvPr>
          <p:cNvPicPr>
            <a:picLocks noChangeAspect="1"/>
          </p:cNvPicPr>
          <p:nvPr/>
        </p:nvPicPr>
        <p:blipFill>
          <a:blip r:embed="rId2"/>
          <a:stretch>
            <a:fillRect/>
          </a:stretch>
        </p:blipFill>
        <p:spPr>
          <a:xfrm>
            <a:off x="361722" y="641892"/>
            <a:ext cx="11449977" cy="48361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apezoid 4"/>
          <p:cNvSpPr/>
          <p:nvPr/>
        </p:nvSpPr>
        <p:spPr>
          <a:xfrm>
            <a:off x="186690" y="614680"/>
            <a:ext cx="3458845" cy="633095"/>
          </a:xfrm>
          <a:prstGeom prst="trapezoid">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28295" y="340995"/>
            <a:ext cx="6154420" cy="1221105"/>
          </a:xfrm>
        </p:spPr>
        <p:txBody>
          <a:bodyPr/>
          <a:lstStyle/>
          <a:p>
            <a:r>
              <a:rPr lang="en-US" sz="3200" b="1" dirty="0">
                <a:latin typeface="Times New Roman" panose="02020603050405020304" pitchFamily="18" charset="0"/>
                <a:cs typeface="Times New Roman" panose="02020603050405020304" pitchFamily="18" charset="0"/>
              </a:rPr>
              <a:t>Technology Used</a:t>
            </a:r>
          </a:p>
        </p:txBody>
      </p:sp>
      <p:sp>
        <p:nvSpPr>
          <p:cNvPr id="3" name="Text Box 2"/>
          <p:cNvSpPr txBox="1"/>
          <p:nvPr/>
        </p:nvSpPr>
        <p:spPr>
          <a:xfrm>
            <a:off x="186690" y="1760855"/>
            <a:ext cx="5655945" cy="4086860"/>
          </a:xfrm>
          <a:prstGeom prst="rect">
            <a:avLst/>
          </a:prstGeom>
          <a:noFill/>
        </p:spPr>
        <p:txBody>
          <a:bodyPr wrap="square" rtlCol="0">
            <a:noAutofit/>
          </a:bodyPr>
          <a:lstStyle/>
          <a:p>
            <a:r>
              <a:rPr lang="en-US" altLang="en-US" sz="2000" b="1" dirty="0">
                <a:latin typeface="Times New Roman" panose="02020603050405020304" pitchFamily="18" charset="0"/>
                <a:cs typeface="Times New Roman" panose="02020603050405020304" pitchFamily="18" charset="0"/>
              </a:rPr>
              <a:t>Development</a:t>
            </a: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Python – Core programming language.</a:t>
            </a:r>
          </a:p>
          <a:p>
            <a:pPr marL="285750" indent="-285750">
              <a:buFont typeface="Arial" panose="020B0604020202020204" pitchFamily="34" charset="0"/>
              <a:buChar char="•"/>
            </a:pPr>
            <a:r>
              <a:rPr lang="en-US" altLang="en-US" dirty="0" err="1">
                <a:latin typeface="Times New Roman" panose="02020603050405020304" pitchFamily="18" charset="0"/>
                <a:cs typeface="Times New Roman" panose="02020603050405020304" pitchFamily="18" charset="0"/>
              </a:rPr>
              <a:t>Streamlit</a:t>
            </a:r>
            <a:r>
              <a:rPr lang="en-US" altLang="en-US" dirty="0">
                <a:latin typeface="Times New Roman" panose="02020603050405020304" pitchFamily="18" charset="0"/>
                <a:cs typeface="Times New Roman" panose="02020603050405020304" pitchFamily="18" charset="0"/>
              </a:rPr>
              <a:t> – Interactive web application..</a:t>
            </a:r>
          </a:p>
          <a:p>
            <a:pPr indent="0">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Machine Learning &amp; NLP</a:t>
            </a: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BERT – Contextual text feature extraction.</a:t>
            </a: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Handcrafted Linguistic Features* – 19 numerical text features.</a:t>
            </a: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Scikit-learn – Logistic Regression classification</a:t>
            </a:r>
          </a:p>
          <a:p>
            <a:r>
              <a:rPr lang="en-US" altLang="en-US" sz="2000" b="1" dirty="0">
                <a:latin typeface="Times New Roman" panose="02020603050405020304" pitchFamily="18" charset="0"/>
                <a:cs typeface="Times New Roman" panose="02020603050405020304" pitchFamily="18" charset="0"/>
              </a:rPr>
              <a:t>Explainable AI</a:t>
            </a:r>
          </a:p>
          <a:p>
            <a:pPr marL="285750" indent="-285750">
              <a:buFont typeface="Arial" panose="020B0604020202020204" pitchFamily="34" charset="0"/>
              <a:buChar char="•"/>
            </a:pPr>
            <a:r>
              <a:rPr lang="en-US" altLang="en-US" dirty="0"/>
              <a:t>SHAP – Feature contribution and prediction explanation.</a:t>
            </a:r>
          </a:p>
          <a:p>
            <a:endParaRPr lang="en-US" altLang="en-US" dirty="0"/>
          </a:p>
        </p:txBody>
      </p:sp>
      <p:sp>
        <p:nvSpPr>
          <p:cNvPr id="4" name="Text Box 3"/>
          <p:cNvSpPr txBox="1"/>
          <p:nvPr/>
        </p:nvSpPr>
        <p:spPr>
          <a:xfrm>
            <a:off x="6482715" y="1760855"/>
            <a:ext cx="4792980" cy="4017010"/>
          </a:xfrm>
          <a:prstGeom prst="rect">
            <a:avLst/>
          </a:prstGeom>
          <a:noFill/>
        </p:spPr>
        <p:txBody>
          <a:bodyPr wrap="square" rtlCol="0">
            <a:noAutofit/>
          </a:bodyPr>
          <a:lstStyle/>
          <a:p>
            <a:r>
              <a:rPr lang="en-US" altLang="en-US" sz="2000" b="1" dirty="0">
                <a:latin typeface="Times New Roman" panose="02020603050405020304" pitchFamily="18" charset="0"/>
                <a:cs typeface="Times New Roman" panose="02020603050405020304" pitchFamily="18" charset="0"/>
                <a:sym typeface="+mn-ea"/>
              </a:rPr>
              <a:t>Data Processing</a:t>
            </a:r>
            <a:endParaRPr lang="en-US" altLang="en-US" sz="2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sym typeface="+mn-ea"/>
              </a:rPr>
              <a:t>Pandas – Dataset processing.</a:t>
            </a: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sym typeface="+mn-ea"/>
              </a:rPr>
              <a:t>NumPy – Numerical operations.</a:t>
            </a:r>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sym typeface="+mn-ea"/>
              </a:rPr>
              <a:t>Model &amp; Storage</a:t>
            </a: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sym typeface="+mn-ea"/>
              </a:rPr>
              <a:t>Pickle – Saved classifier model serialization.</a:t>
            </a: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sym typeface="+mn-ea"/>
              </a:rPr>
              <a:t>Hugging Face Transformers – BERT model and tokenizer..</a:t>
            </a:r>
          </a:p>
          <a:p>
            <a:pPr marL="285750" indent="-28575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sym typeface="+mn-ea"/>
              </a:rPr>
              <a:t>Tools</a:t>
            </a:r>
            <a:endParaRPr lang="en-US" altLang="en-US" sz="2000" b="1" dirty="0">
              <a:latin typeface="Times New Roman" panose="02020603050405020304" pitchFamily="18" charset="0"/>
              <a:cs typeface="Times New Roman" panose="02020603050405020304" pitchFamily="18" charset="0"/>
            </a:endParaRPr>
          </a:p>
          <a:p>
            <a:r>
              <a:rPr lang="en-US" altLang="en-US" dirty="0">
                <a:sym typeface="+mn-ea"/>
              </a:rPr>
              <a:t>Git &amp; GitHub – Version control and project management.</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Delay 4"/>
          <p:cNvSpPr/>
          <p:nvPr/>
        </p:nvSpPr>
        <p:spPr>
          <a:xfrm>
            <a:off x="316230" y="743585"/>
            <a:ext cx="2567305" cy="732790"/>
          </a:xfrm>
          <a:prstGeom prst="flowChartDelay">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ltLang="en-US" sz="4000" b="1">
                <a:latin typeface="Times New Roman" panose="02020603050405020304" pitchFamily="18" charset="0"/>
                <a:cs typeface="Times New Roman" panose="02020603050405020304" pitchFamily="18" charset="0"/>
              </a:rPr>
              <a:t>Data Set</a:t>
            </a:r>
          </a:p>
        </p:txBody>
      </p:sp>
      <p:sp>
        <p:nvSpPr>
          <p:cNvPr id="3" name="Content Placeholder 2">
            <a:extLst>
              <a:ext uri="{FF2B5EF4-FFF2-40B4-BE49-F238E27FC236}">
                <a16:creationId xmlns:a16="http://schemas.microsoft.com/office/drawing/2014/main" id="{8C56B417-73D2-8ADB-3195-BCB06F32BF1B}"/>
              </a:ext>
            </a:extLst>
          </p:cNvPr>
          <p:cNvSpPr>
            <a:spLocks noGrp="1"/>
          </p:cNvSpPr>
          <p:nvPr>
            <p:ph idx="1"/>
          </p:nvPr>
        </p:nvSpPr>
        <p:spPr>
          <a:xfrm>
            <a:off x="1028700" y="4936898"/>
            <a:ext cx="10325100" cy="1555977"/>
          </a:xfrm>
        </p:spPr>
        <p:txBody>
          <a:bodyPr/>
          <a:lstStyle/>
          <a:p>
            <a:r>
              <a:rPr lang="en-US" sz="2400" b="1" dirty="0">
                <a:latin typeface="Times New Roman" panose="02020603050405020304" pitchFamily="18" charset="0"/>
                <a:cs typeface="Times New Roman" panose="02020603050405020304" pitchFamily="18" charset="0"/>
              </a:rPr>
              <a:t>Key Finding</a:t>
            </a:r>
            <a:r>
              <a:rPr lang="en-US"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29.10 percentage-point accuracy gap highlights the challenge of generalizing to an external dataset.</a:t>
            </a:r>
          </a:p>
        </p:txBody>
      </p:sp>
      <p:sp>
        <p:nvSpPr>
          <p:cNvPr id="4" name="Text Box 3"/>
          <p:cNvSpPr txBox="1"/>
          <p:nvPr/>
        </p:nvSpPr>
        <p:spPr>
          <a:xfrm>
            <a:off x="621030" y="1822450"/>
            <a:ext cx="5895975" cy="3732530"/>
          </a:xfrm>
          <a:prstGeom prst="rect">
            <a:avLst/>
          </a:prstGeom>
          <a:noFill/>
        </p:spPr>
        <p:txBody>
          <a:bodyPr wrap="square" rtlCol="0">
            <a:noAutofit/>
          </a:bodyPr>
          <a:lstStyle/>
          <a:p>
            <a:r>
              <a:rPr lang="en-US" altLang="en-US" sz="2400" b="1" dirty="0">
                <a:latin typeface="Times New Roman" panose="02020603050405020304" pitchFamily="18" charset="0"/>
                <a:cs typeface="Times New Roman" panose="02020603050405020304" pitchFamily="18" charset="0"/>
              </a:rPr>
              <a:t>Dataset Sources</a:t>
            </a:r>
          </a:p>
          <a:p>
            <a:endParaRPr lang="en-US"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Internal test set: 1,500 </a:t>
            </a:r>
            <a:r>
              <a:rPr lang="en-US" altLang="en-US" sz="2000" dirty="0" err="1">
                <a:latin typeface="Times New Roman" panose="02020603050405020304" pitchFamily="18" charset="0"/>
                <a:cs typeface="Times New Roman" panose="02020603050405020304" pitchFamily="18" charset="0"/>
              </a:rPr>
              <a:t>samples.External</a:t>
            </a:r>
            <a:r>
              <a:rPr lang="en-US" altLang="en-US" sz="2000" dirty="0">
                <a:latin typeface="Times New Roman" panose="02020603050405020304" pitchFamily="18" charset="0"/>
                <a:cs typeface="Times New Roman" panose="02020603050405020304" pitchFamily="18" charset="0"/>
              </a:rPr>
              <a:t> evaluation using the Indian Fake News Dataset (IFND).External dataset size: 56,714 </a:t>
            </a:r>
            <a:r>
              <a:rPr lang="en-US" altLang="en-US" sz="2000" dirty="0" err="1">
                <a:latin typeface="Times New Roman" panose="02020603050405020304" pitchFamily="18" charset="0"/>
                <a:cs typeface="Times New Roman" panose="02020603050405020304" pitchFamily="18" charset="0"/>
              </a:rPr>
              <a:t>samples.Input</a:t>
            </a:r>
            <a:r>
              <a:rPr lang="en-US" altLang="en-US" sz="2000" dirty="0">
                <a:latin typeface="Times New Roman" panose="02020603050405020304" pitchFamily="18" charset="0"/>
                <a:cs typeface="Times New Roman" panose="02020603050405020304" pitchFamily="18" charset="0"/>
              </a:rPr>
              <a:t> consists of news titles and article </a:t>
            </a:r>
            <a:r>
              <a:rPr lang="en-US" altLang="en-US" sz="2000" dirty="0" err="1">
                <a:latin typeface="Times New Roman" panose="02020603050405020304" pitchFamily="18" charset="0"/>
                <a:cs typeface="Times New Roman" panose="02020603050405020304" pitchFamily="18" charset="0"/>
              </a:rPr>
              <a:t>text.Labels</a:t>
            </a:r>
            <a:r>
              <a:rPr lang="en-US" altLang="en-US" sz="2000" dirty="0">
                <a:latin typeface="Times New Roman" panose="02020603050405020304" pitchFamily="18" charset="0"/>
                <a:cs typeface="Times New Roman" panose="02020603050405020304" pitchFamily="18" charset="0"/>
              </a:rPr>
              <a:t>: Real (0) and Fake (1).</a:t>
            </a:r>
          </a:p>
        </p:txBody>
      </p:sp>
      <p:sp>
        <p:nvSpPr>
          <p:cNvPr id="6" name="Text Box 5"/>
          <p:cNvSpPr txBox="1"/>
          <p:nvPr/>
        </p:nvSpPr>
        <p:spPr>
          <a:xfrm>
            <a:off x="6941911" y="1822450"/>
            <a:ext cx="4860925" cy="3733165"/>
          </a:xfrm>
          <a:prstGeom prst="rect">
            <a:avLst/>
          </a:prstGeom>
          <a:noFill/>
        </p:spPr>
        <p:txBody>
          <a:bodyPr wrap="square" rtlCol="0">
            <a:noAutofit/>
          </a:bodyPr>
          <a:lstStyle/>
          <a:p>
            <a:r>
              <a:rPr lang="en-US" altLang="en-US" sz="2400" b="1" dirty="0">
                <a:latin typeface="Times New Roman" panose="02020603050405020304" pitchFamily="18" charset="0"/>
                <a:cs typeface="Times New Roman" panose="02020603050405020304" pitchFamily="18" charset="0"/>
              </a:rPr>
              <a:t>Evaluation Results</a:t>
            </a:r>
          </a:p>
          <a:p>
            <a:r>
              <a:rPr lang="en-US" altLang="en-US" sz="2000" dirty="0">
                <a:latin typeface="Times New Roman" panose="02020603050405020304" pitchFamily="18" charset="0"/>
                <a:cs typeface="Times New Roman" panose="02020603050405020304" pitchFamily="18" charset="0"/>
              </a:rPr>
              <a:t>Internal test accuracy: 99.2%External accuracy: 70.10%Fake-news precision: 53.22%Fake-news recall: 85.43%Fake-news F1-score: 65.58%ROC-AUC: 83.16%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02EC5E-DFC3-D1EE-318D-0CF8E021040C}"/>
              </a:ext>
            </a:extLst>
          </p:cNvPr>
          <p:cNvSpPr>
            <a:spLocks noGrp="1"/>
          </p:cNvSpPr>
          <p:nvPr>
            <p:ph type="title"/>
          </p:nvPr>
        </p:nvSpPr>
        <p:spPr>
          <a:xfrm>
            <a:off x="838201" y="365125"/>
            <a:ext cx="2022446" cy="582831"/>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0000"/>
          </a:bodyPr>
          <a:lstStyle/>
          <a:p>
            <a:pPr algn="ctr"/>
            <a:r>
              <a:rPr lang="en-US" b="1" dirty="0">
                <a:latin typeface="Times New Roman" panose="02020603050405020304" pitchFamily="18" charset="0"/>
                <a:cs typeface="Times New Roman" panose="02020603050405020304" pitchFamily="18" charset="0"/>
              </a:rPr>
              <a:t>Result</a:t>
            </a:r>
            <a:endParaRPr lang="en-US" dirty="0"/>
          </a:p>
        </p:txBody>
      </p:sp>
      <p:pic>
        <p:nvPicPr>
          <p:cNvPr id="3" name="Picture 2">
            <a:extLst>
              <a:ext uri="{FF2B5EF4-FFF2-40B4-BE49-F238E27FC236}">
                <a16:creationId xmlns:a16="http://schemas.microsoft.com/office/drawing/2014/main" id="{E453F852-FAA7-A069-6BC7-E4BE0BC92FD2}"/>
              </a:ext>
            </a:extLst>
          </p:cNvPr>
          <p:cNvPicPr>
            <a:picLocks noChangeAspect="1"/>
          </p:cNvPicPr>
          <p:nvPr/>
        </p:nvPicPr>
        <p:blipFill>
          <a:blip r:embed="rId2"/>
          <a:stretch>
            <a:fillRect/>
          </a:stretch>
        </p:blipFill>
        <p:spPr>
          <a:xfrm>
            <a:off x="179614" y="1945005"/>
            <a:ext cx="5689148" cy="3196590"/>
          </a:xfrm>
          <a:prstGeom prst="rect">
            <a:avLst/>
          </a:prstGeom>
        </p:spPr>
      </p:pic>
      <p:pic>
        <p:nvPicPr>
          <p:cNvPr id="7" name="Picture 6">
            <a:extLst>
              <a:ext uri="{FF2B5EF4-FFF2-40B4-BE49-F238E27FC236}">
                <a16:creationId xmlns:a16="http://schemas.microsoft.com/office/drawing/2014/main" id="{C8A4C0A5-DCE7-C5FB-5586-C6F133EA42F2}"/>
              </a:ext>
            </a:extLst>
          </p:cNvPr>
          <p:cNvPicPr>
            <a:picLocks noChangeAspect="1"/>
          </p:cNvPicPr>
          <p:nvPr/>
        </p:nvPicPr>
        <p:blipFill>
          <a:blip r:embed="rId3"/>
          <a:stretch>
            <a:fillRect/>
          </a:stretch>
        </p:blipFill>
        <p:spPr>
          <a:xfrm>
            <a:off x="6323238" y="1945005"/>
            <a:ext cx="5689148" cy="3196590"/>
          </a:xfrm>
          <a:prstGeom prst="rect">
            <a:avLst/>
          </a:prstGeom>
        </p:spPr>
      </p:pic>
    </p:spTree>
    <p:extLst>
      <p:ext uri="{BB962C8B-B14F-4D97-AF65-F5344CB8AC3E}">
        <p14:creationId xmlns:p14="http://schemas.microsoft.com/office/powerpoint/2010/main" val="3263188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op Corners Snipped Rectangle 3"/>
          <p:cNvSpPr/>
          <p:nvPr/>
        </p:nvSpPr>
        <p:spPr>
          <a:xfrm>
            <a:off x="198755" y="405765"/>
            <a:ext cx="2978785" cy="918210"/>
          </a:xfrm>
          <a:prstGeom prst="snip2Same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16230" y="283210"/>
            <a:ext cx="10925175" cy="1182370"/>
          </a:xfrm>
        </p:spPr>
        <p:txBody>
          <a:bodyPr/>
          <a:lstStyle/>
          <a:p>
            <a:r>
              <a:rPr lang="en-US" sz="3600" b="1">
                <a:latin typeface="Times New Roman" panose="02020603050405020304" pitchFamily="18" charset="0"/>
                <a:cs typeface="Times New Roman" panose="02020603050405020304" pitchFamily="18" charset="0"/>
              </a:rPr>
              <a:t>Gantt Chart</a:t>
            </a:r>
          </a:p>
        </p:txBody>
      </p:sp>
      <p:pic>
        <p:nvPicPr>
          <p:cNvPr id="3" name="Picture 2" descr="1822aad6-3c6d-4adc-8220-e73d8602825e"/>
          <p:cNvPicPr>
            <a:picLocks noChangeAspect="1"/>
          </p:cNvPicPr>
          <p:nvPr/>
        </p:nvPicPr>
        <p:blipFill>
          <a:blip r:embed="rId2"/>
          <a:stretch>
            <a:fillRect/>
          </a:stretch>
        </p:blipFill>
        <p:spPr>
          <a:xfrm>
            <a:off x="515620" y="1465580"/>
            <a:ext cx="11289665" cy="45453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Terminator 4"/>
          <p:cNvSpPr/>
          <p:nvPr/>
        </p:nvSpPr>
        <p:spPr>
          <a:xfrm>
            <a:off x="432707" y="437130"/>
            <a:ext cx="2563586" cy="857250"/>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609600" y="204108"/>
            <a:ext cx="2452007" cy="1323295"/>
          </a:xfrm>
        </p:spPr>
        <p:txBody>
          <a:bodyPr>
            <a:normAutofit/>
          </a:bodyPr>
          <a:lstStyle/>
          <a:p>
            <a:r>
              <a:rPr lang="en-IN" sz="3200" b="1"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838200" y="1825624"/>
            <a:ext cx="10515600" cy="4828267"/>
          </a:xfrm>
        </p:spPr>
        <p:txBody>
          <a:bodyPr>
            <a:normAutofit fontScale="55000" lnSpcReduction="20000"/>
          </a:bodyPr>
          <a:lstStyle/>
          <a:p>
            <a:pPr>
              <a:lnSpc>
                <a:spcPct val="120000"/>
              </a:lnSpc>
            </a:pPr>
            <a:r>
              <a:rPr lang="en-US" sz="3100" dirty="0">
                <a:latin typeface="Times New Roman" panose="02020603050405020304" pitchFamily="18" charset="0"/>
                <a:cs typeface="Times New Roman" panose="02020603050405020304" pitchFamily="18" charset="0"/>
              </a:rPr>
              <a:t>Combines 768-dimensional frozen BERT embeddings with 19 handcrafted linguistic features.</a:t>
            </a:r>
            <a:r>
              <a:rPr lang="en-IN" sz="3100" dirty="0">
                <a:latin typeface="Times New Roman" panose="02020603050405020304" pitchFamily="18" charset="0"/>
                <a:cs typeface="Times New Roman" panose="02020603050405020304" pitchFamily="18" charset="0"/>
              </a:rPr>
              <a:t>. </a:t>
            </a:r>
          </a:p>
          <a:p>
            <a:pPr>
              <a:lnSpc>
                <a:spcPct val="120000"/>
              </a:lnSpc>
            </a:pPr>
            <a:r>
              <a:rPr lang="en-US" sz="3100" dirty="0">
                <a:latin typeface="Times New Roman" panose="02020603050405020304" pitchFamily="18" charset="0"/>
                <a:cs typeface="Times New Roman" panose="02020603050405020304" pitchFamily="18" charset="0"/>
              </a:rPr>
              <a:t>Uses a 787-dimensional feature vector with Logistic Regression for </a:t>
            </a:r>
            <a:r>
              <a:rPr lang="en-US" sz="3100" dirty="0" err="1">
                <a:latin typeface="Times New Roman" panose="02020603050405020304" pitchFamily="18" charset="0"/>
                <a:cs typeface="Times New Roman" panose="02020603050405020304" pitchFamily="18" charset="0"/>
              </a:rPr>
              <a:t>classification.Applies</a:t>
            </a:r>
            <a:r>
              <a:rPr lang="en-US" sz="3100" dirty="0">
                <a:latin typeface="Times New Roman" panose="02020603050405020304" pitchFamily="18" charset="0"/>
                <a:cs typeface="Times New Roman" panose="02020603050405020304" pitchFamily="18" charset="0"/>
              </a:rPr>
              <a:t> SHAP to explain feature contributions to predictions.</a:t>
            </a:r>
            <a:r>
              <a:rPr lang="en-IN" sz="3100" dirty="0">
                <a:solidFill>
                  <a:schemeClr val="accent1"/>
                </a:solidFill>
                <a:latin typeface="Times New Roman" panose="02020603050405020304" pitchFamily="18" charset="0"/>
                <a:cs typeface="Times New Roman" panose="02020603050405020304" pitchFamily="18" charset="0"/>
              </a:rPr>
              <a:t>. </a:t>
            </a:r>
          </a:p>
          <a:p>
            <a:pPr>
              <a:lnSpc>
                <a:spcPct val="120000"/>
              </a:lnSpc>
            </a:pPr>
            <a:r>
              <a:rPr lang="en-US" sz="3100" b="1" dirty="0">
                <a:solidFill>
                  <a:schemeClr val="accent1"/>
                </a:solidFill>
                <a:latin typeface="Times New Roman" panose="02020603050405020304" pitchFamily="18" charset="0"/>
                <a:cs typeface="Times New Roman" panose="02020603050405020304" pitchFamily="18" charset="0"/>
              </a:rPr>
              <a:t>Achieves 99.2% internal test accuracy on 1,500 samples.</a:t>
            </a:r>
            <a:r>
              <a:rPr lang="en-IN" sz="3100" dirty="0">
                <a:latin typeface="Times New Roman" panose="02020603050405020304" pitchFamily="18" charset="0"/>
                <a:cs typeface="Times New Roman" panose="02020603050405020304" pitchFamily="18" charset="0"/>
              </a:rPr>
              <a:t>. </a:t>
            </a:r>
          </a:p>
          <a:p>
            <a:pPr>
              <a:lnSpc>
                <a:spcPct val="120000"/>
              </a:lnSpc>
            </a:pPr>
            <a:r>
              <a:rPr lang="en-US" sz="3100" dirty="0">
                <a:latin typeface="Times New Roman" panose="02020603050405020304" pitchFamily="18" charset="0"/>
                <a:cs typeface="Times New Roman" panose="02020603050405020304" pitchFamily="18" charset="0"/>
              </a:rPr>
              <a:t>Achieves 70.10% external accuracy on the IFND dataset, indicating a generalization challenge.</a:t>
            </a:r>
            <a:r>
              <a:rPr lang="en-IN" sz="3100" dirty="0">
                <a:latin typeface="Times New Roman" panose="02020603050405020304" pitchFamily="18" charset="0"/>
                <a:cs typeface="Times New Roman" panose="02020603050405020304" pitchFamily="18" charset="0"/>
              </a:rPr>
              <a:t>.</a:t>
            </a:r>
          </a:p>
          <a:p>
            <a:pPr marL="0" indent="0">
              <a:lnSpc>
                <a:spcPct val="120000"/>
              </a:lnSpc>
              <a:buNone/>
            </a:pPr>
            <a:r>
              <a:rPr lang="en-IN" sz="3100" dirty="0">
                <a:latin typeface="Times New Roman" panose="02020603050405020304" pitchFamily="18" charset="0"/>
                <a:cs typeface="Times New Roman" panose="02020603050405020304" pitchFamily="18" charset="0"/>
              </a:rPr>
              <a:t> </a:t>
            </a:r>
          </a:p>
          <a:p>
            <a:pPr marL="0" indent="0">
              <a:lnSpc>
                <a:spcPct val="120000"/>
              </a:lnSpc>
              <a:buNone/>
            </a:pPr>
            <a:r>
              <a:rPr lang="en-IN" sz="4200" b="1" dirty="0">
                <a:latin typeface="Times New Roman" panose="02020603050405020304" pitchFamily="18" charset="0"/>
                <a:cs typeface="Times New Roman" panose="02020603050405020304" pitchFamily="18" charset="0"/>
              </a:rPr>
              <a:t>Future Scope</a:t>
            </a:r>
          </a:p>
          <a:p>
            <a:pPr>
              <a:lnSpc>
                <a:spcPct val="120000"/>
              </a:lnSpc>
            </a:pPr>
            <a:r>
              <a:rPr lang="en-US" sz="3100" dirty="0">
                <a:latin typeface="Times New Roman" panose="02020603050405020304" pitchFamily="18" charset="0"/>
                <a:cs typeface="Times New Roman" panose="02020603050405020304" pitchFamily="18" charset="0"/>
              </a:rPr>
              <a:t>Evaluate on more diverse, independently sourced datasets.</a:t>
            </a:r>
            <a:r>
              <a:rPr lang="en-IN" sz="3100" dirty="0">
                <a:latin typeface="Times New Roman" panose="02020603050405020304" pitchFamily="18" charset="0"/>
                <a:cs typeface="Times New Roman" panose="02020603050405020304" pitchFamily="18" charset="0"/>
              </a:rPr>
              <a:t>. </a:t>
            </a:r>
          </a:p>
          <a:p>
            <a:pPr>
              <a:lnSpc>
                <a:spcPct val="120000"/>
              </a:lnSpc>
            </a:pPr>
            <a:r>
              <a:rPr lang="en-US" sz="3100" dirty="0">
                <a:latin typeface="Times New Roman" panose="02020603050405020304" pitchFamily="18" charset="0"/>
                <a:cs typeface="Times New Roman" panose="02020603050405020304" pitchFamily="18" charset="0"/>
              </a:rPr>
              <a:t>Investigate publisher, topic, and dataset bias.</a:t>
            </a:r>
            <a:r>
              <a:rPr lang="en-IN" sz="3100" dirty="0">
                <a:latin typeface="Times New Roman" panose="02020603050405020304" pitchFamily="18" charset="0"/>
                <a:cs typeface="Times New Roman" panose="02020603050405020304" pitchFamily="18" charset="0"/>
              </a:rPr>
              <a:t>. </a:t>
            </a:r>
          </a:p>
          <a:p>
            <a:pPr>
              <a:lnSpc>
                <a:spcPct val="120000"/>
              </a:lnSpc>
            </a:pPr>
            <a:r>
              <a:rPr lang="en-US" sz="3100" dirty="0">
                <a:latin typeface="Times New Roman" panose="02020603050405020304" pitchFamily="18" charset="0"/>
                <a:cs typeface="Times New Roman" panose="02020603050405020304" pitchFamily="18" charset="0"/>
              </a:rPr>
              <a:t>Document and validate all 19 linguistic features</a:t>
            </a:r>
            <a:r>
              <a:rPr lang="en-IN" sz="3100" dirty="0">
                <a:latin typeface="Times New Roman" panose="02020603050405020304" pitchFamily="18" charset="0"/>
                <a:cs typeface="Times New Roman" panose="02020603050405020304" pitchFamily="18" charset="0"/>
              </a:rPr>
              <a:t>.</a:t>
            </a:r>
          </a:p>
          <a:p>
            <a:pPr>
              <a:lnSpc>
                <a:spcPct val="120000"/>
              </a:lnSpc>
            </a:pPr>
            <a:r>
              <a:rPr lang="en-US" sz="3100" dirty="0">
                <a:latin typeface="Times New Roman" panose="02020603050405020304" pitchFamily="18" charset="0"/>
                <a:cs typeface="Times New Roman" panose="02020603050405020304" pitchFamily="18" charset="0"/>
              </a:rPr>
              <a:t>Improve model robustness and explanation reliability</a:t>
            </a:r>
            <a:r>
              <a:rPr lang="en-IN" sz="3100" dirty="0">
                <a:latin typeface="Times New Roman" panose="02020603050405020304" pitchFamily="18" charset="0"/>
                <a:cs typeface="Times New Roman" panose="02020603050405020304" pitchFamily="18" charset="0"/>
              </a:rPr>
              <a:t>.</a:t>
            </a:r>
          </a:p>
          <a:p>
            <a:pPr marL="0" indent="0">
              <a:lnSpc>
                <a:spcPct val="120000"/>
              </a:lnSpc>
              <a:buNone/>
            </a:pPr>
            <a:r>
              <a:rPr lang="en-US" sz="3100" dirty="0">
                <a:latin typeface="Times New Roman" panose="02020603050405020304" pitchFamily="18" charset="0"/>
                <a:cs typeface="Times New Roman" panose="02020603050405020304" pitchFamily="18" charset="0"/>
              </a:rPr>
              <a:t>Note: SHAP explains model predictions; it does not independently verify whether a news claim is true.</a:t>
            </a:r>
            <a:endParaRPr lang="en-IN" sz="31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Magnetic Disk 3"/>
          <p:cNvSpPr/>
          <p:nvPr/>
        </p:nvSpPr>
        <p:spPr>
          <a:xfrm>
            <a:off x="737938" y="490078"/>
            <a:ext cx="2269958" cy="85023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References</a:t>
            </a:r>
          </a:p>
        </p:txBody>
      </p:sp>
      <p:sp>
        <p:nvSpPr>
          <p:cNvPr id="8" name="Content Placeholder 2">
            <a:extLst>
              <a:ext uri="{FF2B5EF4-FFF2-40B4-BE49-F238E27FC236}">
                <a16:creationId xmlns:a16="http://schemas.microsoft.com/office/drawing/2014/main" id="{D14939F9-C40A-BC91-585D-81136A2F135F}"/>
              </a:ext>
            </a:extLst>
          </p:cNvPr>
          <p:cNvSpPr txBox="1">
            <a:spLocks noGrp="1"/>
          </p:cNvSpPr>
          <p:nvPr>
            <p:ph idx="1"/>
          </p:nvPr>
        </p:nvSpPr>
        <p:spPr>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IN" sz="2900" dirty="0">
                <a:latin typeface="Times New Roman" panose="02020603050405020304" pitchFamily="18" charset="0"/>
                <a:cs typeface="Times New Roman" panose="02020603050405020304" pitchFamily="18" charset="0"/>
              </a:rPr>
              <a:t> [1] J. Devlin, M.-W. Chang, K. Lee, and K. </a:t>
            </a:r>
            <a:r>
              <a:rPr lang="en-IN" sz="2900" dirty="0" err="1">
                <a:latin typeface="Times New Roman" panose="02020603050405020304" pitchFamily="18" charset="0"/>
                <a:cs typeface="Times New Roman" panose="02020603050405020304" pitchFamily="18" charset="0"/>
              </a:rPr>
              <a:t>Toutanova</a:t>
            </a:r>
            <a:r>
              <a:rPr lang="en-IN" sz="2900" dirty="0">
                <a:latin typeface="Times New Roman" panose="02020603050405020304" pitchFamily="18" charset="0"/>
                <a:cs typeface="Times New Roman" panose="02020603050405020304" pitchFamily="18" charset="0"/>
              </a:rPr>
              <a:t>, “BERT: Pre-training of Deep Bidirectional Transformers for Language Understanding,” in Proceedings of NAACL-HLT, 2019, pp. 4171–4186.
[2] S. M. Lundberg and S.-I. Lee, “A Unified Approach to Interpreting Model Predictions,” in Advances in Neural Information Processing Systems (</a:t>
            </a:r>
            <a:r>
              <a:rPr lang="en-IN" sz="2900" dirty="0" err="1">
                <a:latin typeface="Times New Roman" panose="02020603050405020304" pitchFamily="18" charset="0"/>
                <a:cs typeface="Times New Roman" panose="02020603050405020304" pitchFamily="18" charset="0"/>
              </a:rPr>
              <a:t>NeurIPS</a:t>
            </a:r>
            <a:r>
              <a:rPr lang="en-IN" sz="2900" dirty="0">
                <a:latin typeface="Times New Roman" panose="02020603050405020304" pitchFamily="18" charset="0"/>
                <a:cs typeface="Times New Roman" panose="02020603050405020304" pitchFamily="18" charset="0"/>
              </a:rPr>
              <a:t>), vol. 30, 2017.
[3] D. K. Sharma and S. Garg, “IFND: A Benchmark Dataset for Fake News Detection,” Complex &amp; Intelligent Systems, vol. 9, pp. 2843–2863, 2023.
[4] A. K. Shu, A. </a:t>
            </a:r>
            <a:r>
              <a:rPr lang="en-IN" sz="2900" dirty="0" err="1">
                <a:latin typeface="Times New Roman" panose="02020603050405020304" pitchFamily="18" charset="0"/>
                <a:cs typeface="Times New Roman" panose="02020603050405020304" pitchFamily="18" charset="0"/>
              </a:rPr>
              <a:t>Sliva</a:t>
            </a:r>
            <a:r>
              <a:rPr lang="en-IN" sz="2900" dirty="0">
                <a:latin typeface="Times New Roman" panose="02020603050405020304" pitchFamily="18" charset="0"/>
                <a:cs typeface="Times New Roman" panose="02020603050405020304" pitchFamily="18" charset="0"/>
              </a:rPr>
              <a:t>, S. Wang, J. Tang, and H. Liu, “Fake News Detection on Social Media: A Data Mining Perspective,” ACM SIGKDD Explorations Newsletter, vol. 19, no. 1, pp. 22–36, 2017.
[5] K. Shu, A. </a:t>
            </a:r>
            <a:r>
              <a:rPr lang="en-IN" sz="2900" dirty="0" err="1">
                <a:latin typeface="Times New Roman" panose="02020603050405020304" pitchFamily="18" charset="0"/>
                <a:cs typeface="Times New Roman" panose="02020603050405020304" pitchFamily="18" charset="0"/>
              </a:rPr>
              <a:t>Sliva</a:t>
            </a:r>
            <a:r>
              <a:rPr lang="en-IN" sz="2900" dirty="0">
                <a:latin typeface="Times New Roman" panose="02020603050405020304" pitchFamily="18" charset="0"/>
                <a:cs typeface="Times New Roman" panose="02020603050405020304" pitchFamily="18" charset="0"/>
              </a:rPr>
              <a:t>, S. Wang, J. Tang, and H. Liu, “Beyond News Contents: The Role of Social Context for Fake News Detection,” in Proceedings of the 12</a:t>
            </a:r>
            <a:r>
              <a:rPr lang="en-IN" sz="2900" baseline="30000" dirty="0">
                <a:latin typeface="Times New Roman" panose="02020603050405020304" pitchFamily="18" charset="0"/>
                <a:cs typeface="Times New Roman" panose="02020603050405020304" pitchFamily="18" charset="0"/>
              </a:rPr>
              <a:t>th</a:t>
            </a:r>
            <a:r>
              <a:rPr lang="en-IN" sz="2900" dirty="0">
                <a:latin typeface="Times New Roman" panose="02020603050405020304" pitchFamily="18" charset="0"/>
                <a:cs typeface="Times New Roman" panose="02020603050405020304" pitchFamily="18" charset="0"/>
              </a:rPr>
              <a:t> ACM International Conference on Web Search and Data Mining (WSDM), 2019.“Fake News Detection System Using Featured-Based Optimized MSVM Classification,” </a:t>
            </a:r>
            <a:r>
              <a:rPr lang="en-IN" sz="2900" i="1" dirty="0">
                <a:latin typeface="Times New Roman" panose="02020603050405020304" pitchFamily="18" charset="0"/>
                <a:cs typeface="Times New Roman" panose="02020603050405020304" pitchFamily="18" charset="0"/>
              </a:rPr>
              <a:t>IEEE Access</a:t>
            </a:r>
            <a:r>
              <a:rPr lang="en-IN" sz="2900" dirty="0">
                <a:latin typeface="Times New Roman" panose="02020603050405020304" pitchFamily="18" charset="0"/>
                <a:cs typeface="Times New Roman" panose="02020603050405020304" pitchFamily="18" charset="0"/>
              </a:rPr>
              <a:t>, vol. 10, 2022.</a:t>
            </a:r>
          </a:p>
          <a:p>
            <a:pPr>
              <a:lnSpc>
                <a:spcPct val="120000"/>
              </a:lnSpc>
            </a:pP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858000"/>
          </a:xfrm>
        </p:spPr>
        <p:txBody>
          <a:bodyPr>
            <a:normAutofit/>
          </a:bodyPr>
          <a:lstStyle/>
          <a:p>
            <a:pPr algn="ctr"/>
            <a:r>
              <a:rPr lang="en-IN" sz="5400" b="1" i="1" dirty="0">
                <a:latin typeface="Times New Roman" panose="02020603050405020304" pitchFamily="18" charset="0"/>
                <a:cs typeface="Times New Roman" panose="02020603050405020304" pitchFamily="18" charset="0"/>
              </a:rPr>
              <a:t>THANK YOU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70&quot;:[332220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TotalTime>
  <Words>1418</Words>
  <Application>Microsoft Office PowerPoint</Application>
  <PresentationFormat>Widescreen</PresentationFormat>
  <Paragraphs>153</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HYBRID BERT-BASED FAKE NEWS DETECTION USING LINGUISTIC FEATURES AND EXPLAINABLE AI</vt:lpstr>
      <vt:lpstr>Abstract</vt:lpstr>
      <vt:lpstr>Problem Statement</vt:lpstr>
      <vt:lpstr>Objectives</vt:lpstr>
      <vt:lpstr>Literature Survey</vt:lpstr>
      <vt:lpstr>Research Gap</vt:lpstr>
      <vt:lpstr>Existing System</vt:lpstr>
      <vt:lpstr>Proposed System</vt:lpstr>
      <vt:lpstr>System Architecture</vt:lpstr>
      <vt:lpstr>Technology Used</vt:lpstr>
      <vt:lpstr>Data Set</vt:lpstr>
      <vt:lpstr>Result</vt:lpstr>
      <vt:lpstr>Gantt Chart</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Deep Learning Model for Fake News Detection Using Multimodal Features and Explainable AI  </dc:title>
  <dc:creator>Mohamed Irfaan</dc:creator>
  <cp:lastModifiedBy>Bhuvanesh Murugan</cp:lastModifiedBy>
  <cp:revision>24</cp:revision>
  <dcterms:created xsi:type="dcterms:W3CDTF">2026-08-26T06:29:00Z</dcterms:created>
  <dcterms:modified xsi:type="dcterms:W3CDTF">2026-10-30T03:11:03Z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24D7525F5B774873B0CC8AB6E84CD937_12</vt:lpwstr>
  </property>
</Properties>
</file>