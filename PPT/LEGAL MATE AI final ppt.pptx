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65" r:id="rId4"/>
    <p:sldId id="261" r:id="rId5"/>
    <p:sldId id="266" r:id="rId6"/>
    <p:sldId id="258" r:id="rId7"/>
    <p:sldId id="273" r:id="rId8"/>
    <p:sldId id="264" r:id="rId9"/>
    <p:sldId id="274" r:id="rId10"/>
    <p:sldId id="267" r:id="rId11"/>
    <p:sldId id="275" r:id="rId12"/>
    <p:sldId id="276" r:id="rId13"/>
    <p:sldId id="269" r:id="rId14"/>
    <p:sldId id="268" r:id="rId15"/>
    <p:sldId id="277" r:id="rId16"/>
    <p:sldId id="272" r:id="rId17"/>
    <p:sldId id="279" r:id="rId18"/>
    <p:sldId id="278" r:id="rId19"/>
  </p:sldIdLst>
  <p:sldSz cx="12192000" cy="6858000"/>
  <p:notesSz cx="6858000" cy="9144000"/>
  <p:embeddedFontLst>
    <p:embeddedFont>
      <p:font typeface="Algerian" panose="04020705040A02060702" pitchFamily="82" charset="0"/>
      <p:regular r:id="rId21"/>
    </p:embeddedFont>
    <p:embeddedFont>
      <p:font typeface="Play" panose="020B0604020202020204"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hXJ9K3uiDgvxixW6F/aysqdWiz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F6824C-0CDB-4818-A3AF-910C17A7337B}" v="3" dt="2026-10-29T08:49:05.1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7" autoAdjust="0"/>
    <p:restoredTop sz="94379" autoAdjust="0"/>
  </p:normalViewPr>
  <p:slideViewPr>
    <p:cSldViewPr>
      <p:cViewPr varScale="1">
        <p:scale>
          <a:sx n="78" d="100"/>
          <a:sy n="78" d="100"/>
        </p:scale>
        <p:origin x="696"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42515091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13165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46349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54448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a:spLocks noGrp="1"/>
          </p:cNvSpPr>
          <p:nvPr>
            <p:ph type="pic" idx="2"/>
          </p:nvPr>
        </p:nvSpPr>
        <p:spPr>
          <a:xfrm>
            <a:off x="5183188" y="987425"/>
            <a:ext cx="6172200" cy="4873625"/>
          </a:xfrm>
          <a:prstGeom prst="rect">
            <a:avLst/>
          </a:prstGeom>
          <a:noFill/>
          <a:ln>
            <a:noFill/>
          </a:ln>
        </p:spPr>
      </p:sp>
      <p:sp>
        <p:nvSpPr>
          <p:cNvPr id="64" name="Google Shape;64;p2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407368" y="1711832"/>
            <a:ext cx="11377264" cy="4031833"/>
          </a:xfrm>
          <a:prstGeom prst="rect">
            <a:avLst/>
          </a:prstGeom>
          <a:noFill/>
          <a:ln>
            <a:noFill/>
          </a:ln>
        </p:spPr>
        <p:txBody>
          <a:bodyPr spcFirstLastPara="1" wrap="square" lIns="91425" tIns="45700" rIns="91425" bIns="45700" anchor="ctr" anchorCtr="0">
            <a:spAutoFit/>
          </a:bodyPr>
          <a:lstStyle/>
          <a:p>
            <a:pPr marL="0" marR="0" lvl="0" indent="0" algn="ctr" rtl="0">
              <a:lnSpc>
                <a:spcPct val="150000"/>
              </a:lnSpc>
              <a:spcBef>
                <a:spcPts val="0"/>
              </a:spcBef>
              <a:spcAft>
                <a:spcPts val="0"/>
              </a:spcAft>
              <a:buNone/>
              <a:defRPr sz="2800" b="1">
                <a:solidFill>
                  <a:srgbClr val="002060"/>
                </a:solidFill>
                <a:latin typeface="Times New Roman"/>
              </a:defRPr>
            </a:pPr>
            <a:r>
              <a:rPr dirty="0">
                <a:solidFill>
                  <a:schemeClr val="tx1"/>
                </a:solidFill>
              </a:rPr>
              <a:t>Legal Mate AI:</a:t>
            </a:r>
            <a:br>
              <a:rPr dirty="0">
                <a:solidFill>
                  <a:schemeClr val="tx1"/>
                </a:solidFill>
              </a:rPr>
            </a:br>
            <a:r>
              <a:rPr dirty="0">
                <a:solidFill>
                  <a:schemeClr val="tx1"/>
                </a:solidFill>
              </a:rPr>
              <a:t>A Domain-Specific Indian Legal AI Model</a:t>
            </a:r>
            <a:br>
              <a:rPr dirty="0">
                <a:solidFill>
                  <a:schemeClr val="tx1"/>
                </a:solidFill>
              </a:rPr>
            </a:br>
            <a:r>
              <a:rPr dirty="0">
                <a:solidFill>
                  <a:schemeClr val="tx1"/>
                </a:solidFill>
              </a:rPr>
              <a:t>for Legal Guidance and Complaint Assistance</a:t>
            </a:r>
          </a:p>
          <a:p>
            <a:endParaRPr lang="en-US" dirty="0"/>
          </a:p>
          <a:p>
            <a:r>
              <a:rPr lang="en-US" b="1" dirty="0"/>
              <a:t>PROJECT MEMBERS:                                                                                                         PROJECT GUIDE:</a:t>
            </a:r>
          </a:p>
          <a:p>
            <a:pPr algn="r"/>
            <a:r>
              <a:rPr lang="en-US" b="1" dirty="0"/>
              <a:t>             </a:t>
            </a:r>
          </a:p>
          <a:p>
            <a:r>
              <a:rPr lang="en-US" b="1" dirty="0"/>
              <a:t>     </a:t>
            </a:r>
            <a:r>
              <a:rPr lang="en-US" dirty="0"/>
              <a:t>P Praveen Kumar (24619125)                                                                                              </a:t>
            </a:r>
            <a:r>
              <a:rPr lang="en-US" dirty="0" err="1"/>
              <a:t>Dr.G.Sangeetha</a:t>
            </a:r>
            <a:r>
              <a:rPr lang="en-US" dirty="0"/>
              <a:t> </a:t>
            </a:r>
            <a:endParaRPr lang="en-US" b="1" dirty="0"/>
          </a:p>
          <a:p>
            <a:r>
              <a:rPr dirty="0"/>
              <a:t>  </a:t>
            </a:r>
            <a:r>
              <a:rPr lang="en-US" dirty="0"/>
              <a:t>   R </a:t>
            </a:r>
            <a:r>
              <a:rPr dirty="0"/>
              <a:t>Varshan </a:t>
            </a:r>
            <a:r>
              <a:rPr lang="en-US" dirty="0"/>
              <a:t>(24619133)                                                                                                     ( Assistant Professor )</a:t>
            </a:r>
          </a:p>
          <a:p>
            <a:r>
              <a:rPr dirty="0"/>
              <a:t>  </a:t>
            </a:r>
            <a:r>
              <a:rPr lang="en-US" dirty="0"/>
              <a:t>   P </a:t>
            </a:r>
            <a:r>
              <a:rPr dirty="0"/>
              <a:t>Naveen Kumar </a:t>
            </a:r>
            <a:r>
              <a:rPr lang="en-US" dirty="0"/>
              <a:t>(24619124)                                                                                       ( Dept of AI&amp;ML , VISTAS)</a:t>
            </a:r>
          </a:p>
          <a:p>
            <a:br>
              <a:rPr dirty="0"/>
            </a:br>
            <a:r>
              <a:rPr lang="en-US" dirty="0"/>
              <a:t>                                         </a:t>
            </a:r>
            <a:r>
              <a:rPr sz="1800" b="1" u="sng" dirty="0"/>
              <a:t>Department of Artificial Intelligence &amp; Machine Learning (AIML)</a:t>
            </a:r>
            <a:br>
              <a:rPr dirty="0"/>
            </a:br>
            <a:endParaRPr dirty="0"/>
          </a:p>
        </p:txBody>
      </p:sp>
      <p:pic>
        <p:nvPicPr>
          <p:cNvPr id="85" name="Google Shape;85;p1" title="VISTAS Logo.jpeg"/>
          <p:cNvPicPr preferRelativeResize="0"/>
          <p:nvPr/>
        </p:nvPicPr>
        <p:blipFill>
          <a:blip r:embed="rId3">
            <a:alphaModFix/>
          </a:blip>
          <a:stretch>
            <a:fillRect/>
          </a:stretch>
        </p:blipFill>
        <p:spPr>
          <a:xfrm>
            <a:off x="3536100" y="93500"/>
            <a:ext cx="5593584" cy="1318000"/>
          </a:xfrm>
          <a:prstGeom prst="rect">
            <a:avLst/>
          </a:prstGeom>
          <a:noFill/>
          <a:ln>
            <a:noFill/>
          </a:ln>
        </p:spPr>
      </p:pic>
      <p:pic>
        <p:nvPicPr>
          <p:cNvPr id="86" name="Google Shape;86;p1" title="vels knowledge.jpg"/>
          <p:cNvPicPr preferRelativeResize="0"/>
          <p:nvPr/>
        </p:nvPicPr>
        <p:blipFill>
          <a:blip r:embed="rId4">
            <a:alphaModFix/>
          </a:blip>
          <a:stretch>
            <a:fillRect/>
          </a:stretch>
        </p:blipFill>
        <p:spPr>
          <a:xfrm>
            <a:off x="11169308" y="5841375"/>
            <a:ext cx="1016625" cy="1016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2060"/>
              </a:buClr>
              <a:buSzPts val="3000"/>
              <a:buFont typeface="Times New Roman"/>
              <a:buNone/>
            </a:pPr>
            <a:r>
              <a:rPr lang="en-IN" sz="3000" b="1" dirty="0">
                <a:solidFill>
                  <a:schemeClr val="tx1"/>
                </a:solidFill>
                <a:latin typeface="Times New Roman"/>
                <a:ea typeface="Times New Roman"/>
                <a:cs typeface="Times New Roman"/>
                <a:sym typeface="Times New Roman"/>
              </a:rPr>
              <a:t>Abstract</a:t>
            </a:r>
            <a:endParaRPr dirty="0">
              <a:solidFill>
                <a:schemeClr val="tx1"/>
              </a:solidFill>
            </a:endParaRPr>
          </a:p>
        </p:txBody>
      </p:sp>
      <p:sp>
        <p:nvSpPr>
          <p:cNvPr id="93" name="Google Shape;93;p2"/>
          <p:cNvSpPr txBox="1">
            <a:spLocks noGrp="1"/>
          </p:cNvSpPr>
          <p:nvPr>
            <p:ph type="body" idx="1"/>
          </p:nvPr>
        </p:nvSpPr>
        <p:spPr>
          <a:xfrm>
            <a:off x="838200" y="1825625"/>
            <a:ext cx="10515600" cy="4351338"/>
          </a:xfrm>
          <a:prstGeom prst="rect">
            <a:avLst/>
          </a:prstGeom>
          <a:noFill/>
          <a:ln>
            <a:noFill/>
          </a:ln>
        </p:spPr>
        <p:txBody>
          <a:bodyPr spcFirstLastPara="1" wrap="square" lIns="101600" tIns="76200" rIns="101600" bIns="76200" anchor="t" anchorCtr="0">
            <a:normAutofit fontScale="92500" lnSpcReduction="10000"/>
          </a:bodyPr>
          <a:lstStyle/>
          <a:p>
            <a:pPr marL="228600" indent="-50800">
              <a:lnSpc>
                <a:spcPct val="150000"/>
              </a:lnSpc>
              <a:spcBef>
                <a:spcPts val="0"/>
              </a:spcBef>
              <a:spcAft>
                <a:spcPts val="900"/>
              </a:spcAft>
              <a:buSzPts val="2800"/>
              <a:buNone/>
              <a:defRPr sz="1600">
                <a:solidFill>
                  <a:srgbClr val="202A33"/>
                </a:solidFill>
                <a:latin typeface="Times New Roman"/>
              </a:defRPr>
            </a:pPr>
            <a:r>
              <a:rPr lang="en-US" sz="1800" dirty="0"/>
              <a:t>Legal Mate AI is an AI-based legal assistance and companion system designed to provide accessible, source-grounded preliminary legal information based on Indian laws. Many citizens face difficulties understanding legal terminology, identifying applicable laws, knowing their rights, and following complaint procedures. The proposed system combines Artificial Intelligence, Natural Language Processing (NLP), and Retrieval-Augmented Generation (RAG) to understand users’ legal queries, identify the relevant legal domain, and retrieve appropriate information from a curated Indian legal knowledge base. The project also focuses on developing a domain-specific Indian Legal AI model trained using curated legal problem descriptions, categories, intents, and question-answer examples. The system can explain legal rights, identify potentially relevant Acts and sections, analyze uploaded legal documents, generate structured complaint drafts, provide evidence and document checklists, and guide users through possible next steps. English and Tamil support is proposed. The system provides legal information and procedural guidance, not professional legal representation. </a:t>
            </a:r>
            <a:endParaRPr sz="1800" dirty="0"/>
          </a:p>
        </p:txBody>
      </p:sp>
      <p:pic>
        <p:nvPicPr>
          <p:cNvPr id="94" name="Google Shape;94;p2" title="vels knowledge.jpg"/>
          <p:cNvPicPr preferRelativeResize="0"/>
          <p:nvPr/>
        </p:nvPicPr>
        <p:blipFill>
          <a:blip r:embed="rId3">
            <a:alphaModFix/>
          </a:blip>
          <a:stretch>
            <a:fillRect/>
          </a:stretch>
        </p:blipFill>
        <p:spPr>
          <a:xfrm>
            <a:off x="11175375" y="5841375"/>
            <a:ext cx="1016625" cy="1016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solidFill>
                  <a:schemeClr val="tx1"/>
                </a:solidFill>
                <a:latin typeface="Times New Roman" pitchFamily="18" charset="0"/>
                <a:cs typeface="Times New Roman" pitchFamily="18" charset="0"/>
              </a:rPr>
              <a:t>PROBLEM STATEMENT </a:t>
            </a:r>
            <a:endParaRPr lang="en-IN" sz="3200" b="1" dirty="0">
              <a:solidFill>
                <a:schemeClr val="tx1"/>
              </a:solidFill>
              <a:latin typeface="Times New Roman" pitchFamily="18" charset="0"/>
              <a:cs typeface="Times New Roman" pitchFamily="18" charset="0"/>
            </a:endParaRPr>
          </a:p>
        </p:txBody>
      </p:sp>
      <p:sp>
        <p:nvSpPr>
          <p:cNvPr id="3" name="Text Placeholder 2"/>
          <p:cNvSpPr>
            <a:spLocks noGrp="1"/>
          </p:cNvSpPr>
          <p:nvPr>
            <p:ph type="body" idx="1"/>
          </p:nvPr>
        </p:nvSpPr>
        <p:spPr/>
        <p:txBody>
          <a:bodyPr wrap="square" lIns="101600" tIns="76200" rIns="101600" bIns="76200"/>
          <a:lstStyle/>
          <a:p>
            <a:pPr marL="114300" indent="0">
              <a:spcAft>
                <a:spcPts val="1200"/>
              </a:spcAft>
              <a:buNone/>
              <a:defRPr sz="1600">
                <a:solidFill>
                  <a:srgbClr val="2D2D2D"/>
                </a:solidFill>
                <a:latin typeface="Aptos"/>
              </a:defRPr>
            </a:pPr>
            <a:r>
              <a:rPr lang="en-US" sz="2400" dirty="0">
                <a:latin typeface="Times New Roman" panose="02020603050405020304" pitchFamily="18" charset="0"/>
                <a:cs typeface="Times New Roman" panose="02020603050405020304" pitchFamily="18" charset="0"/>
              </a:rPr>
              <a:t>• Legal information is often difficult for ordinary users to understand.</a:t>
            </a:r>
          </a:p>
          <a:p>
            <a:pPr marL="114300" indent="0">
              <a:spcAft>
                <a:spcPts val="1200"/>
              </a:spcAft>
              <a:buNone/>
              <a:defRPr sz="1600">
                <a:solidFill>
                  <a:srgbClr val="2D2D2D"/>
                </a:solidFill>
                <a:latin typeface="Aptos"/>
              </a:defRPr>
            </a:pPr>
            <a:r>
              <a:rPr lang="en-US" sz="2400" dirty="0">
                <a:latin typeface="Times New Roman" panose="02020603050405020304" pitchFamily="18" charset="0"/>
                <a:cs typeface="Times New Roman" panose="02020603050405020304" pitchFamily="18" charset="0"/>
              </a:rPr>
              <a:t>• Users may not know which legal category their problem belongs to.</a:t>
            </a:r>
          </a:p>
          <a:p>
            <a:pPr marL="114300" indent="0">
              <a:spcAft>
                <a:spcPts val="1200"/>
              </a:spcAft>
              <a:buNone/>
              <a:defRPr sz="1600">
                <a:solidFill>
                  <a:srgbClr val="2D2D2D"/>
                </a:solidFill>
                <a:latin typeface="Aptos"/>
              </a:defRPr>
            </a:pPr>
            <a:r>
              <a:rPr lang="en-US" sz="2400" dirty="0">
                <a:latin typeface="Times New Roman" panose="02020603050405020304" pitchFamily="18" charset="0"/>
                <a:cs typeface="Times New Roman" panose="02020603050405020304" pitchFamily="18" charset="0"/>
              </a:rPr>
              <a:t>• Finding relevant Acts, sections and procedures manually can be time-consuming.</a:t>
            </a:r>
          </a:p>
          <a:p>
            <a:pPr marL="114300" indent="0">
              <a:spcAft>
                <a:spcPts val="1200"/>
              </a:spcAft>
              <a:buNone/>
              <a:defRPr sz="1600">
                <a:solidFill>
                  <a:srgbClr val="2D2D2D"/>
                </a:solidFill>
                <a:latin typeface="Aptos"/>
              </a:defRPr>
            </a:pPr>
            <a:r>
              <a:rPr lang="en-US" sz="2400" dirty="0">
                <a:latin typeface="Times New Roman" panose="02020603050405020304" pitchFamily="18" charset="0"/>
                <a:cs typeface="Times New Roman" panose="02020603050405020304" pitchFamily="18" charset="0"/>
              </a:rPr>
              <a:t>• General search may return large amounts of unrelated information.</a:t>
            </a:r>
          </a:p>
          <a:p>
            <a:pPr marL="114300" indent="0">
              <a:spcAft>
                <a:spcPts val="1200"/>
              </a:spcAft>
              <a:buNone/>
              <a:defRPr sz="1600">
                <a:solidFill>
                  <a:srgbClr val="2D2D2D"/>
                </a:solidFill>
                <a:latin typeface="Aptos"/>
              </a:defRPr>
            </a:pPr>
            <a:r>
              <a:rPr lang="en-US" sz="2400" dirty="0">
                <a:latin typeface="Times New Roman" panose="02020603050405020304" pitchFamily="18" charset="0"/>
                <a:cs typeface="Times New Roman" panose="02020603050405020304" pitchFamily="18" charset="0"/>
              </a:rPr>
              <a:t>• Users need structured information based on their specific legal issue.</a:t>
            </a:r>
          </a:p>
          <a:p>
            <a:pPr>
              <a:spcAft>
                <a:spcPts val="900"/>
              </a:spcAft>
              <a:defRPr sz="1700">
                <a:solidFill>
                  <a:srgbClr val="202A33"/>
                </a:solidFill>
                <a:latin typeface="Times New Roman"/>
              </a:defRPr>
            </a:pPr>
            <a:endParaRPr dirty="0"/>
          </a:p>
        </p:txBody>
      </p:sp>
      <p:pic>
        <p:nvPicPr>
          <p:cNvPr id="5" name="Google Shape;86;p1" title="vels knowledge.jpg">
            <a:extLst>
              <a:ext uri="{FF2B5EF4-FFF2-40B4-BE49-F238E27FC236}">
                <a16:creationId xmlns:a16="http://schemas.microsoft.com/office/drawing/2014/main" id="{CEC288ED-98D7-4F91-6F69-A09C3CADE036}"/>
              </a:ext>
            </a:extLst>
          </p:cNvPr>
          <p:cNvPicPr preferRelativeResize="0"/>
          <p:nvPr/>
        </p:nvPicPr>
        <p:blipFill>
          <a:blip r:embed="rId3">
            <a:alphaModFix/>
          </a:blip>
          <a:stretch>
            <a:fillRect/>
          </a:stretch>
        </p:blipFill>
        <p:spPr>
          <a:xfrm>
            <a:off x="11169308" y="5841375"/>
            <a:ext cx="1016625" cy="1016625"/>
          </a:xfrm>
          <a:prstGeom prst="rect">
            <a:avLst/>
          </a:prstGeom>
          <a:noFill/>
          <a:ln>
            <a:noFill/>
          </a:ln>
        </p:spPr>
      </p:pic>
    </p:spTree>
    <p:extLst>
      <p:ext uri="{BB962C8B-B14F-4D97-AF65-F5344CB8AC3E}">
        <p14:creationId xmlns:p14="http://schemas.microsoft.com/office/powerpoint/2010/main" val="2098707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2060"/>
              </a:buClr>
              <a:buSzPts val="3000"/>
              <a:buFont typeface="Times New Roman"/>
              <a:buNone/>
            </a:pPr>
            <a:r>
              <a:rPr lang="en-IN" sz="3000" b="1" dirty="0">
                <a:solidFill>
                  <a:schemeClr val="tx1"/>
                </a:solidFill>
                <a:latin typeface="Times New Roman"/>
                <a:ea typeface="Times New Roman"/>
                <a:cs typeface="Times New Roman"/>
                <a:sym typeface="Times New Roman"/>
              </a:rPr>
              <a:t>Objectives</a:t>
            </a:r>
            <a:endParaRPr dirty="0">
              <a:solidFill>
                <a:schemeClr val="tx1"/>
              </a:solidFill>
            </a:endParaRPr>
          </a:p>
        </p:txBody>
      </p:sp>
      <p:sp>
        <p:nvSpPr>
          <p:cNvPr id="121" name="Google Shape;121;p6"/>
          <p:cNvSpPr txBox="1">
            <a:spLocks noGrp="1"/>
          </p:cNvSpPr>
          <p:nvPr>
            <p:ph type="body" idx="1"/>
          </p:nvPr>
        </p:nvSpPr>
        <p:spPr>
          <a:xfrm>
            <a:off x="838200" y="1825625"/>
            <a:ext cx="10515600" cy="4351338"/>
          </a:xfrm>
          <a:prstGeom prst="rect">
            <a:avLst/>
          </a:prstGeom>
          <a:noFill/>
          <a:ln>
            <a:noFill/>
          </a:ln>
        </p:spPr>
        <p:txBody>
          <a:bodyPr spcFirstLastPara="1" wrap="square" lIns="101600" tIns="76200" rIns="101600" bIns="76200" anchor="t" anchorCtr="0">
            <a:normAutofit/>
          </a:bodyPr>
          <a:lstStyle/>
          <a:p>
            <a:pPr marL="228600" indent="-50800" algn="l" rtl="0">
              <a:lnSpc>
                <a:spcPct val="90000"/>
              </a:lnSpc>
              <a:spcBef>
                <a:spcPts val="0"/>
              </a:spcBef>
              <a:spcAft>
                <a:spcPts val="900"/>
              </a:spcAft>
              <a:buClr>
                <a:schemeClr val="dk1"/>
              </a:buClr>
              <a:buSzPts val="2800"/>
              <a:buNone/>
              <a:defRPr sz="1700">
                <a:solidFill>
                  <a:srgbClr val="202A33"/>
                </a:solidFill>
                <a:latin typeface="Times New Roman"/>
              </a:defRPr>
            </a:pPr>
            <a:r>
              <a:t>Provide accessible, source-grounded preliminary legal information based on Indian laws.</a:t>
            </a:r>
          </a:p>
          <a:p>
            <a:pPr>
              <a:spcAft>
                <a:spcPts val="900"/>
              </a:spcAft>
              <a:defRPr sz="1700">
                <a:solidFill>
                  <a:srgbClr val="202A33"/>
                </a:solidFill>
                <a:latin typeface="Times New Roman"/>
              </a:defRPr>
            </a:pPr>
            <a:r>
              <a:t>Understand legal queries and identify the relevant legal domain.</a:t>
            </a:r>
          </a:p>
          <a:p>
            <a:pPr>
              <a:spcAft>
                <a:spcPts val="900"/>
              </a:spcAft>
              <a:defRPr sz="1700">
                <a:solidFill>
                  <a:srgbClr val="202A33"/>
                </a:solidFill>
                <a:latin typeface="Times New Roman"/>
              </a:defRPr>
            </a:pPr>
            <a:r>
              <a:t>Retrieve appropriate information from a curated Indian legal knowledge base.</a:t>
            </a:r>
          </a:p>
          <a:p>
            <a:pPr>
              <a:spcAft>
                <a:spcPts val="900"/>
              </a:spcAft>
              <a:defRPr sz="1700">
                <a:solidFill>
                  <a:srgbClr val="202A33"/>
                </a:solidFill>
                <a:latin typeface="Times New Roman"/>
              </a:defRPr>
            </a:pPr>
            <a:r>
              <a:t>Explain legal rights and identify potentially relevant Acts and sections.</a:t>
            </a:r>
          </a:p>
          <a:p>
            <a:pPr>
              <a:spcAft>
                <a:spcPts val="900"/>
              </a:spcAft>
              <a:defRPr sz="1700">
                <a:solidFill>
                  <a:srgbClr val="202A33"/>
                </a:solidFill>
                <a:latin typeface="Times New Roman"/>
              </a:defRPr>
            </a:pPr>
            <a:r>
              <a:t>Analyze uploaded legal documents and generate structured complaint drafts.</a:t>
            </a:r>
          </a:p>
          <a:p>
            <a:pPr>
              <a:spcAft>
                <a:spcPts val="900"/>
              </a:spcAft>
              <a:defRPr sz="1700">
                <a:solidFill>
                  <a:srgbClr val="202A33"/>
                </a:solidFill>
                <a:latin typeface="Times New Roman"/>
              </a:defRPr>
            </a:pPr>
            <a:r>
              <a:t>Provide evidence/document checklists and guide users through possible next steps.</a:t>
            </a:r>
          </a:p>
          <a:p>
            <a:pPr>
              <a:spcAft>
                <a:spcPts val="900"/>
              </a:spcAft>
              <a:defRPr sz="1700">
                <a:solidFill>
                  <a:srgbClr val="202A33"/>
                </a:solidFill>
                <a:latin typeface="Times New Roman"/>
              </a:defRPr>
            </a:pPr>
            <a:r>
              <a:t>Propose English and Tamil support.</a:t>
            </a:r>
          </a:p>
        </p:txBody>
      </p:sp>
      <p:pic>
        <p:nvPicPr>
          <p:cNvPr id="122" name="Google Shape;122;p6" title="vels knowledge.jpg"/>
          <p:cNvPicPr preferRelativeResize="0"/>
          <p:nvPr/>
        </p:nvPicPr>
        <p:blipFill>
          <a:blip r:embed="rId3">
            <a:alphaModFix/>
          </a:blip>
          <a:stretch>
            <a:fillRect/>
          </a:stretch>
        </p:blipFill>
        <p:spPr>
          <a:xfrm>
            <a:off x="11175375" y="5803587"/>
            <a:ext cx="1016625" cy="1016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6723"/>
            <a:ext cx="10515600" cy="848212"/>
          </a:xfrm>
        </p:spPr>
        <p:txBody>
          <a:bodyPr>
            <a:normAutofit/>
          </a:bodyPr>
          <a:lstStyle/>
          <a:p>
            <a:pPr algn="ctr"/>
            <a:r>
              <a:rPr lang="en-IN" sz="3200" b="1" dirty="0">
                <a:solidFill>
                  <a:schemeClr val="tx1"/>
                </a:solidFill>
                <a:latin typeface="Times New Roman" pitchFamily="18" charset="0"/>
                <a:cs typeface="Times New Roman" pitchFamily="18" charset="0"/>
              </a:rPr>
              <a:t>Literature survey </a:t>
            </a:r>
          </a:p>
        </p:txBody>
      </p:sp>
      <p:sp>
        <p:nvSpPr>
          <p:cNvPr id="3" name="Text Placeholder 2"/>
          <p:cNvSpPr>
            <a:spLocks noGrp="1"/>
          </p:cNvSpPr>
          <p:nvPr>
            <p:ph type="body" idx="1"/>
          </p:nvPr>
        </p:nvSpPr>
        <p:spPr>
          <a:xfrm>
            <a:off x="838200" y="1825624"/>
            <a:ext cx="10515600" cy="4411687"/>
          </a:xfrm>
        </p:spPr>
        <p:txBody>
          <a:bodyPr wrap="square" lIns="101600" tIns="76200" rIns="101600" bIns="76200"/>
          <a:lstStyle/>
          <a:p>
            <a:pPr>
              <a:spcAft>
                <a:spcPts val="900"/>
              </a:spcAft>
              <a:defRPr sz="1700">
                <a:solidFill>
                  <a:srgbClr val="202A33"/>
                </a:solidFill>
                <a:latin typeface="Times New Roman"/>
              </a:defRPr>
            </a:pPr>
            <a:endParaRPr dirty="0"/>
          </a:p>
        </p:txBody>
      </p:sp>
      <p:pic>
        <p:nvPicPr>
          <p:cNvPr id="5" name="Google Shape;86;p1" title="vels knowledge.jpg">
            <a:extLst>
              <a:ext uri="{FF2B5EF4-FFF2-40B4-BE49-F238E27FC236}">
                <a16:creationId xmlns:a16="http://schemas.microsoft.com/office/drawing/2014/main" id="{EEB41D80-7B2D-965A-562F-234B0DD41818}"/>
              </a:ext>
            </a:extLst>
          </p:cNvPr>
          <p:cNvPicPr preferRelativeResize="0"/>
          <p:nvPr/>
        </p:nvPicPr>
        <p:blipFill>
          <a:blip r:embed="rId3">
            <a:alphaModFix/>
          </a:blip>
          <a:stretch>
            <a:fillRect/>
          </a:stretch>
        </p:blipFill>
        <p:spPr>
          <a:xfrm>
            <a:off x="11169308" y="5841375"/>
            <a:ext cx="1016625" cy="1016625"/>
          </a:xfrm>
          <a:prstGeom prst="rect">
            <a:avLst/>
          </a:prstGeom>
          <a:noFill/>
          <a:ln>
            <a:noFill/>
          </a:ln>
        </p:spPr>
      </p:pic>
      <p:graphicFrame>
        <p:nvGraphicFramePr>
          <p:cNvPr id="7" name="Table 6">
            <a:extLst>
              <a:ext uri="{FF2B5EF4-FFF2-40B4-BE49-F238E27FC236}">
                <a16:creationId xmlns:a16="http://schemas.microsoft.com/office/drawing/2014/main" id="{7787616E-27E7-4028-3E27-83B5178A2194}"/>
              </a:ext>
            </a:extLst>
          </p:cNvPr>
          <p:cNvGraphicFramePr>
            <a:graphicFrameLocks noGrp="1"/>
          </p:cNvGraphicFramePr>
          <p:nvPr>
            <p:extLst>
              <p:ext uri="{D42A27DB-BD31-4B8C-83A1-F6EECF244321}">
                <p14:modId xmlns:p14="http://schemas.microsoft.com/office/powerpoint/2010/main" val="3386142970"/>
              </p:ext>
            </p:extLst>
          </p:nvPr>
        </p:nvGraphicFramePr>
        <p:xfrm>
          <a:off x="837058" y="1196752"/>
          <a:ext cx="10515599" cy="5304525"/>
        </p:xfrm>
        <a:graphic>
          <a:graphicData uri="http://schemas.openxmlformats.org/drawingml/2006/table">
            <a:tbl>
              <a:tblPr firstRow="1" bandRow="1">
                <a:tableStyleId>{5C22544A-7EE6-4342-B048-85BDC9FD1C3A}</a:tableStyleId>
              </a:tblPr>
              <a:tblGrid>
                <a:gridCol w="2572727">
                  <a:extLst>
                    <a:ext uri="{9D8B030D-6E8A-4147-A177-3AD203B41FA5}">
                      <a16:colId xmlns:a16="http://schemas.microsoft.com/office/drawing/2014/main" val="1155135215"/>
                    </a:ext>
                  </a:extLst>
                </a:gridCol>
                <a:gridCol w="2647624">
                  <a:extLst>
                    <a:ext uri="{9D8B030D-6E8A-4147-A177-3AD203B41FA5}">
                      <a16:colId xmlns:a16="http://schemas.microsoft.com/office/drawing/2014/main" val="1412778608"/>
                    </a:ext>
                  </a:extLst>
                </a:gridCol>
                <a:gridCol w="2647624">
                  <a:extLst>
                    <a:ext uri="{9D8B030D-6E8A-4147-A177-3AD203B41FA5}">
                      <a16:colId xmlns:a16="http://schemas.microsoft.com/office/drawing/2014/main" val="1584626875"/>
                    </a:ext>
                  </a:extLst>
                </a:gridCol>
                <a:gridCol w="2647624">
                  <a:extLst>
                    <a:ext uri="{9D8B030D-6E8A-4147-A177-3AD203B41FA5}">
                      <a16:colId xmlns:a16="http://schemas.microsoft.com/office/drawing/2014/main" val="1125180450"/>
                    </a:ext>
                  </a:extLst>
                </a:gridCol>
              </a:tblGrid>
              <a:tr h="1050909">
                <a:tc>
                  <a:txBody>
                    <a:bodyPr/>
                    <a:lstStyle/>
                    <a:p>
                      <a:pPr algn="ctr"/>
                      <a:r>
                        <a:rPr lang="en-US" dirty="0">
                          <a:solidFill>
                            <a:schemeClr val="tx1"/>
                          </a:solidFill>
                        </a:rPr>
                        <a:t>YEAR</a:t>
                      </a:r>
                      <a:endParaRPr lang="en-IN"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AUTHORS</a:t>
                      </a:r>
                      <a:endParaRPr lang="en-IN"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PAPER/MATHOD</a:t>
                      </a:r>
                      <a:endParaRPr lang="en-IN"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RELEVENCE TO THIS PROJECTS</a:t>
                      </a:r>
                      <a:endParaRPr lang="en-IN"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9153038"/>
                  </a:ext>
                </a:extLst>
              </a:tr>
              <a:tr h="1112089">
                <a:tc>
                  <a:txBody>
                    <a:bodyPr/>
                    <a:lstStyle/>
                    <a:p>
                      <a:pPr algn="ctr"/>
                      <a:r>
                        <a:rPr lang="en-US" sz="1600" dirty="0"/>
                        <a:t>2023</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t>Davide Taibi, Jorge Yero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t>Legal NLP: A Comprehensive Systematic Mapping Study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t>Establishes NLP and Transformer-based processing for complex legal documents.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7042593"/>
                  </a:ext>
                </a:extLst>
              </a:tr>
              <a:tr h="1112089">
                <a:tc>
                  <a:txBody>
                    <a:bodyPr/>
                    <a:lstStyle/>
                    <a:p>
                      <a:pPr algn="ctr"/>
                      <a:r>
                        <a:rPr lang="en-US" sz="1600" dirty="0"/>
                        <a:t>2024</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t>Qiang Liu, Bo Chen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t>Named Entity Recognition Methods in Legal Instruments – Few-Shot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t>Supports extraction of important legal entities using limited labelled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6548092"/>
                  </a:ext>
                </a:extLst>
              </a:tr>
              <a:tr h="917349">
                <a:tc>
                  <a:txBody>
                    <a:bodyPr/>
                    <a:lstStyle/>
                    <a:p>
                      <a:pPr algn="ctr"/>
                      <a:r>
                        <a:rPr lang="en-US" sz="1600" dirty="0"/>
                        <a:t>2025</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t>Al- Shareef </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err="1"/>
                        <a:t>CHRXpert</a:t>
                      </a:r>
                      <a:r>
                        <a:rPr lang="en-US" sz="1600" dirty="0"/>
                        <a:t> :An AI-Driven court of Human Rights Expert </a:t>
                      </a:r>
                      <a:r>
                        <a:rPr lang="en-US" sz="1600" dirty="0" err="1"/>
                        <a:t>Assitant</a:t>
                      </a:r>
                      <a:r>
                        <a:rPr lang="en-US" sz="1600" dirty="0"/>
                        <a:t> </a:t>
                      </a:r>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t>Demonstrates AI-assisted analysis of complex legal cases and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5814222"/>
                  </a:ext>
                </a:extLst>
              </a:tr>
              <a:tr h="1112089">
                <a:tc>
                  <a:txBody>
                    <a:bodyPr/>
                    <a:lstStyle/>
                    <a:p>
                      <a:pPr algn="ctr"/>
                      <a:r>
                        <a:rPr lang="en-US" sz="1600" dirty="0"/>
                        <a:t>2026</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err="1"/>
                        <a:t>Milaf</a:t>
                      </a:r>
                      <a:r>
                        <a:rPr lang="en-IN" sz="1600" dirty="0"/>
                        <a:t> Abdullah, Sara Salman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err="1"/>
                        <a:t>SmartLaw</a:t>
                      </a:r>
                      <a:r>
                        <a:rPr lang="en-IN" sz="1600" dirty="0"/>
                        <a:t> Advisor: AI-Powered Legal Consultation and Contract 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t>Demonstrates LLM, RAG and OCR-based legal consultation and contract 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4748181"/>
                  </a:ext>
                </a:extLst>
              </a:tr>
            </a:tbl>
          </a:graphicData>
        </a:graphic>
      </p:graphicFrame>
    </p:spTree>
    <p:extLst>
      <p:ext uri="{BB962C8B-B14F-4D97-AF65-F5344CB8AC3E}">
        <p14:creationId xmlns:p14="http://schemas.microsoft.com/office/powerpoint/2010/main" val="2498200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2060"/>
              </a:buClr>
              <a:buSzPts val="3000"/>
              <a:buFont typeface="Times New Roman"/>
              <a:buNone/>
            </a:pPr>
            <a:r>
              <a:rPr lang="en-US" dirty="0">
                <a:solidFill>
                  <a:schemeClr val="tx1"/>
                </a:solidFill>
                <a:latin typeface="Times New Roman" panose="02020603050405020304" pitchFamily="18" charset="0"/>
                <a:cs typeface="Times New Roman" panose="02020603050405020304" pitchFamily="18" charset="0"/>
              </a:rPr>
              <a:t>Research Gap</a:t>
            </a:r>
            <a:endParaRPr dirty="0">
              <a:solidFill>
                <a:schemeClr val="tx1"/>
              </a:solidFill>
              <a:latin typeface="Times New Roman" panose="02020603050405020304" pitchFamily="18" charset="0"/>
              <a:cs typeface="Times New Roman" panose="02020603050405020304" pitchFamily="18" charset="0"/>
            </a:endParaRPr>
          </a:p>
        </p:txBody>
      </p:sp>
      <p:sp>
        <p:nvSpPr>
          <p:cNvPr id="100" name="Google Shape;100;p3"/>
          <p:cNvSpPr txBox="1">
            <a:spLocks noGrp="1"/>
          </p:cNvSpPr>
          <p:nvPr>
            <p:ph type="body" idx="1"/>
          </p:nvPr>
        </p:nvSpPr>
        <p:spPr>
          <a:xfrm>
            <a:off x="838200" y="1825625"/>
            <a:ext cx="10515600" cy="4351338"/>
          </a:xfrm>
          <a:prstGeom prst="rect">
            <a:avLst/>
          </a:prstGeom>
          <a:noFill/>
          <a:ln>
            <a:noFill/>
          </a:ln>
        </p:spPr>
        <p:txBody>
          <a:bodyPr spcFirstLastPara="1" wrap="square" lIns="101600" tIns="76200" rIns="101600" bIns="76200" anchor="t" anchorCtr="0">
            <a:normAutofit fontScale="92500"/>
          </a:bodyPr>
          <a:lstStyle/>
          <a:p>
            <a:pPr lvl="0" algn="just"/>
            <a:r>
              <a:rPr lang="en-IN" dirty="0">
                <a:latin typeface="Times New Roman" panose="02020603050405020304" pitchFamily="18" charset="0"/>
                <a:cs typeface="Times New Roman" panose="02020603050405020304" pitchFamily="18" charset="0"/>
              </a:rPr>
              <a:t>Existing AI tools are not specifically designed for Indian legal queries.</a:t>
            </a:r>
          </a:p>
          <a:p>
            <a:pPr lvl="0" algn="just"/>
            <a:r>
              <a:rPr lang="en-IN" dirty="0">
                <a:latin typeface="Times New Roman" panose="02020603050405020304" pitchFamily="18" charset="0"/>
                <a:cs typeface="Times New Roman" panose="02020603050405020304" pitchFamily="18" charset="0"/>
              </a:rPr>
              <a:t>Similar questions can involve different legal problems and user needs.</a:t>
            </a:r>
          </a:p>
          <a:p>
            <a:pPr lvl="0" algn="just"/>
            <a:r>
              <a:rPr lang="en-IN" dirty="0">
                <a:latin typeface="Times New Roman" panose="02020603050405020304" pitchFamily="18" charset="0"/>
                <a:cs typeface="Times New Roman" panose="02020603050405020304" pitchFamily="18" charset="0"/>
              </a:rPr>
              <a:t>Generic AI responses may not always give relevant, situation-specific information.</a:t>
            </a:r>
          </a:p>
          <a:p>
            <a:pPr lvl="0" algn="just"/>
            <a:r>
              <a:rPr lang="en-IN" dirty="0">
                <a:latin typeface="Times New Roman" panose="02020603050405020304" pitchFamily="18" charset="0"/>
                <a:cs typeface="Times New Roman" panose="02020603050405020304" pitchFamily="18" charset="0"/>
              </a:rPr>
              <a:t>Users need legal information that is supported by reliable sources.</a:t>
            </a:r>
          </a:p>
          <a:p>
            <a:pPr lvl="0" algn="just"/>
            <a:r>
              <a:rPr lang="en-IN" dirty="0">
                <a:latin typeface="Times New Roman" panose="02020603050405020304" pitchFamily="18" charset="0"/>
                <a:cs typeface="Times New Roman" panose="02020603050405020304" pitchFamily="18" charset="0"/>
              </a:rPr>
              <a:t>There is a need to understand the user's legal intent before retrieving information.</a:t>
            </a:r>
          </a:p>
          <a:p>
            <a:pPr lvl="0" algn="just"/>
            <a:r>
              <a:rPr lang="en-IN" dirty="0">
                <a:latin typeface="Times New Roman" panose="02020603050405020304" pitchFamily="18" charset="0"/>
                <a:cs typeface="Times New Roman" panose="02020603050405020304" pitchFamily="18" charset="0"/>
              </a:rPr>
              <a:t>Existing approaches can be improved by combining query classification and reliable information retrieval.</a:t>
            </a:r>
          </a:p>
          <a:p>
            <a:pPr>
              <a:spcAft>
                <a:spcPts val="900"/>
              </a:spcAft>
              <a:defRPr sz="1700">
                <a:solidFill>
                  <a:srgbClr val="202A33"/>
                </a:solidFill>
                <a:latin typeface="Times New Roman"/>
              </a:defRPr>
            </a:pPr>
            <a:endParaRPr dirty="0"/>
          </a:p>
        </p:txBody>
      </p:sp>
      <p:pic>
        <p:nvPicPr>
          <p:cNvPr id="101" name="Google Shape;101;p3" title="vels knowledge.jpg"/>
          <p:cNvPicPr preferRelativeResize="0"/>
          <p:nvPr/>
        </p:nvPicPr>
        <p:blipFill>
          <a:blip r:embed="rId3">
            <a:alphaModFix/>
          </a:blip>
          <a:stretch>
            <a:fillRect/>
          </a:stretch>
        </p:blipFill>
        <p:spPr>
          <a:xfrm>
            <a:off x="11174531" y="5803587"/>
            <a:ext cx="1016625" cy="1016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2662D-5893-65F3-33C5-2F7D1D67F21C}"/>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Existing System</a:t>
            </a:r>
            <a:br>
              <a:rPr lang="en-IN" dirty="0"/>
            </a:br>
            <a:endParaRPr lang="en-IN" dirty="0"/>
          </a:p>
        </p:txBody>
      </p:sp>
      <p:sp>
        <p:nvSpPr>
          <p:cNvPr id="3" name="Text Placeholder 2">
            <a:extLst>
              <a:ext uri="{FF2B5EF4-FFF2-40B4-BE49-F238E27FC236}">
                <a16:creationId xmlns:a16="http://schemas.microsoft.com/office/drawing/2014/main" id="{793A210B-8D26-6265-9656-17CAFAA2BEC4}"/>
              </a:ext>
            </a:extLst>
          </p:cNvPr>
          <p:cNvSpPr>
            <a:spLocks noGrp="1"/>
          </p:cNvSpPr>
          <p:nvPr>
            <p:ph type="body" idx="1"/>
          </p:nvPr>
        </p:nvSpPr>
        <p:spPr>
          <a:xfrm>
            <a:off x="838200" y="1556792"/>
            <a:ext cx="5257800" cy="4680520"/>
          </a:xfrm>
          <a:ln>
            <a:solidFill>
              <a:schemeClr val="tx1"/>
            </a:solidFill>
          </a:ln>
        </p:spPr>
        <p:txBody>
          <a:bodyPr>
            <a:normAutofit fontScale="55000" lnSpcReduction="20000"/>
          </a:bodyPr>
          <a:lstStyle/>
          <a:p>
            <a:pPr lvl="0">
              <a:lnSpc>
                <a:spcPct val="120000"/>
              </a:lnSpc>
            </a:pPr>
            <a:r>
              <a:rPr lang="en-IN" dirty="0"/>
              <a:t>Most existing AI legal tools provide general-purpose legal assistance rather than focusing specifically on Indian legal needs.</a:t>
            </a:r>
          </a:p>
          <a:p>
            <a:pPr lvl="0">
              <a:lnSpc>
                <a:spcPct val="120000"/>
              </a:lnSpc>
            </a:pPr>
            <a:r>
              <a:rPr lang="en-IN" dirty="0"/>
              <a:t>Users usually enter their questions as free text, but the system may not always identify the exact legal intent or type of problem.</a:t>
            </a:r>
          </a:p>
          <a:p>
            <a:pPr lvl="0">
              <a:lnSpc>
                <a:spcPct val="120000"/>
              </a:lnSpc>
            </a:pPr>
            <a:r>
              <a:rPr lang="en-IN" dirty="0"/>
              <a:t>General AI systems can generate answers without consistently connecting them to relevant and reliable legal sources.</a:t>
            </a:r>
          </a:p>
          <a:p>
            <a:pPr lvl="0">
              <a:lnSpc>
                <a:spcPct val="120000"/>
              </a:lnSpc>
            </a:pPr>
            <a:r>
              <a:rPr lang="en-IN" dirty="0"/>
              <a:t>Legal information may be spread across different sources, making it difficult for users to find the right information for their specific situation.</a:t>
            </a:r>
          </a:p>
          <a:p>
            <a:pPr lvl="0">
              <a:lnSpc>
                <a:spcPct val="120000"/>
              </a:lnSpc>
            </a:pPr>
            <a:r>
              <a:rPr lang="en-IN" dirty="0"/>
              <a:t>Existing solutions often provide information or answers, but do not provide a single workflow for understanding the issue, retrieving relevant information, and guiding the user.</a:t>
            </a:r>
          </a:p>
          <a:p>
            <a:endParaRPr lang="en-IN" dirty="0"/>
          </a:p>
        </p:txBody>
      </p:sp>
      <p:sp>
        <p:nvSpPr>
          <p:cNvPr id="5" name="TextBox 4">
            <a:extLst>
              <a:ext uri="{FF2B5EF4-FFF2-40B4-BE49-F238E27FC236}">
                <a16:creationId xmlns:a16="http://schemas.microsoft.com/office/drawing/2014/main" id="{4CF78DCE-7D46-47D5-00A1-A1D70F11E45F}"/>
              </a:ext>
            </a:extLst>
          </p:cNvPr>
          <p:cNvSpPr txBox="1"/>
          <p:nvPr/>
        </p:nvSpPr>
        <p:spPr>
          <a:xfrm>
            <a:off x="6816080" y="2628781"/>
            <a:ext cx="4680520" cy="1600438"/>
          </a:xfrm>
          <a:prstGeom prst="rect">
            <a:avLst/>
          </a:prstGeom>
          <a:noFill/>
          <a:ln>
            <a:solidFill>
              <a:schemeClr val="tx1"/>
            </a:solidFill>
          </a:ln>
        </p:spPr>
        <p:txBody>
          <a:bodyPr wrap="square">
            <a:spAutoFit/>
          </a:bodyPr>
          <a:lstStyle/>
          <a:p>
            <a:r>
              <a:rPr lang="en-IN" b="1" dirty="0"/>
              <a:t>Key Limitations</a:t>
            </a:r>
          </a:p>
          <a:p>
            <a:endParaRPr lang="en-IN" b="1" dirty="0"/>
          </a:p>
          <a:p>
            <a:pPr marL="285750" lvl="0" indent="-285750">
              <a:buFont typeface="Wingdings" panose="05000000000000000000" pitchFamily="2" charset="2"/>
              <a:buChar char="v"/>
            </a:pPr>
            <a:r>
              <a:rPr lang="en-IN" dirty="0"/>
              <a:t>Limited focus on Indian legal context</a:t>
            </a:r>
          </a:p>
          <a:p>
            <a:pPr marL="285750" lvl="0" indent="-285750">
              <a:buFont typeface="Wingdings" panose="05000000000000000000" pitchFamily="2" charset="2"/>
              <a:buChar char="v"/>
            </a:pPr>
            <a:r>
              <a:rPr lang="en-IN" dirty="0"/>
              <a:t>Weak understanding of fine-grained legal intent</a:t>
            </a:r>
          </a:p>
          <a:p>
            <a:pPr marL="285750" lvl="0" indent="-285750">
              <a:buFont typeface="Wingdings" panose="05000000000000000000" pitchFamily="2" charset="2"/>
              <a:buChar char="v"/>
            </a:pPr>
            <a:r>
              <a:rPr lang="en-IN" dirty="0"/>
              <a:t>Generic or less situation-specific responses</a:t>
            </a:r>
          </a:p>
          <a:p>
            <a:pPr marL="285750" lvl="0" indent="-285750">
              <a:buFont typeface="Wingdings" panose="05000000000000000000" pitchFamily="2" charset="2"/>
              <a:buChar char="v"/>
            </a:pPr>
            <a:r>
              <a:rPr lang="en-IN" dirty="0"/>
              <a:t>Limited source-grounded legal information</a:t>
            </a:r>
          </a:p>
          <a:p>
            <a:pPr marL="285750" lvl="0" indent="-285750">
              <a:buFont typeface="Wingdings" panose="05000000000000000000" pitchFamily="2" charset="2"/>
              <a:buChar char="v"/>
            </a:pPr>
            <a:r>
              <a:rPr lang="en-IN" dirty="0"/>
              <a:t>No unified legal guidance workflow</a:t>
            </a:r>
          </a:p>
        </p:txBody>
      </p:sp>
      <p:pic>
        <p:nvPicPr>
          <p:cNvPr id="9" name="Google Shape;101;p3" title="vels knowledge.jpg">
            <a:extLst>
              <a:ext uri="{FF2B5EF4-FFF2-40B4-BE49-F238E27FC236}">
                <a16:creationId xmlns:a16="http://schemas.microsoft.com/office/drawing/2014/main" id="{6CB43734-515E-13E8-73CF-5A62D54AAC64}"/>
              </a:ext>
            </a:extLst>
          </p:cNvPr>
          <p:cNvPicPr preferRelativeResize="0"/>
          <p:nvPr/>
        </p:nvPicPr>
        <p:blipFill>
          <a:blip r:embed="rId2">
            <a:alphaModFix/>
          </a:blip>
          <a:stretch>
            <a:fillRect/>
          </a:stretch>
        </p:blipFill>
        <p:spPr>
          <a:xfrm>
            <a:off x="11174531" y="5803587"/>
            <a:ext cx="1016625" cy="1016625"/>
          </a:xfrm>
          <a:prstGeom prst="rect">
            <a:avLst/>
          </a:prstGeom>
          <a:noFill/>
          <a:ln>
            <a:noFill/>
          </a:ln>
        </p:spPr>
      </p:pic>
    </p:spTree>
    <p:extLst>
      <p:ext uri="{BB962C8B-B14F-4D97-AF65-F5344CB8AC3E}">
        <p14:creationId xmlns:p14="http://schemas.microsoft.com/office/powerpoint/2010/main" val="1214085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2060"/>
              </a:buClr>
              <a:buSzPts val="3000"/>
              <a:buFont typeface="Times New Roman"/>
              <a:buNone/>
            </a:pPr>
            <a:r>
              <a:rPr lang="en-IN" sz="3000" b="1" dirty="0">
                <a:solidFill>
                  <a:schemeClr val="tx1"/>
                </a:solidFill>
                <a:latin typeface="Times New Roman"/>
                <a:ea typeface="Times New Roman"/>
                <a:cs typeface="Times New Roman"/>
                <a:sym typeface="Times New Roman"/>
              </a:rPr>
              <a:t>Proposed System </a:t>
            </a:r>
            <a:endParaRPr dirty="0">
              <a:solidFill>
                <a:schemeClr val="tx1"/>
              </a:solidFill>
            </a:endParaRPr>
          </a:p>
        </p:txBody>
      </p:sp>
      <p:pic>
        <p:nvPicPr>
          <p:cNvPr id="143" name="Google Shape;143;p9" title="vels knowledge.jpg"/>
          <p:cNvPicPr preferRelativeResize="0"/>
          <p:nvPr/>
        </p:nvPicPr>
        <p:blipFill>
          <a:blip r:embed="rId3">
            <a:alphaModFix/>
          </a:blip>
          <a:stretch>
            <a:fillRect/>
          </a:stretch>
        </p:blipFill>
        <p:spPr>
          <a:xfrm>
            <a:off x="11175375" y="5841375"/>
            <a:ext cx="1016625" cy="1016625"/>
          </a:xfrm>
          <a:prstGeom prst="rect">
            <a:avLst/>
          </a:prstGeom>
          <a:noFill/>
          <a:ln>
            <a:noFill/>
          </a:ln>
        </p:spPr>
      </p:pic>
      <p:sp>
        <p:nvSpPr>
          <p:cNvPr id="5" name="TextBox 4">
            <a:extLst>
              <a:ext uri="{FF2B5EF4-FFF2-40B4-BE49-F238E27FC236}">
                <a16:creationId xmlns:a16="http://schemas.microsoft.com/office/drawing/2014/main" id="{375B0E90-8A2A-30D5-FCBA-4C3E1BACDF99}"/>
              </a:ext>
            </a:extLst>
          </p:cNvPr>
          <p:cNvSpPr txBox="1"/>
          <p:nvPr/>
        </p:nvSpPr>
        <p:spPr>
          <a:xfrm>
            <a:off x="859007" y="1774652"/>
            <a:ext cx="10873208" cy="1991379"/>
          </a:xfrm>
          <a:prstGeom prst="rect">
            <a:avLst/>
          </a:prstGeom>
          <a:noFill/>
          <a:ln>
            <a:solidFill>
              <a:schemeClr val="tx1"/>
            </a:solidFill>
          </a:ln>
        </p:spPr>
        <p:txBody>
          <a:bodyPr wrap="square">
            <a:spAutoFit/>
          </a:bodyPr>
          <a:lstStyle/>
          <a:p>
            <a:pPr marL="342900" lvl="0" indent="-342900">
              <a:lnSpc>
                <a:spcPct val="150000"/>
              </a:lnSpc>
              <a:buFont typeface="Arial" panose="020B0604020202020204" pitchFamily="34" charset="0"/>
              <a:buChar char="•"/>
            </a:pPr>
            <a:r>
              <a:rPr lang="en-IN" b="1" dirty="0"/>
              <a:t>Legal Mate AI</a:t>
            </a:r>
            <a:r>
              <a:rPr lang="en-IN" dirty="0"/>
              <a:t> accepts a user's legal problem in natural language and identifies the most relevant legal intent.</a:t>
            </a:r>
          </a:p>
          <a:p>
            <a:pPr marL="342900" lvl="0" indent="-342900">
              <a:lnSpc>
                <a:spcPct val="150000"/>
              </a:lnSpc>
              <a:buFont typeface="Arial" panose="020B0604020202020204" pitchFamily="34" charset="0"/>
              <a:buChar char="•"/>
            </a:pPr>
            <a:r>
              <a:rPr lang="en-IN" dirty="0"/>
              <a:t>A </a:t>
            </a:r>
            <a:r>
              <a:rPr lang="en-IN" b="1" dirty="0"/>
              <a:t>160-intent classification model</a:t>
            </a:r>
            <a:r>
              <a:rPr lang="en-IN" dirty="0"/>
              <a:t> organizes the query into one of 16 Indian legal categories.</a:t>
            </a:r>
          </a:p>
          <a:p>
            <a:pPr marL="342900" lvl="0" indent="-342900">
              <a:lnSpc>
                <a:spcPct val="150000"/>
              </a:lnSpc>
              <a:buFont typeface="Arial" panose="020B0604020202020204" pitchFamily="34" charset="0"/>
              <a:buChar char="•"/>
            </a:pPr>
            <a:r>
              <a:rPr lang="en-IN" dirty="0"/>
              <a:t>The predicted intent is passed to a </a:t>
            </a:r>
            <a:r>
              <a:rPr lang="en-IN" b="1" dirty="0"/>
              <a:t>Retrieval-Augmented Generation (RAG) module</a:t>
            </a:r>
            <a:r>
              <a:rPr lang="en-IN" dirty="0"/>
              <a:t> to retrieve relevant Indian legal information from a curated knowledge base.</a:t>
            </a:r>
          </a:p>
          <a:p>
            <a:pPr marL="342900" lvl="0" indent="-342900">
              <a:lnSpc>
                <a:spcPct val="150000"/>
              </a:lnSpc>
              <a:buFont typeface="Arial" panose="020B0604020202020204" pitchFamily="34" charset="0"/>
              <a:buChar char="•"/>
            </a:pPr>
            <a:r>
              <a:rPr lang="en-IN" dirty="0"/>
              <a:t>The system combines </a:t>
            </a:r>
            <a:r>
              <a:rPr lang="en-IN" b="1" dirty="0"/>
              <a:t>intent classification and source-based retrieval</a:t>
            </a:r>
            <a:r>
              <a:rPr lang="en-IN" dirty="0"/>
              <a:t> to provide structured legal information, relevant sources, and possible next steps.</a:t>
            </a:r>
          </a:p>
        </p:txBody>
      </p:sp>
      <p:sp>
        <p:nvSpPr>
          <p:cNvPr id="7" name="TextBox 6">
            <a:extLst>
              <a:ext uri="{FF2B5EF4-FFF2-40B4-BE49-F238E27FC236}">
                <a16:creationId xmlns:a16="http://schemas.microsoft.com/office/drawing/2014/main" id="{50B4E1D2-C1A2-08EA-0BFB-9079CC75B554}"/>
              </a:ext>
            </a:extLst>
          </p:cNvPr>
          <p:cNvSpPr txBox="1"/>
          <p:nvPr/>
        </p:nvSpPr>
        <p:spPr>
          <a:xfrm>
            <a:off x="838200" y="3898951"/>
            <a:ext cx="10822007" cy="307777"/>
          </a:xfrm>
          <a:prstGeom prst="rect">
            <a:avLst/>
          </a:prstGeom>
          <a:noFill/>
          <a:ln>
            <a:solidFill>
              <a:schemeClr val="bg1"/>
            </a:solidFill>
          </a:ln>
        </p:spPr>
        <p:txBody>
          <a:bodyPr wrap="square">
            <a:spAutoFit/>
          </a:bodyPr>
          <a:lstStyle/>
          <a:p>
            <a:r>
              <a:rPr lang="en-IN" b="1" dirty="0"/>
              <a:t>Key Benefits :</a:t>
            </a:r>
          </a:p>
        </p:txBody>
      </p:sp>
      <p:sp>
        <p:nvSpPr>
          <p:cNvPr id="8" name="Rectangle 7">
            <a:extLst>
              <a:ext uri="{FF2B5EF4-FFF2-40B4-BE49-F238E27FC236}">
                <a16:creationId xmlns:a16="http://schemas.microsoft.com/office/drawing/2014/main" id="{8D1529E4-D3E7-B660-CDE7-083848491E8C}"/>
              </a:ext>
            </a:extLst>
          </p:cNvPr>
          <p:cNvSpPr/>
          <p:nvPr/>
        </p:nvSpPr>
        <p:spPr>
          <a:xfrm>
            <a:off x="859007" y="4329928"/>
            <a:ext cx="1981659" cy="11152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Fine-grained legal issue identification Fine-grained legal issue identify</a:t>
            </a:r>
            <a:endParaRPr lang="en-IN" dirty="0">
              <a:solidFill>
                <a:schemeClr val="tx1"/>
              </a:solidFill>
            </a:endParaRPr>
          </a:p>
        </p:txBody>
      </p:sp>
      <p:sp>
        <p:nvSpPr>
          <p:cNvPr id="10" name="Rectangle 9">
            <a:extLst>
              <a:ext uri="{FF2B5EF4-FFF2-40B4-BE49-F238E27FC236}">
                <a16:creationId xmlns:a16="http://schemas.microsoft.com/office/drawing/2014/main" id="{B3292C80-2E11-7BDE-6FC0-3DBE38EFE045}"/>
              </a:ext>
            </a:extLst>
          </p:cNvPr>
          <p:cNvSpPr/>
          <p:nvPr/>
        </p:nvSpPr>
        <p:spPr>
          <a:xfrm>
            <a:off x="3831998" y="4329928"/>
            <a:ext cx="1981659" cy="11152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Relevant information retrieval</a:t>
            </a:r>
            <a:endParaRPr lang="en-IN" dirty="0">
              <a:solidFill>
                <a:schemeClr val="tx1"/>
              </a:solidFill>
            </a:endParaRPr>
          </a:p>
        </p:txBody>
      </p:sp>
      <p:sp>
        <p:nvSpPr>
          <p:cNvPr id="12" name="Rectangle 11">
            <a:extLst>
              <a:ext uri="{FF2B5EF4-FFF2-40B4-BE49-F238E27FC236}">
                <a16:creationId xmlns:a16="http://schemas.microsoft.com/office/drawing/2014/main" id="{C7029E7F-79E8-9221-7479-58262BA7B801}"/>
              </a:ext>
            </a:extLst>
          </p:cNvPr>
          <p:cNvSpPr/>
          <p:nvPr/>
        </p:nvSpPr>
        <p:spPr>
          <a:xfrm>
            <a:off x="6826447" y="4329928"/>
            <a:ext cx="1981658" cy="11152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Source-grounded legal guidance</a:t>
            </a:r>
            <a:endParaRPr lang="en-IN" dirty="0">
              <a:solidFill>
                <a:schemeClr val="tx1"/>
              </a:solidFill>
            </a:endParaRPr>
          </a:p>
        </p:txBody>
      </p:sp>
      <p:sp>
        <p:nvSpPr>
          <p:cNvPr id="14" name="Rectangle 13">
            <a:extLst>
              <a:ext uri="{FF2B5EF4-FFF2-40B4-BE49-F238E27FC236}">
                <a16:creationId xmlns:a16="http://schemas.microsoft.com/office/drawing/2014/main" id="{8EC2DD97-9FB2-A75A-D0CF-D7ED552C2F31}"/>
              </a:ext>
            </a:extLst>
          </p:cNvPr>
          <p:cNvSpPr/>
          <p:nvPr/>
        </p:nvSpPr>
        <p:spPr>
          <a:xfrm>
            <a:off x="9712758" y="4333814"/>
            <a:ext cx="1981658" cy="111141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Structured and user-friendly responses</a:t>
            </a:r>
            <a:endParaRPr lang="en-IN" dirty="0">
              <a:solidFill>
                <a:schemeClr val="tx1"/>
              </a:solidFill>
            </a:endParaRPr>
          </a:p>
        </p:txBody>
      </p:sp>
      <p:cxnSp>
        <p:nvCxnSpPr>
          <p:cNvPr id="16" name="Straight Arrow Connector 15">
            <a:extLst>
              <a:ext uri="{FF2B5EF4-FFF2-40B4-BE49-F238E27FC236}">
                <a16:creationId xmlns:a16="http://schemas.microsoft.com/office/drawing/2014/main" id="{3AE1FA3C-DB4D-8D7F-94A0-5BB7F7D1D2E5}"/>
              </a:ext>
            </a:extLst>
          </p:cNvPr>
          <p:cNvCxnSpPr>
            <a:cxnSpLocks/>
          </p:cNvCxnSpPr>
          <p:nvPr/>
        </p:nvCxnSpPr>
        <p:spPr>
          <a:xfrm>
            <a:off x="2840666" y="4887576"/>
            <a:ext cx="99133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7B493F6C-F1B9-D49D-A46D-2AAAE145F5B6}"/>
              </a:ext>
            </a:extLst>
          </p:cNvPr>
          <p:cNvCxnSpPr>
            <a:cxnSpLocks/>
          </p:cNvCxnSpPr>
          <p:nvPr/>
        </p:nvCxnSpPr>
        <p:spPr>
          <a:xfrm>
            <a:off x="5835115" y="4887576"/>
            <a:ext cx="99133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F22514BE-EADC-1DD7-0D90-5FB25543F5F8}"/>
              </a:ext>
            </a:extLst>
          </p:cNvPr>
          <p:cNvCxnSpPr>
            <a:cxnSpLocks/>
            <a:endCxn id="14" idx="1"/>
          </p:cNvCxnSpPr>
          <p:nvPr/>
        </p:nvCxnSpPr>
        <p:spPr>
          <a:xfrm>
            <a:off x="8808105" y="4887576"/>
            <a:ext cx="904653" cy="194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2812DFA-590C-C6A6-EAAE-8687BA7790CE}"/>
              </a:ext>
            </a:extLst>
          </p:cNvPr>
          <p:cNvSpPr/>
          <p:nvPr/>
        </p:nvSpPr>
        <p:spPr>
          <a:xfrm>
            <a:off x="199295" y="790977"/>
            <a:ext cx="2228273" cy="489606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19">
            <a:extLst>
              <a:ext uri="{FF2B5EF4-FFF2-40B4-BE49-F238E27FC236}">
                <a16:creationId xmlns:a16="http://schemas.microsoft.com/office/drawing/2014/main" id="{9B1DB0E4-6F7C-2689-6859-719772420300}"/>
              </a:ext>
            </a:extLst>
          </p:cNvPr>
          <p:cNvSpPr/>
          <p:nvPr/>
        </p:nvSpPr>
        <p:spPr>
          <a:xfrm>
            <a:off x="331689" y="1801609"/>
            <a:ext cx="1980108" cy="113536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LEGAL QUESTIONS</a:t>
            </a:r>
          </a:p>
          <a:p>
            <a:pPr algn="ctr"/>
            <a:r>
              <a:rPr lang="en-US" dirty="0" err="1">
                <a:solidFill>
                  <a:schemeClr val="tx1"/>
                </a:solidFill>
              </a:rPr>
              <a:t>eg.</a:t>
            </a:r>
            <a:r>
              <a:rPr lang="en-US" dirty="0">
                <a:solidFill>
                  <a:schemeClr val="tx1"/>
                </a:solidFill>
              </a:rPr>
              <a:t>” What are my rights in a property”</a:t>
            </a:r>
            <a:endParaRPr lang="en-IN" dirty="0">
              <a:solidFill>
                <a:schemeClr val="tx1"/>
              </a:solidFill>
            </a:endParaRPr>
          </a:p>
        </p:txBody>
      </p:sp>
      <p:sp>
        <p:nvSpPr>
          <p:cNvPr id="22" name="Rectangle 21">
            <a:extLst>
              <a:ext uri="{FF2B5EF4-FFF2-40B4-BE49-F238E27FC236}">
                <a16:creationId xmlns:a16="http://schemas.microsoft.com/office/drawing/2014/main" id="{0B1F4139-A28E-C844-942E-6F929CF71678}"/>
              </a:ext>
            </a:extLst>
          </p:cNvPr>
          <p:cNvSpPr/>
          <p:nvPr/>
        </p:nvSpPr>
        <p:spPr>
          <a:xfrm>
            <a:off x="2585132" y="781439"/>
            <a:ext cx="2222569" cy="489606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Rectangle 23">
            <a:extLst>
              <a:ext uri="{FF2B5EF4-FFF2-40B4-BE49-F238E27FC236}">
                <a16:creationId xmlns:a16="http://schemas.microsoft.com/office/drawing/2014/main" id="{9D791489-5F25-3D7A-4E79-A30935D301B1}"/>
              </a:ext>
            </a:extLst>
          </p:cNvPr>
          <p:cNvSpPr/>
          <p:nvPr/>
        </p:nvSpPr>
        <p:spPr>
          <a:xfrm>
            <a:off x="2730998" y="2455409"/>
            <a:ext cx="1944216" cy="83103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Extract the relevant information</a:t>
            </a:r>
            <a:endParaRPr lang="en-IN" dirty="0">
              <a:solidFill>
                <a:schemeClr val="tx1"/>
              </a:solidFill>
            </a:endParaRPr>
          </a:p>
        </p:txBody>
      </p:sp>
      <p:sp>
        <p:nvSpPr>
          <p:cNvPr id="26" name="Rectangle 25">
            <a:extLst>
              <a:ext uri="{FF2B5EF4-FFF2-40B4-BE49-F238E27FC236}">
                <a16:creationId xmlns:a16="http://schemas.microsoft.com/office/drawing/2014/main" id="{9B7FD29A-57B4-F5FA-BCFA-5FDC9D11EF32}"/>
              </a:ext>
            </a:extLst>
          </p:cNvPr>
          <p:cNvSpPr/>
          <p:nvPr/>
        </p:nvSpPr>
        <p:spPr>
          <a:xfrm>
            <a:off x="2724308" y="1461215"/>
            <a:ext cx="1944216" cy="8640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Preprocess and understanding the query / documents</a:t>
            </a:r>
            <a:endParaRPr lang="en-IN" dirty="0">
              <a:solidFill>
                <a:schemeClr val="tx1"/>
              </a:solidFill>
            </a:endParaRPr>
          </a:p>
        </p:txBody>
      </p:sp>
      <p:sp>
        <p:nvSpPr>
          <p:cNvPr id="28" name="Rectangle 27">
            <a:extLst>
              <a:ext uri="{FF2B5EF4-FFF2-40B4-BE49-F238E27FC236}">
                <a16:creationId xmlns:a16="http://schemas.microsoft.com/office/drawing/2014/main" id="{9113E6F9-5538-7EBD-61D1-7C4B5C3DD490}"/>
              </a:ext>
            </a:extLst>
          </p:cNvPr>
          <p:cNvSpPr/>
          <p:nvPr/>
        </p:nvSpPr>
        <p:spPr>
          <a:xfrm>
            <a:off x="315728" y="3467949"/>
            <a:ext cx="1980108" cy="164106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UPLOAD LEGAL DOCUMETS</a:t>
            </a:r>
          </a:p>
          <a:p>
            <a:pPr algn="ctr"/>
            <a:r>
              <a:rPr lang="en-US" dirty="0" err="1">
                <a:solidFill>
                  <a:schemeClr val="tx1"/>
                </a:solidFill>
              </a:rPr>
              <a:t>eg.</a:t>
            </a:r>
            <a:r>
              <a:rPr lang="en-US" dirty="0">
                <a:solidFill>
                  <a:schemeClr val="tx1"/>
                </a:solidFill>
              </a:rPr>
              <a:t> FIR , Notice , Agreements, Court order, etc.</a:t>
            </a:r>
            <a:endParaRPr lang="en-IN" dirty="0">
              <a:solidFill>
                <a:schemeClr val="tx1"/>
              </a:solidFill>
            </a:endParaRPr>
          </a:p>
        </p:txBody>
      </p:sp>
      <p:sp>
        <p:nvSpPr>
          <p:cNvPr id="30" name="Rectangle 29">
            <a:extLst>
              <a:ext uri="{FF2B5EF4-FFF2-40B4-BE49-F238E27FC236}">
                <a16:creationId xmlns:a16="http://schemas.microsoft.com/office/drawing/2014/main" id="{7860781F-15BA-C49C-3C34-C35C795D0CC2}"/>
              </a:ext>
            </a:extLst>
          </p:cNvPr>
          <p:cNvSpPr/>
          <p:nvPr/>
        </p:nvSpPr>
        <p:spPr>
          <a:xfrm>
            <a:off x="464981" y="980967"/>
            <a:ext cx="1696903" cy="72190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USER QUERY /               DOCUMENTS</a:t>
            </a:r>
            <a:r>
              <a:rPr lang="en-US" dirty="0"/>
              <a:t>SER</a:t>
            </a:r>
            <a:endParaRPr lang="en-IN" dirty="0"/>
          </a:p>
        </p:txBody>
      </p:sp>
      <p:sp>
        <p:nvSpPr>
          <p:cNvPr id="32" name="Rectangle 31">
            <a:extLst>
              <a:ext uri="{FF2B5EF4-FFF2-40B4-BE49-F238E27FC236}">
                <a16:creationId xmlns:a16="http://schemas.microsoft.com/office/drawing/2014/main" id="{505984DF-67C9-D019-E898-E64AFBAADCFA}"/>
              </a:ext>
            </a:extLst>
          </p:cNvPr>
          <p:cNvSpPr/>
          <p:nvPr/>
        </p:nvSpPr>
        <p:spPr>
          <a:xfrm>
            <a:off x="2749545" y="3467949"/>
            <a:ext cx="1944216" cy="8640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Identify the important entities and keywords </a:t>
            </a:r>
            <a:endParaRPr lang="en-IN" dirty="0">
              <a:solidFill>
                <a:schemeClr val="tx1"/>
              </a:solidFill>
            </a:endParaRPr>
          </a:p>
        </p:txBody>
      </p:sp>
      <p:sp>
        <p:nvSpPr>
          <p:cNvPr id="34" name="Rectangle 33">
            <a:extLst>
              <a:ext uri="{FF2B5EF4-FFF2-40B4-BE49-F238E27FC236}">
                <a16:creationId xmlns:a16="http://schemas.microsoft.com/office/drawing/2014/main" id="{3ED4D53F-11EA-69C5-A5D2-16B1AE4706E4}"/>
              </a:ext>
            </a:extLst>
          </p:cNvPr>
          <p:cNvSpPr/>
          <p:nvPr/>
        </p:nvSpPr>
        <p:spPr>
          <a:xfrm>
            <a:off x="2749786" y="4537260"/>
            <a:ext cx="1944216" cy="86409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Prepare input for legal intent classification </a:t>
            </a:r>
            <a:endParaRPr lang="en-IN" dirty="0">
              <a:solidFill>
                <a:schemeClr val="tx1"/>
              </a:solidFill>
            </a:endParaRPr>
          </a:p>
        </p:txBody>
      </p:sp>
      <p:sp>
        <p:nvSpPr>
          <p:cNvPr id="36" name="Rectangle 35">
            <a:extLst>
              <a:ext uri="{FF2B5EF4-FFF2-40B4-BE49-F238E27FC236}">
                <a16:creationId xmlns:a16="http://schemas.microsoft.com/office/drawing/2014/main" id="{976AEE9F-3BB3-A6E1-9A8F-09CE757EDF6A}"/>
              </a:ext>
            </a:extLst>
          </p:cNvPr>
          <p:cNvSpPr/>
          <p:nvPr/>
        </p:nvSpPr>
        <p:spPr>
          <a:xfrm>
            <a:off x="2696851" y="945593"/>
            <a:ext cx="1944216" cy="4604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NLP UNDERTSNDING</a:t>
            </a:r>
            <a:endParaRPr lang="en-IN" dirty="0">
              <a:solidFill>
                <a:schemeClr val="tx1"/>
              </a:solidFill>
            </a:endParaRPr>
          </a:p>
        </p:txBody>
      </p:sp>
      <p:sp>
        <p:nvSpPr>
          <p:cNvPr id="38" name="Rectangle 37">
            <a:extLst>
              <a:ext uri="{FF2B5EF4-FFF2-40B4-BE49-F238E27FC236}">
                <a16:creationId xmlns:a16="http://schemas.microsoft.com/office/drawing/2014/main" id="{AD3CB6BE-7B3A-F62C-02D2-466EB321607C}"/>
              </a:ext>
            </a:extLst>
          </p:cNvPr>
          <p:cNvSpPr/>
          <p:nvPr/>
        </p:nvSpPr>
        <p:spPr>
          <a:xfrm>
            <a:off x="9756226" y="781439"/>
            <a:ext cx="2222569" cy="489606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Rectangle 39">
            <a:extLst>
              <a:ext uri="{FF2B5EF4-FFF2-40B4-BE49-F238E27FC236}">
                <a16:creationId xmlns:a16="http://schemas.microsoft.com/office/drawing/2014/main" id="{48359BDF-9A46-2240-058F-29AF2E632C3E}"/>
              </a:ext>
            </a:extLst>
          </p:cNvPr>
          <p:cNvSpPr/>
          <p:nvPr/>
        </p:nvSpPr>
        <p:spPr>
          <a:xfrm>
            <a:off x="7360755" y="790977"/>
            <a:ext cx="2230736" cy="489606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2" name="Rectangle 41">
            <a:extLst>
              <a:ext uri="{FF2B5EF4-FFF2-40B4-BE49-F238E27FC236}">
                <a16:creationId xmlns:a16="http://schemas.microsoft.com/office/drawing/2014/main" id="{20DD1804-B7F1-8703-A28C-538694AC7508}"/>
              </a:ext>
            </a:extLst>
          </p:cNvPr>
          <p:cNvSpPr/>
          <p:nvPr/>
        </p:nvSpPr>
        <p:spPr>
          <a:xfrm>
            <a:off x="4980191" y="781439"/>
            <a:ext cx="2222568" cy="489606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4" name="Rectangle 43">
            <a:extLst>
              <a:ext uri="{FF2B5EF4-FFF2-40B4-BE49-F238E27FC236}">
                <a16:creationId xmlns:a16="http://schemas.microsoft.com/office/drawing/2014/main" id="{D9482B3B-D164-DE31-D665-5C5D2B96F2BD}"/>
              </a:ext>
            </a:extLst>
          </p:cNvPr>
          <p:cNvSpPr/>
          <p:nvPr/>
        </p:nvSpPr>
        <p:spPr>
          <a:xfrm>
            <a:off x="5059284" y="815756"/>
            <a:ext cx="2064384" cy="6716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t>
            </a:r>
            <a:r>
              <a:rPr lang="en-US" dirty="0">
                <a:solidFill>
                  <a:schemeClr val="tx1"/>
                </a:solidFill>
              </a:rPr>
              <a:t>LEGAL INTENT CLASSIFICATION </a:t>
            </a:r>
            <a:endParaRPr lang="en-IN" dirty="0"/>
          </a:p>
        </p:txBody>
      </p:sp>
      <p:sp>
        <p:nvSpPr>
          <p:cNvPr id="48" name="Rectangle 47">
            <a:extLst>
              <a:ext uri="{FF2B5EF4-FFF2-40B4-BE49-F238E27FC236}">
                <a16:creationId xmlns:a16="http://schemas.microsoft.com/office/drawing/2014/main" id="{FDBA821A-9D37-C8D2-F6BD-624F4B58A048}"/>
              </a:ext>
            </a:extLst>
          </p:cNvPr>
          <p:cNvSpPr/>
          <p:nvPr/>
        </p:nvSpPr>
        <p:spPr>
          <a:xfrm>
            <a:off x="5059283" y="1801610"/>
            <a:ext cx="2064385" cy="374235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Rectangle 49">
            <a:extLst>
              <a:ext uri="{FF2B5EF4-FFF2-40B4-BE49-F238E27FC236}">
                <a16:creationId xmlns:a16="http://schemas.microsoft.com/office/drawing/2014/main" id="{52661A0C-EEBA-F382-C3EC-7BD9451AE639}"/>
              </a:ext>
            </a:extLst>
          </p:cNvPr>
          <p:cNvSpPr/>
          <p:nvPr/>
        </p:nvSpPr>
        <p:spPr>
          <a:xfrm>
            <a:off x="6144188" y="3467948"/>
            <a:ext cx="905831" cy="92670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Main Transformer Model</a:t>
            </a:r>
          </a:p>
          <a:p>
            <a:pPr algn="ctr"/>
            <a:r>
              <a:rPr lang="en-US" sz="1000" dirty="0" err="1">
                <a:solidFill>
                  <a:schemeClr val="tx1"/>
                </a:solidFill>
              </a:rPr>
              <a:t>DistilBERT</a:t>
            </a:r>
            <a:endParaRPr lang="en-IN" sz="1000" dirty="0">
              <a:solidFill>
                <a:schemeClr val="tx1"/>
              </a:solidFill>
            </a:endParaRPr>
          </a:p>
        </p:txBody>
      </p:sp>
      <p:sp>
        <p:nvSpPr>
          <p:cNvPr id="52" name="Rectangle 51">
            <a:extLst>
              <a:ext uri="{FF2B5EF4-FFF2-40B4-BE49-F238E27FC236}">
                <a16:creationId xmlns:a16="http://schemas.microsoft.com/office/drawing/2014/main" id="{7F405658-174B-CA34-1309-EB36EAEAF06A}"/>
              </a:ext>
            </a:extLst>
          </p:cNvPr>
          <p:cNvSpPr/>
          <p:nvPr/>
        </p:nvSpPr>
        <p:spPr>
          <a:xfrm>
            <a:off x="5303912" y="4537260"/>
            <a:ext cx="1584176" cy="86409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OUTPUT</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Predicted legal Intent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Legal domain</a:t>
            </a:r>
          </a:p>
        </p:txBody>
      </p:sp>
      <p:sp>
        <p:nvSpPr>
          <p:cNvPr id="54" name="Rectangle 53">
            <a:extLst>
              <a:ext uri="{FF2B5EF4-FFF2-40B4-BE49-F238E27FC236}">
                <a16:creationId xmlns:a16="http://schemas.microsoft.com/office/drawing/2014/main" id="{60A01B91-D44A-12C7-6486-695EA95A7413}"/>
              </a:ext>
            </a:extLst>
          </p:cNvPr>
          <p:cNvSpPr/>
          <p:nvPr/>
        </p:nvSpPr>
        <p:spPr>
          <a:xfrm>
            <a:off x="5134896" y="3467948"/>
            <a:ext cx="959204" cy="92670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Baseline model</a:t>
            </a:r>
          </a:p>
          <a:p>
            <a:pPr algn="ctr"/>
            <a:r>
              <a:rPr lang="en-US" sz="1000" dirty="0">
                <a:solidFill>
                  <a:schemeClr val="tx1"/>
                </a:solidFill>
              </a:rPr>
              <a:t>TF - IDF + Linear SVC</a:t>
            </a:r>
            <a:endParaRPr lang="en-IN" sz="1000" dirty="0">
              <a:solidFill>
                <a:schemeClr val="tx1"/>
              </a:solidFill>
            </a:endParaRPr>
          </a:p>
        </p:txBody>
      </p:sp>
      <p:sp>
        <p:nvSpPr>
          <p:cNvPr id="56" name="Rectangle 55">
            <a:extLst>
              <a:ext uri="{FF2B5EF4-FFF2-40B4-BE49-F238E27FC236}">
                <a16:creationId xmlns:a16="http://schemas.microsoft.com/office/drawing/2014/main" id="{C3601716-0EF2-2EE8-FA68-8E28C05791F7}"/>
              </a:ext>
            </a:extLst>
          </p:cNvPr>
          <p:cNvSpPr/>
          <p:nvPr/>
        </p:nvSpPr>
        <p:spPr>
          <a:xfrm>
            <a:off x="5119367" y="1844824"/>
            <a:ext cx="1944216" cy="154522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Classify the user’s query one of 160 predefined legal intents and identify and relevant legal domain</a:t>
            </a:r>
            <a:endParaRPr lang="en-IN" dirty="0">
              <a:solidFill>
                <a:schemeClr val="tx1"/>
              </a:solidFill>
            </a:endParaRPr>
          </a:p>
        </p:txBody>
      </p:sp>
      <p:sp>
        <p:nvSpPr>
          <p:cNvPr id="58" name="Rectangle 57">
            <a:extLst>
              <a:ext uri="{FF2B5EF4-FFF2-40B4-BE49-F238E27FC236}">
                <a16:creationId xmlns:a16="http://schemas.microsoft.com/office/drawing/2014/main" id="{633565B2-ABFE-0564-ED63-A8A0A1CC3F3A}"/>
              </a:ext>
            </a:extLst>
          </p:cNvPr>
          <p:cNvSpPr/>
          <p:nvPr/>
        </p:nvSpPr>
        <p:spPr>
          <a:xfrm>
            <a:off x="7502401" y="980967"/>
            <a:ext cx="1944216" cy="3722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RAG RETERIVAL</a:t>
            </a:r>
            <a:endParaRPr lang="en-IN" dirty="0">
              <a:solidFill>
                <a:schemeClr val="tx1"/>
              </a:solidFill>
            </a:endParaRPr>
          </a:p>
        </p:txBody>
      </p:sp>
      <p:sp>
        <p:nvSpPr>
          <p:cNvPr id="60" name="Rectangle 59">
            <a:extLst>
              <a:ext uri="{FF2B5EF4-FFF2-40B4-BE49-F238E27FC236}">
                <a16:creationId xmlns:a16="http://schemas.microsoft.com/office/drawing/2014/main" id="{C003EBA5-4771-290C-3F1A-7E13FCA3C3A6}"/>
              </a:ext>
            </a:extLst>
          </p:cNvPr>
          <p:cNvSpPr/>
          <p:nvPr/>
        </p:nvSpPr>
        <p:spPr>
          <a:xfrm>
            <a:off x="7498239" y="3229472"/>
            <a:ext cx="1944216" cy="60317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  </a:t>
            </a:r>
            <a:r>
              <a:rPr lang="en-IN" sz="1200" dirty="0">
                <a:solidFill>
                  <a:schemeClr val="tx1"/>
                </a:solidFill>
              </a:rPr>
              <a:t>Retrieve relevant Acts, Sections &amp; Procedures</a:t>
            </a:r>
          </a:p>
        </p:txBody>
      </p:sp>
      <p:sp>
        <p:nvSpPr>
          <p:cNvPr id="64" name="Rectangle 63">
            <a:extLst>
              <a:ext uri="{FF2B5EF4-FFF2-40B4-BE49-F238E27FC236}">
                <a16:creationId xmlns:a16="http://schemas.microsoft.com/office/drawing/2014/main" id="{67F2B57F-D17F-D033-1261-9CA1CBEF16B8}"/>
              </a:ext>
            </a:extLst>
          </p:cNvPr>
          <p:cNvSpPr/>
          <p:nvPr/>
        </p:nvSpPr>
        <p:spPr>
          <a:xfrm>
            <a:off x="7502401" y="2424007"/>
            <a:ext cx="1944216" cy="61807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Search curated Indian legal knowledge </a:t>
            </a:r>
            <a:r>
              <a:rPr lang="en-IN" dirty="0"/>
              <a:t>base</a:t>
            </a:r>
            <a:endParaRPr lang="en-IN" dirty="0">
              <a:solidFill>
                <a:schemeClr val="tx1"/>
              </a:solidFill>
            </a:endParaRPr>
          </a:p>
        </p:txBody>
      </p:sp>
      <p:sp>
        <p:nvSpPr>
          <p:cNvPr id="68" name="Rectangle 67">
            <a:extLst>
              <a:ext uri="{FF2B5EF4-FFF2-40B4-BE49-F238E27FC236}">
                <a16:creationId xmlns:a16="http://schemas.microsoft.com/office/drawing/2014/main" id="{85EA3892-6619-E389-DC97-45CEE2F3CCBA}"/>
              </a:ext>
            </a:extLst>
          </p:cNvPr>
          <p:cNvSpPr/>
          <p:nvPr/>
        </p:nvSpPr>
        <p:spPr>
          <a:xfrm>
            <a:off x="7502401" y="1624678"/>
            <a:ext cx="1944216" cy="61807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Use predicted legal intent</a:t>
            </a:r>
          </a:p>
        </p:txBody>
      </p:sp>
      <p:sp>
        <p:nvSpPr>
          <p:cNvPr id="70" name="Rectangle 69">
            <a:extLst>
              <a:ext uri="{FF2B5EF4-FFF2-40B4-BE49-F238E27FC236}">
                <a16:creationId xmlns:a16="http://schemas.microsoft.com/office/drawing/2014/main" id="{993EBBDC-7301-527C-4CA2-3E4D62713625}"/>
              </a:ext>
            </a:extLst>
          </p:cNvPr>
          <p:cNvSpPr/>
          <p:nvPr/>
        </p:nvSpPr>
        <p:spPr>
          <a:xfrm>
            <a:off x="7521593" y="4020036"/>
            <a:ext cx="1944216" cy="60317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t> </a:t>
            </a:r>
            <a:r>
              <a:rPr lang="en-IN" dirty="0">
                <a:solidFill>
                  <a:schemeClr val="tx1"/>
                </a:solidFill>
              </a:rPr>
              <a:t>Retrieval-Augmented Generation (RAG)</a:t>
            </a:r>
          </a:p>
        </p:txBody>
      </p:sp>
      <p:sp>
        <p:nvSpPr>
          <p:cNvPr id="72" name="Rectangle 71">
            <a:extLst>
              <a:ext uri="{FF2B5EF4-FFF2-40B4-BE49-F238E27FC236}">
                <a16:creationId xmlns:a16="http://schemas.microsoft.com/office/drawing/2014/main" id="{0E1A6AD8-641A-810D-1042-D6EC032F17F7}"/>
              </a:ext>
            </a:extLst>
          </p:cNvPr>
          <p:cNvSpPr/>
          <p:nvPr/>
        </p:nvSpPr>
        <p:spPr>
          <a:xfrm>
            <a:off x="7521593" y="4798180"/>
            <a:ext cx="1944216" cy="60317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t> </a:t>
            </a:r>
            <a:r>
              <a:rPr lang="en-IN" dirty="0">
                <a:solidFill>
                  <a:schemeClr val="tx1"/>
                </a:solidFill>
              </a:rPr>
              <a:t>source-grounded legal context</a:t>
            </a:r>
            <a:endParaRPr lang="en-IN" b="1" dirty="0">
              <a:solidFill>
                <a:schemeClr val="tx1"/>
              </a:solidFill>
            </a:endParaRPr>
          </a:p>
        </p:txBody>
      </p:sp>
      <p:sp>
        <p:nvSpPr>
          <p:cNvPr id="76" name="Rectangle 75">
            <a:extLst>
              <a:ext uri="{FF2B5EF4-FFF2-40B4-BE49-F238E27FC236}">
                <a16:creationId xmlns:a16="http://schemas.microsoft.com/office/drawing/2014/main" id="{29932730-5270-DBCB-2342-58C81769A9A0}"/>
              </a:ext>
            </a:extLst>
          </p:cNvPr>
          <p:cNvSpPr/>
          <p:nvPr/>
        </p:nvSpPr>
        <p:spPr>
          <a:xfrm>
            <a:off x="9888665" y="895827"/>
            <a:ext cx="1944216" cy="6180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t>
            </a:r>
            <a:r>
              <a:rPr lang="en-IN" dirty="0">
                <a:solidFill>
                  <a:schemeClr val="tx1"/>
                </a:solidFill>
              </a:rPr>
              <a:t>TRUCTURED LEGAL GUIDANCE</a:t>
            </a:r>
          </a:p>
        </p:txBody>
      </p:sp>
      <p:sp>
        <p:nvSpPr>
          <p:cNvPr id="78" name="Rectangle 77">
            <a:extLst>
              <a:ext uri="{FF2B5EF4-FFF2-40B4-BE49-F238E27FC236}">
                <a16:creationId xmlns:a16="http://schemas.microsoft.com/office/drawing/2014/main" id="{7898D8CC-2EDE-D1B4-5EBB-DA31FBEEF121}"/>
              </a:ext>
            </a:extLst>
          </p:cNvPr>
          <p:cNvSpPr/>
          <p:nvPr/>
        </p:nvSpPr>
        <p:spPr>
          <a:xfrm>
            <a:off x="9903731" y="1618752"/>
            <a:ext cx="1944216" cy="392521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lang="en-US" dirty="0">
                <a:solidFill>
                  <a:schemeClr val="tx1"/>
                </a:solidFill>
              </a:rPr>
              <a:t>L</a:t>
            </a:r>
            <a:r>
              <a:rPr lang="en-IN" dirty="0">
                <a:solidFill>
                  <a:schemeClr val="tx1"/>
                </a:solidFill>
              </a:rPr>
              <a:t>egal Information /</a:t>
            </a:r>
          </a:p>
          <a:p>
            <a:pPr marL="285750" indent="-285750">
              <a:buFont typeface="Wingdings" panose="05000000000000000000" pitchFamily="2" charset="2"/>
              <a:buChar char="ü"/>
            </a:pPr>
            <a:r>
              <a:rPr lang="en-IN" dirty="0">
                <a:solidFill>
                  <a:schemeClr val="tx1"/>
                </a:solidFill>
              </a:rPr>
              <a:t>Rights </a:t>
            </a:r>
          </a:p>
          <a:p>
            <a:pPr marL="285750" indent="-285750">
              <a:buFont typeface="Wingdings" panose="05000000000000000000" pitchFamily="2" charset="2"/>
              <a:buChar char="ü"/>
            </a:pPr>
            <a:r>
              <a:rPr lang="en-IN" dirty="0">
                <a:solidFill>
                  <a:schemeClr val="tx1"/>
                </a:solidFill>
              </a:rPr>
              <a:t>Relevant Acts and Sections </a:t>
            </a:r>
          </a:p>
          <a:p>
            <a:pPr marL="285750" indent="-285750">
              <a:buFont typeface="Wingdings" panose="05000000000000000000" pitchFamily="2" charset="2"/>
              <a:buChar char="ü"/>
            </a:pPr>
            <a:r>
              <a:rPr lang="en-IN" dirty="0">
                <a:solidFill>
                  <a:schemeClr val="tx1"/>
                </a:solidFill>
              </a:rPr>
              <a:t>Documents Analysis</a:t>
            </a:r>
          </a:p>
          <a:p>
            <a:pPr marL="285750" indent="-285750">
              <a:buFont typeface="Wingdings" panose="05000000000000000000" pitchFamily="2" charset="2"/>
              <a:buChar char="ü"/>
            </a:pPr>
            <a:r>
              <a:rPr lang="en-IN" dirty="0">
                <a:solidFill>
                  <a:schemeClr val="tx1"/>
                </a:solidFill>
              </a:rPr>
              <a:t>Complaint Draft </a:t>
            </a:r>
          </a:p>
          <a:p>
            <a:pPr marL="285750" indent="-285750">
              <a:buFont typeface="Wingdings" panose="05000000000000000000" pitchFamily="2" charset="2"/>
              <a:buChar char="ü"/>
            </a:pPr>
            <a:r>
              <a:rPr lang="en-IN" dirty="0">
                <a:solidFill>
                  <a:schemeClr val="tx1"/>
                </a:solidFill>
              </a:rPr>
              <a:t>Evidence / Document Checklist </a:t>
            </a:r>
          </a:p>
          <a:p>
            <a:pPr marL="285750" indent="-285750">
              <a:buFont typeface="Wingdings" panose="05000000000000000000" pitchFamily="2" charset="2"/>
              <a:buChar char="ü"/>
            </a:pPr>
            <a:r>
              <a:rPr lang="en-IN" dirty="0">
                <a:solidFill>
                  <a:schemeClr val="tx1"/>
                </a:solidFill>
              </a:rPr>
              <a:t>Possible Next Step</a:t>
            </a:r>
          </a:p>
        </p:txBody>
      </p:sp>
      <p:sp>
        <p:nvSpPr>
          <p:cNvPr id="79" name="Rectangle 78">
            <a:extLst>
              <a:ext uri="{FF2B5EF4-FFF2-40B4-BE49-F238E27FC236}">
                <a16:creationId xmlns:a16="http://schemas.microsoft.com/office/drawing/2014/main" id="{1A9F7F82-D06D-26E2-1B24-65243861F7FF}"/>
              </a:ext>
            </a:extLst>
          </p:cNvPr>
          <p:cNvSpPr/>
          <p:nvPr/>
        </p:nvSpPr>
        <p:spPr>
          <a:xfrm>
            <a:off x="6091475" y="6056874"/>
            <a:ext cx="5114277" cy="70842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CURATED INDIAN LEGAL KNOWLEDGE BASE</a:t>
            </a:r>
            <a:endParaRPr lang="en-IN" dirty="0"/>
          </a:p>
        </p:txBody>
      </p:sp>
      <p:sp>
        <p:nvSpPr>
          <p:cNvPr id="81" name="Rectangle 80">
            <a:extLst>
              <a:ext uri="{FF2B5EF4-FFF2-40B4-BE49-F238E27FC236}">
                <a16:creationId xmlns:a16="http://schemas.microsoft.com/office/drawing/2014/main" id="{A07F41C3-A9E1-4518-7755-B86F0E753BD4}"/>
              </a:ext>
            </a:extLst>
          </p:cNvPr>
          <p:cNvSpPr/>
          <p:nvPr/>
        </p:nvSpPr>
        <p:spPr>
          <a:xfrm>
            <a:off x="2557674" y="6073288"/>
            <a:ext cx="2222569" cy="68084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LANGUAGE SUPPORT </a:t>
            </a:r>
            <a:endParaRPr lang="en-IN" dirty="0">
              <a:solidFill>
                <a:schemeClr val="tx1"/>
              </a:solidFill>
            </a:endParaRPr>
          </a:p>
        </p:txBody>
      </p:sp>
      <p:cxnSp>
        <p:nvCxnSpPr>
          <p:cNvPr id="93" name="Straight Arrow Connector 92">
            <a:extLst>
              <a:ext uri="{FF2B5EF4-FFF2-40B4-BE49-F238E27FC236}">
                <a16:creationId xmlns:a16="http://schemas.microsoft.com/office/drawing/2014/main" id="{7D690F81-809A-9833-E8FC-FBD7318E45DA}"/>
              </a:ext>
            </a:extLst>
          </p:cNvPr>
          <p:cNvCxnSpPr>
            <a:cxnSpLocks/>
          </p:cNvCxnSpPr>
          <p:nvPr/>
        </p:nvCxnSpPr>
        <p:spPr>
          <a:xfrm>
            <a:off x="2449627" y="3386777"/>
            <a:ext cx="17566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Straight Arrow Connector 97">
            <a:extLst>
              <a:ext uri="{FF2B5EF4-FFF2-40B4-BE49-F238E27FC236}">
                <a16:creationId xmlns:a16="http://schemas.microsoft.com/office/drawing/2014/main" id="{23526C1D-896C-5B6F-EBE9-F4CAEA88CE33}"/>
              </a:ext>
            </a:extLst>
          </p:cNvPr>
          <p:cNvCxnSpPr>
            <a:cxnSpLocks/>
          </p:cNvCxnSpPr>
          <p:nvPr/>
        </p:nvCxnSpPr>
        <p:spPr>
          <a:xfrm>
            <a:off x="4804531" y="3369584"/>
            <a:ext cx="17566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Straight Arrow Connector 98">
            <a:extLst>
              <a:ext uri="{FF2B5EF4-FFF2-40B4-BE49-F238E27FC236}">
                <a16:creationId xmlns:a16="http://schemas.microsoft.com/office/drawing/2014/main" id="{53DFDE5C-9BFA-0E64-175A-906F42594863}"/>
              </a:ext>
            </a:extLst>
          </p:cNvPr>
          <p:cNvCxnSpPr>
            <a:cxnSpLocks/>
          </p:cNvCxnSpPr>
          <p:nvPr/>
        </p:nvCxnSpPr>
        <p:spPr>
          <a:xfrm>
            <a:off x="7202759" y="3429000"/>
            <a:ext cx="17566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CE8D4490-0C5D-2F96-B96E-8AAC208CF8B5}"/>
              </a:ext>
            </a:extLst>
          </p:cNvPr>
          <p:cNvCxnSpPr>
            <a:cxnSpLocks/>
          </p:cNvCxnSpPr>
          <p:nvPr/>
        </p:nvCxnSpPr>
        <p:spPr>
          <a:xfrm>
            <a:off x="9591491" y="3477344"/>
            <a:ext cx="17566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5" name="Straight Arrow Connector 104">
            <a:extLst>
              <a:ext uri="{FF2B5EF4-FFF2-40B4-BE49-F238E27FC236}">
                <a16:creationId xmlns:a16="http://schemas.microsoft.com/office/drawing/2014/main" id="{74F38B0B-A255-CCDB-C529-26D7BF18D33D}"/>
              </a:ext>
            </a:extLst>
          </p:cNvPr>
          <p:cNvCxnSpPr>
            <a:cxnSpLocks/>
            <a:endCxn id="81" idx="0"/>
          </p:cNvCxnSpPr>
          <p:nvPr/>
        </p:nvCxnSpPr>
        <p:spPr>
          <a:xfrm flipH="1">
            <a:off x="3668959" y="5664369"/>
            <a:ext cx="2816" cy="408919"/>
          </a:xfrm>
          <a:prstGeom prst="straightConnector1">
            <a:avLst/>
          </a:prstGeom>
          <a:ln w="19050" cap="flat" cmpd="sng" algn="ctr">
            <a:solidFill>
              <a:schemeClr val="tx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09" name="Straight Arrow Connector 108">
            <a:extLst>
              <a:ext uri="{FF2B5EF4-FFF2-40B4-BE49-F238E27FC236}">
                <a16:creationId xmlns:a16="http://schemas.microsoft.com/office/drawing/2014/main" id="{B9E75A77-ED11-7686-72F2-04BC389C4C75}"/>
              </a:ext>
            </a:extLst>
          </p:cNvPr>
          <p:cNvCxnSpPr>
            <a:cxnSpLocks/>
          </p:cNvCxnSpPr>
          <p:nvPr/>
        </p:nvCxnSpPr>
        <p:spPr>
          <a:xfrm flipH="1">
            <a:off x="8400256" y="5695674"/>
            <a:ext cx="2816" cy="3776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1" name="Straight Arrow Connector 110">
            <a:extLst>
              <a:ext uri="{FF2B5EF4-FFF2-40B4-BE49-F238E27FC236}">
                <a16:creationId xmlns:a16="http://schemas.microsoft.com/office/drawing/2014/main" id="{82A56E0C-2004-FE09-2FC6-1ABB83CFDAB8}"/>
              </a:ext>
            </a:extLst>
          </p:cNvPr>
          <p:cNvCxnSpPr>
            <a:cxnSpLocks/>
          </p:cNvCxnSpPr>
          <p:nvPr/>
        </p:nvCxnSpPr>
        <p:spPr>
          <a:xfrm flipV="1">
            <a:off x="8544272" y="5695674"/>
            <a:ext cx="0" cy="3776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6" name="Straight Arrow Connector 115">
            <a:extLst>
              <a:ext uri="{FF2B5EF4-FFF2-40B4-BE49-F238E27FC236}">
                <a16:creationId xmlns:a16="http://schemas.microsoft.com/office/drawing/2014/main" id="{0076551E-F29A-184D-793E-8B4FD4E942E9}"/>
              </a:ext>
            </a:extLst>
          </p:cNvPr>
          <p:cNvCxnSpPr>
            <a:cxnSpLocks/>
          </p:cNvCxnSpPr>
          <p:nvPr/>
        </p:nvCxnSpPr>
        <p:spPr>
          <a:xfrm>
            <a:off x="4871864" y="6453336"/>
            <a:ext cx="1080120" cy="0"/>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23" name="Rectangle 122">
            <a:extLst>
              <a:ext uri="{FF2B5EF4-FFF2-40B4-BE49-F238E27FC236}">
                <a16:creationId xmlns:a16="http://schemas.microsoft.com/office/drawing/2014/main" id="{C7F4DD43-4481-4005-2841-08CE47DB1314}"/>
              </a:ext>
            </a:extLst>
          </p:cNvPr>
          <p:cNvSpPr/>
          <p:nvPr/>
        </p:nvSpPr>
        <p:spPr>
          <a:xfrm>
            <a:off x="1886531" y="130757"/>
            <a:ext cx="8515314" cy="5414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Times New Roman" panose="02020603050405020304" pitchFamily="18" charset="0"/>
                <a:cs typeface="Times New Roman" panose="02020603050405020304" pitchFamily="18" charset="0"/>
              </a:rPr>
              <a:t>SYSTEM ARCHITECTURE </a:t>
            </a:r>
            <a:endParaRPr lang="en-IN" sz="2000" b="1" dirty="0">
              <a:solidFill>
                <a:schemeClr val="tx1"/>
              </a:solidFill>
              <a:latin typeface="Times New Roman" panose="02020603050405020304" pitchFamily="18" charset="0"/>
              <a:cs typeface="Times New Roman" panose="02020603050405020304" pitchFamily="18" charset="0"/>
            </a:endParaRPr>
          </a:p>
        </p:txBody>
      </p:sp>
      <p:pic>
        <p:nvPicPr>
          <p:cNvPr id="125" name="Google Shape;143;p9" title="vels knowledge.jpg">
            <a:extLst>
              <a:ext uri="{FF2B5EF4-FFF2-40B4-BE49-F238E27FC236}">
                <a16:creationId xmlns:a16="http://schemas.microsoft.com/office/drawing/2014/main" id="{8560603C-01F0-B8E8-E6E7-17FF27E506D7}"/>
              </a:ext>
            </a:extLst>
          </p:cNvPr>
          <p:cNvPicPr preferRelativeResize="0"/>
          <p:nvPr/>
        </p:nvPicPr>
        <p:blipFill>
          <a:blip r:embed="rId2">
            <a:alphaModFix/>
          </a:blip>
          <a:stretch>
            <a:fillRect/>
          </a:stretch>
        </p:blipFill>
        <p:spPr>
          <a:xfrm>
            <a:off x="11348060" y="5877272"/>
            <a:ext cx="843940" cy="980728"/>
          </a:xfrm>
          <a:prstGeom prst="rect">
            <a:avLst/>
          </a:prstGeom>
          <a:noFill/>
          <a:ln>
            <a:noFill/>
          </a:ln>
        </p:spPr>
      </p:pic>
    </p:spTree>
    <p:extLst>
      <p:ext uri="{BB962C8B-B14F-4D97-AF65-F5344CB8AC3E}">
        <p14:creationId xmlns:p14="http://schemas.microsoft.com/office/powerpoint/2010/main" val="3709910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chemeClr val="tx1"/>
                </a:solidFill>
                <a:latin typeface="Times New Roman" pitchFamily="18" charset="0"/>
                <a:cs typeface="Times New Roman" pitchFamily="18" charset="0"/>
              </a:rPr>
              <a:t>Methodology</a:t>
            </a:r>
          </a:p>
        </p:txBody>
      </p:sp>
      <p:sp>
        <p:nvSpPr>
          <p:cNvPr id="3" name="Text Placeholder 2"/>
          <p:cNvSpPr>
            <a:spLocks noGrp="1"/>
          </p:cNvSpPr>
          <p:nvPr>
            <p:ph type="body" idx="1"/>
          </p:nvPr>
        </p:nvSpPr>
        <p:spPr/>
        <p:txBody>
          <a:bodyPr wrap="square" lIns="101600" tIns="76200" rIns="101600" bIns="76200"/>
          <a:lstStyle/>
          <a:p>
            <a:pPr>
              <a:lnSpc>
                <a:spcPct val="100000"/>
              </a:lnSpc>
              <a:spcAft>
                <a:spcPts val="900"/>
              </a:spcAft>
              <a:defRPr sz="1700">
                <a:solidFill>
                  <a:srgbClr val="202A33"/>
                </a:solidFill>
                <a:latin typeface="Times New Roman"/>
              </a:defRPr>
            </a:pPr>
            <a:r>
              <a:rPr sz="2000" dirty="0"/>
              <a:t>User input: legal question or uploaded legal document.</a:t>
            </a:r>
            <a:endParaRPr lang="en-IN" sz="2000" dirty="0"/>
          </a:p>
          <a:p>
            <a:pPr>
              <a:lnSpc>
                <a:spcPct val="100000"/>
              </a:lnSpc>
              <a:spcAft>
                <a:spcPts val="900"/>
              </a:spcAft>
              <a:defRPr sz="1700">
                <a:solidFill>
                  <a:srgbClr val="202A33"/>
                </a:solidFill>
                <a:latin typeface="Times New Roman"/>
              </a:defRPr>
            </a:pPr>
            <a:r>
              <a:rPr sz="2000" dirty="0"/>
              <a:t>NLP-based understanding of the query and identification of the relevant legal domain.</a:t>
            </a:r>
          </a:p>
          <a:p>
            <a:pPr>
              <a:lnSpc>
                <a:spcPct val="100000"/>
              </a:lnSpc>
              <a:spcAft>
                <a:spcPts val="900"/>
              </a:spcAft>
              <a:defRPr sz="1700">
                <a:solidFill>
                  <a:srgbClr val="202A33"/>
                </a:solidFill>
                <a:latin typeface="Times New Roman"/>
              </a:defRPr>
            </a:pPr>
            <a:r>
              <a:rPr sz="2000" dirty="0"/>
              <a:t>RAG retrieves appropriate information from the curated Indian legal knowledge base.</a:t>
            </a:r>
          </a:p>
          <a:p>
            <a:pPr>
              <a:lnSpc>
                <a:spcPct val="100000"/>
              </a:lnSpc>
              <a:spcAft>
                <a:spcPts val="900"/>
              </a:spcAft>
              <a:defRPr sz="1700">
                <a:solidFill>
                  <a:srgbClr val="202A33"/>
                </a:solidFill>
                <a:latin typeface="Times New Roman"/>
              </a:defRPr>
            </a:pPr>
            <a:r>
              <a:rPr sz="2000" dirty="0"/>
              <a:t>The domain-specific legal AI model uses curated problem descriptions, categories, intents, and question–answer examples.</a:t>
            </a:r>
          </a:p>
          <a:p>
            <a:pPr>
              <a:lnSpc>
                <a:spcPct val="100000"/>
              </a:lnSpc>
              <a:spcAft>
                <a:spcPts val="900"/>
              </a:spcAft>
              <a:defRPr sz="1700">
                <a:solidFill>
                  <a:srgbClr val="202A33"/>
                </a:solidFill>
                <a:latin typeface="Times New Roman"/>
              </a:defRPr>
            </a:pPr>
            <a:r>
              <a:rPr sz="2000" dirty="0"/>
              <a:t>The system produces structured guidance such as rights, relevant Acts/sections, document analysis, complaint drafts, checklists, and next-step guidance</a:t>
            </a:r>
            <a:r>
              <a:rPr dirty="0"/>
              <a:t>.</a:t>
            </a:r>
          </a:p>
        </p:txBody>
      </p:sp>
      <p:pic>
        <p:nvPicPr>
          <p:cNvPr id="5" name="Google Shape;86;p1" title="vels knowledge.jpg">
            <a:extLst>
              <a:ext uri="{FF2B5EF4-FFF2-40B4-BE49-F238E27FC236}">
                <a16:creationId xmlns:a16="http://schemas.microsoft.com/office/drawing/2014/main" id="{A21347FE-0800-8A7E-8D15-FB75AC0F3E4A}"/>
              </a:ext>
            </a:extLst>
          </p:cNvPr>
          <p:cNvPicPr preferRelativeResize="0"/>
          <p:nvPr/>
        </p:nvPicPr>
        <p:blipFill>
          <a:blip r:embed="rId2">
            <a:alphaModFix/>
          </a:blip>
          <a:stretch>
            <a:fillRect/>
          </a:stretch>
        </p:blipFill>
        <p:spPr>
          <a:xfrm>
            <a:off x="11169308" y="5841375"/>
            <a:ext cx="1016625" cy="1016625"/>
          </a:xfrm>
          <a:prstGeom prst="rect">
            <a:avLst/>
          </a:prstGeom>
          <a:noFill/>
          <a:ln>
            <a:noFill/>
          </a:ln>
        </p:spPr>
      </p:pic>
    </p:spTree>
    <p:extLst>
      <p:ext uri="{BB962C8B-B14F-4D97-AF65-F5344CB8AC3E}">
        <p14:creationId xmlns:p14="http://schemas.microsoft.com/office/powerpoint/2010/main" val="517426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8870C-725A-8A54-B4E6-ABDA3E3ADE6C}"/>
              </a:ext>
            </a:extLst>
          </p:cNvPr>
          <p:cNvSpPr>
            <a:spLocks noGrp="1"/>
          </p:cNvSpPr>
          <p:nvPr>
            <p:ph type="title"/>
          </p:nvPr>
        </p:nvSpPr>
        <p:spPr>
          <a:xfrm>
            <a:off x="838200" y="681037"/>
            <a:ext cx="10515600" cy="515715"/>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Technologies Adopted</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6059E184-0B06-867D-302D-40E5C107843B}"/>
              </a:ext>
            </a:extLst>
          </p:cNvPr>
          <p:cNvSpPr/>
          <p:nvPr/>
        </p:nvSpPr>
        <p:spPr>
          <a:xfrm>
            <a:off x="1487488" y="1700808"/>
            <a:ext cx="3097560" cy="208823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sz="1300" b="1">
                <a:solidFill>
                  <a:srgbClr val="2D2D2D"/>
                </a:solidFill>
                <a:latin typeface="Aptos"/>
              </a:defRPr>
            </a:pPr>
            <a:endParaRPr lang="en-IN" sz="1600" dirty="0"/>
          </a:p>
          <a:p>
            <a:pPr>
              <a:defRPr sz="1300" b="1">
                <a:solidFill>
                  <a:srgbClr val="2D2D2D"/>
                </a:solidFill>
                <a:latin typeface="Aptos"/>
              </a:defRPr>
            </a:pPr>
            <a:r>
              <a:rPr lang="en-IN" sz="1600" dirty="0"/>
              <a:t>AI / ML</a:t>
            </a:r>
            <a:endParaRPr lang="en-IN" sz="1600" b="1" dirty="0"/>
          </a:p>
          <a:p>
            <a:pPr>
              <a:spcBef>
                <a:spcPts val="500"/>
              </a:spcBef>
              <a:defRPr sz="1100">
                <a:solidFill>
                  <a:srgbClr val="5F5F5F"/>
                </a:solidFill>
                <a:latin typeface="Aptos"/>
              </a:defRPr>
            </a:pPr>
            <a:r>
              <a:rPr lang="en-IN" sz="1600" b="1" dirty="0"/>
              <a:t>* Python</a:t>
            </a:r>
            <a:br>
              <a:rPr lang="en-IN" sz="1600" b="1" dirty="0"/>
            </a:br>
            <a:r>
              <a:rPr lang="en-IN" sz="1600" b="1" dirty="0"/>
              <a:t>*  </a:t>
            </a:r>
            <a:r>
              <a:rPr lang="en-IN" sz="1600" b="1" dirty="0" err="1"/>
              <a:t>PyTorch</a:t>
            </a:r>
            <a:br>
              <a:rPr lang="en-IN" sz="1600" b="1" dirty="0"/>
            </a:br>
            <a:r>
              <a:rPr lang="en-IN" sz="1600" b="1" dirty="0"/>
              <a:t>* Hugging Face Transformers</a:t>
            </a:r>
            <a:br>
              <a:rPr lang="en-IN" sz="1600" b="1" dirty="0"/>
            </a:br>
            <a:r>
              <a:rPr lang="en-IN" sz="1600" b="1" dirty="0"/>
              <a:t>* </a:t>
            </a:r>
            <a:r>
              <a:rPr lang="en-IN" sz="1600" b="1" dirty="0" err="1"/>
              <a:t>DistilBERT</a:t>
            </a:r>
            <a:br>
              <a:rPr lang="en-IN" sz="1600" b="1" dirty="0"/>
            </a:br>
            <a:r>
              <a:rPr lang="en-IN" sz="1600" b="1" dirty="0"/>
              <a:t>* Scikit-learn</a:t>
            </a:r>
          </a:p>
          <a:p>
            <a:pPr algn="ctr"/>
            <a:r>
              <a:rPr lang="en-IN" dirty="0"/>
              <a:t>d</a:t>
            </a:r>
          </a:p>
        </p:txBody>
      </p:sp>
      <p:sp>
        <p:nvSpPr>
          <p:cNvPr id="7" name="Rectangle: Rounded Corners 6">
            <a:extLst>
              <a:ext uri="{FF2B5EF4-FFF2-40B4-BE49-F238E27FC236}">
                <a16:creationId xmlns:a16="http://schemas.microsoft.com/office/drawing/2014/main" id="{A72E1FC4-1AE4-028C-1938-8616EC9A1047}"/>
              </a:ext>
            </a:extLst>
          </p:cNvPr>
          <p:cNvSpPr/>
          <p:nvPr/>
        </p:nvSpPr>
        <p:spPr>
          <a:xfrm>
            <a:off x="4944480" y="1700808"/>
            <a:ext cx="2952328" cy="208823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defRPr sz="1300" b="1">
                <a:solidFill>
                  <a:srgbClr val="2D2D2D"/>
                </a:solidFill>
                <a:latin typeface="Aptos"/>
              </a:defRPr>
            </a:pPr>
            <a:endParaRPr lang="en-US" sz="1600" dirty="0"/>
          </a:p>
          <a:p>
            <a:pPr lvl="1">
              <a:defRPr sz="1300" b="1">
                <a:solidFill>
                  <a:srgbClr val="2D2D2D"/>
                </a:solidFill>
                <a:latin typeface="Aptos"/>
              </a:defRPr>
            </a:pPr>
            <a:endParaRPr lang="en-US" sz="1600" dirty="0"/>
          </a:p>
          <a:p>
            <a:pPr lvl="1">
              <a:defRPr sz="1300" b="1">
                <a:solidFill>
                  <a:srgbClr val="2D2D2D"/>
                </a:solidFill>
                <a:latin typeface="Aptos"/>
              </a:defRPr>
            </a:pPr>
            <a:r>
              <a:rPr lang="en-US" sz="1600" dirty="0"/>
              <a:t>DATA</a:t>
            </a:r>
          </a:p>
          <a:p>
            <a:pPr lvl="1">
              <a:defRPr sz="1300" b="1">
                <a:solidFill>
                  <a:srgbClr val="2D2D2D"/>
                </a:solidFill>
                <a:latin typeface="Aptos"/>
              </a:defRPr>
            </a:pPr>
            <a:endParaRPr lang="en-US" sz="1600" dirty="0"/>
          </a:p>
          <a:p>
            <a:pPr lvl="1">
              <a:defRPr sz="1300" b="1">
                <a:solidFill>
                  <a:srgbClr val="2D2D2D"/>
                </a:solidFill>
                <a:latin typeface="Aptos"/>
              </a:defRPr>
            </a:pPr>
            <a:r>
              <a:rPr lang="en-US" sz="1600" dirty="0"/>
              <a:t>* Pandas</a:t>
            </a:r>
          </a:p>
          <a:p>
            <a:pPr lvl="1">
              <a:defRPr sz="1300" b="1">
                <a:solidFill>
                  <a:srgbClr val="2D2D2D"/>
                </a:solidFill>
                <a:latin typeface="Aptos"/>
              </a:defRPr>
            </a:pPr>
            <a:r>
              <a:rPr lang="en-US" sz="1600" dirty="0"/>
              <a:t>* CSV Datasheet</a:t>
            </a:r>
          </a:p>
          <a:p>
            <a:pPr lvl="1">
              <a:defRPr sz="1300" b="1">
                <a:solidFill>
                  <a:srgbClr val="2D2D2D"/>
                </a:solidFill>
                <a:latin typeface="Aptos"/>
              </a:defRPr>
            </a:pPr>
            <a:r>
              <a:rPr lang="en-US" sz="1600" dirty="0"/>
              <a:t>* Train / Validation / Test</a:t>
            </a:r>
          </a:p>
          <a:p>
            <a:pPr lvl="1">
              <a:defRPr sz="1300" b="1">
                <a:solidFill>
                  <a:srgbClr val="2D2D2D"/>
                </a:solidFill>
                <a:latin typeface="Aptos"/>
              </a:defRPr>
            </a:pPr>
            <a:endParaRPr lang="en-US" sz="1600" dirty="0"/>
          </a:p>
          <a:p>
            <a:pPr lvl="1">
              <a:defRPr sz="1300" b="1">
                <a:solidFill>
                  <a:srgbClr val="2D2D2D"/>
                </a:solidFill>
                <a:latin typeface="Aptos"/>
              </a:defRPr>
            </a:pPr>
            <a:endParaRPr lang="en-US" sz="1600" dirty="0"/>
          </a:p>
          <a:p>
            <a:pPr lvl="1">
              <a:defRPr sz="1300" b="1">
                <a:solidFill>
                  <a:srgbClr val="2D2D2D"/>
                </a:solidFill>
                <a:latin typeface="Aptos"/>
              </a:defRPr>
            </a:pPr>
            <a:endParaRPr lang="en-US" sz="1600" dirty="0"/>
          </a:p>
          <a:p>
            <a:pPr lvl="1">
              <a:defRPr sz="1300" b="1">
                <a:solidFill>
                  <a:srgbClr val="2D2D2D"/>
                </a:solidFill>
                <a:latin typeface="Aptos"/>
              </a:defRPr>
            </a:pPr>
            <a:endParaRPr lang="en-US" sz="1600" dirty="0"/>
          </a:p>
          <a:p>
            <a:pPr lvl="1">
              <a:defRPr sz="1300" b="1">
                <a:solidFill>
                  <a:srgbClr val="2D2D2D"/>
                </a:solidFill>
                <a:latin typeface="Aptos"/>
              </a:defRPr>
            </a:pPr>
            <a:endParaRPr lang="en-IN" sz="1600" dirty="0"/>
          </a:p>
        </p:txBody>
      </p:sp>
      <p:sp>
        <p:nvSpPr>
          <p:cNvPr id="9" name="Rectangle: Rounded Corners 8">
            <a:extLst>
              <a:ext uri="{FF2B5EF4-FFF2-40B4-BE49-F238E27FC236}">
                <a16:creationId xmlns:a16="http://schemas.microsoft.com/office/drawing/2014/main" id="{59811C1E-81E4-B7A6-2A5A-64E1765152D6}"/>
              </a:ext>
            </a:extLst>
          </p:cNvPr>
          <p:cNvSpPr/>
          <p:nvPr/>
        </p:nvSpPr>
        <p:spPr>
          <a:xfrm>
            <a:off x="3434320" y="4128158"/>
            <a:ext cx="2663394" cy="1709687"/>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a:p>
            <a:r>
              <a:rPr lang="en-US" b="1" dirty="0">
                <a:solidFill>
                  <a:schemeClr val="tx1"/>
                </a:solidFill>
              </a:rPr>
              <a:t>APPLICATION</a:t>
            </a:r>
          </a:p>
          <a:p>
            <a:endParaRPr lang="en-US" b="1" dirty="0">
              <a:solidFill>
                <a:schemeClr val="tx1"/>
              </a:solidFill>
            </a:endParaRPr>
          </a:p>
          <a:p>
            <a:r>
              <a:rPr lang="en-US" b="1" dirty="0">
                <a:solidFill>
                  <a:schemeClr val="tx1"/>
                </a:solidFill>
              </a:rPr>
              <a:t>* Fast API</a:t>
            </a:r>
          </a:p>
          <a:p>
            <a:r>
              <a:rPr lang="en-US" b="1" dirty="0">
                <a:solidFill>
                  <a:schemeClr val="tx1"/>
                </a:solidFill>
              </a:rPr>
              <a:t>* Flutter </a:t>
            </a:r>
          </a:p>
          <a:p>
            <a:r>
              <a:rPr lang="en-US" b="1" dirty="0">
                <a:solidFill>
                  <a:schemeClr val="tx1"/>
                </a:solidFill>
              </a:rPr>
              <a:t>* Android</a:t>
            </a:r>
          </a:p>
          <a:p>
            <a:endParaRPr lang="en-IN" dirty="0">
              <a:solidFill>
                <a:schemeClr val="tx1"/>
              </a:solidFill>
            </a:endParaRPr>
          </a:p>
        </p:txBody>
      </p:sp>
      <p:sp>
        <p:nvSpPr>
          <p:cNvPr id="13" name="Rectangle: Rounded Corners 12">
            <a:extLst>
              <a:ext uri="{FF2B5EF4-FFF2-40B4-BE49-F238E27FC236}">
                <a16:creationId xmlns:a16="http://schemas.microsoft.com/office/drawing/2014/main" id="{753C7B2E-05C5-260B-8733-FFC08297153C}"/>
              </a:ext>
            </a:extLst>
          </p:cNvPr>
          <p:cNvSpPr/>
          <p:nvPr/>
        </p:nvSpPr>
        <p:spPr>
          <a:xfrm>
            <a:off x="8256240" y="1700808"/>
            <a:ext cx="2952328" cy="208823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solidFill>
                <a:schemeClr val="tx1"/>
              </a:solidFill>
            </a:endParaRPr>
          </a:p>
          <a:p>
            <a:endParaRPr lang="en-IN" dirty="0">
              <a:solidFill>
                <a:schemeClr val="tx1"/>
              </a:solidFill>
            </a:endParaRPr>
          </a:p>
          <a:p>
            <a:endParaRPr lang="en-IN" b="1" dirty="0">
              <a:solidFill>
                <a:schemeClr val="tx1"/>
              </a:solidFill>
            </a:endParaRPr>
          </a:p>
          <a:p>
            <a:endParaRPr lang="en-IN" b="1" dirty="0">
              <a:solidFill>
                <a:schemeClr val="tx1"/>
              </a:solidFill>
            </a:endParaRPr>
          </a:p>
          <a:p>
            <a:endParaRPr lang="en-IN" b="1" dirty="0">
              <a:solidFill>
                <a:schemeClr val="tx1"/>
              </a:solidFill>
            </a:endParaRPr>
          </a:p>
          <a:p>
            <a:r>
              <a:rPr lang="en-IN" b="1" dirty="0">
                <a:solidFill>
                  <a:schemeClr val="tx1"/>
                </a:solidFill>
              </a:rPr>
              <a:t>RAG</a:t>
            </a:r>
          </a:p>
          <a:p>
            <a:endParaRPr lang="en-IN" b="1" dirty="0">
              <a:solidFill>
                <a:schemeClr val="tx1"/>
              </a:solidFill>
            </a:endParaRPr>
          </a:p>
          <a:p>
            <a:r>
              <a:rPr lang="en-IN" b="1" dirty="0">
                <a:solidFill>
                  <a:schemeClr val="tx1"/>
                </a:solidFill>
              </a:rPr>
              <a:t>* Embedding Model</a:t>
            </a:r>
          </a:p>
          <a:p>
            <a:r>
              <a:rPr lang="en-IN" b="1" dirty="0">
                <a:solidFill>
                  <a:schemeClr val="tx1"/>
                </a:solidFill>
              </a:rPr>
              <a:t>* Vector Database</a:t>
            </a:r>
          </a:p>
          <a:p>
            <a:r>
              <a:rPr lang="en-IN" b="1" dirty="0">
                <a:solidFill>
                  <a:schemeClr val="tx1"/>
                </a:solidFill>
              </a:rPr>
              <a:t>* </a:t>
            </a:r>
            <a:r>
              <a:rPr lang="en-IN" b="1" dirty="0" err="1">
                <a:solidFill>
                  <a:schemeClr val="tx1"/>
                </a:solidFill>
              </a:rPr>
              <a:t>ChromaDB</a:t>
            </a:r>
            <a:endParaRPr lang="en-IN" b="1" dirty="0">
              <a:solidFill>
                <a:schemeClr val="tx1"/>
              </a:solidFill>
            </a:endParaRPr>
          </a:p>
          <a:p>
            <a:r>
              <a:rPr lang="en-IN" b="1" dirty="0">
                <a:solidFill>
                  <a:schemeClr val="tx1"/>
                </a:solidFill>
              </a:rPr>
              <a:t>* Retrieval Pipeline</a:t>
            </a:r>
          </a:p>
          <a:p>
            <a:endParaRPr lang="en-IN" dirty="0">
              <a:solidFill>
                <a:schemeClr val="tx1"/>
              </a:solidFill>
            </a:endParaRPr>
          </a:p>
          <a:p>
            <a:endParaRPr lang="en-IN" dirty="0">
              <a:solidFill>
                <a:schemeClr val="tx1"/>
              </a:solidFill>
            </a:endParaRPr>
          </a:p>
          <a:p>
            <a:endParaRPr lang="en-IN" dirty="0">
              <a:solidFill>
                <a:schemeClr val="tx1"/>
              </a:solidFill>
            </a:endParaRPr>
          </a:p>
          <a:p>
            <a:endParaRPr lang="en-IN" dirty="0">
              <a:solidFill>
                <a:schemeClr val="tx1"/>
              </a:solidFill>
            </a:endParaRPr>
          </a:p>
          <a:p>
            <a:endParaRPr lang="en-IN" dirty="0">
              <a:solidFill>
                <a:schemeClr val="tx1"/>
              </a:solidFill>
            </a:endParaRPr>
          </a:p>
          <a:p>
            <a:endParaRPr lang="en-IN" dirty="0">
              <a:solidFill>
                <a:schemeClr val="tx1"/>
              </a:solidFill>
            </a:endParaRPr>
          </a:p>
          <a:p>
            <a:endParaRPr lang="en-IN" dirty="0">
              <a:solidFill>
                <a:schemeClr val="tx1"/>
              </a:solidFill>
            </a:endParaRPr>
          </a:p>
        </p:txBody>
      </p:sp>
      <p:sp>
        <p:nvSpPr>
          <p:cNvPr id="15" name="Rectangle: Rounded Corners 14">
            <a:extLst>
              <a:ext uri="{FF2B5EF4-FFF2-40B4-BE49-F238E27FC236}">
                <a16:creationId xmlns:a16="http://schemas.microsoft.com/office/drawing/2014/main" id="{8646E326-64EE-E6B7-2BFB-17E3DAFEEA79}"/>
              </a:ext>
            </a:extLst>
          </p:cNvPr>
          <p:cNvSpPr/>
          <p:nvPr/>
        </p:nvSpPr>
        <p:spPr>
          <a:xfrm>
            <a:off x="6889146" y="4221087"/>
            <a:ext cx="2843258" cy="161675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DEVELOPMENT</a:t>
            </a:r>
          </a:p>
          <a:p>
            <a:endParaRPr lang="en-IN" b="1" dirty="0">
              <a:solidFill>
                <a:schemeClr val="tx1"/>
              </a:solidFill>
            </a:endParaRPr>
          </a:p>
          <a:p>
            <a:r>
              <a:rPr lang="en-IN" b="1" dirty="0">
                <a:solidFill>
                  <a:schemeClr val="tx1"/>
                </a:solidFill>
              </a:rPr>
              <a:t>* </a:t>
            </a:r>
            <a:r>
              <a:rPr lang="en-IN" b="1" dirty="0" err="1">
                <a:solidFill>
                  <a:schemeClr val="tx1"/>
                </a:solidFill>
              </a:rPr>
              <a:t>VSCode</a:t>
            </a:r>
            <a:endParaRPr lang="en-IN" b="1" dirty="0">
              <a:solidFill>
                <a:schemeClr val="tx1"/>
              </a:solidFill>
            </a:endParaRPr>
          </a:p>
          <a:p>
            <a:r>
              <a:rPr lang="en-IN" b="1" dirty="0">
                <a:solidFill>
                  <a:schemeClr val="tx1"/>
                </a:solidFill>
              </a:rPr>
              <a:t>* Python Virtual Environment</a:t>
            </a:r>
          </a:p>
          <a:p>
            <a:r>
              <a:rPr lang="en-IN" b="1" dirty="0">
                <a:solidFill>
                  <a:schemeClr val="tx1"/>
                </a:solidFill>
              </a:rPr>
              <a:t>* NVIDIA GPU / CUDA</a:t>
            </a:r>
          </a:p>
        </p:txBody>
      </p:sp>
      <p:pic>
        <p:nvPicPr>
          <p:cNvPr id="17" name="Google Shape;86;p1" title="vels knowledge.jpg">
            <a:extLst>
              <a:ext uri="{FF2B5EF4-FFF2-40B4-BE49-F238E27FC236}">
                <a16:creationId xmlns:a16="http://schemas.microsoft.com/office/drawing/2014/main" id="{0D15D95C-747B-9636-BF0A-EAE01D7128D0}"/>
              </a:ext>
            </a:extLst>
          </p:cNvPr>
          <p:cNvPicPr preferRelativeResize="0"/>
          <p:nvPr/>
        </p:nvPicPr>
        <p:blipFill>
          <a:blip r:embed="rId2">
            <a:alphaModFix/>
          </a:blip>
          <a:stretch>
            <a:fillRect/>
          </a:stretch>
        </p:blipFill>
        <p:spPr>
          <a:xfrm>
            <a:off x="11169308" y="5841375"/>
            <a:ext cx="1016625" cy="1016625"/>
          </a:xfrm>
          <a:prstGeom prst="rect">
            <a:avLst/>
          </a:prstGeom>
          <a:noFill/>
          <a:ln>
            <a:noFill/>
          </a:ln>
        </p:spPr>
      </p:pic>
    </p:spTree>
    <p:extLst>
      <p:ext uri="{BB962C8B-B14F-4D97-AF65-F5344CB8AC3E}">
        <p14:creationId xmlns:p14="http://schemas.microsoft.com/office/powerpoint/2010/main" val="3680547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DBC5E-6F2E-AD7C-4C32-7F0E1313E579}"/>
              </a:ext>
            </a:extLst>
          </p:cNvPr>
          <p:cNvSpPr>
            <a:spLocks noGrp="1"/>
          </p:cNvSpPr>
          <p:nvPr>
            <p:ph type="title"/>
          </p:nvPr>
        </p:nvSpPr>
        <p:spPr/>
        <p:txBody>
          <a:bodyPr/>
          <a:lstStyle/>
          <a:p>
            <a:r>
              <a:rPr lang="en-US" dirty="0"/>
              <a:t>                                 </a:t>
            </a:r>
            <a:r>
              <a:rPr lang="en-US" sz="4000" dirty="0">
                <a:latin typeface="Times New Roman" panose="02020603050405020304" pitchFamily="18" charset="0"/>
                <a:cs typeface="Times New Roman" panose="02020603050405020304" pitchFamily="18" charset="0"/>
              </a:rPr>
              <a:t>Dataset</a:t>
            </a:r>
            <a:endParaRPr lang="en-IN" sz="4000" dirty="0">
              <a:latin typeface="Times New Roman" panose="02020603050405020304" pitchFamily="18" charset="0"/>
              <a:cs typeface="Times New Roman" panose="02020603050405020304" pitchFamily="18" charset="0"/>
            </a:endParaRPr>
          </a:p>
        </p:txBody>
      </p:sp>
      <p:pic>
        <p:nvPicPr>
          <p:cNvPr id="5" name="Google Shape;86;p1" title="vels knowledge.jpg">
            <a:extLst>
              <a:ext uri="{FF2B5EF4-FFF2-40B4-BE49-F238E27FC236}">
                <a16:creationId xmlns:a16="http://schemas.microsoft.com/office/drawing/2014/main" id="{2B0EF909-CB53-3165-9E50-973B3DEE5BA3}"/>
              </a:ext>
            </a:extLst>
          </p:cNvPr>
          <p:cNvPicPr preferRelativeResize="0"/>
          <p:nvPr/>
        </p:nvPicPr>
        <p:blipFill>
          <a:blip r:embed="rId2">
            <a:alphaModFix/>
          </a:blip>
          <a:stretch>
            <a:fillRect/>
          </a:stretch>
        </p:blipFill>
        <p:spPr>
          <a:xfrm>
            <a:off x="11169308" y="5841375"/>
            <a:ext cx="1016625" cy="1016625"/>
          </a:xfrm>
          <a:prstGeom prst="rect">
            <a:avLst/>
          </a:prstGeom>
          <a:noFill/>
          <a:ln>
            <a:noFill/>
          </a:ln>
        </p:spPr>
      </p:pic>
      <p:sp>
        <p:nvSpPr>
          <p:cNvPr id="4" name="Rectangle: Rounded Corners 3">
            <a:extLst>
              <a:ext uri="{FF2B5EF4-FFF2-40B4-BE49-F238E27FC236}">
                <a16:creationId xmlns:a16="http://schemas.microsoft.com/office/drawing/2014/main" id="{364B02FA-158A-F3DB-96B5-0350962E18F8}"/>
              </a:ext>
            </a:extLst>
          </p:cNvPr>
          <p:cNvSpPr/>
          <p:nvPr/>
        </p:nvSpPr>
        <p:spPr>
          <a:xfrm>
            <a:off x="1847528" y="1722467"/>
            <a:ext cx="3384376" cy="367318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t>
            </a: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sz="2000" dirty="0">
              <a:solidFill>
                <a:schemeClr val="tx1"/>
              </a:solidFill>
            </a:endParaRPr>
          </a:p>
          <a:p>
            <a:pPr algn="ctr"/>
            <a:r>
              <a:rPr lang="en-US" sz="2000" dirty="0">
                <a:solidFill>
                  <a:schemeClr val="tx1"/>
                </a:solidFill>
              </a:rPr>
              <a:t>Classification</a:t>
            </a:r>
            <a:r>
              <a:rPr lang="en-US" sz="2000" dirty="0"/>
              <a:t> </a:t>
            </a:r>
            <a:r>
              <a:rPr lang="en-US" sz="2000" dirty="0">
                <a:solidFill>
                  <a:schemeClr val="tx1"/>
                </a:solidFill>
              </a:rPr>
              <a:t>Dataset</a:t>
            </a:r>
          </a:p>
          <a:p>
            <a:pPr lvl="0"/>
            <a:r>
              <a:rPr lang="en-IN" dirty="0"/>
              <a:t>16 Le</a:t>
            </a:r>
            <a:endParaRPr lang="en-IN" dirty="0">
              <a:solidFill>
                <a:schemeClr val="tx1"/>
              </a:solidFill>
            </a:endParaRPr>
          </a:p>
          <a:p>
            <a:pPr marL="285750" lvl="0" indent="-285750">
              <a:buFont typeface="Arial" panose="020B0604020202020204" pitchFamily="34" charset="0"/>
              <a:buChar char="•"/>
            </a:pPr>
            <a:r>
              <a:rPr lang="en-IN" dirty="0">
                <a:solidFill>
                  <a:schemeClr val="tx1"/>
                </a:solidFill>
              </a:rPr>
              <a:t>16 Legal Categories </a:t>
            </a:r>
            <a:r>
              <a:rPr lang="en-IN" dirty="0" err="1"/>
              <a:t>Categor</a:t>
            </a:r>
            <a:endParaRPr lang="en-IN" dirty="0"/>
          </a:p>
          <a:p>
            <a:pPr marL="285750" lvl="0" indent="-285750">
              <a:buFont typeface="Arial" panose="020B0604020202020204" pitchFamily="34" charset="0"/>
              <a:buChar char="•"/>
            </a:pPr>
            <a:r>
              <a:rPr lang="en-IN" dirty="0">
                <a:solidFill>
                  <a:schemeClr val="tx1"/>
                </a:solidFill>
              </a:rPr>
              <a:t>160 Legal Intents</a:t>
            </a:r>
          </a:p>
          <a:p>
            <a:pPr marL="285750" lvl="0" indent="-285750">
              <a:buFont typeface="Arial" panose="020B0604020202020204" pitchFamily="34" charset="0"/>
              <a:buChar char="•"/>
            </a:pPr>
            <a:r>
              <a:rPr lang="en-IN" dirty="0">
                <a:solidFill>
                  <a:schemeClr val="tx1"/>
                </a:solidFill>
              </a:rPr>
              <a:t>8,000 Query Examples</a:t>
            </a:r>
          </a:p>
          <a:p>
            <a:pPr marL="285750" lvl="0" indent="-285750">
              <a:buFont typeface="Arial" panose="020B0604020202020204" pitchFamily="34" charset="0"/>
              <a:buChar char="•"/>
            </a:pPr>
            <a:r>
              <a:rPr lang="en-IN" dirty="0">
                <a:solidFill>
                  <a:schemeClr val="tx1"/>
                </a:solidFill>
              </a:rPr>
              <a:t>50 examples per intent</a:t>
            </a:r>
          </a:p>
          <a:p>
            <a:pPr marL="285750" lvl="0" indent="-285750">
              <a:buFont typeface="Arial" panose="020B0604020202020204" pitchFamily="34" charset="0"/>
              <a:buChar char="•"/>
            </a:pPr>
            <a:r>
              <a:rPr lang="en-IN" dirty="0">
                <a:solidFill>
                  <a:schemeClr val="tx1"/>
                </a:solidFill>
              </a:rPr>
              <a:t>6,400 Training</a:t>
            </a:r>
          </a:p>
          <a:p>
            <a:pPr marL="285750" lvl="0" indent="-285750">
              <a:buFont typeface="Arial" panose="020B0604020202020204" pitchFamily="34" charset="0"/>
              <a:buChar char="•"/>
            </a:pPr>
            <a:r>
              <a:rPr lang="en-IN" dirty="0">
                <a:solidFill>
                  <a:schemeClr val="tx1"/>
                </a:solidFill>
              </a:rPr>
              <a:t>800 Validation</a:t>
            </a:r>
          </a:p>
          <a:p>
            <a:pPr marL="285750" lvl="0" indent="-285750">
              <a:buFont typeface="Arial" panose="020B0604020202020204" pitchFamily="34" charset="0"/>
              <a:buChar char="•"/>
            </a:pPr>
            <a:r>
              <a:rPr lang="en-IN" dirty="0">
                <a:solidFill>
                  <a:schemeClr val="tx1"/>
                </a:solidFill>
              </a:rPr>
              <a:t>800 Test</a:t>
            </a:r>
          </a:p>
          <a:p>
            <a:pPr marL="285750" lvl="0" indent="-285750">
              <a:buFont typeface="Arial" panose="020B0604020202020204" pitchFamily="34" charset="0"/>
              <a:buChar char="•"/>
            </a:pPr>
            <a:r>
              <a:rPr lang="en-IN" dirty="0">
                <a:solidFill>
                  <a:schemeClr val="tx1"/>
                </a:solidFill>
              </a:rPr>
              <a:t>Scenario-based split to avoid overlap between datasets</a:t>
            </a:r>
          </a:p>
          <a:p>
            <a:pPr algn="ctr"/>
            <a:endParaRPr lang="en-US" dirty="0">
              <a:solidFill>
                <a:schemeClr val="tx1"/>
              </a:solidFill>
            </a:endParaRPr>
          </a:p>
          <a:p>
            <a:pPr marL="285750" indent="-285750" algn="ctr">
              <a:buFont typeface="Arial" panose="020B0604020202020204" pitchFamily="34" charset="0"/>
              <a:buChar char="•"/>
            </a:pPr>
            <a:endParaRPr lang="en-US" dirty="0"/>
          </a:p>
          <a:p>
            <a:pPr marL="342900" indent="-342900" algn="ctr">
              <a:buFont typeface="+mj-lt"/>
              <a:buAutoNum type="arabicPeriod"/>
            </a:pP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IN" dirty="0"/>
          </a:p>
        </p:txBody>
      </p:sp>
      <p:sp>
        <p:nvSpPr>
          <p:cNvPr id="7" name="Text Placeholder 6">
            <a:extLst>
              <a:ext uri="{FF2B5EF4-FFF2-40B4-BE49-F238E27FC236}">
                <a16:creationId xmlns:a16="http://schemas.microsoft.com/office/drawing/2014/main" id="{BDE9E0BD-40E2-5255-03E7-6EF60144EA1C}"/>
              </a:ext>
            </a:extLst>
          </p:cNvPr>
          <p:cNvSpPr>
            <a:spLocks noGrp="1"/>
          </p:cNvSpPr>
          <p:nvPr>
            <p:ph type="body" idx="1"/>
          </p:nvPr>
        </p:nvSpPr>
        <p:spPr>
          <a:xfrm>
            <a:off x="1343472" y="5531953"/>
            <a:ext cx="3240360" cy="61884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55000" lnSpcReduction="20000"/>
          </a:bodyPr>
          <a:lstStyle/>
          <a:p>
            <a:pPr algn="ctr"/>
            <a:r>
              <a:rPr lang="en-IN" b="1" dirty="0"/>
              <a:t>Scenario-based Dataset</a:t>
            </a:r>
          </a:p>
        </p:txBody>
      </p:sp>
      <p:sp>
        <p:nvSpPr>
          <p:cNvPr id="9" name="Rectangle: Rounded Corners 8">
            <a:extLst>
              <a:ext uri="{FF2B5EF4-FFF2-40B4-BE49-F238E27FC236}">
                <a16:creationId xmlns:a16="http://schemas.microsoft.com/office/drawing/2014/main" id="{1928995E-4359-DB51-AAD5-CA97E250E24D}"/>
              </a:ext>
            </a:extLst>
          </p:cNvPr>
          <p:cNvSpPr/>
          <p:nvPr/>
        </p:nvSpPr>
        <p:spPr>
          <a:xfrm flipH="1" flipV="1">
            <a:off x="10452483" y="6460218"/>
            <a:ext cx="540061" cy="397782"/>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E83BC9A6-CED4-D9D9-7847-5E50FBA895B0}"/>
              </a:ext>
            </a:extLst>
          </p:cNvPr>
          <p:cNvSpPr/>
          <p:nvPr/>
        </p:nvSpPr>
        <p:spPr>
          <a:xfrm>
            <a:off x="6672064" y="1735787"/>
            <a:ext cx="3384376" cy="367318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IN" dirty="0">
                <a:solidFill>
                  <a:schemeClr val="tx1"/>
                </a:solidFill>
              </a:rPr>
              <a:t> </a:t>
            </a:r>
          </a:p>
          <a:p>
            <a:pPr lvl="0"/>
            <a:endParaRPr lang="en-IN" sz="2000" dirty="0">
              <a:solidFill>
                <a:schemeClr val="tx1"/>
              </a:solidFill>
            </a:endParaRPr>
          </a:p>
          <a:p>
            <a:pPr lvl="0"/>
            <a:endParaRPr lang="en-IN" sz="2000" dirty="0">
              <a:solidFill>
                <a:schemeClr val="tx1"/>
              </a:solidFill>
            </a:endParaRPr>
          </a:p>
          <a:p>
            <a:pPr lvl="0"/>
            <a:endParaRPr lang="en-IN" sz="2000" dirty="0">
              <a:solidFill>
                <a:schemeClr val="tx1"/>
              </a:solidFill>
            </a:endParaRPr>
          </a:p>
          <a:p>
            <a:pPr lvl="0"/>
            <a:endParaRPr lang="en-IN" sz="2000" dirty="0">
              <a:solidFill>
                <a:schemeClr val="tx1"/>
              </a:solidFill>
            </a:endParaRPr>
          </a:p>
          <a:p>
            <a:pPr lvl="0"/>
            <a:r>
              <a:rPr lang="en-IN" sz="2000" dirty="0">
                <a:solidFill>
                  <a:schemeClr val="tx1"/>
                </a:solidFill>
              </a:rPr>
              <a:t>RAG Knowledge Base                          </a:t>
            </a:r>
            <a:endParaRPr lang="en-IN" sz="1800" dirty="0">
              <a:solidFill>
                <a:schemeClr val="tx1"/>
              </a:solidFill>
            </a:endParaRPr>
          </a:p>
          <a:p>
            <a:pPr lvl="0"/>
            <a:endParaRPr lang="en-IN" sz="1800" dirty="0">
              <a:solidFill>
                <a:schemeClr val="tx1"/>
              </a:solidFill>
            </a:endParaRPr>
          </a:p>
          <a:p>
            <a:pPr marL="285750" lvl="0" indent="-285750">
              <a:buFont typeface="Arial" panose="020B0604020202020204" pitchFamily="34" charset="0"/>
              <a:buChar char="•"/>
            </a:pPr>
            <a:r>
              <a:rPr lang="en-IN" dirty="0">
                <a:solidFill>
                  <a:schemeClr val="tx1"/>
                </a:solidFill>
              </a:rPr>
              <a:t> Indian Acts &amp; Sections</a:t>
            </a:r>
          </a:p>
          <a:p>
            <a:pPr marL="285750" lvl="0" indent="-285750">
              <a:buFont typeface="Arial" panose="020B0604020202020204" pitchFamily="34" charset="0"/>
              <a:buChar char="•"/>
            </a:pPr>
            <a:r>
              <a:rPr lang="en-IN" dirty="0">
                <a:solidFill>
                  <a:schemeClr val="tx1"/>
                </a:solidFill>
              </a:rPr>
              <a:t>Legal Procedures &amp;Guidelines</a:t>
            </a:r>
          </a:p>
          <a:p>
            <a:pPr marL="285750" lvl="0" indent="-285750">
              <a:buFont typeface="Arial" panose="020B0604020202020204" pitchFamily="34" charset="0"/>
              <a:buChar char="•"/>
            </a:pPr>
            <a:r>
              <a:rPr lang="en-IN" dirty="0">
                <a:solidFill>
                  <a:schemeClr val="tx1"/>
                </a:solidFill>
              </a:rPr>
              <a:t>Case Summaries &amp; Judgments</a:t>
            </a:r>
          </a:p>
          <a:p>
            <a:pPr marL="285750" lvl="0" indent="-285750">
              <a:buFont typeface="Arial" panose="020B0604020202020204" pitchFamily="34" charset="0"/>
              <a:buChar char="•"/>
            </a:pPr>
            <a:r>
              <a:rPr lang="en-IN" dirty="0">
                <a:solidFill>
                  <a:schemeClr val="tx1"/>
                </a:solidFill>
              </a:rPr>
              <a:t>Legal Categories &amp; Examples</a:t>
            </a:r>
          </a:p>
          <a:p>
            <a:pPr marL="285750" lvl="0" indent="-285750">
              <a:buFont typeface="Arial" panose="020B0604020202020204" pitchFamily="34" charset="0"/>
              <a:buChar char="•"/>
            </a:pPr>
            <a:r>
              <a:rPr lang="en-IN" dirty="0">
                <a:solidFill>
                  <a:schemeClr val="tx1"/>
                </a:solidFill>
              </a:rPr>
              <a:t>Curated Legal Q&amp;A</a:t>
            </a:r>
          </a:p>
          <a:p>
            <a:pPr marL="285750" lvl="0" indent="-285750">
              <a:buFont typeface="Arial" panose="020B0604020202020204" pitchFamily="34" charset="0"/>
              <a:buChar char="•"/>
            </a:pPr>
            <a:r>
              <a:rPr lang="en-IN" dirty="0">
                <a:solidFill>
                  <a:schemeClr val="tx1"/>
                </a:solidFill>
              </a:rPr>
              <a:t>Documents are processed, chunked and indexed for relevant retrieval</a:t>
            </a:r>
          </a:p>
          <a:p>
            <a:pPr lvl="0"/>
            <a:endParaRPr lang="en-IN" dirty="0">
              <a:solidFill>
                <a:schemeClr val="tx1"/>
              </a:solidFill>
            </a:endParaRPr>
          </a:p>
          <a:p>
            <a:pPr lvl="0"/>
            <a:endParaRPr lang="en-IN" sz="1800" dirty="0">
              <a:solidFill>
                <a:schemeClr val="tx1"/>
              </a:solidFill>
            </a:endParaRPr>
          </a:p>
          <a:p>
            <a:pPr lvl="0"/>
            <a:endParaRPr lang="en-IN" sz="1800" dirty="0">
              <a:solidFill>
                <a:schemeClr val="tx1"/>
              </a:solidFill>
            </a:endParaRPr>
          </a:p>
          <a:p>
            <a:pPr lvl="0"/>
            <a:endParaRPr lang="en-IN" sz="1800" dirty="0">
              <a:solidFill>
                <a:schemeClr val="tx1"/>
              </a:solidFill>
            </a:endParaRPr>
          </a:p>
          <a:p>
            <a:pPr lvl="0"/>
            <a:endParaRPr lang="en-IN" sz="1800" dirty="0">
              <a:solidFill>
                <a:schemeClr val="tx1"/>
              </a:solidFill>
            </a:endParaRPr>
          </a:p>
          <a:p>
            <a:pPr lvl="0"/>
            <a:endParaRPr lang="en-IN" sz="1800" dirty="0">
              <a:solidFill>
                <a:schemeClr val="tx1"/>
              </a:solidFill>
            </a:endParaRPr>
          </a:p>
          <a:p>
            <a:pPr lvl="0"/>
            <a:endParaRPr lang="en-IN" sz="1800" dirty="0">
              <a:solidFill>
                <a:schemeClr val="tx1"/>
              </a:solidFill>
            </a:endParaRPr>
          </a:p>
          <a:p>
            <a:pPr lvl="0"/>
            <a:endParaRPr lang="en-IN" sz="1800" dirty="0">
              <a:solidFill>
                <a:schemeClr val="tx1"/>
              </a:solidFill>
            </a:endParaRPr>
          </a:p>
          <a:p>
            <a:pPr lvl="0"/>
            <a:endParaRPr lang="en-IN" b="1" dirty="0">
              <a:solidFill>
                <a:schemeClr val="tx1"/>
              </a:solidFill>
            </a:endParaRPr>
          </a:p>
        </p:txBody>
      </p:sp>
      <p:sp>
        <p:nvSpPr>
          <p:cNvPr id="13" name="Text Placeholder 6">
            <a:extLst>
              <a:ext uri="{FF2B5EF4-FFF2-40B4-BE49-F238E27FC236}">
                <a16:creationId xmlns:a16="http://schemas.microsoft.com/office/drawing/2014/main" id="{9D8AF150-CDD3-49A6-911A-5AE36FF2D9A1}"/>
              </a:ext>
            </a:extLst>
          </p:cNvPr>
          <p:cNvSpPr txBox="1">
            <a:spLocks/>
          </p:cNvSpPr>
          <p:nvPr/>
        </p:nvSpPr>
        <p:spPr>
          <a:xfrm>
            <a:off x="5051884" y="5589240"/>
            <a:ext cx="3240360" cy="618843"/>
          </a:xfrm>
          <a:prstGeom prst="roundRect">
            <a:avLst/>
          </a:prstGeom>
          <a:solidFill>
            <a:schemeClr val="bg1"/>
          </a:solidFill>
          <a:ln w="25400" cap="flat" cmpd="sng" algn="ctr">
            <a:solidFill>
              <a:schemeClr val="bg1"/>
            </a:solidFill>
            <a:prstDash val="solid"/>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25" tIns="45700" rIns="91425" bIns="45700" rtlCol="0" anchor="ctr" anchorCtr="0">
            <a:normAutofit fontScale="550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spc="0">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spc="0">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spc="0">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9pPr>
          </a:lstStyle>
          <a:p>
            <a:pPr algn="ctr"/>
            <a:r>
              <a:rPr lang="en-IN" b="1" dirty="0"/>
              <a:t>No Duplicate Queries Across Splits</a:t>
            </a:r>
          </a:p>
        </p:txBody>
      </p:sp>
      <p:sp>
        <p:nvSpPr>
          <p:cNvPr id="14" name="Text Placeholder 6">
            <a:extLst>
              <a:ext uri="{FF2B5EF4-FFF2-40B4-BE49-F238E27FC236}">
                <a16:creationId xmlns:a16="http://schemas.microsoft.com/office/drawing/2014/main" id="{64D0DBA2-A7F2-FB51-98C5-1CC2D670C2C7}"/>
              </a:ext>
            </a:extLst>
          </p:cNvPr>
          <p:cNvSpPr txBox="1">
            <a:spLocks/>
          </p:cNvSpPr>
          <p:nvPr/>
        </p:nvSpPr>
        <p:spPr>
          <a:xfrm>
            <a:off x="8468863" y="5589240"/>
            <a:ext cx="2700445" cy="618843"/>
          </a:xfrm>
          <a:prstGeom prst="roundRect">
            <a:avLst/>
          </a:prstGeom>
          <a:solidFill>
            <a:schemeClr val="bg1"/>
          </a:solidFill>
          <a:ln w="25400" cap="flat" cmpd="sng" algn="ctr">
            <a:solidFill>
              <a:schemeClr val="bg1"/>
            </a:solidFill>
            <a:prstDash val="solid"/>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25" tIns="45700" rIns="91425" bIns="45700" rtlCol="0" anchor="ctr" anchorCtr="0">
            <a:normAutofit fontScale="550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spc="0">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spc="0">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spc="0">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9pPr>
          </a:lstStyle>
          <a:p>
            <a:pPr algn="ctr"/>
            <a:r>
              <a:rPr lang="en-IN" b="1" dirty="0"/>
              <a:t>  Source based RAG Knowledge</a:t>
            </a:r>
          </a:p>
        </p:txBody>
      </p:sp>
    </p:spTree>
    <p:extLst>
      <p:ext uri="{BB962C8B-B14F-4D97-AF65-F5344CB8AC3E}">
        <p14:creationId xmlns:p14="http://schemas.microsoft.com/office/powerpoint/2010/main" val="2651954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614" y="-38246"/>
            <a:ext cx="10515600" cy="1325563"/>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Implementation</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53708" y="5625350"/>
            <a:ext cx="10515600" cy="1016625"/>
          </a:xfrm>
        </p:spPr>
        <p:txBody>
          <a:bodyPr wrap="square" lIns="101600" tIns="76200" rIns="101600" bIns="76200">
            <a:normAutofit/>
          </a:bodyPr>
          <a:lstStyle/>
          <a:p>
            <a:pPr marL="114300" indent="0">
              <a:spcAft>
                <a:spcPts val="900"/>
              </a:spcAft>
              <a:buNone/>
              <a:defRPr sz="1700">
                <a:solidFill>
                  <a:srgbClr val="202A33"/>
                </a:solidFill>
                <a:latin typeface="Times New Roman"/>
              </a:defRPr>
            </a:pPr>
            <a:r>
              <a:rPr lang="en-US" sz="2000" dirty="0"/>
              <a:t>Data Preprocessing            Classification           Evaluation          RAG Retrieval          Application </a:t>
            </a:r>
            <a:endParaRPr lang="en-IN" sz="2000" dirty="0"/>
          </a:p>
        </p:txBody>
      </p:sp>
      <p:pic>
        <p:nvPicPr>
          <p:cNvPr id="5" name="Google Shape;86;p1" title="vels knowledge.jpg">
            <a:extLst>
              <a:ext uri="{FF2B5EF4-FFF2-40B4-BE49-F238E27FC236}">
                <a16:creationId xmlns:a16="http://schemas.microsoft.com/office/drawing/2014/main" id="{867A7BC7-3E26-9E43-213E-0F5AC844E361}"/>
              </a:ext>
            </a:extLst>
          </p:cNvPr>
          <p:cNvPicPr preferRelativeResize="0"/>
          <p:nvPr/>
        </p:nvPicPr>
        <p:blipFill>
          <a:blip r:embed="rId3">
            <a:alphaModFix/>
          </a:blip>
          <a:stretch>
            <a:fillRect/>
          </a:stretch>
        </p:blipFill>
        <p:spPr>
          <a:xfrm>
            <a:off x="11169308" y="5841375"/>
            <a:ext cx="1016625" cy="1016625"/>
          </a:xfrm>
          <a:prstGeom prst="rect">
            <a:avLst/>
          </a:prstGeom>
          <a:noFill/>
          <a:ln>
            <a:noFill/>
          </a:ln>
        </p:spPr>
      </p:pic>
      <p:sp>
        <p:nvSpPr>
          <p:cNvPr id="4" name="Rectangle: Rounded Corners 3">
            <a:extLst>
              <a:ext uri="{FF2B5EF4-FFF2-40B4-BE49-F238E27FC236}">
                <a16:creationId xmlns:a16="http://schemas.microsoft.com/office/drawing/2014/main" id="{19D208CC-0A15-3C0F-4A4B-EE93B36A5AB7}"/>
              </a:ext>
            </a:extLst>
          </p:cNvPr>
          <p:cNvSpPr/>
          <p:nvPr/>
        </p:nvSpPr>
        <p:spPr>
          <a:xfrm>
            <a:off x="1089854" y="1151505"/>
            <a:ext cx="3910880" cy="201622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AutoNum type="arabicPeriod"/>
            </a:pPr>
            <a:r>
              <a:rPr lang="en-US" dirty="0">
                <a:solidFill>
                  <a:schemeClr val="tx1"/>
                </a:solidFill>
              </a:rPr>
              <a:t>Dataset &amp; Preprocessing</a:t>
            </a:r>
          </a:p>
          <a:p>
            <a:pPr algn="ctr"/>
            <a:endParaRPr lang="en-US" dirty="0">
              <a:solidFill>
                <a:schemeClr val="tx1"/>
              </a:solidFill>
            </a:endParaRPr>
          </a:p>
          <a:p>
            <a:pPr marL="285750" indent="-285750">
              <a:buFont typeface="Wingdings" panose="05000000000000000000" pitchFamily="2" charset="2"/>
              <a:buChar char="v"/>
            </a:pPr>
            <a:r>
              <a:rPr lang="en-US" dirty="0">
                <a:solidFill>
                  <a:schemeClr val="tx1"/>
                </a:solidFill>
              </a:rPr>
              <a:t>Prepare 160 legal intents</a:t>
            </a:r>
          </a:p>
          <a:p>
            <a:pPr marL="285750" indent="-285750">
              <a:buFont typeface="Wingdings" panose="05000000000000000000" pitchFamily="2" charset="2"/>
              <a:buChar char="v"/>
            </a:pPr>
            <a:r>
              <a:rPr lang="en-US" dirty="0">
                <a:solidFill>
                  <a:schemeClr val="tx1"/>
                </a:solidFill>
              </a:rPr>
              <a:t>Validate 8000 query examples</a:t>
            </a:r>
          </a:p>
          <a:p>
            <a:pPr marL="285750" indent="-285750">
              <a:buFont typeface="Wingdings" panose="05000000000000000000" pitchFamily="2" charset="2"/>
              <a:buChar char="v"/>
            </a:pPr>
            <a:r>
              <a:rPr lang="en-US" dirty="0">
                <a:solidFill>
                  <a:schemeClr val="tx1"/>
                </a:solidFill>
              </a:rPr>
              <a:t>Create train / validation / test splits</a:t>
            </a:r>
          </a:p>
          <a:p>
            <a:pPr marL="285750" indent="-285750">
              <a:buFont typeface="Wingdings" panose="05000000000000000000" pitchFamily="2" charset="2"/>
              <a:buChar char="v"/>
            </a:pPr>
            <a:r>
              <a:rPr lang="en-US" dirty="0">
                <a:solidFill>
                  <a:schemeClr val="tx1"/>
                </a:solidFill>
              </a:rPr>
              <a:t>Perform duplicate and leakage checks </a:t>
            </a:r>
            <a:endParaRPr lang="en-IN" dirty="0">
              <a:solidFill>
                <a:schemeClr val="tx1"/>
              </a:solidFill>
            </a:endParaRPr>
          </a:p>
        </p:txBody>
      </p:sp>
      <p:sp>
        <p:nvSpPr>
          <p:cNvPr id="7" name="Rectangle: Rounded Corners 6">
            <a:extLst>
              <a:ext uri="{FF2B5EF4-FFF2-40B4-BE49-F238E27FC236}">
                <a16:creationId xmlns:a16="http://schemas.microsoft.com/office/drawing/2014/main" id="{61F9290F-CD50-9783-2B40-66A4D8D809A8}"/>
              </a:ext>
            </a:extLst>
          </p:cNvPr>
          <p:cNvSpPr/>
          <p:nvPr/>
        </p:nvSpPr>
        <p:spPr>
          <a:xfrm>
            <a:off x="6600056" y="3429000"/>
            <a:ext cx="3910880" cy="201622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RAG &amp; Application Integration </a:t>
            </a:r>
          </a:p>
          <a:p>
            <a:pPr algn="ctr"/>
            <a:endParaRPr lang="en-US" dirty="0">
              <a:solidFill>
                <a:schemeClr val="tx1"/>
              </a:solidFill>
            </a:endParaRPr>
          </a:p>
          <a:p>
            <a:pPr marL="285750" indent="-285750">
              <a:buFont typeface="Wingdings" panose="05000000000000000000" pitchFamily="2" charset="2"/>
              <a:buChar char="v"/>
            </a:pPr>
            <a:r>
              <a:rPr lang="en-US" dirty="0">
                <a:solidFill>
                  <a:schemeClr val="tx1"/>
                </a:solidFill>
              </a:rPr>
              <a:t>Process Indian legal score documents </a:t>
            </a:r>
          </a:p>
          <a:p>
            <a:pPr marL="285750" indent="-285750">
              <a:buFont typeface="Wingdings" panose="05000000000000000000" pitchFamily="2" charset="2"/>
              <a:buChar char="v"/>
            </a:pPr>
            <a:r>
              <a:rPr lang="en-US" dirty="0">
                <a:solidFill>
                  <a:schemeClr val="tx1"/>
                </a:solidFill>
              </a:rPr>
              <a:t>Chuck and index legal information </a:t>
            </a:r>
          </a:p>
          <a:p>
            <a:pPr marL="285750" indent="-285750">
              <a:buFont typeface="Wingdings" panose="05000000000000000000" pitchFamily="2" charset="2"/>
              <a:buChar char="v"/>
            </a:pPr>
            <a:r>
              <a:rPr lang="en-US" dirty="0">
                <a:solidFill>
                  <a:schemeClr val="tx1"/>
                </a:solidFill>
              </a:rPr>
              <a:t>Retrieve relevant legal content </a:t>
            </a:r>
          </a:p>
          <a:p>
            <a:pPr marL="285750" indent="-285750">
              <a:buFont typeface="Wingdings" panose="05000000000000000000" pitchFamily="2" charset="2"/>
              <a:buChar char="v"/>
            </a:pPr>
            <a:r>
              <a:rPr lang="en-US" dirty="0">
                <a:solidFill>
                  <a:schemeClr val="tx1"/>
                </a:solidFill>
              </a:rPr>
              <a:t>Connect classifier , RAG and application </a:t>
            </a:r>
          </a:p>
        </p:txBody>
      </p:sp>
      <p:sp>
        <p:nvSpPr>
          <p:cNvPr id="9" name="Rectangle: Rounded Corners 8">
            <a:extLst>
              <a:ext uri="{FF2B5EF4-FFF2-40B4-BE49-F238E27FC236}">
                <a16:creationId xmlns:a16="http://schemas.microsoft.com/office/drawing/2014/main" id="{7AEA9B27-2108-07CF-67CD-888E974C3C49}"/>
              </a:ext>
            </a:extLst>
          </p:cNvPr>
          <p:cNvSpPr/>
          <p:nvPr/>
        </p:nvSpPr>
        <p:spPr>
          <a:xfrm>
            <a:off x="1089854" y="3405673"/>
            <a:ext cx="3910880" cy="201622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 Evaluation &amp; Error Analysis </a:t>
            </a:r>
          </a:p>
          <a:p>
            <a:pPr algn="ctr"/>
            <a:endParaRPr lang="en-US" dirty="0">
              <a:solidFill>
                <a:schemeClr val="tx1"/>
              </a:solidFill>
            </a:endParaRPr>
          </a:p>
          <a:p>
            <a:pPr marL="285750" indent="-285750">
              <a:buFont typeface="Wingdings" panose="05000000000000000000" pitchFamily="2" charset="2"/>
              <a:buChar char="v"/>
            </a:pPr>
            <a:r>
              <a:rPr lang="en-US" dirty="0">
                <a:solidFill>
                  <a:schemeClr val="tx1"/>
                </a:solidFill>
              </a:rPr>
              <a:t>Accuracy , </a:t>
            </a:r>
            <a:r>
              <a:rPr lang="en-US" dirty="0" err="1">
                <a:solidFill>
                  <a:schemeClr val="tx1"/>
                </a:solidFill>
              </a:rPr>
              <a:t>Precison</a:t>
            </a:r>
            <a:r>
              <a:rPr lang="en-US" dirty="0">
                <a:solidFill>
                  <a:schemeClr val="tx1"/>
                </a:solidFill>
              </a:rPr>
              <a:t> and Recall</a:t>
            </a:r>
          </a:p>
          <a:p>
            <a:pPr marL="285750" indent="-285750">
              <a:buFont typeface="Wingdings" panose="05000000000000000000" pitchFamily="2" charset="2"/>
              <a:buChar char="v"/>
            </a:pPr>
            <a:r>
              <a:rPr lang="en-US" dirty="0">
                <a:solidFill>
                  <a:schemeClr val="tx1"/>
                </a:solidFill>
              </a:rPr>
              <a:t>Macro F1 score</a:t>
            </a:r>
          </a:p>
          <a:p>
            <a:pPr marL="285750" indent="-285750">
              <a:buFont typeface="Wingdings" panose="05000000000000000000" pitchFamily="2" charset="2"/>
              <a:buChar char="v"/>
            </a:pPr>
            <a:r>
              <a:rPr lang="en-US" dirty="0">
                <a:solidFill>
                  <a:schemeClr val="tx1"/>
                </a:solidFill>
              </a:rPr>
              <a:t>Confusion Matrix</a:t>
            </a:r>
          </a:p>
          <a:p>
            <a:pPr marL="285750" indent="-285750">
              <a:buFont typeface="Wingdings" panose="05000000000000000000" pitchFamily="2" charset="2"/>
              <a:buChar char="v"/>
            </a:pPr>
            <a:r>
              <a:rPr lang="en-US" dirty="0" err="1">
                <a:solidFill>
                  <a:schemeClr val="tx1"/>
                </a:solidFill>
              </a:rPr>
              <a:t>Analyse</a:t>
            </a:r>
            <a:r>
              <a:rPr lang="en-US" dirty="0">
                <a:solidFill>
                  <a:schemeClr val="tx1"/>
                </a:solidFill>
              </a:rPr>
              <a:t> incorrect validation predictions</a:t>
            </a:r>
            <a:endParaRPr lang="en-IN" dirty="0">
              <a:solidFill>
                <a:schemeClr val="tx1"/>
              </a:solidFill>
            </a:endParaRPr>
          </a:p>
        </p:txBody>
      </p:sp>
      <p:sp>
        <p:nvSpPr>
          <p:cNvPr id="11" name="Rectangle: Rounded Corners 10">
            <a:extLst>
              <a:ext uri="{FF2B5EF4-FFF2-40B4-BE49-F238E27FC236}">
                <a16:creationId xmlns:a16="http://schemas.microsoft.com/office/drawing/2014/main" id="{09E7CE7E-6463-1255-60A1-ED4446FA367D}"/>
              </a:ext>
            </a:extLst>
          </p:cNvPr>
          <p:cNvSpPr/>
          <p:nvPr/>
        </p:nvSpPr>
        <p:spPr>
          <a:xfrm>
            <a:off x="6600056" y="1151505"/>
            <a:ext cx="3842794" cy="201622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 Classification Models </a:t>
            </a:r>
          </a:p>
          <a:p>
            <a:pPr algn="ctr"/>
            <a:endParaRPr lang="en-US" dirty="0">
              <a:solidFill>
                <a:schemeClr val="tx1"/>
              </a:solidFill>
            </a:endParaRPr>
          </a:p>
          <a:p>
            <a:pPr marL="285750" indent="-285750">
              <a:buFont typeface="Wingdings" panose="05000000000000000000" pitchFamily="2" charset="2"/>
              <a:buChar char="v"/>
            </a:pPr>
            <a:r>
              <a:rPr lang="en-US" dirty="0">
                <a:solidFill>
                  <a:schemeClr val="tx1"/>
                </a:solidFill>
              </a:rPr>
              <a:t>TF – IDF + </a:t>
            </a:r>
            <a:r>
              <a:rPr lang="en-US" dirty="0" err="1">
                <a:solidFill>
                  <a:schemeClr val="tx1"/>
                </a:solidFill>
              </a:rPr>
              <a:t>LinearSVC</a:t>
            </a:r>
            <a:r>
              <a:rPr lang="en-US" dirty="0">
                <a:solidFill>
                  <a:schemeClr val="tx1"/>
                </a:solidFill>
              </a:rPr>
              <a:t> baseline</a:t>
            </a:r>
          </a:p>
          <a:p>
            <a:pPr marL="285750" indent="-285750">
              <a:buFont typeface="Wingdings" panose="05000000000000000000" pitchFamily="2" charset="2"/>
              <a:buChar char="v"/>
            </a:pPr>
            <a:r>
              <a:rPr lang="en-US" dirty="0" err="1">
                <a:solidFill>
                  <a:schemeClr val="tx1"/>
                </a:solidFill>
              </a:rPr>
              <a:t>DistilBERT</a:t>
            </a:r>
            <a:r>
              <a:rPr lang="en-US" dirty="0">
                <a:solidFill>
                  <a:schemeClr val="tx1"/>
                </a:solidFill>
              </a:rPr>
              <a:t> transformer model</a:t>
            </a:r>
          </a:p>
          <a:p>
            <a:pPr marL="285750" indent="-285750">
              <a:buFont typeface="Wingdings" panose="05000000000000000000" pitchFamily="2" charset="2"/>
              <a:buChar char="v"/>
            </a:pPr>
            <a:r>
              <a:rPr lang="en-US" dirty="0">
                <a:solidFill>
                  <a:schemeClr val="tx1"/>
                </a:solidFill>
              </a:rPr>
              <a:t>Train using the training dataset</a:t>
            </a:r>
          </a:p>
          <a:p>
            <a:pPr marL="285750" indent="-285750">
              <a:buFont typeface="Wingdings" panose="05000000000000000000" pitchFamily="2" charset="2"/>
              <a:buChar char="v"/>
            </a:pPr>
            <a:r>
              <a:rPr lang="en-US" dirty="0">
                <a:solidFill>
                  <a:schemeClr val="tx1"/>
                </a:solidFill>
              </a:rPr>
              <a:t>Select model using validation performance</a:t>
            </a:r>
            <a:endParaRPr lang="en-IN" dirty="0">
              <a:solidFill>
                <a:schemeClr val="tx1"/>
              </a:solidFill>
            </a:endParaRPr>
          </a:p>
        </p:txBody>
      </p:sp>
      <p:cxnSp>
        <p:nvCxnSpPr>
          <p:cNvPr id="14" name="Straight Arrow Connector 13">
            <a:extLst>
              <a:ext uri="{FF2B5EF4-FFF2-40B4-BE49-F238E27FC236}">
                <a16:creationId xmlns:a16="http://schemas.microsoft.com/office/drawing/2014/main" id="{DAA0F02B-28CC-8E0C-5CDF-B46C4830D85D}"/>
              </a:ext>
            </a:extLst>
          </p:cNvPr>
          <p:cNvCxnSpPr/>
          <p:nvPr/>
        </p:nvCxnSpPr>
        <p:spPr>
          <a:xfrm>
            <a:off x="3045294" y="5965846"/>
            <a:ext cx="360040"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0DD030EF-856F-EF1D-1D9E-4595C21C6769}"/>
              </a:ext>
            </a:extLst>
          </p:cNvPr>
          <p:cNvCxnSpPr/>
          <p:nvPr/>
        </p:nvCxnSpPr>
        <p:spPr>
          <a:xfrm>
            <a:off x="9048328" y="5960640"/>
            <a:ext cx="360040"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DA40CB19-B06F-CA80-2016-B17225BAEB19}"/>
              </a:ext>
            </a:extLst>
          </p:cNvPr>
          <p:cNvCxnSpPr/>
          <p:nvPr/>
        </p:nvCxnSpPr>
        <p:spPr>
          <a:xfrm>
            <a:off x="5180754" y="5965846"/>
            <a:ext cx="360040"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15EF605D-DC08-99F9-4702-1BBEBEEF0AD3}"/>
              </a:ext>
            </a:extLst>
          </p:cNvPr>
          <p:cNvCxnSpPr/>
          <p:nvPr/>
        </p:nvCxnSpPr>
        <p:spPr>
          <a:xfrm>
            <a:off x="6888088" y="5960640"/>
            <a:ext cx="360040" cy="0"/>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95457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6085"/>
            <a:ext cx="10515600" cy="1325563"/>
          </a:xfrm>
        </p:spPr>
        <p:txBody>
          <a:bodyPr>
            <a:normAutofit/>
          </a:bodyPr>
          <a:lstStyle/>
          <a:p>
            <a:pPr algn="ctr"/>
            <a:r>
              <a:rPr lang="en-IN" sz="3200" b="1" dirty="0">
                <a:solidFill>
                  <a:schemeClr val="tx1"/>
                </a:solidFill>
                <a:latin typeface="Times New Roman" pitchFamily="18" charset="0"/>
                <a:cs typeface="Times New Roman" pitchFamily="18" charset="0"/>
              </a:rPr>
              <a:t>Results</a:t>
            </a:r>
          </a:p>
        </p:txBody>
      </p:sp>
      <p:sp>
        <p:nvSpPr>
          <p:cNvPr id="3" name="Text Placeholder 2"/>
          <p:cNvSpPr>
            <a:spLocks noGrp="1"/>
          </p:cNvSpPr>
          <p:nvPr>
            <p:ph type="body" idx="1"/>
          </p:nvPr>
        </p:nvSpPr>
        <p:spPr>
          <a:xfrm>
            <a:off x="42257" y="980728"/>
            <a:ext cx="5689848" cy="5601707"/>
          </a:xfrm>
          <a:ln>
            <a:solidFill>
              <a:schemeClr val="bg1"/>
            </a:solidFill>
          </a:ln>
        </p:spPr>
        <p:txBody>
          <a:bodyPr wrap="square" lIns="101600" tIns="76200" rIns="101600" bIns="76200">
            <a:normAutofit lnSpcReduction="10000"/>
          </a:bodyPr>
          <a:lstStyle/>
          <a:p>
            <a:endParaRPr lang="en-IN" b="1" dirty="0"/>
          </a:p>
          <a:p>
            <a:pPr algn="just"/>
            <a:r>
              <a:rPr lang="en-IN" dirty="0">
                <a:latin typeface="Times New Roman" panose="02020603050405020304" pitchFamily="18" charset="0"/>
                <a:cs typeface="Times New Roman" panose="02020603050405020304" pitchFamily="18" charset="0"/>
              </a:rPr>
              <a:t>Classification Model Results</a:t>
            </a:r>
          </a:p>
          <a:p>
            <a:pPr lvl="0" algn="just"/>
            <a:r>
              <a:rPr lang="en-IN" dirty="0">
                <a:latin typeface="Times New Roman" panose="02020603050405020304" pitchFamily="18" charset="0"/>
                <a:cs typeface="Times New Roman" panose="02020603050405020304" pitchFamily="18" charset="0"/>
              </a:rPr>
              <a:t>Baseline TF-IDF + </a:t>
            </a:r>
            <a:r>
              <a:rPr lang="en-IN" dirty="0" err="1">
                <a:latin typeface="Times New Roman" panose="02020603050405020304" pitchFamily="18" charset="0"/>
                <a:cs typeface="Times New Roman" panose="02020603050405020304" pitchFamily="18" charset="0"/>
              </a:rPr>
              <a:t>LinearSVC</a:t>
            </a:r>
            <a:r>
              <a:rPr lang="en-IN" dirty="0">
                <a:latin typeface="Times New Roman" panose="02020603050405020304" pitchFamily="18" charset="0"/>
                <a:cs typeface="Times New Roman" panose="02020603050405020304" pitchFamily="18" charset="0"/>
              </a:rPr>
              <a:t> achieved 67.50% test accuracy.</a:t>
            </a:r>
          </a:p>
          <a:p>
            <a:pPr lvl="0" algn="just"/>
            <a:r>
              <a:rPr lang="en-IN" dirty="0" err="1">
                <a:latin typeface="Times New Roman" panose="02020603050405020304" pitchFamily="18" charset="0"/>
                <a:cs typeface="Times New Roman" panose="02020603050405020304" pitchFamily="18" charset="0"/>
              </a:rPr>
              <a:t>DistilBERT</a:t>
            </a:r>
            <a:r>
              <a:rPr lang="en-IN" dirty="0">
                <a:latin typeface="Times New Roman" panose="02020603050405020304" pitchFamily="18" charset="0"/>
                <a:cs typeface="Times New Roman" panose="02020603050405020304" pitchFamily="18" charset="0"/>
              </a:rPr>
              <a:t> achieved 75.63% test accuracy.</a:t>
            </a:r>
          </a:p>
          <a:p>
            <a:pPr lvl="0" algn="just"/>
            <a:r>
              <a:rPr lang="en-IN" dirty="0">
                <a:latin typeface="Times New Roman" panose="02020603050405020304" pitchFamily="18" charset="0"/>
                <a:cs typeface="Times New Roman" panose="02020603050405020304" pitchFamily="18" charset="0"/>
              </a:rPr>
              <a:t>Macro F1 improved from 61.11% to 69.20%.</a:t>
            </a:r>
          </a:p>
          <a:p>
            <a:pPr lvl="0" algn="just"/>
            <a:r>
              <a:rPr lang="en-IN" dirty="0" err="1">
                <a:latin typeface="Times New Roman" panose="02020603050405020304" pitchFamily="18" charset="0"/>
                <a:cs typeface="Times New Roman" panose="02020603050405020304" pitchFamily="18" charset="0"/>
              </a:rPr>
              <a:t>DistilBERT</a:t>
            </a:r>
            <a:r>
              <a:rPr lang="en-IN" dirty="0">
                <a:latin typeface="Times New Roman" panose="02020603050405020304" pitchFamily="18" charset="0"/>
                <a:cs typeface="Times New Roman" panose="02020603050405020304" pitchFamily="18" charset="0"/>
              </a:rPr>
              <a:t> improved test accuracy by 8.13 percentage points.</a:t>
            </a:r>
          </a:p>
          <a:p>
            <a:pPr lvl="0" algn="just"/>
            <a:r>
              <a:rPr lang="en-IN" dirty="0">
                <a:latin typeface="Times New Roman" panose="02020603050405020304" pitchFamily="18" charset="0"/>
                <a:cs typeface="Times New Roman" panose="02020603050405020304" pitchFamily="18" charset="0"/>
              </a:rPr>
              <a:t>Final evaluation was performed on 800 sealed test examples.</a:t>
            </a:r>
          </a:p>
          <a:p>
            <a:pPr marL="114300" indent="0">
              <a:spcAft>
                <a:spcPts val="900"/>
              </a:spcAft>
              <a:buNone/>
              <a:defRPr sz="1700">
                <a:solidFill>
                  <a:srgbClr val="202A33"/>
                </a:solidFill>
                <a:latin typeface="Times New Roman"/>
              </a:defRPr>
            </a:pPr>
            <a:endParaRPr dirty="0"/>
          </a:p>
        </p:txBody>
      </p:sp>
      <p:pic>
        <p:nvPicPr>
          <p:cNvPr id="5" name="Google Shape;86;p1" title="vels knowledge.jpg">
            <a:extLst>
              <a:ext uri="{FF2B5EF4-FFF2-40B4-BE49-F238E27FC236}">
                <a16:creationId xmlns:a16="http://schemas.microsoft.com/office/drawing/2014/main" id="{E095C235-91F8-1065-F4EE-DBF41D099E5B}"/>
              </a:ext>
            </a:extLst>
          </p:cNvPr>
          <p:cNvPicPr preferRelativeResize="0"/>
          <p:nvPr/>
        </p:nvPicPr>
        <p:blipFill>
          <a:blip r:embed="rId2">
            <a:alphaModFix/>
          </a:blip>
          <a:stretch>
            <a:fillRect/>
          </a:stretch>
        </p:blipFill>
        <p:spPr>
          <a:xfrm>
            <a:off x="11293767" y="6022242"/>
            <a:ext cx="908714" cy="801208"/>
          </a:xfrm>
          <a:prstGeom prst="rect">
            <a:avLst/>
          </a:prstGeom>
          <a:noFill/>
          <a:ln>
            <a:noFill/>
          </a:ln>
        </p:spPr>
      </p:pic>
      <p:pic>
        <p:nvPicPr>
          <p:cNvPr id="6" name="Picture 5">
            <a:extLst>
              <a:ext uri="{FF2B5EF4-FFF2-40B4-BE49-F238E27FC236}">
                <a16:creationId xmlns:a16="http://schemas.microsoft.com/office/drawing/2014/main" id="{A54999A4-239F-2EBB-591A-2F903A48CC0E}"/>
              </a:ext>
            </a:extLst>
          </p:cNvPr>
          <p:cNvPicPr>
            <a:picLocks noChangeAspect="1"/>
          </p:cNvPicPr>
          <p:nvPr/>
        </p:nvPicPr>
        <p:blipFill>
          <a:blip r:embed="rId3"/>
          <a:srcRect t="5405" r="2082" b="5920"/>
          <a:stretch>
            <a:fillRect/>
          </a:stretch>
        </p:blipFill>
        <p:spPr>
          <a:xfrm>
            <a:off x="6110808" y="1331648"/>
            <a:ext cx="5768143" cy="4725144"/>
          </a:xfrm>
          <a:prstGeom prst="rect">
            <a:avLst/>
          </a:prstGeom>
        </p:spPr>
      </p:pic>
    </p:spTree>
    <p:extLst>
      <p:ext uri="{BB962C8B-B14F-4D97-AF65-F5344CB8AC3E}">
        <p14:creationId xmlns:p14="http://schemas.microsoft.com/office/powerpoint/2010/main" val="3979234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18CB5-BC23-D374-10C0-1494086529C4}"/>
              </a:ext>
            </a:extLst>
          </p:cNvPr>
          <p:cNvSpPr>
            <a:spLocks noGrp="1"/>
          </p:cNvSpPr>
          <p:nvPr>
            <p:ph type="title"/>
          </p:nvPr>
        </p:nvSpPr>
        <p:spPr>
          <a:xfrm>
            <a:off x="838200" y="163753"/>
            <a:ext cx="10515600" cy="1325563"/>
          </a:xfrm>
        </p:spPr>
        <p:txBody>
          <a:bodyPr/>
          <a:lstStyle/>
          <a:p>
            <a:pPr algn="ctr"/>
            <a:r>
              <a:rPr lang="en-US" dirty="0">
                <a:latin typeface="Times New Roman" panose="02020603050405020304" pitchFamily="18" charset="0"/>
                <a:cs typeface="Times New Roman" panose="02020603050405020304" pitchFamily="18" charset="0"/>
              </a:rPr>
              <a:t>Future Enhancements</a:t>
            </a:r>
            <a:endParaRPr lang="en-IN" dirty="0">
              <a:latin typeface="Times New Roman" panose="02020603050405020304" pitchFamily="18" charset="0"/>
              <a:cs typeface="Times New Roman" panose="02020603050405020304" pitchFamily="18" charset="0"/>
            </a:endParaRPr>
          </a:p>
        </p:txBody>
      </p:sp>
      <p:pic>
        <p:nvPicPr>
          <p:cNvPr id="5" name="Google Shape;86;p1" title="vels knowledge.jpg">
            <a:extLst>
              <a:ext uri="{FF2B5EF4-FFF2-40B4-BE49-F238E27FC236}">
                <a16:creationId xmlns:a16="http://schemas.microsoft.com/office/drawing/2014/main" id="{552EDDF6-E697-D389-2123-A51506BEB501}"/>
              </a:ext>
            </a:extLst>
          </p:cNvPr>
          <p:cNvPicPr preferRelativeResize="0"/>
          <p:nvPr/>
        </p:nvPicPr>
        <p:blipFill>
          <a:blip r:embed="rId2">
            <a:alphaModFix/>
          </a:blip>
          <a:stretch>
            <a:fillRect/>
          </a:stretch>
        </p:blipFill>
        <p:spPr>
          <a:xfrm>
            <a:off x="11169308" y="5841375"/>
            <a:ext cx="1016625" cy="1016625"/>
          </a:xfrm>
          <a:prstGeom prst="rect">
            <a:avLst/>
          </a:prstGeom>
          <a:noFill/>
          <a:ln>
            <a:noFill/>
          </a:ln>
        </p:spPr>
      </p:pic>
      <p:sp>
        <p:nvSpPr>
          <p:cNvPr id="4" name="Rectangle: Rounded Corners 3">
            <a:extLst>
              <a:ext uri="{FF2B5EF4-FFF2-40B4-BE49-F238E27FC236}">
                <a16:creationId xmlns:a16="http://schemas.microsoft.com/office/drawing/2014/main" id="{D64242BB-2821-0B9C-86F3-64D099512F90}"/>
              </a:ext>
            </a:extLst>
          </p:cNvPr>
          <p:cNvSpPr/>
          <p:nvPr/>
        </p:nvSpPr>
        <p:spPr>
          <a:xfrm>
            <a:off x="1055440" y="1489316"/>
            <a:ext cx="4010194" cy="1596743"/>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1.Model Optimization </a:t>
            </a:r>
          </a:p>
          <a:p>
            <a:pPr algn="ctr"/>
            <a:endParaRPr lang="en-US" dirty="0">
              <a:solidFill>
                <a:schemeClr val="tx1"/>
              </a:solidFill>
            </a:endParaRPr>
          </a:p>
          <a:p>
            <a:pPr marL="285750" indent="-285750">
              <a:buFont typeface="Wingdings" panose="05000000000000000000" pitchFamily="2" charset="2"/>
              <a:buChar char="v"/>
            </a:pPr>
            <a:r>
              <a:rPr lang="en-US" dirty="0">
                <a:solidFill>
                  <a:schemeClr val="tx1"/>
                </a:solidFill>
              </a:rPr>
              <a:t>Improve the classification  Performance </a:t>
            </a:r>
          </a:p>
          <a:p>
            <a:pPr marL="285750" indent="-285750">
              <a:buFont typeface="Wingdings" panose="05000000000000000000" pitchFamily="2" charset="2"/>
              <a:buChar char="v"/>
            </a:pPr>
            <a:r>
              <a:rPr lang="en-US" dirty="0">
                <a:solidFill>
                  <a:schemeClr val="tx1"/>
                </a:solidFill>
              </a:rPr>
              <a:t>Refining Confusing Legal Intents</a:t>
            </a:r>
          </a:p>
          <a:p>
            <a:pPr marL="285750" indent="-285750">
              <a:buFont typeface="Wingdings" panose="05000000000000000000" pitchFamily="2" charset="2"/>
              <a:buChar char="v"/>
            </a:pPr>
            <a:r>
              <a:rPr lang="en-US" dirty="0">
                <a:solidFill>
                  <a:schemeClr val="tx1"/>
                </a:solidFill>
              </a:rPr>
              <a:t>Improve the training data quality </a:t>
            </a:r>
            <a:endParaRPr lang="en-IN" dirty="0">
              <a:solidFill>
                <a:schemeClr val="tx1"/>
              </a:solidFill>
            </a:endParaRPr>
          </a:p>
        </p:txBody>
      </p:sp>
      <p:sp>
        <p:nvSpPr>
          <p:cNvPr id="7" name="Rectangle: Rounded Corners 6">
            <a:extLst>
              <a:ext uri="{FF2B5EF4-FFF2-40B4-BE49-F238E27FC236}">
                <a16:creationId xmlns:a16="http://schemas.microsoft.com/office/drawing/2014/main" id="{E0AD6EFB-22DC-EDBA-DF92-D382E4C16CD4}"/>
              </a:ext>
            </a:extLst>
          </p:cNvPr>
          <p:cNvSpPr/>
          <p:nvPr/>
        </p:nvSpPr>
        <p:spPr>
          <a:xfrm>
            <a:off x="6744072" y="1484784"/>
            <a:ext cx="4010194" cy="160580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 Advanced Legal RAG</a:t>
            </a:r>
          </a:p>
          <a:p>
            <a:pPr algn="ctr"/>
            <a:endParaRPr lang="en-US" dirty="0">
              <a:solidFill>
                <a:schemeClr val="tx1"/>
              </a:solidFill>
            </a:endParaRPr>
          </a:p>
          <a:p>
            <a:pPr marL="285750" indent="-285750">
              <a:buFont typeface="Wingdings" panose="05000000000000000000" pitchFamily="2" charset="2"/>
              <a:buChar char="v"/>
            </a:pPr>
            <a:r>
              <a:rPr lang="en-US" dirty="0">
                <a:solidFill>
                  <a:schemeClr val="tx1"/>
                </a:solidFill>
              </a:rPr>
              <a:t>Expand the Indian Legal Knowledge base</a:t>
            </a:r>
          </a:p>
          <a:p>
            <a:pPr marL="285750" indent="-285750">
              <a:buFont typeface="Wingdings" panose="05000000000000000000" pitchFamily="2" charset="2"/>
              <a:buChar char="v"/>
            </a:pPr>
            <a:r>
              <a:rPr lang="en-US" dirty="0">
                <a:solidFill>
                  <a:schemeClr val="tx1"/>
                </a:solidFill>
              </a:rPr>
              <a:t>Add more acts , sections and Judgements</a:t>
            </a:r>
          </a:p>
          <a:p>
            <a:pPr marL="285750" indent="-285750">
              <a:buFont typeface="Wingdings" panose="05000000000000000000" pitchFamily="2" charset="2"/>
              <a:buChar char="v"/>
            </a:pPr>
            <a:r>
              <a:rPr lang="en-US" dirty="0">
                <a:solidFill>
                  <a:schemeClr val="tx1"/>
                </a:solidFill>
              </a:rPr>
              <a:t>Improve the retrieval Relevance </a:t>
            </a:r>
          </a:p>
          <a:p>
            <a:pPr algn="ctr"/>
            <a:endParaRPr lang="en-IN" dirty="0">
              <a:solidFill>
                <a:schemeClr val="tx1"/>
              </a:solidFill>
            </a:endParaRPr>
          </a:p>
        </p:txBody>
      </p:sp>
      <p:sp>
        <p:nvSpPr>
          <p:cNvPr id="9" name="Rectangle: Rounded Corners 8">
            <a:extLst>
              <a:ext uri="{FF2B5EF4-FFF2-40B4-BE49-F238E27FC236}">
                <a16:creationId xmlns:a16="http://schemas.microsoft.com/office/drawing/2014/main" id="{9DB548FA-8A0D-A5A1-85FB-7FC90916BA2E}"/>
              </a:ext>
            </a:extLst>
          </p:cNvPr>
          <p:cNvSpPr/>
          <p:nvPr/>
        </p:nvSpPr>
        <p:spPr>
          <a:xfrm>
            <a:off x="1055440" y="3292432"/>
            <a:ext cx="4010194" cy="1596743"/>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 Multilingual Support</a:t>
            </a:r>
          </a:p>
          <a:p>
            <a:pPr algn="ctr"/>
            <a:endParaRPr lang="en-US" dirty="0">
              <a:solidFill>
                <a:schemeClr val="tx1"/>
              </a:solidFill>
            </a:endParaRPr>
          </a:p>
          <a:p>
            <a:pPr marL="285750" indent="-285750">
              <a:buFont typeface="Wingdings" panose="05000000000000000000" pitchFamily="2" charset="2"/>
              <a:buChar char="v"/>
            </a:pPr>
            <a:r>
              <a:rPr lang="en-US" dirty="0">
                <a:solidFill>
                  <a:schemeClr val="tx1"/>
                </a:solidFill>
              </a:rPr>
              <a:t>Tamil Language Support </a:t>
            </a:r>
          </a:p>
          <a:p>
            <a:pPr marL="285750" indent="-285750">
              <a:buFont typeface="Wingdings" panose="05000000000000000000" pitchFamily="2" charset="2"/>
              <a:buChar char="v"/>
            </a:pPr>
            <a:r>
              <a:rPr lang="en-US" dirty="0">
                <a:solidFill>
                  <a:schemeClr val="tx1"/>
                </a:solidFill>
              </a:rPr>
              <a:t>Support More India languages </a:t>
            </a:r>
          </a:p>
          <a:p>
            <a:pPr marL="285750" indent="-285750">
              <a:buFont typeface="Wingdings" panose="05000000000000000000" pitchFamily="2" charset="2"/>
              <a:buChar char="v"/>
            </a:pPr>
            <a:r>
              <a:rPr lang="en-US" dirty="0">
                <a:solidFill>
                  <a:schemeClr val="tx1"/>
                </a:solidFill>
              </a:rPr>
              <a:t>Improve the accessibility for the user </a:t>
            </a:r>
            <a:endParaRPr lang="en-IN" dirty="0">
              <a:solidFill>
                <a:schemeClr val="tx1"/>
              </a:solidFill>
            </a:endParaRPr>
          </a:p>
        </p:txBody>
      </p:sp>
      <p:sp>
        <p:nvSpPr>
          <p:cNvPr id="11" name="Rectangle: Rounded Corners 10">
            <a:extLst>
              <a:ext uri="{FF2B5EF4-FFF2-40B4-BE49-F238E27FC236}">
                <a16:creationId xmlns:a16="http://schemas.microsoft.com/office/drawing/2014/main" id="{924665AB-2DA7-3B5F-1AD0-F3712EB66C49}"/>
              </a:ext>
            </a:extLst>
          </p:cNvPr>
          <p:cNvSpPr/>
          <p:nvPr/>
        </p:nvSpPr>
        <p:spPr>
          <a:xfrm>
            <a:off x="6771456" y="3292432"/>
            <a:ext cx="3982810" cy="1585046"/>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Legal Document Analysis</a:t>
            </a:r>
          </a:p>
          <a:p>
            <a:pPr algn="ctr"/>
            <a:endParaRPr lang="en-US" dirty="0">
              <a:solidFill>
                <a:schemeClr val="tx1"/>
              </a:solidFill>
            </a:endParaRPr>
          </a:p>
          <a:p>
            <a:pPr marL="285750" indent="-285750">
              <a:buFont typeface="Wingdings" panose="05000000000000000000" pitchFamily="2" charset="2"/>
              <a:buChar char="v"/>
            </a:pPr>
            <a:r>
              <a:rPr lang="en-IN" dirty="0">
                <a:solidFill>
                  <a:schemeClr val="tx1"/>
                </a:solidFill>
              </a:rPr>
              <a:t>Upload FIR’s , Notices and agreements</a:t>
            </a:r>
          </a:p>
          <a:p>
            <a:pPr marL="285750" indent="-285750">
              <a:buFont typeface="Wingdings" panose="05000000000000000000" pitchFamily="2" charset="2"/>
              <a:buChar char="v"/>
            </a:pPr>
            <a:r>
              <a:rPr lang="en-IN" dirty="0">
                <a:solidFill>
                  <a:schemeClr val="tx1"/>
                </a:solidFill>
              </a:rPr>
              <a:t>Extract relevant information</a:t>
            </a:r>
          </a:p>
          <a:p>
            <a:pPr marL="285750" indent="-285750">
              <a:buFont typeface="Wingdings" panose="05000000000000000000" pitchFamily="2" charset="2"/>
              <a:buChar char="v"/>
            </a:pPr>
            <a:r>
              <a:rPr lang="en-IN" dirty="0">
                <a:solidFill>
                  <a:schemeClr val="tx1"/>
                </a:solidFill>
              </a:rPr>
              <a:t>Provide structured documents insights</a:t>
            </a:r>
          </a:p>
          <a:p>
            <a:pPr algn="ctr"/>
            <a:endParaRPr lang="en-IN" dirty="0">
              <a:solidFill>
                <a:schemeClr val="tx1"/>
              </a:solidFill>
            </a:endParaRPr>
          </a:p>
        </p:txBody>
      </p:sp>
      <p:sp>
        <p:nvSpPr>
          <p:cNvPr id="13" name="Rectangle: Rounded Corners 12">
            <a:extLst>
              <a:ext uri="{FF2B5EF4-FFF2-40B4-BE49-F238E27FC236}">
                <a16:creationId xmlns:a16="http://schemas.microsoft.com/office/drawing/2014/main" id="{2CB37142-0E5B-6B72-D90A-A193B92261BD}"/>
              </a:ext>
            </a:extLst>
          </p:cNvPr>
          <p:cNvSpPr/>
          <p:nvPr/>
        </p:nvSpPr>
        <p:spPr>
          <a:xfrm>
            <a:off x="1055440" y="5166970"/>
            <a:ext cx="4010194" cy="1016625"/>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 Complaint / Application Drafting</a:t>
            </a:r>
            <a:endParaRPr lang="en-IN" dirty="0">
              <a:solidFill>
                <a:schemeClr val="tx1"/>
              </a:solidFill>
            </a:endParaRPr>
          </a:p>
        </p:txBody>
      </p:sp>
      <p:sp>
        <p:nvSpPr>
          <p:cNvPr id="15" name="Rectangle: Rounded Corners 14">
            <a:extLst>
              <a:ext uri="{FF2B5EF4-FFF2-40B4-BE49-F238E27FC236}">
                <a16:creationId xmlns:a16="http://schemas.microsoft.com/office/drawing/2014/main" id="{6BD48992-FDCC-2F18-0C5B-457D38BF008D}"/>
              </a:ext>
            </a:extLst>
          </p:cNvPr>
          <p:cNvSpPr/>
          <p:nvPr/>
        </p:nvSpPr>
        <p:spPr>
          <a:xfrm>
            <a:off x="6771456" y="5166970"/>
            <a:ext cx="3982810" cy="1016625"/>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 Complete Flutter + </a:t>
            </a:r>
            <a:r>
              <a:rPr lang="en-US" dirty="0" err="1">
                <a:solidFill>
                  <a:schemeClr val="tx1"/>
                </a:solidFill>
              </a:rPr>
              <a:t>FastAPI</a:t>
            </a:r>
            <a:r>
              <a:rPr lang="en-US" dirty="0">
                <a:solidFill>
                  <a:schemeClr val="tx1"/>
                </a:solidFill>
              </a:rPr>
              <a:t> Android App</a:t>
            </a:r>
            <a:endParaRPr lang="en-IN" dirty="0">
              <a:solidFill>
                <a:schemeClr val="tx1"/>
              </a:solidFill>
            </a:endParaRPr>
          </a:p>
        </p:txBody>
      </p:sp>
    </p:spTree>
    <p:extLst>
      <p:ext uri="{BB962C8B-B14F-4D97-AF65-F5344CB8AC3E}">
        <p14:creationId xmlns:p14="http://schemas.microsoft.com/office/powerpoint/2010/main" val="89318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C9733-20E7-0FB3-26F4-93EA26005F17}"/>
              </a:ext>
            </a:extLst>
          </p:cNvPr>
          <p:cNvSpPr>
            <a:spLocks noGrp="1"/>
          </p:cNvSpPr>
          <p:nvPr>
            <p:ph type="title"/>
          </p:nvPr>
        </p:nvSpPr>
        <p:spPr>
          <a:xfrm>
            <a:off x="623392" y="116632"/>
            <a:ext cx="10515600" cy="831627"/>
          </a:xfrm>
        </p:spPr>
        <p:txBody>
          <a:bodyPr>
            <a:noAutofit/>
          </a:bodyPr>
          <a:lstStyle/>
          <a:p>
            <a:pPr algn="ctr"/>
            <a:br>
              <a:rPr lang="en-IN" sz="4000" dirty="0">
                <a:latin typeface="Times New Roman" panose="02020603050405020304" pitchFamily="18" charset="0"/>
                <a:cs typeface="Times New Roman" panose="02020603050405020304" pitchFamily="18" charset="0"/>
              </a:rPr>
            </a:br>
            <a:r>
              <a:rPr lang="en-IN" sz="4000" dirty="0">
                <a:latin typeface="Times New Roman" panose="02020603050405020304" pitchFamily="18" charset="0"/>
                <a:cs typeface="Times New Roman" panose="02020603050405020304" pitchFamily="18" charset="0"/>
              </a:rPr>
              <a:t>Conclusion</a:t>
            </a:r>
            <a:br>
              <a:rPr lang="en-IN" sz="4000" dirty="0"/>
            </a:br>
            <a:endParaRPr lang="en-IN" sz="4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D26BC47-BDF2-DB78-9E31-93B4B2EB311D}"/>
              </a:ext>
            </a:extLst>
          </p:cNvPr>
          <p:cNvSpPr>
            <a:spLocks noGrp="1"/>
          </p:cNvSpPr>
          <p:nvPr>
            <p:ph type="body" idx="1"/>
          </p:nvPr>
        </p:nvSpPr>
        <p:spPr>
          <a:xfrm>
            <a:off x="623392" y="1260088"/>
            <a:ext cx="10730408" cy="4916875"/>
          </a:xfrm>
        </p:spPr>
        <p:txBody>
          <a:bodyPr>
            <a:normAutofit/>
          </a:bodyPr>
          <a:lstStyle/>
          <a:p>
            <a:pPr lvl="0"/>
            <a:r>
              <a:rPr lang="en-IN" sz="2000" dirty="0"/>
              <a:t>Legal Mate AI provides a structured approach for assisting users with Indian legal information.</a:t>
            </a:r>
          </a:p>
          <a:p>
            <a:pPr lvl="0"/>
            <a:r>
              <a:rPr lang="en-IN" sz="2000" dirty="0"/>
              <a:t>A 16-category, 160-intent classification system has been designed.</a:t>
            </a:r>
          </a:p>
          <a:p>
            <a:pPr lvl="0"/>
            <a:r>
              <a:rPr lang="en-IN" sz="2000" dirty="0"/>
              <a:t>An 8,000-example legal query dataset has been prepared with separate training, validation and test sets.</a:t>
            </a:r>
          </a:p>
          <a:p>
            <a:pPr lvl="0"/>
            <a:r>
              <a:rPr lang="en-IN" sz="2000" dirty="0"/>
              <a:t>TF-IDF + </a:t>
            </a:r>
            <a:r>
              <a:rPr lang="en-IN" sz="2000" dirty="0" err="1"/>
              <a:t>LinearSVC</a:t>
            </a:r>
            <a:r>
              <a:rPr lang="en-IN" sz="2000" dirty="0"/>
              <a:t> was developed as the baseline and </a:t>
            </a:r>
            <a:r>
              <a:rPr lang="en-IN" sz="2000" dirty="0" err="1"/>
              <a:t>DistilBERT</a:t>
            </a:r>
            <a:r>
              <a:rPr lang="en-IN" sz="2000" dirty="0"/>
              <a:t> as the main classification model.</a:t>
            </a:r>
          </a:p>
          <a:p>
            <a:pPr lvl="0"/>
            <a:r>
              <a:rPr lang="en-IN" sz="2000" dirty="0"/>
              <a:t>A RAG-based legal knowledge base is being developed to provide relevant, source-based legal information.</a:t>
            </a:r>
          </a:p>
          <a:p>
            <a:pPr lvl="0"/>
            <a:r>
              <a:rPr lang="en-IN" sz="2000" dirty="0"/>
              <a:t>The system is being extended toward </a:t>
            </a:r>
            <a:r>
              <a:rPr lang="en-IN" sz="2000" dirty="0" err="1"/>
              <a:t>FastAPI</a:t>
            </a:r>
            <a:r>
              <a:rPr lang="en-IN" sz="2000" dirty="0"/>
              <a:t> backend and Flutter application integration.</a:t>
            </a:r>
          </a:p>
          <a:p>
            <a:pPr marL="114300" indent="0">
              <a:buNone/>
            </a:pPr>
            <a:endParaRPr lang="en-IN" sz="2000" dirty="0"/>
          </a:p>
        </p:txBody>
      </p:sp>
      <p:pic>
        <p:nvPicPr>
          <p:cNvPr id="5" name="Google Shape;86;p1" title="vels knowledge.jpg">
            <a:extLst>
              <a:ext uri="{FF2B5EF4-FFF2-40B4-BE49-F238E27FC236}">
                <a16:creationId xmlns:a16="http://schemas.microsoft.com/office/drawing/2014/main" id="{BE98AFF8-C952-C580-BCAB-F3820E75E806}"/>
              </a:ext>
            </a:extLst>
          </p:cNvPr>
          <p:cNvPicPr preferRelativeResize="0"/>
          <p:nvPr/>
        </p:nvPicPr>
        <p:blipFill>
          <a:blip r:embed="rId2">
            <a:alphaModFix/>
          </a:blip>
          <a:stretch>
            <a:fillRect/>
          </a:stretch>
        </p:blipFill>
        <p:spPr>
          <a:xfrm>
            <a:off x="11169308" y="5841375"/>
            <a:ext cx="1016625" cy="1016625"/>
          </a:xfrm>
          <a:prstGeom prst="rect">
            <a:avLst/>
          </a:prstGeom>
          <a:noFill/>
          <a:ln>
            <a:noFill/>
          </a:ln>
        </p:spPr>
      </p:pic>
    </p:spTree>
    <p:extLst>
      <p:ext uri="{BB962C8B-B14F-4D97-AF65-F5344CB8AC3E}">
        <p14:creationId xmlns:p14="http://schemas.microsoft.com/office/powerpoint/2010/main" val="205894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C2046-0A4F-C074-47FB-13D05581AA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8932F-97D3-1DDF-334E-25D5EA1D041D}"/>
              </a:ext>
            </a:extLst>
          </p:cNvPr>
          <p:cNvSpPr>
            <a:spLocks noGrp="1"/>
          </p:cNvSpPr>
          <p:nvPr>
            <p:ph type="title"/>
          </p:nvPr>
        </p:nvSpPr>
        <p:spPr>
          <a:xfrm>
            <a:off x="623392" y="116632"/>
            <a:ext cx="10515600" cy="831627"/>
          </a:xfrm>
        </p:spPr>
        <p:txBody>
          <a:bodyPr>
            <a:noAutofit/>
          </a:bodyPr>
          <a:lstStyle/>
          <a:p>
            <a:pPr algn="ctr"/>
            <a:br>
              <a:rPr lang="en-IN" sz="4000" dirty="0">
                <a:latin typeface="Times New Roman" panose="02020603050405020304" pitchFamily="18" charset="0"/>
                <a:cs typeface="Times New Roman" panose="02020603050405020304" pitchFamily="18" charset="0"/>
              </a:rPr>
            </a:br>
            <a:r>
              <a:rPr lang="en-IN" sz="4000" dirty="0">
                <a:latin typeface="Times New Roman" panose="02020603050405020304" pitchFamily="18" charset="0"/>
                <a:cs typeface="Times New Roman" panose="02020603050405020304" pitchFamily="18" charset="0"/>
              </a:rPr>
              <a:t>Output</a:t>
            </a:r>
            <a:br>
              <a:rPr lang="en-IN" sz="4000" dirty="0"/>
            </a:br>
            <a:endParaRPr lang="en-IN" sz="4000" b="1" dirty="0">
              <a:latin typeface="Times New Roman" panose="02020603050405020304" pitchFamily="18" charset="0"/>
              <a:cs typeface="Times New Roman" panose="02020603050405020304" pitchFamily="18" charset="0"/>
            </a:endParaRPr>
          </a:p>
        </p:txBody>
      </p:sp>
      <p:pic>
        <p:nvPicPr>
          <p:cNvPr id="5" name="Google Shape;86;p1" title="vels knowledge.jpg">
            <a:extLst>
              <a:ext uri="{FF2B5EF4-FFF2-40B4-BE49-F238E27FC236}">
                <a16:creationId xmlns:a16="http://schemas.microsoft.com/office/drawing/2014/main" id="{F0695487-5C09-3714-E27D-2BEA64A075B5}"/>
              </a:ext>
            </a:extLst>
          </p:cNvPr>
          <p:cNvPicPr preferRelativeResize="0"/>
          <p:nvPr/>
        </p:nvPicPr>
        <p:blipFill>
          <a:blip r:embed="rId2">
            <a:alphaModFix/>
          </a:blip>
          <a:stretch>
            <a:fillRect/>
          </a:stretch>
        </p:blipFill>
        <p:spPr>
          <a:xfrm>
            <a:off x="11169308" y="5841375"/>
            <a:ext cx="1016625" cy="1016625"/>
          </a:xfrm>
          <a:prstGeom prst="rect">
            <a:avLst/>
          </a:prstGeom>
          <a:noFill/>
          <a:ln>
            <a:noFill/>
          </a:ln>
        </p:spPr>
      </p:pic>
      <p:pic>
        <p:nvPicPr>
          <p:cNvPr id="12" name="Picture 11" descr="3">
            <a:extLst>
              <a:ext uri="{FF2B5EF4-FFF2-40B4-BE49-F238E27FC236}">
                <a16:creationId xmlns:a16="http://schemas.microsoft.com/office/drawing/2014/main" id="{3938FAF1-E600-775D-5AFC-639C633EE59B}"/>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1126232" y="927005"/>
            <a:ext cx="4825752" cy="2544495"/>
          </a:xfrm>
          <a:prstGeom prst="rect">
            <a:avLst/>
          </a:prstGeom>
        </p:spPr>
      </p:pic>
      <p:pic>
        <p:nvPicPr>
          <p:cNvPr id="14" name="Picture 13" descr="2">
            <a:extLst>
              <a:ext uri="{FF2B5EF4-FFF2-40B4-BE49-F238E27FC236}">
                <a16:creationId xmlns:a16="http://schemas.microsoft.com/office/drawing/2014/main" id="{D52327E8-C023-994D-4FC4-EB365B1E9138}"/>
              </a:ext>
            </a:extLst>
          </p:cNvPr>
          <p:cNvPicPr>
            <a:picLocks noGrp="1" noChangeAspect="1"/>
          </p:cNvPicPr>
          <p:nvPr isPhoto="1"/>
        </p:nvPicPr>
        <p:blipFill>
          <a:blip r:embed="rId4">
            <a:lum/>
            <a:extLst>
              <a:ext uri="{28A0092B-C50C-407E-A947-70E740481C1C}">
                <a14:useLocalDpi xmlns:a14="http://schemas.microsoft.com/office/drawing/2010/main" val="0"/>
              </a:ext>
            </a:extLst>
          </a:blip>
          <a:stretch>
            <a:fillRect/>
          </a:stretch>
        </p:blipFill>
        <p:spPr>
          <a:xfrm>
            <a:off x="6096000" y="927854"/>
            <a:ext cx="4682952" cy="2522392"/>
          </a:xfrm>
          <a:prstGeom prst="rect">
            <a:avLst/>
          </a:prstGeom>
        </p:spPr>
      </p:pic>
      <p:pic>
        <p:nvPicPr>
          <p:cNvPr id="16" name="Picture 15" descr="1">
            <a:extLst>
              <a:ext uri="{FF2B5EF4-FFF2-40B4-BE49-F238E27FC236}">
                <a16:creationId xmlns:a16="http://schemas.microsoft.com/office/drawing/2014/main" id="{7DB501E7-77D5-1912-0319-EB5C515E1C93}"/>
              </a:ext>
            </a:extLst>
          </p:cNvPr>
          <p:cNvPicPr>
            <a:picLocks noGrp="1" noChangeAspect="1"/>
          </p:cNvPicPr>
          <p:nvPr isPhoto="1"/>
        </p:nvPicPr>
        <p:blipFill>
          <a:blip r:embed="rId5">
            <a:lum/>
            <a:extLst>
              <a:ext uri="{28A0092B-C50C-407E-A947-70E740481C1C}">
                <a14:useLocalDpi xmlns:a14="http://schemas.microsoft.com/office/drawing/2010/main" val="0"/>
              </a:ext>
            </a:extLst>
          </a:blip>
          <a:stretch>
            <a:fillRect/>
          </a:stretch>
        </p:blipFill>
        <p:spPr>
          <a:xfrm>
            <a:off x="1126232" y="3611657"/>
            <a:ext cx="4825752" cy="2522392"/>
          </a:xfrm>
          <a:prstGeom prst="rect">
            <a:avLst/>
          </a:prstGeom>
        </p:spPr>
      </p:pic>
      <p:pic>
        <p:nvPicPr>
          <p:cNvPr id="18" name="Picture 17" descr="6">
            <a:extLst>
              <a:ext uri="{FF2B5EF4-FFF2-40B4-BE49-F238E27FC236}">
                <a16:creationId xmlns:a16="http://schemas.microsoft.com/office/drawing/2014/main" id="{5824C5E8-2EF5-44D7-4518-D687656BE100}"/>
              </a:ext>
            </a:extLst>
          </p:cNvPr>
          <p:cNvPicPr>
            <a:picLocks noGrp="1" noChangeAspect="1"/>
          </p:cNvPicPr>
          <p:nvPr isPhoto="1"/>
        </p:nvPicPr>
        <p:blipFill>
          <a:blip r:embed="rId6">
            <a:lum/>
            <a:extLst>
              <a:ext uri="{28A0092B-C50C-407E-A947-70E740481C1C}">
                <a14:useLocalDpi xmlns:a14="http://schemas.microsoft.com/office/drawing/2010/main" val="0"/>
              </a:ext>
            </a:extLst>
          </a:blip>
          <a:stretch>
            <a:fillRect/>
          </a:stretch>
        </p:blipFill>
        <p:spPr>
          <a:xfrm>
            <a:off x="6096000" y="3611657"/>
            <a:ext cx="4682952" cy="2522392"/>
          </a:xfrm>
          <a:prstGeom prst="rect">
            <a:avLst/>
          </a:prstGeom>
        </p:spPr>
      </p:pic>
    </p:spTree>
    <p:extLst>
      <p:ext uri="{BB962C8B-B14F-4D97-AF65-F5344CB8AC3E}">
        <p14:creationId xmlns:p14="http://schemas.microsoft.com/office/powerpoint/2010/main" val="879922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C3CDC-AFC8-CEDD-B5AE-BC4EA1462B2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B9B3E3B-8BEE-CAA1-D392-754260E9AC75}"/>
              </a:ext>
            </a:extLst>
          </p:cNvPr>
          <p:cNvSpPr>
            <a:spLocks noGrp="1"/>
          </p:cNvSpPr>
          <p:nvPr>
            <p:ph type="body" idx="1"/>
          </p:nvPr>
        </p:nvSpPr>
        <p:spPr>
          <a:xfrm>
            <a:off x="695400" y="692696"/>
            <a:ext cx="10658400" cy="5800179"/>
          </a:xfrm>
        </p:spPr>
        <p:txBody>
          <a:bodyPr anchor="ctr"/>
          <a:lstStyle/>
          <a:p>
            <a:pPr marL="114300" indent="0" algn="ctr">
              <a:buNone/>
              <a:defRPr sz="4200" b="1">
                <a:solidFill>
                  <a:srgbClr val="002060"/>
                </a:solidFill>
                <a:latin typeface="Times New Roman"/>
              </a:defRPr>
            </a:pPr>
            <a:r>
              <a:rPr lang="en-IN" sz="6600" dirty="0">
                <a:solidFill>
                  <a:schemeClr val="tx1"/>
                </a:solidFill>
                <a:latin typeface="Algerian" panose="04020705040A02060702" pitchFamily="82" charset="0"/>
              </a:rPr>
              <a:t>THANK YOU</a:t>
            </a:r>
          </a:p>
          <a:p>
            <a:pPr marL="114300" indent="0">
              <a:buNone/>
            </a:pPr>
            <a:endParaRPr dirty="0"/>
          </a:p>
        </p:txBody>
      </p:sp>
      <p:pic>
        <p:nvPicPr>
          <p:cNvPr id="5" name="Google Shape;86;p1" title="vels knowledge.jpg">
            <a:extLst>
              <a:ext uri="{FF2B5EF4-FFF2-40B4-BE49-F238E27FC236}">
                <a16:creationId xmlns:a16="http://schemas.microsoft.com/office/drawing/2014/main" id="{D1E46B81-9031-DC65-505F-AF4E8C10AE78}"/>
              </a:ext>
            </a:extLst>
          </p:cNvPr>
          <p:cNvPicPr preferRelativeResize="0"/>
          <p:nvPr/>
        </p:nvPicPr>
        <p:blipFill>
          <a:blip r:embed="rId2">
            <a:alphaModFix/>
          </a:blip>
          <a:stretch>
            <a:fillRect/>
          </a:stretch>
        </p:blipFill>
        <p:spPr>
          <a:xfrm>
            <a:off x="11169308" y="5841375"/>
            <a:ext cx="1016625" cy="1016625"/>
          </a:xfrm>
          <a:prstGeom prst="rect">
            <a:avLst/>
          </a:prstGeom>
          <a:noFill/>
          <a:ln>
            <a:noFill/>
          </a:ln>
        </p:spPr>
      </p:pic>
    </p:spTree>
    <p:extLst>
      <p:ext uri="{BB962C8B-B14F-4D97-AF65-F5344CB8AC3E}">
        <p14:creationId xmlns:p14="http://schemas.microsoft.com/office/powerpoint/2010/main" val="180643698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539</TotalTime>
  <Words>1546</Words>
  <Application>Microsoft Office PowerPoint</Application>
  <PresentationFormat>Widescreen</PresentationFormat>
  <Paragraphs>281</Paragraphs>
  <Slides>18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Play</vt:lpstr>
      <vt:lpstr>Times New Roman</vt:lpstr>
      <vt:lpstr>Wingdings</vt:lpstr>
      <vt:lpstr>Arial</vt:lpstr>
      <vt:lpstr>Algerian</vt:lpstr>
      <vt:lpstr>Office Theme</vt:lpstr>
      <vt:lpstr>PowerPoint Presentation</vt:lpstr>
      <vt:lpstr>Abstract</vt:lpstr>
      <vt:lpstr>PROBLEM STATEMENT </vt:lpstr>
      <vt:lpstr>Objectives</vt:lpstr>
      <vt:lpstr>Literature survey </vt:lpstr>
      <vt:lpstr>Research Gap</vt:lpstr>
      <vt:lpstr>Existing System </vt:lpstr>
      <vt:lpstr>Proposed System </vt:lpstr>
      <vt:lpstr>PowerPoint Presentation</vt:lpstr>
      <vt:lpstr>Methodology</vt:lpstr>
      <vt:lpstr>Technologies Adopted </vt:lpstr>
      <vt:lpstr>                                 Dataset</vt:lpstr>
      <vt:lpstr>Implementation</vt:lpstr>
      <vt:lpstr>Results</vt:lpstr>
      <vt:lpstr>Future Enhancements</vt:lpstr>
      <vt:lpstr> Conclusion </vt:lpstr>
      <vt:lpstr> Output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admin1</dc:creator>
  <cp:lastModifiedBy>naveen kumar</cp:lastModifiedBy>
  <cp:revision>13</cp:revision>
  <dcterms:created xsi:type="dcterms:W3CDTF">2026-06-10T08:41:19Z</dcterms:created>
  <dcterms:modified xsi:type="dcterms:W3CDTF">2026-10-29T09:02:24Z</dcterms:modified>
</cp:coreProperties>
</file>