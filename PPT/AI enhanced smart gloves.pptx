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6150" autoAdjust="0"/>
  </p:normalViewPr>
  <p:slideViewPr>
    <p:cSldViewPr snapToGrid="0" snapToObjects="1">
      <p:cViewPr>
        <p:scale>
          <a:sx n="66" d="100"/>
          <a:sy n="66" d="100"/>
        </p:scale>
        <p:origin x="1930" y="5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RINGINO G" userId="bab079a128cd335a" providerId="LiveId" clId="{B981C055-096A-4842-8165-7592E5AD452F}"/>
    <pc:docChg chg="undo custSel modSld">
      <pc:chgData name="DERINGINO G" userId="bab079a128cd335a" providerId="LiveId" clId="{B981C055-096A-4842-8165-7592E5AD452F}" dt="2026-10-30T05:01:06.131" v="0" actId="14100"/>
      <pc:docMkLst>
        <pc:docMk/>
      </pc:docMkLst>
      <pc:sldChg chg="modSp mod">
        <pc:chgData name="DERINGINO G" userId="bab079a128cd335a" providerId="LiveId" clId="{B981C055-096A-4842-8165-7592E5AD452F}" dt="2026-10-30T05:01:06.131" v="0" actId="14100"/>
        <pc:sldMkLst>
          <pc:docMk/>
          <pc:sldMk cId="0" sldId="269"/>
        </pc:sldMkLst>
        <pc:picChg chg="mod">
          <ac:chgData name="DERINGINO G" userId="bab079a128cd335a" providerId="LiveId" clId="{B981C055-096A-4842-8165-7592E5AD452F}" dt="2026-10-30T05:01:06.131" v="0" actId="14100"/>
          <ac:picMkLst>
            <pc:docMk/>
            <pc:sldMk cId="0" sldId="269"/>
            <ac:picMk id="22" creationId="{A43B0072-E065-FAE8-1CF0-59ABE2E8D2B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5939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71711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AI-Enhanced Smart Gesture Communication Glove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324665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403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Lingesh  [ 24619119 ]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 Gino  [ 24619107 ]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Akash  [ 24619103 ]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403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N. Meenakshi</a:t>
            </a: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F442EE-6BA8-FCF0-33A7-31BE0BA35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1" y="192113"/>
            <a:ext cx="5242559" cy="8326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C46831-4CD1-4D31-00AE-5E9E362998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3986" y="1282064"/>
            <a:ext cx="2259931" cy="36693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 Smart Gesture Communication Glove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between sign-language users and non-signers is limited by the lack of a shared medium. This project builds an AI-enhanced smart glove that captures finger bending and hand orientation using five flex sensors and an MPU6050 IMU, read by an ESP32.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data is calibrated, filtered and converted into features for a Random Forest classifier that recognises gestures, ISL alphabets and selected ISL words. Results appear as text on an OLED display and as spoken voice, with optional Bluetooth to a mobile app.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a portable, low-cost wearable that works independently of lighting and camera position.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52160" y="1097280"/>
            <a:ext cx="2834640" cy="1005840"/>
          </a:xfrm>
          <a:prstGeom prst="rect">
            <a:avLst/>
          </a:prstGeom>
          <a:solidFill>
            <a:srgbClr val="F2F2FB"/>
          </a:solidFill>
          <a:ln w="12700">
            <a:solidFill>
              <a:srgbClr val="F2F2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89320" y="109728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C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6949440" y="10972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 sensors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52160" y="2286000"/>
            <a:ext cx="2834640" cy="1005840"/>
          </a:xfrm>
          <a:prstGeom prst="rect">
            <a:avLst/>
          </a:prstGeom>
          <a:solidFill>
            <a:srgbClr val="F2F2FB"/>
          </a:solidFill>
          <a:ln w="12700">
            <a:solidFill>
              <a:srgbClr val="F2F2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89320" y="228600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C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22860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sensor channels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852160" y="3474720"/>
            <a:ext cx="2834640" cy="1005840"/>
          </a:xfrm>
          <a:prstGeom prst="rect">
            <a:avLst/>
          </a:prstGeom>
          <a:solidFill>
            <a:srgbClr val="F2F2FB"/>
          </a:solidFill>
          <a:ln w="12700">
            <a:solidFill>
              <a:srgbClr val="F2F2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89320" y="347472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C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34747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text + voice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 Smart Gesture Communication Glove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291840" cy="338328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“Sign language is powerful. Understanding it is not universal.”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069080" y="1143000"/>
            <a:ext cx="384048" cy="384048"/>
          </a:xfrm>
          <a:prstGeom prst="ellipse">
            <a:avLst/>
          </a:prstGeom>
          <a:solidFill>
            <a:srgbClr val="403CCF"/>
          </a:solidFill>
          <a:ln w="12700">
            <a:solidFill>
              <a:srgbClr val="403CC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06908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109728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barrier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1444752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do not understand sign language, so signers depend on interpreters or writing.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069080" y="2304288"/>
            <a:ext cx="384048" cy="384048"/>
          </a:xfrm>
          <a:prstGeom prst="ellipse">
            <a:avLst/>
          </a:prstGeom>
          <a:solidFill>
            <a:srgbClr val="403CCF"/>
          </a:solidFill>
          <a:ln w="12700">
            <a:solidFill>
              <a:srgbClr val="403CC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69080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25856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of vision-based systems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260604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approaches suffer from lighting dependency, background interference and camera positioning sensitivity.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069080" y="3465576"/>
            <a:ext cx="384048" cy="384048"/>
          </a:xfrm>
          <a:prstGeom prst="ellipse">
            <a:avLst/>
          </a:prstGeom>
          <a:solidFill>
            <a:srgbClr val="403CCF"/>
          </a:solidFill>
          <a:ln w="12700">
            <a:solidFill>
              <a:srgbClr val="403C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069080" y="3465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3419856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a practical solution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617720" y="3767328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portable, low-cost, real-time wearable that turns signs into text and voice is still needed.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 Smart Gesture Communication Glove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560320" cy="1645920"/>
          </a:xfrm>
          <a:prstGeom prst="rect">
            <a:avLst/>
          </a:prstGeom>
          <a:solidFill>
            <a:srgbClr val="F2F2FB"/>
          </a:solidFill>
          <a:ln w="12700">
            <a:solidFill>
              <a:srgbClr val="F2F2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80160"/>
            <a:ext cx="384048" cy="384048"/>
          </a:xfrm>
          <a:prstGeom prst="ellipse">
            <a:avLst/>
          </a:prstGeom>
          <a:solidFill>
            <a:srgbClr val="403CCF"/>
          </a:solidFill>
          <a:ln w="12700">
            <a:solidFill>
              <a:srgbClr val="403CC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2801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03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7830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finger bending and hand orientation using five flex sensors and an MPU6050 IMU.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560320" cy="1645920"/>
          </a:xfrm>
          <a:prstGeom prst="rect">
            <a:avLst/>
          </a:prstGeom>
          <a:solidFill>
            <a:srgbClr val="F2F2FB"/>
          </a:solidFill>
          <a:ln w="12700">
            <a:solidFill>
              <a:srgbClr val="F2F2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280160"/>
            <a:ext cx="384048" cy="384048"/>
          </a:xfrm>
          <a:prstGeom prst="ellipse">
            <a:avLst/>
          </a:prstGeom>
          <a:solidFill>
            <a:srgbClr val="403CCF"/>
          </a:solidFill>
          <a:ln w="12700">
            <a:solidFill>
              <a:srgbClr val="403CC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7472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977640" y="12801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03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17830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predefined gestures, ISL alphabets and selected ISL words using sensor fusion.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26480" y="1097280"/>
            <a:ext cx="2560320" cy="1645920"/>
          </a:xfrm>
          <a:prstGeom prst="rect">
            <a:avLst/>
          </a:prstGeom>
          <a:solidFill>
            <a:srgbClr val="F2F2FB"/>
          </a:solidFill>
          <a:ln w="12700">
            <a:solidFill>
              <a:srgbClr val="F2F2F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1280160"/>
            <a:ext cx="384048" cy="384048"/>
          </a:xfrm>
          <a:prstGeom prst="ellipse">
            <a:avLst/>
          </a:prstGeom>
          <a:solidFill>
            <a:srgbClr val="403CCF"/>
          </a:solidFill>
          <a:ln w="12700">
            <a:solidFill>
              <a:srgbClr val="403CC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812280" y="12801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03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17830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ML pipeline on structured sensor datasets that generalises across users.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2880360"/>
            <a:ext cx="2560320" cy="1645920"/>
          </a:xfrm>
          <a:prstGeom prst="rect">
            <a:avLst/>
          </a:prstGeom>
          <a:solidFill>
            <a:srgbClr val="F2F2FB"/>
          </a:solidFill>
          <a:ln w="12700">
            <a:solidFill>
              <a:srgbClr val="F2F2F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063240"/>
            <a:ext cx="384048" cy="384048"/>
          </a:xfrm>
          <a:prstGeom prst="ellipse">
            <a:avLst/>
          </a:prstGeom>
          <a:solidFill>
            <a:srgbClr val="403CCF"/>
          </a:solidFill>
          <a:ln w="12700">
            <a:solidFill>
              <a:srgbClr val="403CC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30632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03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35661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recognised signs into concise OLED text and spoken voice output.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291840" y="2880360"/>
            <a:ext cx="2560320" cy="1645920"/>
          </a:xfrm>
          <a:prstGeom prst="rect">
            <a:avLst/>
          </a:prstGeom>
          <a:solidFill>
            <a:srgbClr val="F2F2FB"/>
          </a:solidFill>
          <a:ln w="12700">
            <a:solidFill>
              <a:srgbClr val="F2F2F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3063240"/>
            <a:ext cx="384048" cy="384048"/>
          </a:xfrm>
          <a:prstGeom prst="ellipse">
            <a:avLst/>
          </a:prstGeom>
          <a:solidFill>
            <a:srgbClr val="403CCF"/>
          </a:solidFill>
          <a:ln w="12700">
            <a:solidFill>
              <a:srgbClr val="403CC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47472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3977640" y="30632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03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3474720" y="35661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portable, low-cost, user-friendly wearable for everyday communication.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126480" y="2880360"/>
            <a:ext cx="2560320" cy="1645920"/>
          </a:xfrm>
          <a:prstGeom prst="rect">
            <a:avLst/>
          </a:prstGeom>
          <a:solidFill>
            <a:srgbClr val="403CCF"/>
          </a:solidFill>
          <a:ln w="12700">
            <a:solidFill>
              <a:srgbClr val="403CC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09360" y="288036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→ PROCESS → LEARN → TRANSLATE → COMMUNICATE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 Smart Gesture Communication Glove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3C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(source, year)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3C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3C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takeaway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3C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Dataglove for Sign Language Recognition — Sensors, 2023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 + IMU wearable inertial sensing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Glove-based sensing is feasible for sign language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ML-Based Gesture Recognition Glove — Sensors, 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Gesture glove with ML recognition pipeline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Covers system design and dataset considerations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MEMS and Flex Sensor-Based Recognition — IEEE Access, 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MEMS IMU + flex sensors with deep learning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and spatial fusion explored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 Language Detection Using Gloves — IJRASET, 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Engineering-focused glove prototypes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Emphasises hardware–software integration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Glove with Bending &amp; Inertial Sensor — Electronics, 2023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DTW fusion of bending and inertial streams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Improved temporal alignment for recognition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 Smart Gesture Communication Glove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3383280"/>
          </a:xfrm>
          <a:prstGeom prst="rect">
            <a:avLst/>
          </a:prstGeom>
          <a:solidFill>
            <a:srgbClr val="F2F2FB"/>
          </a:solidFill>
          <a:ln w="12700">
            <a:solidFill>
              <a:srgbClr val="F2F2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existing work covers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of flex + IMU gloves for sign language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and deep-learning recognition, DTW sensor fusion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Prototype-level hardware–software integration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Vision-based systems affected by lighting and background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80560" y="2514600"/>
            <a:ext cx="365760" cy="365760"/>
          </a:xfrm>
          <a:prstGeom prst="right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7760" y="1097280"/>
            <a:ext cx="3749040" cy="338328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6636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our project addresses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169164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 alphabets and selected ISL words in one glove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Embedded, on-device recognition on a low-cost ESP32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OLED text and spoken voice output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sensing that is independent of lighting and camera position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 Smart Gesture Communication Glove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3383280"/>
          </a:xfrm>
          <a:prstGeom prst="rect">
            <a:avLst/>
          </a:prstGeom>
          <a:solidFill>
            <a:srgbClr val="F2F2FB"/>
          </a:solidFill>
          <a:ln w="12700">
            <a:solidFill>
              <a:srgbClr val="F2F2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Vision-based recognition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173736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403CC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7373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03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783080" y="1737360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947672" y="173736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403C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947672" y="17373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03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044952" y="1737360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9544" y="173736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403CC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09544" y="17373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03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256032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 dependency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interference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positioning sensitivity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practical for everyday, mobile use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1097280"/>
            <a:ext cx="4023360" cy="3383280"/>
          </a:xfrm>
          <a:prstGeom prst="rect">
            <a:avLst/>
          </a:prstGeom>
          <a:solidFill>
            <a:srgbClr val="F2F2FB"/>
          </a:solidFill>
          <a:ln w="12700">
            <a:solidFill>
              <a:srgbClr val="F2F2F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glove prototypes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173736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 and IMU gloves show that wearable sensing works for sign language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focuses on sensor configuration and recognition algorithms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ML, deep learning and DTW fusion have been explored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embedded systems with text and voice output are less common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 Smart Gesture Communication Glove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4114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wearable glove with five flex sensors and an MPU6050 IMU capturing 11 raw channels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acquires, filters and classifies data on the device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recognises gestures, ISL alphabets and words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as OLED text and speaker voice, with optional Bluetooth to a mobile app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345643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hardware components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3931920"/>
            <a:ext cx="1517904" cy="502920"/>
          </a:xfrm>
          <a:prstGeom prst="roundRect">
            <a:avLst>
              <a:gd name="adj" fmla="val 14545"/>
            </a:avLst>
          </a:prstGeom>
          <a:solidFill>
            <a:srgbClr val="F2F2FB"/>
          </a:solidFill>
          <a:ln w="12700">
            <a:solidFill>
              <a:srgbClr val="F2F2F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393192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03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135124" y="3931920"/>
            <a:ext cx="1517904" cy="502920"/>
          </a:xfrm>
          <a:prstGeom prst="roundRect">
            <a:avLst>
              <a:gd name="adj" fmla="val 14545"/>
            </a:avLst>
          </a:prstGeom>
          <a:solidFill>
            <a:srgbClr val="F2F2FB"/>
          </a:solidFill>
          <a:ln w="12700">
            <a:solidFill>
              <a:srgbClr val="F2F2F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135124" y="393192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03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813048" y="3931920"/>
            <a:ext cx="1517904" cy="502920"/>
          </a:xfrm>
          <a:prstGeom prst="roundRect">
            <a:avLst>
              <a:gd name="adj" fmla="val 14545"/>
            </a:avLst>
          </a:prstGeom>
          <a:solidFill>
            <a:srgbClr val="F2F2FB"/>
          </a:solidFill>
          <a:ln w="12700">
            <a:solidFill>
              <a:srgbClr val="F2F2F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813048" y="393192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03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90972" y="3931920"/>
            <a:ext cx="1517904" cy="502920"/>
          </a:xfrm>
          <a:prstGeom prst="roundRect">
            <a:avLst>
              <a:gd name="adj" fmla="val 14545"/>
            </a:avLst>
          </a:prstGeom>
          <a:solidFill>
            <a:srgbClr val="F2F2FB"/>
          </a:solidFill>
          <a:ln w="12700">
            <a:solidFill>
              <a:srgbClr val="F2F2F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90972" y="393192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03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168896" y="3931920"/>
            <a:ext cx="1517904" cy="502920"/>
          </a:xfrm>
          <a:prstGeom prst="roundRect">
            <a:avLst>
              <a:gd name="adj" fmla="val 14545"/>
            </a:avLst>
          </a:prstGeom>
          <a:solidFill>
            <a:srgbClr val="403CCF"/>
          </a:solidFill>
          <a:ln w="12700">
            <a:solidFill>
              <a:srgbClr val="403CC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68896" y="393192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</a:t>
            </a:r>
            <a:endParaRPr lang="en-US" sz="12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B3ACC42-96AF-F414-2BD5-906DDA5B6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0020" y="637794"/>
            <a:ext cx="2708476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 Smart Gesture Communication Glove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5" name="Image 0" descr="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5623560" cy="3749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09360" y="1097280"/>
            <a:ext cx="2377440" cy="777240"/>
          </a:xfrm>
          <a:prstGeom prst="rect">
            <a:avLst/>
          </a:prstGeom>
          <a:solidFill>
            <a:srgbClr val="F2F2FB"/>
          </a:solidFill>
          <a:ln w="12700">
            <a:solidFill>
              <a:srgbClr val="F2F2F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0" y="1280160"/>
            <a:ext cx="384048" cy="384048"/>
          </a:xfrm>
          <a:prstGeom prst="ellipse">
            <a:avLst/>
          </a:prstGeom>
          <a:solidFill>
            <a:srgbClr val="403CCF"/>
          </a:solidFill>
          <a:ln w="12700">
            <a:solidFill>
              <a:srgbClr val="403CC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903720" y="10972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flex sensors + MPU6050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09360" y="1993392"/>
            <a:ext cx="2377440" cy="777240"/>
          </a:xfrm>
          <a:prstGeom prst="rect">
            <a:avLst/>
          </a:prstGeom>
          <a:solidFill>
            <a:srgbClr val="F2F2FB"/>
          </a:solidFill>
          <a:ln w="12700">
            <a:solidFill>
              <a:srgbClr val="F2F2F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0" y="2176272"/>
            <a:ext cx="384048" cy="384048"/>
          </a:xfrm>
          <a:prstGeom prst="ellipse">
            <a:avLst/>
          </a:prstGeom>
          <a:solidFill>
            <a:srgbClr val="403CCF"/>
          </a:solidFill>
          <a:ln w="12700">
            <a:solidFill>
              <a:srgbClr val="403CC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0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903720" y="1993392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calibration, filtering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309360" y="2889504"/>
            <a:ext cx="2377440" cy="777240"/>
          </a:xfrm>
          <a:prstGeom prst="rect">
            <a:avLst/>
          </a:prstGeom>
          <a:solidFill>
            <a:srgbClr val="F2F2FB"/>
          </a:solidFill>
          <a:ln w="12700">
            <a:solidFill>
              <a:srgbClr val="F2F2F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00800" y="3072384"/>
            <a:ext cx="384048" cy="384048"/>
          </a:xfrm>
          <a:prstGeom prst="ellipse">
            <a:avLst/>
          </a:prstGeom>
          <a:solidFill>
            <a:srgbClr val="403CCF"/>
          </a:solidFill>
          <a:ln w="12700">
            <a:solidFill>
              <a:srgbClr val="403CC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903720" y="2889504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309360" y="3785616"/>
            <a:ext cx="2377440" cy="777240"/>
          </a:xfrm>
          <a:prstGeom prst="rect">
            <a:avLst/>
          </a:prstGeom>
          <a:solidFill>
            <a:srgbClr val="F2F2FB"/>
          </a:solidFill>
          <a:ln w="12700">
            <a:solidFill>
              <a:srgbClr val="F2F2F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00800" y="3968496"/>
            <a:ext cx="384048" cy="384048"/>
          </a:xfrm>
          <a:prstGeom prst="ellipse">
            <a:avLst/>
          </a:prstGeom>
          <a:solidFill>
            <a:srgbClr val="403CCF"/>
          </a:solidFill>
          <a:ln w="12700">
            <a:solidFill>
              <a:srgbClr val="403CC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00800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903720" y="3785616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OLED, voice, Bluetooth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 Smart Gesture Communication Glove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61288"/>
            <a:ext cx="384048" cy="384048"/>
          </a:xfrm>
          <a:prstGeom prst="ellipse">
            <a:avLst/>
          </a:prstGeom>
          <a:solidFill>
            <a:srgbClr val="403CCF"/>
          </a:solidFill>
          <a:ln w="12700">
            <a:solidFill>
              <a:srgbClr val="403CC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161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097280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readings from 5 flex sensors and MPU6050, static and dynamic gestures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47088"/>
            <a:ext cx="384048" cy="384048"/>
          </a:xfrm>
          <a:prstGeom prst="ellipse">
            <a:avLst/>
          </a:prstGeom>
          <a:solidFill>
            <a:srgbClr val="403CCF"/>
          </a:solidFill>
          <a:ln w="12700">
            <a:solidFill>
              <a:srgbClr val="403CC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1783080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Calibration, normalisation, noise filtering, outlier handling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532888"/>
            <a:ext cx="384048" cy="384048"/>
          </a:xfrm>
          <a:prstGeom prst="ellipse">
            <a:avLst/>
          </a:prstGeom>
          <a:solidFill>
            <a:srgbClr val="403CCF"/>
          </a:solidFill>
          <a:ln w="12700">
            <a:solidFill>
              <a:srgbClr val="403CC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532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2468880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std, min, max, RMS, variance into a feature vector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218688"/>
            <a:ext cx="384048" cy="384048"/>
          </a:xfrm>
          <a:prstGeom prst="ellipse">
            <a:avLst/>
          </a:prstGeom>
          <a:solidFill>
            <a:srgbClr val="403CCF"/>
          </a:solidFill>
          <a:ln w="12700">
            <a:solidFill>
              <a:srgbClr val="403CC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154680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with train / validation / test split and tuning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904488"/>
            <a:ext cx="384048" cy="384048"/>
          </a:xfrm>
          <a:prstGeom prst="ellipse">
            <a:avLst/>
          </a:prstGeom>
          <a:solidFill>
            <a:srgbClr val="403CCF"/>
          </a:solidFill>
          <a:ln w="12700">
            <a:solidFill>
              <a:srgbClr val="403CC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904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3840480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&amp; output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gesture or ISL sign, show on OLED, speak aloud</a:t>
            </a:r>
            <a:endParaRPr lang="en-US" sz="1400" dirty="0"/>
          </a:p>
        </p:txBody>
      </p:sp>
      <p:pic>
        <p:nvPicPr>
          <p:cNvPr id="20" name="Image 0" descr="ste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914400"/>
            <a:ext cx="187452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Used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 Smart Gesture Communication Glove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560320" cy="3383280"/>
          </a:xfrm>
          <a:prstGeom prst="rect">
            <a:avLst/>
          </a:prstGeom>
          <a:solidFill>
            <a:srgbClr val="F2F2FB"/>
          </a:solidFill>
          <a:ln w="12700">
            <a:solidFill>
              <a:srgbClr val="F2F2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403CCF"/>
          </a:solidFill>
          <a:ln w="12700">
            <a:solidFill>
              <a:srgbClr val="403CC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2344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03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783080"/>
            <a:ext cx="22402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development board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× flex sensors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MPU6050 (accelerometer + gyroscope)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0.96-inch OLED display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/ audio output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Rechargeable battery + charging module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Resistors, PCB / breadboard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560320" cy="3383280"/>
          </a:xfrm>
          <a:prstGeom prst="rect">
            <a:avLst/>
          </a:prstGeom>
          <a:solidFill>
            <a:srgbClr val="F2F2FB"/>
          </a:solidFill>
          <a:ln w="12700">
            <a:solidFill>
              <a:srgbClr val="F2F2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234440"/>
            <a:ext cx="384048" cy="384048"/>
          </a:xfrm>
          <a:prstGeom prst="ellipse">
            <a:avLst/>
          </a:prstGeom>
          <a:solidFill>
            <a:srgbClr val="403CCF"/>
          </a:solidFill>
          <a:ln w="12700">
            <a:solidFill>
              <a:srgbClr val="403CC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7472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977640" y="12344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03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1783080"/>
            <a:ext cx="22402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IDE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C/C++ firmware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input for flex sensors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for MPU6050 and OLED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stack for mobile link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097280"/>
            <a:ext cx="2560320" cy="3383280"/>
          </a:xfrm>
          <a:prstGeom prst="rect">
            <a:avLst/>
          </a:prstGeom>
          <a:solidFill>
            <a:srgbClr val="F2F2FB"/>
          </a:solidFill>
          <a:ln w="12700">
            <a:solidFill>
              <a:srgbClr val="F2F2F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1234440"/>
            <a:ext cx="384048" cy="384048"/>
          </a:xfrm>
          <a:prstGeom prst="ellipse">
            <a:avLst/>
          </a:prstGeom>
          <a:solidFill>
            <a:srgbClr val="403CCF"/>
          </a:solidFill>
          <a:ln w="12700">
            <a:solidFill>
              <a:srgbClr val="403CC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812280" y="12344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03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1783080"/>
            <a:ext cx="22402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/ KNN as possible comparisons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and noise filtering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validation / test split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Set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 Smart Gesture Communication Glove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primary raw channels per sample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676656" cy="502920"/>
          </a:xfrm>
          <a:prstGeom prst="roundRect">
            <a:avLst>
              <a:gd name="adj" fmla="val 10909"/>
            </a:avLst>
          </a:prstGeom>
          <a:solidFill>
            <a:srgbClr val="403CCF"/>
          </a:solidFill>
          <a:ln w="12700">
            <a:solidFill>
              <a:srgbClr val="403CC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463040"/>
            <a:ext cx="676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 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212494" y="1463040"/>
            <a:ext cx="676656" cy="502920"/>
          </a:xfrm>
          <a:prstGeom prst="roundRect">
            <a:avLst>
              <a:gd name="adj" fmla="val 10909"/>
            </a:avLst>
          </a:prstGeom>
          <a:solidFill>
            <a:srgbClr val="403CCF"/>
          </a:solidFill>
          <a:ln w="12700">
            <a:solidFill>
              <a:srgbClr val="403CC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12494" y="1463040"/>
            <a:ext cx="676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 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67789" y="1463040"/>
            <a:ext cx="676656" cy="502920"/>
          </a:xfrm>
          <a:prstGeom prst="roundRect">
            <a:avLst>
              <a:gd name="adj" fmla="val 10909"/>
            </a:avLst>
          </a:prstGeom>
          <a:solidFill>
            <a:srgbClr val="403CCF"/>
          </a:solidFill>
          <a:ln w="12700">
            <a:solidFill>
              <a:srgbClr val="403C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967789" y="1463040"/>
            <a:ext cx="676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 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23083" y="1463040"/>
            <a:ext cx="676656" cy="502920"/>
          </a:xfrm>
          <a:prstGeom prst="roundRect">
            <a:avLst>
              <a:gd name="adj" fmla="val 10909"/>
            </a:avLst>
          </a:prstGeom>
          <a:solidFill>
            <a:srgbClr val="403CCF"/>
          </a:solidFill>
          <a:ln w="12700">
            <a:solidFill>
              <a:srgbClr val="403CC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23083" y="1463040"/>
            <a:ext cx="676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 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8378" y="1463040"/>
            <a:ext cx="676656" cy="502920"/>
          </a:xfrm>
          <a:prstGeom prst="roundRect">
            <a:avLst>
              <a:gd name="adj" fmla="val 10909"/>
            </a:avLst>
          </a:prstGeom>
          <a:solidFill>
            <a:srgbClr val="403CCF"/>
          </a:solidFill>
          <a:ln w="12700">
            <a:solidFill>
              <a:srgbClr val="403CC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78378" y="1463040"/>
            <a:ext cx="676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 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33672" y="1463040"/>
            <a:ext cx="676656" cy="502920"/>
          </a:xfrm>
          <a:prstGeom prst="roundRect">
            <a:avLst>
              <a:gd name="adj" fmla="val 10909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33672" y="1463040"/>
            <a:ext cx="676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 X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88966" y="1463040"/>
            <a:ext cx="676656" cy="502920"/>
          </a:xfrm>
          <a:prstGeom prst="roundRect">
            <a:avLst>
              <a:gd name="adj" fmla="val 10909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88966" y="1463040"/>
            <a:ext cx="676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 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44261" y="1463040"/>
            <a:ext cx="676656" cy="502920"/>
          </a:xfrm>
          <a:prstGeom prst="roundRect">
            <a:avLst>
              <a:gd name="adj" fmla="val 10909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744261" y="1463040"/>
            <a:ext cx="676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 Z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99555" y="1463040"/>
            <a:ext cx="676656" cy="502920"/>
          </a:xfrm>
          <a:prstGeom prst="roundRect">
            <a:avLst>
              <a:gd name="adj" fmla="val 1090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99555" y="1463040"/>
            <a:ext cx="676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Gyro X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254850" y="1463040"/>
            <a:ext cx="676656" cy="502920"/>
          </a:xfrm>
          <a:prstGeom prst="roundRect">
            <a:avLst>
              <a:gd name="adj" fmla="val 1090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254850" y="1463040"/>
            <a:ext cx="676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Gyro 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010144" y="1463040"/>
            <a:ext cx="676656" cy="502920"/>
          </a:xfrm>
          <a:prstGeom prst="roundRect">
            <a:avLst>
              <a:gd name="adj" fmla="val 1090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10144" y="1463040"/>
            <a:ext cx="676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Gyro Z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2286000"/>
            <a:ext cx="2560320" cy="2194560"/>
          </a:xfrm>
          <a:prstGeom prst="rect">
            <a:avLst/>
          </a:prstGeom>
          <a:solidFill>
            <a:srgbClr val="F2F2FB"/>
          </a:solidFill>
          <a:ln w="12700">
            <a:solidFill>
              <a:srgbClr val="F2F2F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03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28346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postures and dynamic, time-sequenced gestures covering ISL alphabets and selected words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3291840" y="2286000"/>
            <a:ext cx="2560320" cy="2194560"/>
          </a:xfrm>
          <a:prstGeom prst="rect">
            <a:avLst/>
          </a:prstGeom>
          <a:solidFill>
            <a:srgbClr val="F2F2FB"/>
          </a:solidFill>
          <a:ln w="12700">
            <a:solidFill>
              <a:srgbClr val="F2F2F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474720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03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3474720" y="28346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Calibration, normalisation, noise filtering and outlier handling on every sample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126480" y="2286000"/>
            <a:ext cx="2560320" cy="2194560"/>
          </a:xfrm>
          <a:prstGeom prst="rect">
            <a:avLst/>
          </a:prstGeom>
          <a:solidFill>
            <a:srgbClr val="F2F2FB"/>
          </a:solidFill>
          <a:ln w="12700">
            <a:solidFill>
              <a:srgbClr val="F2F2F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09360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03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split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309360" y="28346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std, min, max, RMS and variance per window, then train / validation / test split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(Modules)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 Smart Gesture Communication Glove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499616" cy="2651760"/>
          </a:xfrm>
          <a:prstGeom prst="rect">
            <a:avLst/>
          </a:prstGeom>
          <a:solidFill>
            <a:srgbClr val="F2F2FB"/>
          </a:solidFill>
          <a:ln w="12700">
            <a:solidFill>
              <a:srgbClr val="F2F2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234440"/>
            <a:ext cx="384048" cy="384048"/>
          </a:xfrm>
          <a:prstGeom prst="ellipse">
            <a:avLst/>
          </a:prstGeom>
          <a:solidFill>
            <a:srgbClr val="403CCF"/>
          </a:solidFill>
          <a:ln w="12700">
            <a:solidFill>
              <a:srgbClr val="403CC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73736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03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148840"/>
            <a:ext cx="131673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 sensors on each finger read through voltage dividers; MPU6050 over I2C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39696" y="1097280"/>
            <a:ext cx="1499616" cy="2651760"/>
          </a:xfrm>
          <a:prstGeom prst="rect">
            <a:avLst/>
          </a:prstGeom>
          <a:solidFill>
            <a:srgbClr val="F2F2FB"/>
          </a:solidFill>
          <a:ln w="12700">
            <a:solidFill>
              <a:srgbClr val="F2F2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76856" y="1234440"/>
            <a:ext cx="384048" cy="384048"/>
          </a:xfrm>
          <a:prstGeom prst="ellipse">
            <a:avLst/>
          </a:prstGeom>
          <a:solidFill>
            <a:srgbClr val="403CCF"/>
          </a:solidFill>
          <a:ln w="12700">
            <a:solidFill>
              <a:srgbClr val="403CC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76856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231136" y="173736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03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231136" y="2148840"/>
            <a:ext cx="131673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samples all 11 channels and applies calibration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22192" y="1097280"/>
            <a:ext cx="1499616" cy="2651760"/>
          </a:xfrm>
          <a:prstGeom prst="rect">
            <a:avLst/>
          </a:prstGeom>
          <a:solidFill>
            <a:srgbClr val="F2F2FB"/>
          </a:solidFill>
          <a:ln w="12700">
            <a:solidFill>
              <a:srgbClr val="F2F2F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59352" y="1234440"/>
            <a:ext cx="384048" cy="384048"/>
          </a:xfrm>
          <a:prstGeom prst="ellipse">
            <a:avLst/>
          </a:prstGeom>
          <a:solidFill>
            <a:srgbClr val="403CCF"/>
          </a:solidFill>
          <a:ln w="12700">
            <a:solidFill>
              <a:srgbClr val="403CC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959352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913632" y="173736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03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913632" y="2148840"/>
            <a:ext cx="131673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filtering, smoothing and feature extraction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504688" y="1097280"/>
            <a:ext cx="1499616" cy="2651760"/>
          </a:xfrm>
          <a:prstGeom prst="rect">
            <a:avLst/>
          </a:prstGeom>
          <a:solidFill>
            <a:srgbClr val="F2F2FB"/>
          </a:solidFill>
          <a:ln w="12700">
            <a:solidFill>
              <a:srgbClr val="F2F2F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41848" y="1234440"/>
            <a:ext cx="384048" cy="384048"/>
          </a:xfrm>
          <a:prstGeom prst="ellipse">
            <a:avLst/>
          </a:prstGeom>
          <a:solidFill>
            <a:srgbClr val="403CCF"/>
          </a:solidFill>
          <a:ln w="12700">
            <a:solidFill>
              <a:srgbClr val="403CC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41848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596128" y="173736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03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596128" y="2148840"/>
            <a:ext cx="131673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predicts the gesture or ISL sign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187184" y="1097280"/>
            <a:ext cx="1499616" cy="2651760"/>
          </a:xfrm>
          <a:prstGeom prst="rect">
            <a:avLst/>
          </a:prstGeom>
          <a:solidFill>
            <a:srgbClr val="F2F2FB"/>
          </a:solidFill>
          <a:ln w="12700">
            <a:solidFill>
              <a:srgbClr val="F2F2F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24344" y="1234440"/>
            <a:ext cx="384048" cy="384048"/>
          </a:xfrm>
          <a:prstGeom prst="ellipse">
            <a:avLst/>
          </a:prstGeom>
          <a:solidFill>
            <a:srgbClr val="403CCF"/>
          </a:solidFill>
          <a:ln w="12700">
            <a:solidFill>
              <a:srgbClr val="403CC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24344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278624" y="173736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03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278624" y="2148840"/>
            <a:ext cx="131673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 text, speaker voice and optional Bluetooth to mobile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left to right: SENSING → ACQUISITION → PREPROCESSING → RECOGNITION → OUTPUT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(Current Progress)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 Smart Gesture Communication Glove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560320" cy="228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6B6B80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457200" y="109728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screenshot here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4564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prototype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7307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 with ESP32, flex sensors, MPU6050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560320" cy="228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6B6B80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3291840" y="109728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screenshot here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34564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readings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37307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monitor / plot of flex and IMU data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2560320" cy="228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6B6B80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6126480" y="109728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screenshot here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34564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126480" y="37307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 text or recognised gesture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solidFill>
            <a:srgbClr val="F2F2FB"/>
          </a:solidFill>
          <a:ln w="12700">
            <a:solidFill>
              <a:srgbClr val="F2F2F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03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stage: Review 1 — Problem analysis and planning</a:t>
            </a:r>
            <a:endParaRPr lang="en-US" sz="13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95FCB39-ACB8-074A-687D-6645B24CD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2560320" cy="2286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43B0072-E065-FAE8-1CF0-59ABE2E8D2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138429"/>
            <a:ext cx="2651760" cy="224485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1C44A12-09BA-F9B3-686D-6502D06042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1097280"/>
            <a:ext cx="2560319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 Smart Gesture Communication Glove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560320" cy="1554480"/>
          </a:xfrm>
          <a:prstGeom prst="rect">
            <a:avLst/>
          </a:prstGeom>
          <a:solidFill>
            <a:srgbClr val="F2F2FB"/>
          </a:solidFill>
          <a:ln w="12700">
            <a:solidFill>
              <a:srgbClr val="F2F2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80160"/>
            <a:ext cx="384048" cy="384048"/>
          </a:xfrm>
          <a:prstGeom prst="ellipse">
            <a:avLst/>
          </a:prstGeom>
          <a:solidFill>
            <a:srgbClr val="403CCF"/>
          </a:solidFill>
          <a:ln w="12700">
            <a:solidFill>
              <a:srgbClr val="403CC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2801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03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ISL vocabulary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7830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alphabets, words and dynamic gestures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560320" cy="1554480"/>
          </a:xfrm>
          <a:prstGeom prst="rect">
            <a:avLst/>
          </a:prstGeom>
          <a:solidFill>
            <a:srgbClr val="F2F2FB"/>
          </a:solidFill>
          <a:ln w="12700">
            <a:solidFill>
              <a:srgbClr val="F2F2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280160"/>
            <a:ext cx="384048" cy="384048"/>
          </a:xfrm>
          <a:prstGeom prst="ellipse">
            <a:avLst/>
          </a:prstGeom>
          <a:solidFill>
            <a:srgbClr val="403CCF"/>
          </a:solidFill>
          <a:ln w="12700">
            <a:solidFill>
              <a:srgbClr val="403CC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7472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977640" y="12801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03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formation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17830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recognised signs into full sentences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26480" y="1097280"/>
            <a:ext cx="2560320" cy="1554480"/>
          </a:xfrm>
          <a:prstGeom prst="rect">
            <a:avLst/>
          </a:prstGeom>
          <a:solidFill>
            <a:srgbClr val="F2F2FB"/>
          </a:solidFill>
          <a:ln w="12700">
            <a:solidFill>
              <a:srgbClr val="F2F2F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1280160"/>
            <a:ext cx="384048" cy="384048"/>
          </a:xfrm>
          <a:prstGeom prst="ellipse">
            <a:avLst/>
          </a:prstGeom>
          <a:solidFill>
            <a:srgbClr val="403CCF"/>
          </a:solidFill>
          <a:ln w="12700">
            <a:solidFill>
              <a:srgbClr val="403CC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812280" y="12801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03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17830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companion app for display and settings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2834640"/>
            <a:ext cx="2560320" cy="1554480"/>
          </a:xfrm>
          <a:prstGeom prst="rect">
            <a:avLst/>
          </a:prstGeom>
          <a:solidFill>
            <a:srgbClr val="F2F2FB"/>
          </a:solidFill>
          <a:ln w="12700">
            <a:solidFill>
              <a:srgbClr val="F2F2F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017520"/>
            <a:ext cx="384048" cy="384048"/>
          </a:xfrm>
          <a:prstGeom prst="ellipse">
            <a:avLst/>
          </a:prstGeom>
          <a:solidFill>
            <a:srgbClr val="403CCF"/>
          </a:solidFill>
          <a:ln w="12700">
            <a:solidFill>
              <a:srgbClr val="403CC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30175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03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models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35204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SVM / KNN and deep learning such as CNN or LSTM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291840" y="2834640"/>
            <a:ext cx="2560320" cy="1554480"/>
          </a:xfrm>
          <a:prstGeom prst="rect">
            <a:avLst/>
          </a:prstGeom>
          <a:solidFill>
            <a:srgbClr val="F2F2FB"/>
          </a:solidFill>
          <a:ln w="12700">
            <a:solidFill>
              <a:srgbClr val="F2F2F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3017520"/>
            <a:ext cx="384048" cy="384048"/>
          </a:xfrm>
          <a:prstGeom prst="ellipse">
            <a:avLst/>
          </a:prstGeom>
          <a:solidFill>
            <a:srgbClr val="403CCF"/>
          </a:solidFill>
          <a:ln w="12700">
            <a:solidFill>
              <a:srgbClr val="403CC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47472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3977640" y="30175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03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voice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474720" y="35204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output in more than one language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126480" y="2834640"/>
            <a:ext cx="2560320" cy="1554480"/>
          </a:xfrm>
          <a:prstGeom prst="rect">
            <a:avLst/>
          </a:prstGeom>
          <a:solidFill>
            <a:srgbClr val="F2F2FB"/>
          </a:solidFill>
          <a:ln w="12700">
            <a:solidFill>
              <a:srgbClr val="F2F2F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09360" y="3017520"/>
            <a:ext cx="384048" cy="384048"/>
          </a:xfrm>
          <a:prstGeom prst="ellipse">
            <a:avLst/>
          </a:prstGeom>
          <a:solidFill>
            <a:srgbClr val="403CCF"/>
          </a:solidFill>
          <a:ln w="12700">
            <a:solidFill>
              <a:srgbClr val="403CC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30936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812280" y="30175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03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design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309360" y="35204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PCB and a lighter, more comfortable glove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84048" cy="384048"/>
          </a:xfrm>
          <a:prstGeom prst="ellipse">
            <a:avLst/>
          </a:prstGeom>
          <a:solidFill>
            <a:srgbClr val="403CCF"/>
          </a:solidFill>
          <a:ln w="12700">
            <a:solidFill>
              <a:srgbClr val="403CC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8872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glove senses finger bending and hand motion with five flex sensors and an MPU6050.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384048" cy="384048"/>
          </a:xfrm>
          <a:prstGeom prst="ellipse">
            <a:avLst/>
          </a:prstGeom>
          <a:solidFill>
            <a:srgbClr val="403CCF"/>
          </a:solidFill>
          <a:ln w="12700">
            <a:solidFill>
              <a:srgbClr val="403CC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96596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ESP32 and a Random Forest classifier turn sensor data into gestures and ISL signs.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384048" cy="384048"/>
          </a:xfrm>
          <a:prstGeom prst="ellipse">
            <a:avLst/>
          </a:prstGeom>
          <a:solidFill>
            <a:srgbClr val="403CCF"/>
          </a:solidFill>
          <a:ln w="12700">
            <a:solidFill>
              <a:srgbClr val="403CC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74320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on the OLED and spoken voice give immediate communication support.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384048" cy="384048"/>
          </a:xfrm>
          <a:prstGeom prst="ellipse">
            <a:avLst/>
          </a:prstGeom>
          <a:solidFill>
            <a:srgbClr val="403CCF"/>
          </a:solidFill>
          <a:ln w="12700">
            <a:solidFill>
              <a:srgbClr val="403CC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5204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wearable approach avoids lighting and camera limits, and stays portable and low-cost.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9B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→ PROCESS → LEARN → TRANSLATE → COMMUNICATE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Gantt Chart (8-Week Plan)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 Smart Gesture Communication Glove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566160" y="1097280"/>
            <a:ext cx="640080" cy="320040"/>
          </a:xfrm>
          <a:prstGeom prst="rect">
            <a:avLst/>
          </a:prstGeom>
          <a:solidFill>
            <a:srgbClr val="403CC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566160" y="10972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06240" y="1097280"/>
            <a:ext cx="640080" cy="320040"/>
          </a:xfrm>
          <a:prstGeom prst="rect">
            <a:avLst/>
          </a:prstGeom>
          <a:solidFill>
            <a:srgbClr val="403CC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06240" y="10972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640080" cy="320040"/>
          </a:xfrm>
          <a:prstGeom prst="rect">
            <a:avLst/>
          </a:prstGeom>
          <a:solidFill>
            <a:srgbClr val="403CC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0972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0" y="1097280"/>
            <a:ext cx="640080" cy="320040"/>
          </a:xfrm>
          <a:prstGeom prst="rect">
            <a:avLst/>
          </a:prstGeom>
          <a:solidFill>
            <a:srgbClr val="403CC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0" y="10972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640080" cy="320040"/>
          </a:xfrm>
          <a:prstGeom prst="rect">
            <a:avLst/>
          </a:prstGeom>
          <a:solidFill>
            <a:srgbClr val="403CC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26480" y="10972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1097280"/>
            <a:ext cx="640080" cy="320040"/>
          </a:xfrm>
          <a:prstGeom prst="rect">
            <a:avLst/>
          </a:prstGeom>
          <a:solidFill>
            <a:srgbClr val="403CC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66560" y="10972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06640" y="1097280"/>
            <a:ext cx="640080" cy="320040"/>
          </a:xfrm>
          <a:prstGeom prst="rect">
            <a:avLst/>
          </a:prstGeom>
          <a:solidFill>
            <a:srgbClr val="403CC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06640" y="10972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46720" y="1097280"/>
            <a:ext cx="640080" cy="320040"/>
          </a:xfrm>
          <a:prstGeom prst="rect">
            <a:avLst/>
          </a:prstGeom>
          <a:solidFill>
            <a:srgbClr val="403CC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46720" y="10972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solidFill>
            <a:srgbClr val="F2F2FB"/>
          </a:solidFill>
          <a:ln w="12700">
            <a:solidFill>
              <a:srgbClr val="F2F2F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1463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611880" y="1536192"/>
            <a:ext cx="548640" cy="219456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1828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&amp; research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611880" y="1901952"/>
            <a:ext cx="1188720" cy="219456"/>
          </a:xfrm>
          <a:prstGeom prst="roundRect">
            <a:avLst>
              <a:gd name="adj" fmla="val 25000"/>
            </a:avLst>
          </a:prstGeom>
          <a:solidFill>
            <a:srgbClr val="403CCF"/>
          </a:solidFill>
          <a:ln w="12700">
            <a:solidFill>
              <a:srgbClr val="403CC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solidFill>
            <a:srgbClr val="F2F2FB"/>
          </a:solidFill>
          <a:ln w="12700">
            <a:solidFill>
              <a:srgbClr val="F2F2F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2194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selection &amp; circuit design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251960" y="2267712"/>
            <a:ext cx="1188720" cy="219456"/>
          </a:xfrm>
          <a:prstGeom prst="roundRect">
            <a:avLst>
              <a:gd name="adj" fmla="val 25000"/>
            </a:avLst>
          </a:prstGeom>
          <a:solidFill>
            <a:srgbClr val="403CCF"/>
          </a:solidFill>
          <a:ln w="12700">
            <a:solidFill>
              <a:srgbClr val="403CC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2560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integration &amp; data collection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892040" y="2633472"/>
            <a:ext cx="1188720" cy="219456"/>
          </a:xfrm>
          <a:prstGeom prst="roundRect">
            <a:avLst>
              <a:gd name="adj" fmla="val 25000"/>
            </a:avLst>
          </a:prstGeom>
          <a:solidFill>
            <a:srgbClr val="403CCF"/>
          </a:solidFill>
          <a:ln w="12700">
            <a:solidFill>
              <a:srgbClr val="403CC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solidFill>
            <a:srgbClr val="F2F2FB"/>
          </a:solidFill>
          <a:ln w="12700">
            <a:solidFill>
              <a:srgbClr val="F2F2F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2926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 feature engineering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532120" y="2999232"/>
            <a:ext cx="1188720" cy="219456"/>
          </a:xfrm>
          <a:prstGeom prst="roundRect">
            <a:avLst>
              <a:gd name="adj" fmla="val 25000"/>
            </a:avLst>
          </a:prstGeom>
          <a:solidFill>
            <a:srgbClr val="403CCF"/>
          </a:solidFill>
          <a:ln w="12700">
            <a:solidFill>
              <a:srgbClr val="403CC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48640" y="3291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model development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172200" y="3364992"/>
            <a:ext cx="1188720" cy="219456"/>
          </a:xfrm>
          <a:prstGeom prst="roundRect">
            <a:avLst>
              <a:gd name="adj" fmla="val 25000"/>
            </a:avLst>
          </a:prstGeom>
          <a:solidFill>
            <a:srgbClr val="403CCF"/>
          </a:solidFill>
          <a:ln w="12700">
            <a:solidFill>
              <a:srgbClr val="403CC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solidFill>
            <a:srgbClr val="F2F2FB"/>
          </a:solidFill>
          <a:ln w="12700">
            <a:solidFill>
              <a:srgbClr val="F2F2F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48640" y="3657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OLED, audio &amp; Bluetooth integration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812280" y="3730752"/>
            <a:ext cx="1188720" cy="219456"/>
          </a:xfrm>
          <a:prstGeom prst="roundRect">
            <a:avLst>
              <a:gd name="adj" fmla="val 25000"/>
            </a:avLst>
          </a:prstGeom>
          <a:solidFill>
            <a:srgbClr val="403CCF"/>
          </a:solidFill>
          <a:ln w="12700">
            <a:solidFill>
              <a:srgbClr val="403CC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48640" y="4023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calibration &amp; documentation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7452360" y="4096512"/>
            <a:ext cx="1188720" cy="219456"/>
          </a:xfrm>
          <a:prstGeom prst="roundRect">
            <a:avLst>
              <a:gd name="adj" fmla="val 25000"/>
            </a:avLst>
          </a:prstGeom>
          <a:solidFill>
            <a:srgbClr val="403CCF"/>
          </a:solidFill>
          <a:ln w="12700">
            <a:solidFill>
              <a:srgbClr val="403CC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4480560"/>
            <a:ext cx="274320" cy="146304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22960" y="44348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stage: Review 1 — Problem analysis and planning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han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320040"/>
            <a:ext cx="5669280" cy="319125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Lingesh · Derin Gino · Akash  |  Guide: Ms. N. Meenakshi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1352</Words>
  <Application>Microsoft Office PowerPoint</Application>
  <PresentationFormat>On-screen Show (16:9)</PresentationFormat>
  <Paragraphs>307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DERINGINO G</cp:lastModifiedBy>
  <cp:revision>3</cp:revision>
  <dcterms:created xsi:type="dcterms:W3CDTF">2026-09-28T03:09:47Z</dcterms:created>
  <dcterms:modified xsi:type="dcterms:W3CDTF">2026-10-30T05:01:36Z</dcterms:modified>
</cp:coreProperties>
</file>