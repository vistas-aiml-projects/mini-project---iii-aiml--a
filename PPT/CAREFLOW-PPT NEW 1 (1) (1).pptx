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6" r:id="rId8"/>
    <p:sldId id="267" r:id="rId9"/>
    <p:sldId id="261" r:id="rId10"/>
    <p:sldId id="268" r:id="rId11"/>
    <p:sldId id="262" r:id="rId12"/>
    <p:sldId id="269" r:id="rId13"/>
    <p:sldId id="270" r:id="rId14"/>
    <p:sldId id="274" r:id="rId15"/>
    <p:sldId id="271" r:id="rId16"/>
    <p:sldId id="272" r:id="rId17"/>
    <p:sldId id="264" r:id="rId18"/>
    <p:sldId id="265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487" autoAdjust="0"/>
  </p:normalViewPr>
  <p:slideViewPr>
    <p:cSldViewPr showGuides="1">
      <p:cViewPr varScale="1">
        <p:scale>
          <a:sx n="87" d="100"/>
          <a:sy n="87" d="100"/>
        </p:scale>
        <p:origin x="499" y="58"/>
      </p:cViewPr>
      <p:guideLst>
        <p:guide orient="horz" pos="2867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chemeClr val="bg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chemeClr val="bg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chemeClr val="bg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9287" y="1661794"/>
            <a:ext cx="5133975" cy="3545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bg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chemeClr val="bg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80D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9287" y="1149730"/>
            <a:ext cx="10893425" cy="9269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chemeClr val="bg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9287" y="2107755"/>
            <a:ext cx="10882630" cy="4404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jpeg"/><Relationship Id="rId8" Type="http://schemas.openxmlformats.org/officeDocument/2006/relationships/image" Target="../media/image18.jpeg"/><Relationship Id="rId7" Type="http://schemas.openxmlformats.org/officeDocument/2006/relationships/image" Target="../media/image17.png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9" Type="http://schemas.openxmlformats.org/officeDocument/2006/relationships/slideLayout" Target="../slideLayouts/slideLayout2.xml"/><Relationship Id="rId38" Type="http://schemas.openxmlformats.org/officeDocument/2006/relationships/image" Target="../media/image48.png"/><Relationship Id="rId37" Type="http://schemas.openxmlformats.org/officeDocument/2006/relationships/image" Target="../media/image47.png"/><Relationship Id="rId36" Type="http://schemas.openxmlformats.org/officeDocument/2006/relationships/image" Target="../media/image46.png"/><Relationship Id="rId35" Type="http://schemas.openxmlformats.org/officeDocument/2006/relationships/image" Target="../media/image45.png"/><Relationship Id="rId34" Type="http://schemas.openxmlformats.org/officeDocument/2006/relationships/image" Target="../media/image44.jpeg"/><Relationship Id="rId33" Type="http://schemas.openxmlformats.org/officeDocument/2006/relationships/image" Target="../media/image43.jpeg"/><Relationship Id="rId32" Type="http://schemas.openxmlformats.org/officeDocument/2006/relationships/image" Target="../media/image42.jpeg"/><Relationship Id="rId31" Type="http://schemas.openxmlformats.org/officeDocument/2006/relationships/image" Target="../media/image41.jpeg"/><Relationship Id="rId30" Type="http://schemas.openxmlformats.org/officeDocument/2006/relationships/image" Target="../media/image40.jpeg"/><Relationship Id="rId3" Type="http://schemas.openxmlformats.org/officeDocument/2006/relationships/image" Target="../media/image13.jpeg"/><Relationship Id="rId29" Type="http://schemas.openxmlformats.org/officeDocument/2006/relationships/image" Target="../media/image39.png"/><Relationship Id="rId28" Type="http://schemas.openxmlformats.org/officeDocument/2006/relationships/image" Target="../media/image38.jpeg"/><Relationship Id="rId27" Type="http://schemas.openxmlformats.org/officeDocument/2006/relationships/image" Target="../media/image37.jpeg"/><Relationship Id="rId26" Type="http://schemas.openxmlformats.org/officeDocument/2006/relationships/image" Target="../media/image36.jpeg"/><Relationship Id="rId25" Type="http://schemas.openxmlformats.org/officeDocument/2006/relationships/image" Target="../media/image35.jpeg"/><Relationship Id="rId24" Type="http://schemas.openxmlformats.org/officeDocument/2006/relationships/image" Target="../media/image34.jpeg"/><Relationship Id="rId23" Type="http://schemas.openxmlformats.org/officeDocument/2006/relationships/image" Target="../media/image33.png"/><Relationship Id="rId22" Type="http://schemas.openxmlformats.org/officeDocument/2006/relationships/image" Target="../media/image32.png"/><Relationship Id="rId21" Type="http://schemas.openxmlformats.org/officeDocument/2006/relationships/image" Target="../media/image31.jpeg"/><Relationship Id="rId20" Type="http://schemas.openxmlformats.org/officeDocument/2006/relationships/image" Target="../media/image30.png"/><Relationship Id="rId2" Type="http://schemas.openxmlformats.org/officeDocument/2006/relationships/image" Target="../media/image12.png"/><Relationship Id="rId19" Type="http://schemas.openxmlformats.org/officeDocument/2006/relationships/image" Target="../media/image29.png"/><Relationship Id="rId18" Type="http://schemas.openxmlformats.org/officeDocument/2006/relationships/image" Target="../media/image28.png"/><Relationship Id="rId17" Type="http://schemas.openxmlformats.org/officeDocument/2006/relationships/image" Target="../media/image27.jpeg"/><Relationship Id="rId16" Type="http://schemas.openxmlformats.org/officeDocument/2006/relationships/image" Target="../media/image26.jpeg"/><Relationship Id="rId15" Type="http://schemas.openxmlformats.org/officeDocument/2006/relationships/image" Target="../media/image25.png"/><Relationship Id="rId14" Type="http://schemas.openxmlformats.org/officeDocument/2006/relationships/image" Target="../media/image24.jpeg"/><Relationship Id="rId13" Type="http://schemas.openxmlformats.org/officeDocument/2006/relationships/image" Target="../media/image23.png"/><Relationship Id="rId12" Type="http://schemas.openxmlformats.org/officeDocument/2006/relationships/image" Target="../media/image22.jpeg"/><Relationship Id="rId11" Type="http://schemas.openxmlformats.org/officeDocument/2006/relationships/image" Target="../media/image21.png"/><Relationship Id="rId10" Type="http://schemas.openxmlformats.org/officeDocument/2006/relationships/image" Target="../media/image20.jpeg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90800" y="561975"/>
            <a:ext cx="7010400" cy="176212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89728" y="2299335"/>
            <a:ext cx="317563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30" dirty="0">
                <a:solidFill>
                  <a:srgbClr val="F5F7F9"/>
                </a:solidFill>
                <a:latin typeface="Verdana" panose="020B0604030504040204"/>
                <a:cs typeface="Verdana" panose="020B0604030504040204"/>
              </a:rPr>
              <a:t>CARE</a:t>
            </a:r>
            <a:r>
              <a:rPr sz="3600" spc="-30" dirty="0">
                <a:solidFill>
                  <a:srgbClr val="F5F7F9"/>
                </a:solidFill>
                <a:latin typeface="Cambria Math" panose="02040503050406030204"/>
                <a:cs typeface="Cambria Math" panose="02040503050406030204"/>
              </a:rPr>
              <a:t>≡</a:t>
            </a:r>
            <a:r>
              <a:rPr sz="3600" b="1" spc="-30" dirty="0">
                <a:solidFill>
                  <a:srgbClr val="F5F7F9"/>
                </a:solidFill>
                <a:latin typeface="Verdana" panose="020B0604030504040204"/>
                <a:cs typeface="Verdana" panose="020B0604030504040204"/>
              </a:rPr>
              <a:t>FLOW</a:t>
            </a:r>
            <a:endParaRPr sz="36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8212" y="2852737"/>
            <a:ext cx="10676255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65"/>
              </a:lnSpc>
              <a:spcBef>
                <a:spcPts val="100"/>
              </a:spcBef>
            </a:pPr>
            <a:r>
              <a:rPr sz="2400" spc="8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A</a:t>
            </a:r>
            <a:r>
              <a:rPr sz="2400" spc="-5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Centralized</a:t>
            </a:r>
            <a:r>
              <a:rPr sz="2400" spc="-15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Patient-Centric</a:t>
            </a:r>
            <a:r>
              <a:rPr sz="2400" spc="-55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Application</a:t>
            </a:r>
            <a:r>
              <a:rPr sz="2400" spc="-25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-3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for</a:t>
            </a:r>
            <a:r>
              <a:rPr sz="2400" spc="-4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Digital Prescriptions</a:t>
            </a:r>
            <a:r>
              <a:rPr sz="2400" spc="-2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4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and</a:t>
            </a:r>
            <a:endParaRPr sz="2400">
              <a:latin typeface="Verdana" panose="020B0604030504040204"/>
              <a:cs typeface="Verdana" panose="020B0604030504040204"/>
            </a:endParaRPr>
          </a:p>
          <a:p>
            <a:pPr marL="635" algn="ctr">
              <a:lnSpc>
                <a:spcPts val="2865"/>
              </a:lnSpc>
            </a:pPr>
            <a:r>
              <a:rPr sz="240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Healthcare</a:t>
            </a:r>
            <a:r>
              <a:rPr sz="2400" spc="15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2400" spc="60" dirty="0">
                <a:solidFill>
                  <a:srgbClr val="6F9DD6"/>
                </a:solidFill>
                <a:latin typeface="Verdana" panose="020B0604030504040204"/>
                <a:cs typeface="Verdana" panose="020B0604030504040204"/>
              </a:rPr>
              <a:t>Management</a:t>
            </a:r>
            <a:endParaRPr sz="2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7225" y="4162425"/>
            <a:ext cx="10877550" cy="19050"/>
          </a:xfrm>
          <a:custGeom>
            <a:avLst/>
            <a:gdLst/>
            <a:ahLst/>
            <a:cxnLst/>
            <a:rect l="l" t="t" r="r" b="b"/>
            <a:pathLst>
              <a:path w="10877550" h="19050">
                <a:moveTo>
                  <a:pt x="10873232" y="0"/>
                </a:moveTo>
                <a:lnTo>
                  <a:pt x="4267" y="0"/>
                </a:lnTo>
                <a:lnTo>
                  <a:pt x="0" y="4318"/>
                </a:lnTo>
                <a:lnTo>
                  <a:pt x="0" y="9525"/>
                </a:lnTo>
                <a:lnTo>
                  <a:pt x="0" y="14731"/>
                </a:lnTo>
                <a:lnTo>
                  <a:pt x="4267" y="19050"/>
                </a:lnTo>
                <a:lnTo>
                  <a:pt x="10873232" y="19050"/>
                </a:lnTo>
                <a:lnTo>
                  <a:pt x="10877550" y="14731"/>
                </a:lnTo>
                <a:lnTo>
                  <a:pt x="10877550" y="4318"/>
                </a:lnTo>
                <a:lnTo>
                  <a:pt x="10873232" y="0"/>
                </a:lnTo>
                <a:close/>
              </a:path>
            </a:pathLst>
          </a:custGeom>
          <a:solidFill>
            <a:srgbClr val="EBEBEE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49287" y="4551997"/>
            <a:ext cx="2232660" cy="1257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13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Team</a:t>
            </a:r>
            <a:r>
              <a:rPr sz="1700" spc="-4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0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Members</a:t>
            </a:r>
            <a:endParaRPr sz="1700">
              <a:latin typeface="Cambria" panose="02040503050406030204"/>
              <a:cs typeface="Cambria" panose="02040503050406030204"/>
            </a:endParaRPr>
          </a:p>
          <a:p>
            <a:pPr marL="45720">
              <a:lnSpc>
                <a:spcPct val="100000"/>
              </a:lnSpc>
              <a:spcBef>
                <a:spcPts val="1810"/>
              </a:spcBef>
            </a:pP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B.B.</a:t>
            </a:r>
            <a:r>
              <a:rPr sz="13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Arial MT"/>
                <a:cs typeface="Arial MT"/>
              </a:rPr>
              <a:t>SABARISAN-24619149</a:t>
            </a:r>
            <a:endParaRPr sz="1350">
              <a:latin typeface="Arial MT"/>
              <a:cs typeface="Arial MT"/>
            </a:endParaRPr>
          </a:p>
          <a:p>
            <a:pPr marL="93345">
              <a:lnSpc>
                <a:spcPct val="100000"/>
              </a:lnSpc>
              <a:spcBef>
                <a:spcPts val="485"/>
              </a:spcBef>
            </a:pP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S.</a:t>
            </a:r>
            <a:r>
              <a:rPr sz="13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Arial MT"/>
                <a:cs typeface="Arial MT"/>
              </a:rPr>
              <a:t>SANTHOSH-24619152</a:t>
            </a:r>
            <a:endParaRPr sz="1350">
              <a:latin typeface="Arial MT"/>
              <a:cs typeface="Arial MT"/>
            </a:endParaRPr>
          </a:p>
          <a:p>
            <a:pPr marL="93345">
              <a:lnSpc>
                <a:spcPct val="100000"/>
              </a:lnSpc>
              <a:spcBef>
                <a:spcPts val="480"/>
              </a:spcBef>
            </a:pP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S.H.</a:t>
            </a:r>
            <a:r>
              <a:rPr sz="13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Arial MT"/>
                <a:cs typeface="Arial MT"/>
              </a:rPr>
              <a:t>ABIJEETH-24619101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75780" y="4551997"/>
            <a:ext cx="143954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9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Project</a:t>
            </a:r>
            <a:r>
              <a:rPr sz="1700" spc="6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9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Guide</a:t>
            </a:r>
            <a:endParaRPr sz="17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52868" y="5036820"/>
            <a:ext cx="26327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3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Ms.</a:t>
            </a:r>
            <a:r>
              <a:rPr sz="1350" spc="-6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Benasir</a:t>
            </a:r>
            <a:r>
              <a:rPr sz="1350" spc="-2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Begam.F</a:t>
            </a:r>
            <a:r>
              <a:rPr sz="1350" spc="-3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6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M.E,</a:t>
            </a:r>
            <a:r>
              <a:rPr sz="1350" spc="5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1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(Ph.D)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52868" y="5455920"/>
            <a:ext cx="103568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6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Batch</a:t>
            </a:r>
            <a:r>
              <a:rPr sz="1350" spc="-4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5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No:</a:t>
            </a:r>
            <a:r>
              <a:rPr sz="1350" spc="-85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 </a:t>
            </a:r>
            <a:r>
              <a:rPr sz="1350" spc="-28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17</a:t>
            </a:r>
            <a:endParaRPr sz="13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52868" y="5875654"/>
            <a:ext cx="1032510" cy="22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" sz="135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F</a:t>
            </a:r>
            <a:r>
              <a:rPr sz="135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i</a:t>
            </a:r>
            <a:r>
              <a:rPr lang="en-US" altLang="" sz="135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nal review</a:t>
            </a:r>
            <a:endParaRPr lang="en-US" altLang="" sz="1350" dirty="0">
              <a:solidFill>
                <a:srgbClr val="EBEBEE"/>
              </a:solidFill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15" dirty="0"/>
              <a:t>Abstract</a:t>
            </a:r>
            <a:endParaRPr spc="21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6915">
              <a:lnSpc>
                <a:spcPct val="132000"/>
              </a:lnSpc>
              <a:spcBef>
                <a:spcPts val="100"/>
              </a:spcBef>
            </a:pPr>
            <a:r>
              <a:rPr dirty="0"/>
              <a:t>CareFlow</a:t>
            </a:r>
            <a:r>
              <a:rPr spc="-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centralized,</a:t>
            </a:r>
            <a:r>
              <a:rPr spc="-60" dirty="0"/>
              <a:t> </a:t>
            </a:r>
            <a:r>
              <a:rPr dirty="0"/>
              <a:t>patient-centric</a:t>
            </a:r>
            <a:r>
              <a:rPr spc="-70" dirty="0"/>
              <a:t> </a:t>
            </a:r>
            <a:r>
              <a:rPr dirty="0"/>
              <a:t>healthcare</a:t>
            </a:r>
            <a:r>
              <a:rPr spc="-55" dirty="0"/>
              <a:t> </a:t>
            </a:r>
            <a:r>
              <a:rPr dirty="0"/>
              <a:t>application</a:t>
            </a:r>
            <a:r>
              <a:rPr spc="-40" dirty="0"/>
              <a:t> </a:t>
            </a:r>
            <a:r>
              <a:rPr dirty="0"/>
              <a:t>designed</a:t>
            </a:r>
            <a:r>
              <a:rPr spc="-3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manage</a:t>
            </a:r>
            <a:r>
              <a:rPr spc="10" dirty="0"/>
              <a:t> </a:t>
            </a:r>
            <a:r>
              <a:rPr dirty="0"/>
              <a:t>digital</a:t>
            </a:r>
            <a:r>
              <a:rPr spc="-30" dirty="0"/>
              <a:t> </a:t>
            </a:r>
            <a:r>
              <a:rPr dirty="0"/>
              <a:t>prescriptions</a:t>
            </a:r>
            <a:r>
              <a:rPr spc="-15" dirty="0"/>
              <a:t> </a:t>
            </a:r>
            <a:r>
              <a:rPr spc="-25" dirty="0"/>
              <a:t>and </a:t>
            </a:r>
            <a:r>
              <a:rPr dirty="0"/>
              <a:t>essential</a:t>
            </a:r>
            <a:r>
              <a:rPr spc="-30" dirty="0"/>
              <a:t> </a:t>
            </a:r>
            <a:r>
              <a:rPr dirty="0"/>
              <a:t>healthcare</a:t>
            </a:r>
            <a:r>
              <a:rPr spc="-55" dirty="0"/>
              <a:t> </a:t>
            </a:r>
            <a:r>
              <a:rPr dirty="0"/>
              <a:t>information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one</a:t>
            </a:r>
            <a:r>
              <a:rPr spc="-55" dirty="0"/>
              <a:t> </a:t>
            </a:r>
            <a:r>
              <a:rPr dirty="0"/>
              <a:t>secure</a:t>
            </a:r>
            <a:r>
              <a:rPr spc="-50" dirty="0"/>
              <a:t> </a:t>
            </a:r>
            <a:r>
              <a:rPr spc="-10" dirty="0"/>
              <a:t>platform.</a:t>
            </a:r>
            <a:endParaRPr spc="-10" dirty="0"/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pc="-10" dirty="0"/>
          </a:p>
          <a:p>
            <a:pPr marL="12700" marR="5080" algn="just">
              <a:lnSpc>
                <a:spcPct val="132000"/>
              </a:lnSpc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system</a:t>
            </a:r>
            <a:r>
              <a:rPr spc="-40" dirty="0"/>
              <a:t> </a:t>
            </a:r>
            <a:r>
              <a:rPr dirty="0"/>
              <a:t>connects</a:t>
            </a:r>
            <a:r>
              <a:rPr spc="-50" dirty="0"/>
              <a:t> </a:t>
            </a:r>
            <a:r>
              <a:rPr dirty="0"/>
              <a:t>patients,</a:t>
            </a:r>
            <a:r>
              <a:rPr spc="-85" dirty="0"/>
              <a:t> </a:t>
            </a:r>
            <a:r>
              <a:rPr dirty="0"/>
              <a:t>doctors</a:t>
            </a:r>
            <a:r>
              <a:rPr spc="-4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healthcare</a:t>
            </a:r>
            <a:r>
              <a:rPr spc="-20" dirty="0"/>
              <a:t> </a:t>
            </a:r>
            <a:r>
              <a:rPr dirty="0"/>
              <a:t>administrators</a:t>
            </a:r>
            <a:r>
              <a:rPr spc="-45" dirty="0"/>
              <a:t> </a:t>
            </a:r>
            <a:r>
              <a:rPr dirty="0"/>
              <a:t>through</a:t>
            </a:r>
            <a:r>
              <a:rPr spc="-6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unified</a:t>
            </a:r>
            <a:r>
              <a:rPr spc="5" dirty="0"/>
              <a:t> </a:t>
            </a:r>
            <a:r>
              <a:rPr dirty="0"/>
              <a:t>workflow.</a:t>
            </a:r>
            <a:r>
              <a:rPr spc="-25" dirty="0"/>
              <a:t> </a:t>
            </a:r>
            <a:r>
              <a:rPr dirty="0"/>
              <a:t>Doctors</a:t>
            </a:r>
            <a:r>
              <a:rPr spc="-45" dirty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spc="-10" dirty="0"/>
              <a:t>create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update</a:t>
            </a:r>
            <a:r>
              <a:rPr spc="-70" dirty="0"/>
              <a:t> </a:t>
            </a:r>
            <a:r>
              <a:rPr dirty="0"/>
              <a:t>digital</a:t>
            </a:r>
            <a:r>
              <a:rPr spc="-40" dirty="0"/>
              <a:t> </a:t>
            </a:r>
            <a:r>
              <a:rPr dirty="0"/>
              <a:t>prescriptions, while patients</a:t>
            </a:r>
            <a:r>
              <a:rPr spc="-35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view</a:t>
            </a:r>
            <a:r>
              <a:rPr spc="-10" dirty="0"/>
              <a:t> </a:t>
            </a:r>
            <a:r>
              <a:rPr dirty="0"/>
              <a:t>prescription</a:t>
            </a:r>
            <a:r>
              <a:rPr spc="-45" dirty="0"/>
              <a:t> </a:t>
            </a:r>
            <a:r>
              <a:rPr dirty="0"/>
              <a:t>history,</a:t>
            </a:r>
            <a:r>
              <a:rPr spc="-70" dirty="0"/>
              <a:t> </a:t>
            </a:r>
            <a:r>
              <a:rPr dirty="0"/>
              <a:t>medication</a:t>
            </a:r>
            <a:r>
              <a:rPr spc="-50" dirty="0"/>
              <a:t> </a:t>
            </a:r>
            <a:r>
              <a:rPr dirty="0"/>
              <a:t>details</a:t>
            </a:r>
            <a:r>
              <a:rPr spc="-9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related</a:t>
            </a:r>
            <a:r>
              <a:rPr spc="-45" dirty="0"/>
              <a:t> </a:t>
            </a:r>
            <a:r>
              <a:rPr spc="-10" dirty="0"/>
              <a:t>records </a:t>
            </a:r>
            <a:r>
              <a:rPr dirty="0"/>
              <a:t>without</a:t>
            </a:r>
            <a:r>
              <a:rPr spc="-60" dirty="0"/>
              <a:t> </a:t>
            </a:r>
            <a:r>
              <a:rPr dirty="0"/>
              <a:t>depending</a:t>
            </a:r>
            <a:r>
              <a:rPr spc="-5" dirty="0"/>
              <a:t> </a:t>
            </a:r>
            <a:r>
              <a:rPr dirty="0"/>
              <a:t>on</a:t>
            </a:r>
            <a:r>
              <a:rPr spc="-30" dirty="0"/>
              <a:t> </a:t>
            </a:r>
            <a:r>
              <a:rPr dirty="0"/>
              <a:t>paper</a:t>
            </a:r>
            <a:r>
              <a:rPr spc="-80" dirty="0"/>
              <a:t> </a:t>
            </a:r>
            <a:r>
              <a:rPr spc="-10" dirty="0"/>
              <a:t>documents.</a:t>
            </a:r>
            <a:endParaRPr spc="-10" dirty="0"/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pc="-10" dirty="0"/>
          </a:p>
          <a:p>
            <a:pPr marL="12700" marR="346710">
              <a:lnSpc>
                <a:spcPct val="132000"/>
              </a:lnSpc>
            </a:pPr>
            <a:r>
              <a:rPr dirty="0"/>
              <a:t>By</a:t>
            </a:r>
            <a:r>
              <a:rPr spc="-60" dirty="0"/>
              <a:t> </a:t>
            </a:r>
            <a:r>
              <a:rPr dirty="0"/>
              <a:t>keeping</a:t>
            </a:r>
            <a:r>
              <a:rPr spc="-20" dirty="0"/>
              <a:t> </a:t>
            </a:r>
            <a:r>
              <a:rPr dirty="0"/>
              <a:t>prescription</a:t>
            </a:r>
            <a:r>
              <a:rPr spc="-4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organized</a:t>
            </a:r>
            <a:r>
              <a:rPr spc="-4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single</a:t>
            </a:r>
            <a:r>
              <a:rPr spc="5" dirty="0"/>
              <a:t> </a:t>
            </a:r>
            <a:r>
              <a:rPr dirty="0"/>
              <a:t>digital</a:t>
            </a:r>
            <a:r>
              <a:rPr spc="-35" dirty="0"/>
              <a:t> </a:t>
            </a:r>
            <a:r>
              <a:rPr dirty="0"/>
              <a:t>environment,</a:t>
            </a:r>
            <a:r>
              <a:rPr spc="-65" dirty="0"/>
              <a:t> </a:t>
            </a:r>
            <a:r>
              <a:rPr dirty="0"/>
              <a:t>CareFlow</a:t>
            </a:r>
            <a:r>
              <a:rPr spc="-15" dirty="0"/>
              <a:t> </a:t>
            </a:r>
            <a:r>
              <a:rPr dirty="0"/>
              <a:t>aims</a:t>
            </a:r>
            <a:r>
              <a:rPr spc="-2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reduce</a:t>
            </a:r>
            <a:r>
              <a:rPr spc="-60" dirty="0"/>
              <a:t> </a:t>
            </a:r>
            <a:r>
              <a:rPr dirty="0"/>
              <a:t>prescription</a:t>
            </a:r>
            <a:r>
              <a:rPr spc="-45" dirty="0"/>
              <a:t> </a:t>
            </a:r>
            <a:r>
              <a:rPr spc="-10" dirty="0"/>
              <a:t>loss, </a:t>
            </a:r>
            <a:r>
              <a:rPr dirty="0"/>
              <a:t>improve</a:t>
            </a:r>
            <a:r>
              <a:rPr spc="10" dirty="0"/>
              <a:t> </a:t>
            </a:r>
            <a:r>
              <a:rPr spc="-10" dirty="0"/>
              <a:t>accessibility,</a:t>
            </a:r>
            <a:r>
              <a:rPr spc="-55" dirty="0"/>
              <a:t> </a:t>
            </a:r>
            <a:r>
              <a:rPr dirty="0"/>
              <a:t>support</a:t>
            </a:r>
            <a:r>
              <a:rPr spc="-65" dirty="0"/>
              <a:t> </a:t>
            </a:r>
            <a:r>
              <a:rPr dirty="0"/>
              <a:t>continuity</a:t>
            </a:r>
            <a:r>
              <a:rPr spc="-5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care</a:t>
            </a:r>
            <a:r>
              <a:rPr spc="-55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dirty="0"/>
              <a:t>provide</a:t>
            </a:r>
            <a:r>
              <a:rPr spc="1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clearer</a:t>
            </a:r>
            <a:r>
              <a:rPr spc="-15" dirty="0"/>
              <a:t> </a:t>
            </a:r>
            <a:r>
              <a:rPr dirty="0"/>
              <a:t>healthcare-management</a:t>
            </a:r>
            <a:r>
              <a:rPr spc="10" dirty="0"/>
              <a:t> </a:t>
            </a:r>
            <a:r>
              <a:rPr spc="-10" dirty="0"/>
              <a:t>experience.</a:t>
            </a:r>
            <a:endParaRPr spc="-10" dirty="0"/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pc="-10" dirty="0"/>
          </a:p>
          <a:p>
            <a:pPr marL="12700" marR="229235">
              <a:lnSpc>
                <a:spcPct val="132000"/>
              </a:lnSpc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proposed</a:t>
            </a:r>
            <a:r>
              <a:rPr spc="-55" dirty="0"/>
              <a:t> </a:t>
            </a:r>
            <a:r>
              <a:rPr dirty="0"/>
              <a:t>solution</a:t>
            </a:r>
            <a:r>
              <a:rPr spc="-55" dirty="0"/>
              <a:t> </a:t>
            </a:r>
            <a:r>
              <a:rPr dirty="0"/>
              <a:t>focuses</a:t>
            </a:r>
            <a:r>
              <a:rPr spc="-40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dirty="0"/>
              <a:t>usability,</a:t>
            </a:r>
            <a:r>
              <a:rPr spc="-10" dirty="0"/>
              <a:t> </a:t>
            </a:r>
            <a:r>
              <a:rPr dirty="0"/>
              <a:t>role-based</a:t>
            </a:r>
            <a:r>
              <a:rPr spc="-50" dirty="0"/>
              <a:t> </a:t>
            </a:r>
            <a:r>
              <a:rPr dirty="0"/>
              <a:t>access,</a:t>
            </a:r>
            <a:r>
              <a:rPr spc="-15" dirty="0"/>
              <a:t> </a:t>
            </a:r>
            <a:r>
              <a:rPr dirty="0"/>
              <a:t>secure</a:t>
            </a:r>
            <a:r>
              <a:rPr spc="-15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handling</a:t>
            </a:r>
            <a:r>
              <a:rPr spc="-3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scalable</a:t>
            </a:r>
            <a:r>
              <a:rPr spc="-15" dirty="0"/>
              <a:t> </a:t>
            </a:r>
            <a:r>
              <a:rPr dirty="0"/>
              <a:t>digital</a:t>
            </a:r>
            <a:r>
              <a:rPr spc="-50" dirty="0"/>
              <a:t> </a:t>
            </a:r>
            <a:r>
              <a:rPr spc="-10" dirty="0"/>
              <a:t>healthcare management.</a:t>
            </a:r>
            <a:endParaRPr spc="-10" dirty="0"/>
          </a:p>
        </p:txBody>
      </p:sp>
      <p:pic>
        <p:nvPicPr>
          <p:cNvPr id="4" name="object 4" descr="preencoded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47725" y="5181600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0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90" dirty="0"/>
              <a:t>PROBLEM</a:t>
            </a:r>
            <a:r>
              <a:rPr spc="35" dirty="0"/>
              <a:t> </a:t>
            </a:r>
            <a:r>
              <a:rPr spc="340" dirty="0"/>
              <a:t>STATEMENT</a:t>
            </a:r>
            <a:endParaRPr spc="340" dirty="0"/>
          </a:p>
        </p:txBody>
      </p:sp>
      <p:sp>
        <p:nvSpPr>
          <p:cNvPr id="3" name="object 3"/>
          <p:cNvSpPr txBox="1"/>
          <p:nvPr/>
        </p:nvSpPr>
        <p:spPr>
          <a:xfrm>
            <a:off x="649287" y="2261044"/>
            <a:ext cx="10761345" cy="3669029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07340" indent="-294640">
              <a:lnSpc>
                <a:spcPct val="100000"/>
              </a:lnSpc>
              <a:spcBef>
                <a:spcPts val="845"/>
              </a:spcBef>
              <a:buClr>
                <a:srgbClr val="EBEBEE"/>
              </a:buClr>
              <a:buSzPct val="75000"/>
              <a:buFont typeface="Lucida Sans Unicode" panose="020B0602030504020204"/>
              <a:buChar char="•"/>
              <a:tabLst>
                <a:tab pos="307340" algn="l"/>
              </a:tabLst>
            </a:pP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Physical</a:t>
            </a:r>
            <a:r>
              <a:rPr sz="20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prescriptions</a:t>
            </a:r>
            <a:r>
              <a:rPr sz="20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misplaced,</a:t>
            </a:r>
            <a:r>
              <a:rPr sz="2000" spc="-1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damaged</a:t>
            </a:r>
            <a:r>
              <a:rPr sz="20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difficult</a:t>
            </a:r>
            <a:r>
              <a:rPr sz="20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6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retrieve</a:t>
            </a:r>
            <a:r>
              <a:rPr sz="20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during</a:t>
            </a:r>
            <a:r>
              <a:rPr sz="20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later</a:t>
            </a:r>
            <a:r>
              <a:rPr sz="2000" spc="-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consultations.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07340" marR="709930" indent="-295275">
              <a:lnSpc>
                <a:spcPts val="3230"/>
              </a:lnSpc>
              <a:spcBef>
                <a:spcPts val="170"/>
              </a:spcBef>
              <a:buChar char="•"/>
              <a:tabLst>
                <a:tab pos="307340" algn="l"/>
                <a:tab pos="364490" algn="l"/>
              </a:tabLst>
            </a:pPr>
            <a:r>
              <a:rPr sz="150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Patient</a:t>
            </a:r>
            <a:r>
              <a:rPr sz="20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20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may</a:t>
            </a:r>
            <a:r>
              <a:rPr sz="2000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0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spread</a:t>
            </a:r>
            <a:r>
              <a:rPr sz="2000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across</a:t>
            </a:r>
            <a:r>
              <a:rPr sz="2000" spc="-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2000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hospitals,</a:t>
            </a:r>
            <a:r>
              <a:rPr sz="20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clinics,</a:t>
            </a:r>
            <a:r>
              <a:rPr sz="200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files</a:t>
            </a:r>
            <a:r>
              <a:rPr sz="2000" spc="-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communication channels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07340" marR="115570" indent="-295275">
              <a:lnSpc>
                <a:spcPts val="3160"/>
              </a:lnSpc>
              <a:spcBef>
                <a:spcPts val="55"/>
              </a:spcBef>
              <a:buChar char="•"/>
              <a:tabLst>
                <a:tab pos="307340" algn="l"/>
                <a:tab pos="364490" algn="l"/>
              </a:tabLst>
            </a:pPr>
            <a:r>
              <a:rPr sz="1500" dirty="0">
                <a:solidFill>
                  <a:srgbClr val="EBEBEE"/>
                </a:solidFill>
                <a:latin typeface="Lucida Sans Unicode" panose="020B0602030504020204"/>
                <a:cs typeface="Lucida Sans Unicode" panose="020B0602030504020204"/>
              </a:rPr>
              <a:t>	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Patients</a:t>
            </a:r>
            <a:r>
              <a:rPr sz="20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may</a:t>
            </a:r>
            <a:r>
              <a:rPr sz="200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not</a:t>
            </a:r>
            <a:r>
              <a:rPr sz="200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have</a:t>
            </a:r>
            <a:r>
              <a:rPr sz="2000" spc="-6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quick</a:t>
            </a:r>
            <a:r>
              <a:rPr sz="2000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access</a:t>
            </a:r>
            <a:r>
              <a:rPr sz="20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previous</a:t>
            </a:r>
            <a:r>
              <a:rPr sz="20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prescriptions,</a:t>
            </a:r>
            <a:r>
              <a:rPr sz="2000" spc="-8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medication</a:t>
            </a:r>
            <a:r>
              <a:rPr sz="2000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instructions</a:t>
            </a:r>
            <a:r>
              <a:rPr sz="2000" spc="-6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00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healthcare history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07340" marR="5080" indent="-295275">
              <a:lnSpc>
                <a:spcPts val="3160"/>
              </a:lnSpc>
              <a:spcBef>
                <a:spcPts val="60"/>
              </a:spcBef>
              <a:buClr>
                <a:srgbClr val="EBEBEE"/>
              </a:buClr>
              <a:buSzPct val="75000"/>
              <a:buFont typeface="Lucida Sans Unicode" panose="020B0602030504020204"/>
              <a:buChar char="•"/>
              <a:tabLst>
                <a:tab pos="307340" algn="l"/>
              </a:tabLst>
            </a:pP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Repeated</a:t>
            </a:r>
            <a:r>
              <a:rPr sz="20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manual</a:t>
            </a:r>
            <a:r>
              <a:rPr sz="2000" spc="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entry</a:t>
            </a:r>
            <a:r>
              <a:rPr sz="20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unclear</a:t>
            </a:r>
            <a:r>
              <a:rPr sz="20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handwriting</a:t>
            </a:r>
            <a:r>
              <a:rPr sz="2000" spc="-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can</a:t>
            </a:r>
            <a:r>
              <a:rPr sz="2000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increase</a:t>
            </a:r>
            <a:r>
              <a:rPr sz="2000" spc="-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000" spc="-6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possibility</a:t>
            </a:r>
            <a:r>
              <a:rPr sz="2000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prescription</a:t>
            </a:r>
            <a:r>
              <a:rPr sz="200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20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record errors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07340" marR="1049655" indent="-295275">
              <a:lnSpc>
                <a:spcPts val="3150"/>
              </a:lnSpc>
              <a:buClr>
                <a:srgbClr val="EBEBEE"/>
              </a:buClr>
              <a:buSzPct val="75000"/>
              <a:buFont typeface="Lucida Sans Unicode" panose="020B0602030504020204"/>
              <a:buChar char="•"/>
              <a:tabLst>
                <a:tab pos="307340" algn="l"/>
              </a:tabLst>
            </a:pP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Doctors</a:t>
            </a:r>
            <a:r>
              <a:rPr sz="200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patients</a:t>
            </a:r>
            <a:r>
              <a:rPr sz="2000" spc="-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need</a:t>
            </a:r>
            <a:r>
              <a:rPr sz="20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common</a:t>
            </a:r>
            <a:r>
              <a:rPr sz="20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digital</a:t>
            </a:r>
            <a:r>
              <a:rPr sz="200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space</a:t>
            </a:r>
            <a:r>
              <a:rPr sz="200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2000" spc="-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prescription</a:t>
            </a:r>
            <a:r>
              <a:rPr sz="20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updates</a:t>
            </a:r>
            <a:r>
              <a:rPr sz="200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healthcare information.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 descr="preencoded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79780" y="4809892"/>
            <a:ext cx="174014" cy="1719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67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95" dirty="0"/>
              <a:t>OBJECTIVES</a:t>
            </a:r>
            <a:endParaRPr spc="395" dirty="0"/>
          </a:p>
        </p:txBody>
      </p:sp>
      <p:pic>
        <p:nvPicPr>
          <p:cNvPr id="3" name="object 3" descr="preencoded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89749" y="2528771"/>
            <a:ext cx="125451" cy="185853"/>
          </a:xfrm>
          <a:prstGeom prst="rect">
            <a:avLst/>
          </a:prstGeom>
        </p:spPr>
      </p:pic>
      <p:pic>
        <p:nvPicPr>
          <p:cNvPr id="6" name="object 6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278" y="2528771"/>
            <a:ext cx="139390" cy="185853"/>
          </a:xfrm>
          <a:prstGeom prst="rect">
            <a:avLst/>
          </a:prstGeom>
        </p:spPr>
      </p:pic>
      <p:pic>
        <p:nvPicPr>
          <p:cNvPr id="9" name="object 9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2806" y="2528771"/>
            <a:ext cx="144036" cy="18585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57225" y="2790825"/>
            <a:ext cx="3505200" cy="28575"/>
          </a:xfrm>
          <a:custGeom>
            <a:avLst/>
            <a:gdLst/>
            <a:ahLst/>
            <a:cxnLst/>
            <a:rect l="l" t="t" r="r" b="b"/>
            <a:pathLst>
              <a:path w="3505200" h="28575">
                <a:moveTo>
                  <a:pt x="3505200" y="0"/>
                </a:moveTo>
                <a:lnTo>
                  <a:pt x="0" y="0"/>
                </a:lnTo>
                <a:lnTo>
                  <a:pt x="0" y="28575"/>
                </a:lnTo>
                <a:lnTo>
                  <a:pt x="3505200" y="28575"/>
                </a:lnTo>
                <a:lnTo>
                  <a:pt x="3505200" y="0"/>
                </a:lnTo>
                <a:close/>
              </a:path>
            </a:pathLst>
          </a:custGeom>
          <a:solidFill>
            <a:srgbClr val="8B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43400" y="2790825"/>
            <a:ext cx="3505200" cy="28575"/>
          </a:xfrm>
          <a:custGeom>
            <a:avLst/>
            <a:gdLst/>
            <a:ahLst/>
            <a:cxnLst/>
            <a:rect l="l" t="t" r="r" b="b"/>
            <a:pathLst>
              <a:path w="3505200" h="28575">
                <a:moveTo>
                  <a:pt x="3505200" y="0"/>
                </a:moveTo>
                <a:lnTo>
                  <a:pt x="0" y="0"/>
                </a:lnTo>
                <a:lnTo>
                  <a:pt x="0" y="28575"/>
                </a:lnTo>
                <a:lnTo>
                  <a:pt x="3505200" y="28575"/>
                </a:lnTo>
                <a:lnTo>
                  <a:pt x="3505200" y="0"/>
                </a:lnTo>
                <a:close/>
              </a:path>
            </a:pathLst>
          </a:custGeom>
          <a:solidFill>
            <a:srgbClr val="8B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29575" y="2790825"/>
            <a:ext cx="3505200" cy="28575"/>
          </a:xfrm>
          <a:custGeom>
            <a:avLst/>
            <a:gdLst/>
            <a:ahLst/>
            <a:cxnLst/>
            <a:rect l="l" t="t" r="r" b="b"/>
            <a:pathLst>
              <a:path w="3505200" h="28575">
                <a:moveTo>
                  <a:pt x="3505200" y="0"/>
                </a:moveTo>
                <a:lnTo>
                  <a:pt x="0" y="0"/>
                </a:lnTo>
                <a:lnTo>
                  <a:pt x="0" y="28575"/>
                </a:lnTo>
                <a:lnTo>
                  <a:pt x="3505200" y="28575"/>
                </a:lnTo>
                <a:lnTo>
                  <a:pt x="3505200" y="0"/>
                </a:lnTo>
                <a:close/>
              </a:path>
            </a:pathLst>
          </a:custGeom>
          <a:solidFill>
            <a:srgbClr val="8B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49287" y="2911157"/>
            <a:ext cx="3269615" cy="90360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algn="just">
              <a:lnSpc>
                <a:spcPct val="105000"/>
              </a:lnSpc>
              <a:spcBef>
                <a:spcPts val="15"/>
              </a:spcBef>
            </a:pP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Develop</a:t>
            </a:r>
            <a:r>
              <a:rPr sz="1850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50" spc="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centralized</a:t>
            </a:r>
            <a:r>
              <a:rPr sz="1850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application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85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storing,</a:t>
            </a:r>
            <a:r>
              <a:rPr sz="185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viewing</a:t>
            </a:r>
            <a:r>
              <a:rPr sz="185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850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managing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digital</a:t>
            </a:r>
            <a:r>
              <a:rPr sz="1850" spc="-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prescriptions.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8065" y="2911157"/>
            <a:ext cx="3445510" cy="90360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5"/>
              </a:spcBef>
            </a:pP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Provide</a:t>
            </a:r>
            <a:r>
              <a:rPr sz="185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separate,</a:t>
            </a:r>
            <a:r>
              <a:rPr sz="185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role-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based</a:t>
            </a:r>
            <a:r>
              <a:rPr sz="1850" spc="-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access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185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patients,</a:t>
            </a:r>
            <a:r>
              <a:rPr sz="185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doctors</a:t>
            </a:r>
            <a:r>
              <a:rPr sz="185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administrators.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26781" y="2911157"/>
            <a:ext cx="3420745" cy="90360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5"/>
              </a:spcBef>
            </a:pP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Allow</a:t>
            </a:r>
            <a:r>
              <a:rPr sz="1850" spc="-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doctors</a:t>
            </a:r>
            <a:r>
              <a:rPr sz="185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850" spc="-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create</a:t>
            </a:r>
            <a:r>
              <a:rPr sz="185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clear</a:t>
            </a:r>
            <a:r>
              <a:rPr sz="1850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digital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prescriptions</a:t>
            </a:r>
            <a:r>
              <a:rPr sz="1850" spc="-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85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medicine</a:t>
            </a:r>
            <a:r>
              <a:rPr sz="1850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name,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dosage,</a:t>
            </a:r>
            <a:r>
              <a:rPr sz="1850" spc="-6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duration</a:t>
            </a:r>
            <a:r>
              <a:rPr sz="185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850" spc="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instruction</a:t>
            </a:r>
            <a:r>
              <a:rPr sz="1850" spc="-10" dirty="0">
                <a:latin typeface="Calibri" panose="020F0502020204030204"/>
                <a:cs typeface="Calibri" panose="020F0502020204030204"/>
              </a:rPr>
              <a:t>s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2" name="object 12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5103" y="4186121"/>
            <a:ext cx="134743" cy="185853"/>
          </a:xfrm>
          <a:prstGeom prst="rect">
            <a:avLst/>
          </a:prstGeom>
        </p:spPr>
      </p:pic>
      <p:pic>
        <p:nvPicPr>
          <p:cNvPr id="15" name="object 15" descr="preencode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95896" y="4190767"/>
            <a:ext cx="185853" cy="17656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657225" y="4448175"/>
            <a:ext cx="5343525" cy="28575"/>
          </a:xfrm>
          <a:custGeom>
            <a:avLst/>
            <a:gdLst/>
            <a:ahLst/>
            <a:cxnLst/>
            <a:rect l="l" t="t" r="r" b="b"/>
            <a:pathLst>
              <a:path w="5343525" h="28575">
                <a:moveTo>
                  <a:pt x="5343525" y="0"/>
                </a:moveTo>
                <a:lnTo>
                  <a:pt x="0" y="0"/>
                </a:lnTo>
                <a:lnTo>
                  <a:pt x="0" y="28575"/>
                </a:lnTo>
                <a:lnTo>
                  <a:pt x="5343525" y="28575"/>
                </a:lnTo>
                <a:lnTo>
                  <a:pt x="5343525" y="0"/>
                </a:lnTo>
                <a:close/>
              </a:path>
            </a:pathLst>
          </a:custGeom>
          <a:solidFill>
            <a:srgbClr val="8B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91250" y="4448175"/>
            <a:ext cx="5343525" cy="28575"/>
          </a:xfrm>
          <a:custGeom>
            <a:avLst/>
            <a:gdLst/>
            <a:ahLst/>
            <a:cxnLst/>
            <a:rect l="l" t="t" r="r" b="b"/>
            <a:pathLst>
              <a:path w="5343525" h="28575">
                <a:moveTo>
                  <a:pt x="5343525" y="0"/>
                </a:moveTo>
                <a:lnTo>
                  <a:pt x="0" y="0"/>
                </a:lnTo>
                <a:lnTo>
                  <a:pt x="0" y="28575"/>
                </a:lnTo>
                <a:lnTo>
                  <a:pt x="5343525" y="28575"/>
                </a:lnTo>
                <a:lnTo>
                  <a:pt x="5343525" y="0"/>
                </a:lnTo>
                <a:close/>
              </a:path>
            </a:pathLst>
          </a:custGeom>
          <a:solidFill>
            <a:srgbClr val="8B97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49287" y="4570729"/>
            <a:ext cx="5258435" cy="608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Enable</a:t>
            </a:r>
            <a:r>
              <a:rPr sz="1850" spc="-8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patients</a:t>
            </a:r>
            <a:r>
              <a:rPr sz="185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85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view</a:t>
            </a:r>
            <a:r>
              <a:rPr sz="1850" spc="-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prescription</a:t>
            </a:r>
            <a:r>
              <a:rPr sz="1850" spc="-6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history</a:t>
            </a:r>
            <a:r>
              <a:rPr sz="1850" spc="-7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850" spc="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access</a:t>
            </a:r>
            <a:endParaRPr sz="185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healthcare</a:t>
            </a:r>
            <a:r>
              <a:rPr sz="1850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185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sz="1850" spc="-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one</a:t>
            </a:r>
            <a:r>
              <a:rPr sz="1850" spc="-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place.</a:t>
            </a:r>
            <a:endParaRPr sz="185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2359" y="4570729"/>
            <a:ext cx="4683760" cy="9036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20"/>
              </a:spcBef>
            </a:pPr>
            <a:r>
              <a:rPr sz="1850" spc="11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Reduce</a:t>
            </a:r>
            <a:r>
              <a:rPr sz="1850" spc="4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95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dependence</a:t>
            </a:r>
            <a:r>
              <a:rPr sz="1850" spc="-3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3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on</a:t>
            </a:r>
            <a:r>
              <a:rPr sz="1850" spc="-5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0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paper</a:t>
            </a:r>
            <a:r>
              <a:rPr sz="1850" spc="5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9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records</a:t>
            </a:r>
            <a:r>
              <a:rPr sz="1850" spc="-15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1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and </a:t>
            </a:r>
            <a:r>
              <a:rPr sz="1850" spc="10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minimize</a:t>
            </a:r>
            <a:r>
              <a:rPr sz="1850" spc="4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0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problems</a:t>
            </a:r>
            <a:r>
              <a:rPr sz="1850" spc="-1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95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caused</a:t>
            </a:r>
            <a:r>
              <a:rPr sz="1850" spc="25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05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by</a:t>
            </a:r>
            <a:r>
              <a:rPr sz="1850" spc="-3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75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lost</a:t>
            </a:r>
            <a:r>
              <a:rPr sz="1850" spc="35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95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or </a:t>
            </a:r>
            <a:r>
              <a:rPr sz="1850" spc="9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unreadable</a:t>
            </a:r>
            <a:r>
              <a:rPr sz="1850" spc="70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75" dirty="0">
                <a:solidFill>
                  <a:srgbClr val="EBEBEE"/>
                </a:solidFill>
                <a:latin typeface="Cambria" panose="02040503050406030204"/>
                <a:cs typeface="Cambria" panose="02040503050406030204"/>
              </a:rPr>
              <a:t>prescriptions</a:t>
            </a:r>
            <a:endParaRPr sz="18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9287" y="542036"/>
            <a:ext cx="428752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270" dirty="0"/>
              <a:t>LITERATURE</a:t>
            </a:r>
            <a:r>
              <a:rPr sz="3050" spc="30" dirty="0"/>
              <a:t> </a:t>
            </a:r>
            <a:r>
              <a:rPr sz="3050" spc="290" dirty="0"/>
              <a:t>SURVEY</a:t>
            </a:r>
            <a:endParaRPr sz="30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55319" y="1324610"/>
          <a:ext cx="10868659" cy="4808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9315"/>
                <a:gridCol w="1956435"/>
                <a:gridCol w="2391410"/>
                <a:gridCol w="1956435"/>
                <a:gridCol w="1956435"/>
                <a:gridCol w="1738629"/>
              </a:tblGrid>
              <a:tr h="471170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200" b="1" spc="-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No.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  <a:solidFill>
                      <a:srgbClr val="173962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Author</a:t>
                      </a:r>
                      <a:r>
                        <a:rPr sz="1200" b="1" spc="1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&amp;</a:t>
                      </a:r>
                      <a:r>
                        <a:rPr sz="1200" b="1" spc="114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Year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  <a:solidFill>
                      <a:srgbClr val="173962"/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200" b="1" spc="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Paper</a:t>
                      </a:r>
                      <a:r>
                        <a:rPr sz="1200" b="1" spc="-5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b="1" spc="18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/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b="1" spc="7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Method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  <a:solidFill>
                      <a:srgbClr val="173962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200" b="1" spc="4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Methodology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  <a:solidFill>
                      <a:srgbClr val="173962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Limitation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  <a:solidFill>
                      <a:srgbClr val="173962"/>
                    </a:solidFill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Our</a:t>
                      </a:r>
                      <a:r>
                        <a:rPr sz="1200" b="1" spc="7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b="1" spc="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Contribution</a:t>
                      </a:r>
                      <a:endParaRPr sz="1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  <a:solidFill>
                      <a:srgbClr val="173962"/>
                    </a:solidFill>
                  </a:tcPr>
                </a:tc>
              </a:tr>
              <a:tr h="1287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sz="1200" spc="-320" dirty="0">
                          <a:solidFill>
                            <a:srgbClr val="EBEBEE"/>
                          </a:solidFill>
                          <a:latin typeface="Lucida Sans Unicode" panose="020B0602030504020204"/>
                          <a:cs typeface="Lucida Sans Unicode" panose="020B0602030504020204"/>
                        </a:rPr>
                        <a:t>1</a:t>
                      </a:r>
                      <a:endParaRPr sz="120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748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Kruse</a:t>
                      </a:r>
                      <a:r>
                        <a:rPr sz="1400" b="1" spc="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1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et</a:t>
                      </a:r>
                      <a:r>
                        <a:rPr sz="1400" b="1" spc="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al.&amp;2015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8750" marR="389255">
                        <a:lnSpc>
                          <a:spcPct val="103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E-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Prescribing </a:t>
                      </a:r>
                      <a:r>
                        <a:rPr sz="1400" b="1" spc="7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adoption</a:t>
                      </a:r>
                      <a:r>
                        <a:rPr sz="1400" b="1" spc="-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8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and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errors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61290" marR="354330">
                        <a:lnSpc>
                          <a:spcPct val="101000"/>
                        </a:lnSpc>
                      </a:pPr>
                      <a:r>
                        <a:rPr sz="1400" b="1" spc="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Studied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1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e-</a:t>
                      </a:r>
                      <a:r>
                        <a:rPr sz="1400" b="1" spc="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prescribing</a:t>
                      </a:r>
                      <a:r>
                        <a:rPr sz="1400" b="1" spc="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3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and </a:t>
                      </a:r>
                      <a:r>
                        <a:rPr sz="1400" b="1" spc="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errors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61925" marR="273050">
                        <a:lnSpc>
                          <a:spcPct val="103000"/>
                        </a:lnSpc>
                      </a:pPr>
                      <a:r>
                        <a:rPr sz="1400" b="1" spc="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Adoption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5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and </a:t>
                      </a:r>
                      <a:r>
                        <a:rPr sz="1400" b="1" spc="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workflow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issues.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63830" marR="304165">
                        <a:lnSpc>
                          <a:spcPct val="101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Digital </a:t>
                      </a:r>
                      <a:r>
                        <a:rPr sz="1400" b="1" spc="5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prescription </a:t>
                      </a:r>
                      <a:r>
                        <a:rPr sz="1400" b="1" spc="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management.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sz="1200" spc="-50" dirty="0">
                          <a:solidFill>
                            <a:srgbClr val="EBEBEE"/>
                          </a:solidFill>
                          <a:latin typeface="Lucida Sans Unicode" panose="020B0602030504020204"/>
                          <a:cs typeface="Lucida Sans Unicode" panose="020B0602030504020204"/>
                        </a:rPr>
                        <a:t>2</a:t>
                      </a:r>
                      <a:endParaRPr sz="120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7480" marR="615950">
                        <a:lnSpc>
                          <a:spcPct val="103000"/>
                        </a:lnSpc>
                      </a:pPr>
                      <a:r>
                        <a:rPr sz="1400" b="1" spc="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Halamka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&amp; </a:t>
                      </a:r>
                      <a:r>
                        <a:rPr sz="1400" b="1" spc="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cerrato,2018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8750" marR="183515">
                        <a:lnSpc>
                          <a:spcPct val="103000"/>
                        </a:lnSpc>
                      </a:pPr>
                      <a:r>
                        <a:rPr sz="1400" b="1" spc="9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Patient-</a:t>
                      </a:r>
                      <a:r>
                        <a:rPr sz="1400" b="1" spc="1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centric</a:t>
                      </a:r>
                      <a:r>
                        <a:rPr sz="1400" b="1" spc="-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4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digital </a:t>
                      </a:r>
                      <a:r>
                        <a:rPr sz="1400" b="1" spc="7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health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 marR="349885">
                        <a:lnSpc>
                          <a:spcPct val="101000"/>
                        </a:lnSpc>
                        <a:spcBef>
                          <a:spcPts val="1385"/>
                        </a:spcBef>
                      </a:pPr>
                      <a:r>
                        <a:rPr sz="1400" b="1" spc="4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Focused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on </a:t>
                      </a:r>
                      <a:r>
                        <a:rPr sz="1400" b="1" spc="1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patient-</a:t>
                      </a:r>
                      <a:r>
                        <a:rPr sz="1400" b="1" spc="9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centric </a:t>
                      </a:r>
                      <a:r>
                        <a:rPr sz="1400" b="1" spc="5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digital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health.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5895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 marR="635000">
                        <a:lnSpc>
                          <a:spcPct val="101000"/>
                        </a:lnSpc>
                        <a:spcBef>
                          <a:spcPts val="1385"/>
                        </a:spcBef>
                      </a:pPr>
                      <a:r>
                        <a:rPr sz="1400" b="1" spc="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Information </a:t>
                      </a:r>
                      <a:r>
                        <a:rPr sz="1400" b="1" spc="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remains </a:t>
                      </a:r>
                      <a:r>
                        <a:rPr sz="1400" b="1" spc="8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fragmented.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5895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 marR="438150">
                        <a:lnSpc>
                          <a:spcPct val="101000"/>
                        </a:lnSpc>
                        <a:spcBef>
                          <a:spcPts val="1385"/>
                        </a:spcBef>
                      </a:pPr>
                      <a:r>
                        <a:rPr sz="1400" b="1" spc="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Centralized </a:t>
                      </a:r>
                      <a:r>
                        <a:rPr sz="1400" b="1" spc="9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patient </a:t>
                      </a:r>
                      <a:r>
                        <a:rPr sz="1400" b="1" spc="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information.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5895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sz="1200" spc="-50" dirty="0">
                          <a:solidFill>
                            <a:srgbClr val="EBEBEE"/>
                          </a:solidFill>
                          <a:latin typeface="Lucida Sans Unicode" panose="020B0602030504020204"/>
                          <a:cs typeface="Lucida Sans Unicode" panose="020B0602030504020204"/>
                        </a:rPr>
                        <a:t>3</a:t>
                      </a:r>
                      <a:endParaRPr sz="1200">
                        <a:latin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7480" marR="307975" indent="44450">
                        <a:lnSpc>
                          <a:spcPct val="103000"/>
                        </a:lnSpc>
                      </a:pPr>
                      <a:r>
                        <a:rPr sz="1400" b="1" spc="8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Marques</a:t>
                      </a:r>
                      <a:r>
                        <a:rPr sz="1400" b="1" spc="-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1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et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al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&amp; </a:t>
                      </a:r>
                      <a:r>
                        <a:rPr sz="1400" b="1" spc="4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2020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8750" marR="536575">
                        <a:lnSpc>
                          <a:spcPct val="103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Blockchain</a:t>
                      </a:r>
                      <a:r>
                        <a:rPr sz="1400" b="1" spc="9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&amp;</a:t>
                      </a:r>
                      <a:r>
                        <a:rPr sz="1400" b="1" spc="114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IoT</a:t>
                      </a:r>
                      <a:r>
                        <a:rPr sz="1400" b="1" spc="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in </a:t>
                      </a:r>
                      <a:r>
                        <a:rPr sz="1400" b="1" spc="7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Healthcare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 marR="290830">
                        <a:lnSpc>
                          <a:spcPct val="101000"/>
                        </a:lnSpc>
                        <a:spcBef>
                          <a:spcPts val="139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Used</a:t>
                      </a:r>
                      <a:r>
                        <a:rPr sz="1400" b="1" spc="5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Blockchain </a:t>
                      </a:r>
                      <a:r>
                        <a:rPr sz="1400" b="1" spc="8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and</a:t>
                      </a:r>
                      <a:r>
                        <a:rPr sz="1400" b="1" spc="-5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IoT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for </a:t>
                      </a:r>
                      <a:r>
                        <a:rPr sz="1400" b="1" spc="8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healthcare.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653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 marR="405765">
                        <a:lnSpc>
                          <a:spcPct val="101000"/>
                        </a:lnSpc>
                        <a:spcBef>
                          <a:spcPts val="1390"/>
                        </a:spcBef>
                      </a:pPr>
                      <a:r>
                        <a:rPr sz="1400" b="1" spc="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Complex</a:t>
                      </a:r>
                      <a:r>
                        <a:rPr sz="1400" b="1" spc="-7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5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and </a:t>
                      </a:r>
                      <a:r>
                        <a:rPr sz="1400" b="1" spc="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costly </a:t>
                      </a:r>
                      <a:r>
                        <a:rPr sz="1400" b="1" spc="7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infrastructure.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653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 marR="333375">
                        <a:lnSpc>
                          <a:spcPct val="101000"/>
                        </a:lnSpc>
                        <a:spcBef>
                          <a:spcPts val="139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Simple </a:t>
                      </a:r>
                      <a:r>
                        <a:rPr sz="1400" b="1" spc="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centralized </a:t>
                      </a:r>
                      <a:r>
                        <a:rPr sz="1400" b="1" spc="8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architecture.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653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</a:tr>
              <a:tr h="10172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6845">
                        <a:lnSpc>
                          <a:spcPct val="100000"/>
                        </a:lnSpc>
                      </a:pPr>
                      <a:r>
                        <a:rPr sz="1400" b="1" spc="3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7480">
                        <a:lnSpc>
                          <a:spcPct val="100000"/>
                        </a:lnSpc>
                      </a:pPr>
                      <a:r>
                        <a:rPr sz="1400" b="1" spc="7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Jah</a:t>
                      </a:r>
                      <a:r>
                        <a:rPr sz="1400" b="1" spc="-9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16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et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al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&amp;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2022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8750" marR="211455">
                        <a:lnSpc>
                          <a:spcPct val="103000"/>
                        </a:lnSpc>
                      </a:pPr>
                      <a:r>
                        <a:rPr sz="1400" b="1" spc="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Telemedicine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&amp;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Digital Rx</a:t>
                      </a:r>
                      <a:r>
                        <a:rPr sz="1400" b="1" spc="-7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9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post-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COVID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 marR="1924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400" b="1" spc="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Studied </a:t>
                      </a:r>
                      <a:r>
                        <a:rPr sz="1400" b="1" spc="7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telemedicine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5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and </a:t>
                      </a:r>
                      <a:r>
                        <a:rPr sz="1400" b="1" spc="4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digital </a:t>
                      </a:r>
                      <a:r>
                        <a:rPr sz="1400" b="1" spc="5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prescriptions.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61925" marR="293370">
                        <a:lnSpc>
                          <a:spcPct val="103000"/>
                        </a:lnSpc>
                      </a:pPr>
                      <a:r>
                        <a:rPr sz="1400" b="1" spc="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Requires</a:t>
                      </a:r>
                      <a:r>
                        <a:rPr sz="1400" b="1" spc="18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7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secure </a:t>
                      </a:r>
                      <a:r>
                        <a:rPr sz="1400" b="1" spc="12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data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sharing.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 marR="431165">
                        <a:lnSpc>
                          <a:spcPct val="101000"/>
                        </a:lnSpc>
                        <a:spcBef>
                          <a:spcPts val="141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Easy</a:t>
                      </a:r>
                      <a:r>
                        <a:rPr sz="1400" b="1" spc="-9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00" b="1" spc="4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digital </a:t>
                      </a:r>
                      <a:r>
                        <a:rPr sz="1400" b="1" spc="5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prescription </a:t>
                      </a:r>
                      <a:r>
                        <a:rPr sz="1400" b="1" spc="6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access.</a:t>
                      </a:r>
                      <a:endParaRPr sz="1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43475A"/>
                      </a:solidFill>
                      <a:prstDash val="solid"/>
                    </a:lnL>
                    <a:lnR w="12700">
                      <a:solidFill>
                        <a:srgbClr val="43475A"/>
                      </a:solidFill>
                      <a:prstDash val="solid"/>
                    </a:lnR>
                    <a:lnT w="12700">
                      <a:solidFill>
                        <a:srgbClr val="43475A"/>
                      </a:solidFill>
                      <a:prstDash val="solid"/>
                    </a:lnT>
                    <a:lnB w="12700">
                      <a:solidFill>
                        <a:srgbClr val="43475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225" y="-81280"/>
            <a:ext cx="12214225" cy="69957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85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20052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240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92505"/>
            <a:ext cx="240631" cy="946484"/>
          </a:xfrm>
          <a:prstGeom prst="rect">
            <a:avLst/>
          </a:prstGeom>
        </p:spPr>
      </p:pic>
      <p:sp>
        <p:nvSpPr>
          <p:cNvPr id="49" name="object 49" descr="$PPTXTitle"/>
          <p:cNvSpPr txBox="1">
            <a:spLocks noGrp="1"/>
          </p:cNvSpPr>
          <p:nvPr>
            <p:ph type="title"/>
          </p:nvPr>
        </p:nvSpPr>
        <p:spPr>
          <a:xfrm>
            <a:off x="471117" y="87341"/>
            <a:ext cx="4842510" cy="4737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00" b="1" spc="95" dirty="0">
                <a:solidFill>
                  <a:srgbClr val="072A56"/>
                </a:solidFill>
                <a:latin typeface="Arial" panose="020B0604020202020204"/>
                <a:cs typeface="Arial" panose="020B0604020202020204"/>
              </a:rPr>
              <a:t>SYSTEM</a:t>
            </a:r>
            <a:r>
              <a:rPr sz="2900" b="1" spc="275" dirty="0">
                <a:solidFill>
                  <a:srgbClr val="072A5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00" b="1" spc="95" dirty="0">
                <a:solidFill>
                  <a:srgbClr val="153469"/>
                </a:solidFill>
                <a:latin typeface="Arial" panose="020B0604020202020204"/>
                <a:cs typeface="Arial" panose="020B0604020202020204"/>
              </a:rPr>
              <a:t>ARCHITECTURE</a:t>
            </a:r>
            <a:endParaRPr sz="2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-19310" y="663073"/>
            <a:ext cx="4064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35"/>
              </a:spcBef>
            </a:pPr>
            <a:r>
              <a:rPr sz="1150" spc="-50" dirty="0">
                <a:solidFill>
                  <a:srgbClr val="A1C4FD"/>
                </a:solidFill>
                <a:latin typeface="Arial MT"/>
                <a:cs typeface="Arial MT"/>
              </a:rPr>
              <a:t>'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01176" y="663073"/>
            <a:ext cx="731710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60" dirty="0">
                <a:latin typeface="Arial MT"/>
                <a:cs typeface="Arial MT"/>
              </a:rPr>
              <a:t>Careflow</a:t>
            </a:r>
            <a:r>
              <a:rPr sz="1150" spc="204" dirty="0">
                <a:latin typeface="Arial MT"/>
                <a:cs typeface="Arial MT"/>
              </a:rPr>
              <a:t> </a:t>
            </a:r>
            <a:r>
              <a:rPr sz="1150" spc="80" dirty="0">
                <a:solidFill>
                  <a:srgbClr val="111111"/>
                </a:solidFill>
                <a:latin typeface="Arial MT"/>
                <a:cs typeface="Arial MT"/>
              </a:rPr>
              <a:t>follows</a:t>
            </a:r>
            <a:r>
              <a:rPr sz="1150" spc="1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150" i="1" spc="75" dirty="0">
                <a:solidFill>
                  <a:srgbClr val="181818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150" i="1" spc="5" dirty="0">
                <a:solidFill>
                  <a:srgbClr val="18181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150" i="1" spc="95" dirty="0">
                <a:latin typeface="Arial" panose="020B0604020202020204"/>
                <a:cs typeface="Arial" panose="020B0604020202020204"/>
              </a:rPr>
              <a:t>3-</a:t>
            </a:r>
            <a:r>
              <a:rPr sz="1150" i="1" spc="75" dirty="0">
                <a:latin typeface="Arial" panose="020B0604020202020204"/>
                <a:cs typeface="Arial" panose="020B0604020202020204"/>
              </a:rPr>
              <a:t>tier</a:t>
            </a:r>
            <a:r>
              <a:rPr sz="1150" i="1" spc="265" dirty="0">
                <a:latin typeface="Arial" panose="020B0604020202020204"/>
                <a:cs typeface="Arial" panose="020B0604020202020204"/>
              </a:rPr>
              <a:t> </a:t>
            </a:r>
            <a:r>
              <a:rPr sz="1150" spc="75" dirty="0">
                <a:latin typeface="Arial MT"/>
                <a:cs typeface="Arial MT"/>
              </a:rPr>
              <a:t>architecture</a:t>
            </a:r>
            <a:r>
              <a:rPr sz="1150" spc="270" dirty="0">
                <a:latin typeface="Arial MT"/>
                <a:cs typeface="Arial MT"/>
              </a:rPr>
              <a:t> </a:t>
            </a:r>
            <a:r>
              <a:rPr sz="1150" spc="80" dirty="0">
                <a:latin typeface="Arial MT"/>
                <a:cs typeface="Arial MT"/>
              </a:rPr>
              <a:t>with</a:t>
            </a:r>
            <a:r>
              <a:rPr sz="1150" spc="15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secure</a:t>
            </a:r>
            <a:r>
              <a:rPr sz="1150" spc="18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rote-</a:t>
            </a:r>
            <a:r>
              <a:rPr sz="1150" spc="60" dirty="0">
                <a:latin typeface="Arial MT"/>
                <a:cs typeface="Arial MT"/>
              </a:rPr>
              <a:t>based</a:t>
            </a:r>
            <a:r>
              <a:rPr sz="1150" spc="180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access,</a:t>
            </a:r>
            <a:r>
              <a:rPr sz="1150" spc="190" dirty="0">
                <a:latin typeface="Arial MT"/>
                <a:cs typeface="Arial MT"/>
              </a:rPr>
              <a:t> </a:t>
            </a:r>
            <a:r>
              <a:rPr sz="1150" spc="55" dirty="0">
                <a:latin typeface="Arial MT"/>
                <a:cs typeface="Arial MT"/>
              </a:rPr>
              <a:t>centralized</a:t>
            </a:r>
            <a:r>
              <a:rPr sz="1150" spc="145" dirty="0">
                <a:latin typeface="Arial MT"/>
                <a:cs typeface="Arial MT"/>
              </a:rPr>
              <a:t> </a:t>
            </a:r>
            <a:r>
              <a:rPr sz="1150" spc="60" dirty="0">
                <a:latin typeface="Arial MT"/>
                <a:cs typeface="Arial MT"/>
              </a:rPr>
              <a:t>data</a:t>
            </a:r>
            <a:r>
              <a:rPr sz="1150" spc="100" dirty="0">
                <a:latin typeface="Arial MT"/>
                <a:cs typeface="Arial MT"/>
              </a:rPr>
              <a:t> </a:t>
            </a:r>
            <a:r>
              <a:rPr sz="1150" spc="40" dirty="0">
                <a:latin typeface="Arial MT"/>
                <a:cs typeface="Arial MT"/>
              </a:rPr>
              <a:t>management,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03233" y="875631"/>
            <a:ext cx="240919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sz="1150" spc="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150" spc="50" dirty="0">
                <a:latin typeface="Arial MT"/>
                <a:cs typeface="Arial MT"/>
              </a:rPr>
              <a:t>modular</a:t>
            </a:r>
            <a:r>
              <a:rPr sz="1150" spc="155" dirty="0">
                <a:latin typeface="Arial MT"/>
                <a:cs typeface="Arial MT"/>
              </a:rPr>
              <a:t> </a:t>
            </a:r>
            <a:r>
              <a:rPr sz="1150" spc="55" dirty="0">
                <a:latin typeface="Arial MT"/>
                <a:cs typeface="Arial MT"/>
              </a:rPr>
              <a:t>application</a:t>
            </a:r>
            <a:r>
              <a:rPr sz="1150" spc="135" dirty="0">
                <a:latin typeface="Arial MT"/>
                <a:cs typeface="Arial MT"/>
              </a:rPr>
              <a:t> </a:t>
            </a:r>
            <a:r>
              <a:rPr sz="1150" spc="-10" dirty="0">
                <a:latin typeface="Arial MT"/>
                <a:cs typeface="Arial MT"/>
              </a:rPr>
              <a:t>services.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606715" y="1049420"/>
            <a:ext cx="756920" cy="0"/>
          </a:xfrm>
          <a:custGeom>
            <a:avLst/>
            <a:gdLst/>
            <a:ahLst/>
            <a:cxnLst/>
            <a:rect l="l" t="t" r="r" b="b"/>
            <a:pathLst>
              <a:path w="756920">
                <a:moveTo>
                  <a:pt x="0" y="0"/>
                </a:moveTo>
                <a:lnTo>
                  <a:pt x="756652" y="0"/>
                </a:lnTo>
              </a:path>
            </a:pathLst>
          </a:custGeom>
          <a:ln w="3175">
            <a:solidFill>
              <a:srgbClr val="6780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30189" y="1049420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>
                <a:moveTo>
                  <a:pt x="0" y="0"/>
                </a:moveTo>
                <a:lnTo>
                  <a:pt x="315494" y="0"/>
                </a:lnTo>
              </a:path>
            </a:pathLst>
          </a:custGeom>
          <a:ln w="3175">
            <a:solidFill>
              <a:srgbClr val="67808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4421" y="1050757"/>
            <a:ext cx="3328737" cy="8823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7305" y="1499937"/>
            <a:ext cx="1676400" cy="2486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1052" y="2326105"/>
            <a:ext cx="489284" cy="14437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8189" y="2253915"/>
            <a:ext cx="649705" cy="7620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92905" y="2598821"/>
            <a:ext cx="1042736" cy="75397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32948" y="1155032"/>
            <a:ext cx="4291262" cy="282340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38800" y="1155032"/>
            <a:ext cx="505326" cy="521368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6365240" y="1103786"/>
            <a:ext cx="2098675" cy="67945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255"/>
              </a:spcBef>
            </a:pPr>
            <a:r>
              <a:rPr sz="1000" b="1" dirty="0">
                <a:solidFill>
                  <a:srgbClr val="2A4B85"/>
                </a:solidFill>
                <a:latin typeface="Arial" panose="020B0604020202020204"/>
                <a:cs typeface="Arial" panose="020B0604020202020204"/>
              </a:rPr>
              <a:t>AUTHENTICATIONI</a:t>
            </a:r>
            <a:r>
              <a:rPr sz="1000" b="1" spc="285" dirty="0">
                <a:solidFill>
                  <a:srgbClr val="2A4B85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10" dirty="0">
                <a:solidFill>
                  <a:srgbClr val="315077"/>
                </a:solidFill>
                <a:latin typeface="Arial" panose="020B0604020202020204"/>
                <a:cs typeface="Arial" panose="020B0604020202020204"/>
              </a:rPr>
              <a:t>SERVICE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 marL="128905" indent="-116205">
              <a:lnSpc>
                <a:spcPct val="100000"/>
              </a:lnSpc>
              <a:spcBef>
                <a:spcPts val="160"/>
              </a:spcBef>
              <a:buClr>
                <a:srgbClr val="000000"/>
              </a:buClr>
              <a:buFont typeface="Arial MT"/>
              <a:buChar char="•"/>
              <a:tabLst>
                <a:tab pos="128905" algn="l"/>
              </a:tabLst>
            </a:pPr>
            <a:r>
              <a:rPr sz="1000" b="1" spc="-65" dirty="0">
                <a:solidFill>
                  <a:srgbClr val="1F1F1F"/>
                </a:solidFill>
                <a:latin typeface="Arial" panose="020B0604020202020204"/>
                <a:cs typeface="Arial" panose="020B0604020202020204"/>
              </a:rPr>
              <a:t>Login</a:t>
            </a:r>
            <a:r>
              <a:rPr sz="1000" b="1" spc="15" dirty="0">
                <a:solidFill>
                  <a:srgbClr val="1F1F1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dirty="0">
                <a:solidFill>
                  <a:srgbClr val="3B3B3B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000" b="1" spc="60" dirty="0">
                <a:solidFill>
                  <a:srgbClr val="3B3B3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00" b="1" spc="-10" dirty="0">
                <a:solidFill>
                  <a:srgbClr val="161616"/>
                </a:solidFill>
                <a:latin typeface="Arial" panose="020B0604020202020204"/>
                <a:cs typeface="Arial" panose="020B0604020202020204"/>
              </a:rPr>
              <a:t>Register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 marL="128270" indent="-115570">
              <a:lnSpc>
                <a:spcPct val="100000"/>
              </a:lnSpc>
              <a:buClr>
                <a:srgbClr val="000000"/>
              </a:buClr>
              <a:buChar char="•"/>
              <a:tabLst>
                <a:tab pos="128270" algn="l"/>
              </a:tabLst>
            </a:pPr>
            <a:r>
              <a:rPr sz="1000" spc="-10" dirty="0">
                <a:solidFill>
                  <a:srgbClr val="0E0E0E"/>
                </a:solidFill>
                <a:latin typeface="Arial MT"/>
                <a:cs typeface="Arial MT"/>
              </a:rPr>
              <a:t>Role-</a:t>
            </a:r>
            <a:r>
              <a:rPr sz="1000" dirty="0">
                <a:solidFill>
                  <a:srgbClr val="0E0E0E"/>
                </a:solidFill>
                <a:latin typeface="Arial MT"/>
                <a:cs typeface="Arial MT"/>
              </a:rPr>
              <a:t>based</a:t>
            </a:r>
            <a:r>
              <a:rPr sz="1000" spc="3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262626"/>
                </a:solidFill>
                <a:latin typeface="Arial MT"/>
                <a:cs typeface="Arial MT"/>
              </a:rPr>
              <a:t>Access</a:t>
            </a:r>
            <a:r>
              <a:rPr sz="100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A1A1A"/>
                </a:solidFill>
                <a:latin typeface="Arial MT"/>
                <a:cs typeface="Arial MT"/>
              </a:rPr>
              <a:t>Control</a:t>
            </a:r>
            <a:r>
              <a:rPr sz="1000" spc="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212121"/>
                </a:solidFill>
                <a:latin typeface="Arial MT"/>
                <a:cs typeface="Arial MT"/>
              </a:rPr>
              <a:t>[RBAC)</a:t>
            </a:r>
            <a:endParaRPr sz="1000">
              <a:latin typeface="Arial MT"/>
              <a:cs typeface="Arial MT"/>
            </a:endParaRPr>
          </a:p>
          <a:p>
            <a:pPr marL="127635" indent="-114935">
              <a:lnSpc>
                <a:spcPct val="100000"/>
              </a:lnSpc>
              <a:spcBef>
                <a:spcPts val="30"/>
              </a:spcBef>
              <a:buClr>
                <a:srgbClr val="000000"/>
              </a:buClr>
              <a:buChar char="•"/>
              <a:tabLst>
                <a:tab pos="127635" algn="l"/>
              </a:tabLst>
            </a:pPr>
            <a:r>
              <a:rPr sz="1000" spc="-45" dirty="0">
                <a:solidFill>
                  <a:srgbClr val="0A0A0A"/>
                </a:solidFill>
                <a:latin typeface="Arial MT"/>
                <a:cs typeface="Arial MT"/>
              </a:rPr>
              <a:t>Token</a:t>
            </a:r>
            <a:r>
              <a:rPr sz="1000" spc="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81818"/>
                </a:solidFill>
                <a:latin typeface="Arial MT"/>
                <a:cs typeface="Arial MT"/>
              </a:rPr>
              <a:t>Management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3" name="object 4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7305" y="1941094"/>
            <a:ext cx="296778" cy="200526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1063324" y="1893859"/>
            <a:ext cx="1144905" cy="8197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225"/>
              </a:spcBef>
            </a:pPr>
            <a:r>
              <a:rPr sz="1000" spc="-10" dirty="0">
                <a:solidFill>
                  <a:srgbClr val="315099"/>
                </a:solidFill>
                <a:latin typeface="Arial MT"/>
                <a:cs typeface="Arial MT"/>
              </a:rPr>
              <a:t>PATIENT</a:t>
            </a:r>
            <a:endParaRPr sz="1000">
              <a:latin typeface="Arial MT"/>
              <a:cs typeface="Arial MT"/>
            </a:endParaRPr>
          </a:p>
          <a:p>
            <a:pPr marL="128905" indent="-116205">
              <a:lnSpc>
                <a:spcPct val="100000"/>
              </a:lnSpc>
              <a:spcBef>
                <a:spcPts val="125"/>
              </a:spcBef>
              <a:buClr>
                <a:srgbClr val="111111"/>
              </a:buClr>
              <a:buChar char="•"/>
              <a:tabLst>
                <a:tab pos="128905" algn="l"/>
              </a:tabLst>
            </a:pPr>
            <a:r>
              <a:rPr sz="1000" spc="-10" dirty="0">
                <a:solidFill>
                  <a:srgbClr val="1F1F1F"/>
                </a:solidFill>
                <a:latin typeface="Arial MT"/>
                <a:cs typeface="Arial MT"/>
              </a:rPr>
              <a:t>Login</a:t>
            </a:r>
            <a:endParaRPr sz="1000">
              <a:latin typeface="Arial MT"/>
              <a:cs typeface="Arial MT"/>
            </a:endParaRPr>
          </a:p>
          <a:p>
            <a:pPr marL="137795" indent="-125095">
              <a:lnSpc>
                <a:spcPct val="100000"/>
              </a:lnSpc>
              <a:buClr>
                <a:srgbClr val="000000"/>
              </a:buClr>
              <a:buChar char="•"/>
              <a:tabLst>
                <a:tab pos="137795" algn="l"/>
              </a:tabLst>
            </a:pPr>
            <a:r>
              <a:rPr sz="1000" spc="-45" dirty="0">
                <a:solidFill>
                  <a:srgbClr val="212121"/>
                </a:solidFill>
                <a:latin typeface="Arial MT"/>
                <a:cs typeface="Arial MT"/>
              </a:rPr>
              <a:t>View</a:t>
            </a:r>
            <a:r>
              <a:rPr sz="100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51515"/>
                </a:solidFill>
                <a:latin typeface="Arial MT"/>
                <a:cs typeface="Arial MT"/>
              </a:rPr>
              <a:t>prescriptione</a:t>
            </a:r>
            <a:endParaRPr sz="1000">
              <a:latin typeface="Arial MT"/>
              <a:cs typeface="Arial MT"/>
            </a:endParaRPr>
          </a:p>
          <a:p>
            <a:pPr marL="128270" indent="-115570">
              <a:lnSpc>
                <a:spcPct val="100000"/>
              </a:lnSpc>
              <a:buChar char="•"/>
              <a:tabLst>
                <a:tab pos="128270" algn="l"/>
              </a:tabLst>
            </a:pPr>
            <a:r>
              <a:rPr sz="1000" spc="-10" dirty="0">
                <a:solidFill>
                  <a:srgbClr val="0E0E0E"/>
                </a:solidFill>
                <a:latin typeface="Arial MT"/>
                <a:cs typeface="Arial MT"/>
              </a:rPr>
              <a:t>History</a:t>
            </a:r>
            <a:endParaRPr sz="1000">
              <a:latin typeface="Arial MT"/>
              <a:cs typeface="Arial MT"/>
            </a:endParaRPr>
          </a:p>
          <a:p>
            <a:pPr marL="128270" indent="-115570">
              <a:lnSpc>
                <a:spcPct val="100000"/>
              </a:lnSpc>
              <a:buClr>
                <a:srgbClr val="000000"/>
              </a:buClr>
              <a:buChar char="•"/>
              <a:tabLst>
                <a:tab pos="128270" algn="l"/>
              </a:tabLst>
            </a:pPr>
            <a:r>
              <a:rPr sz="1000" dirty="0">
                <a:solidFill>
                  <a:srgbClr val="1D1D1D"/>
                </a:solidFill>
                <a:latin typeface="Arial MT"/>
                <a:cs typeface="Arial MT"/>
              </a:rPr>
              <a:t>Health</a:t>
            </a:r>
            <a:r>
              <a:rPr sz="1000" spc="-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Arial MT"/>
                <a:cs typeface="Arial MT"/>
              </a:rPr>
              <a:t>details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12167" y="2173705"/>
            <a:ext cx="1700530" cy="257175"/>
          </a:xfrm>
          <a:prstGeom prst="rect">
            <a:avLst/>
          </a:prstGeom>
          <a:solidFill>
            <a:srgbClr val="CFF2FD"/>
          </a:solidFill>
        </p:spPr>
        <p:txBody>
          <a:bodyPr vert="horz" wrap="square" lIns="0" tIns="36830" rIns="0" bIns="0" rtlCol="0">
            <a:spAutoFit/>
          </a:bodyPr>
          <a:lstStyle/>
          <a:p>
            <a:pPr marL="309245">
              <a:lnSpc>
                <a:spcPct val="100000"/>
              </a:lnSpc>
              <a:spcBef>
                <a:spcPts val="290"/>
              </a:spcBef>
            </a:pPr>
            <a:r>
              <a:rPr sz="1100" spc="-160" dirty="0">
                <a:solidFill>
                  <a:srgbClr val="526783"/>
                </a:solidFill>
                <a:latin typeface="Arial MT"/>
                <a:cs typeface="Arial MT"/>
              </a:rPr>
              <a:t>FRONT—</a:t>
            </a:r>
            <a:r>
              <a:rPr sz="1100" spc="-140" dirty="0">
                <a:solidFill>
                  <a:srgbClr val="526783"/>
                </a:solidFill>
                <a:latin typeface="Arial MT"/>
                <a:cs typeface="Arial MT"/>
              </a:rPr>
              <a:t>E</a:t>
            </a:r>
            <a:r>
              <a:rPr sz="1100" spc="-150" dirty="0">
                <a:solidFill>
                  <a:srgbClr val="52678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6289A8"/>
                </a:solidFill>
                <a:latin typeface="Arial MT"/>
                <a:cs typeface="Arial MT"/>
              </a:rPr>
              <a:t>ND</a:t>
            </a:r>
            <a:r>
              <a:rPr sz="1100" spc="40" dirty="0">
                <a:solidFill>
                  <a:srgbClr val="6289A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3177AC"/>
                </a:solidFill>
                <a:latin typeface="Arial MT"/>
                <a:cs typeface="Arial MT"/>
              </a:rPr>
              <a:t>/</a:t>
            </a:r>
            <a:r>
              <a:rPr sz="1100" spc="125" dirty="0">
                <a:solidFill>
                  <a:srgbClr val="3177A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2656A0"/>
                </a:solidFill>
                <a:latin typeface="Arial MT"/>
                <a:cs typeface="Arial MT"/>
              </a:rPr>
              <a:t>UI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36505" y="2173705"/>
            <a:ext cx="2005330" cy="257175"/>
          </a:xfrm>
          <a:prstGeom prst="rect">
            <a:avLst/>
          </a:prstGeom>
          <a:solidFill>
            <a:srgbClr val="B5D1EB"/>
          </a:solidFill>
        </p:spPr>
        <p:txBody>
          <a:bodyPr vert="horz" wrap="square" lIns="0" tIns="0" rIns="0" bIns="0" rtlCol="0">
            <a:spAutoFit/>
          </a:bodyPr>
          <a:lstStyle/>
          <a:p>
            <a:pPr marL="640080">
              <a:lnSpc>
                <a:spcPts val="1635"/>
              </a:lnSpc>
              <a:tabLst>
                <a:tab pos="1875155" algn="l"/>
              </a:tabLst>
            </a:pPr>
            <a:r>
              <a:rPr sz="950" dirty="0">
                <a:solidFill>
                  <a:srgbClr val="7BAACA"/>
                </a:solidFill>
                <a:latin typeface="Arial MT"/>
                <a:cs typeface="Arial MT"/>
              </a:rPr>
              <a:t>D</a:t>
            </a:r>
            <a:r>
              <a:rPr sz="950" dirty="0">
                <a:solidFill>
                  <a:srgbClr val="387EBF"/>
                </a:solidFill>
                <a:latin typeface="Arial MT"/>
                <a:cs typeface="Arial MT"/>
              </a:rPr>
              <a:t>ATA</a:t>
            </a:r>
            <a:r>
              <a:rPr sz="950" spc="-70" dirty="0">
                <a:solidFill>
                  <a:srgbClr val="387EBF"/>
                </a:solidFill>
                <a:latin typeface="Arial MT"/>
                <a:cs typeface="Arial MT"/>
              </a:rPr>
              <a:t> </a:t>
            </a:r>
            <a:r>
              <a:rPr sz="950" spc="-135" dirty="0">
                <a:solidFill>
                  <a:srgbClr val="93AAC8"/>
                </a:solidFill>
                <a:latin typeface="Arial MT"/>
                <a:cs typeface="Arial MT"/>
              </a:rPr>
              <a:t>Ø</a:t>
            </a:r>
            <a:r>
              <a:rPr sz="950" spc="-80" dirty="0">
                <a:solidFill>
                  <a:srgbClr val="93AAC8"/>
                </a:solidFill>
                <a:latin typeface="Arial MT"/>
                <a:cs typeface="Arial MT"/>
              </a:rPr>
              <a:t> </a:t>
            </a:r>
            <a:r>
              <a:rPr sz="950" spc="-25" dirty="0">
                <a:solidFill>
                  <a:srgbClr val="3377CA"/>
                </a:solidFill>
                <a:latin typeface="Arial MT"/>
                <a:cs typeface="Arial MT"/>
              </a:rPr>
              <a:t>A</a:t>
            </a:r>
            <a:r>
              <a:rPr sz="950" spc="-25" dirty="0">
                <a:solidFill>
                  <a:srgbClr val="526D9A"/>
                </a:solidFill>
                <a:latin typeface="Arial MT"/>
                <a:cs typeface="Arial MT"/>
              </a:rPr>
              <a:t>S</a:t>
            </a:r>
            <a:r>
              <a:rPr sz="950" spc="-25" dirty="0">
                <a:solidFill>
                  <a:srgbClr val="5685B3"/>
                </a:solidFill>
                <a:latin typeface="Arial MT"/>
                <a:cs typeface="Arial MT"/>
              </a:rPr>
              <a:t>E</a:t>
            </a:r>
            <a:r>
              <a:rPr sz="950" dirty="0">
                <a:solidFill>
                  <a:srgbClr val="5685B3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E8F9FF"/>
                </a:solidFill>
                <a:latin typeface="Courier New" panose="02070309020205020404"/>
                <a:cs typeface="Courier New" panose="02070309020205020404"/>
              </a:rPr>
              <a:t>’</a:t>
            </a:r>
            <a:endParaRPr sz="155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64842" y="2727157"/>
            <a:ext cx="834189" cy="88231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547684" y="2787315"/>
            <a:ext cx="316831" cy="84221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97305" y="2919662"/>
            <a:ext cx="296778" cy="20052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435389" y="2975810"/>
            <a:ext cx="569494" cy="8021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41157" y="3240505"/>
            <a:ext cx="425115" cy="240631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1063324" y="2920553"/>
            <a:ext cx="993775" cy="81153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225"/>
              </a:spcBef>
            </a:pPr>
            <a:r>
              <a:rPr sz="1000" b="1" spc="-10" dirty="0">
                <a:solidFill>
                  <a:srgbClr val="2A497C"/>
                </a:solidFill>
                <a:latin typeface="Arial" panose="020B0604020202020204"/>
                <a:cs typeface="Arial" panose="020B0604020202020204"/>
              </a:rPr>
              <a:t>OOCTOR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 marL="129540" indent="-116840">
              <a:lnSpc>
                <a:spcPct val="100000"/>
              </a:lnSpc>
              <a:spcBef>
                <a:spcPts val="125"/>
              </a:spcBef>
              <a:buClr>
                <a:srgbClr val="0C0C0C"/>
              </a:buClr>
              <a:buChar char="•"/>
              <a:tabLst>
                <a:tab pos="128905" algn="l"/>
              </a:tabLst>
            </a:pP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Login</a:t>
            </a:r>
            <a:endParaRPr sz="1000">
              <a:latin typeface="Arial MT"/>
              <a:cs typeface="Arial MT"/>
            </a:endParaRPr>
          </a:p>
          <a:p>
            <a:pPr marL="128270" indent="-115570">
              <a:lnSpc>
                <a:spcPct val="100000"/>
              </a:lnSpc>
              <a:buClr>
                <a:srgbClr val="000000"/>
              </a:buClr>
              <a:buChar char="•"/>
              <a:tabLst>
                <a:tab pos="128270" algn="l"/>
              </a:tabLst>
            </a:pPr>
            <a:r>
              <a:rPr sz="1000" dirty="0">
                <a:solidFill>
                  <a:srgbClr val="232323"/>
                </a:solidFill>
                <a:latin typeface="Arial MT"/>
                <a:cs typeface="Arial MT"/>
              </a:rPr>
              <a:t>Patient</a:t>
            </a:r>
            <a:r>
              <a:rPr sz="1000" spc="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looLup</a:t>
            </a:r>
            <a:endParaRPr sz="1000">
              <a:latin typeface="Arial MT"/>
              <a:cs typeface="Arial MT"/>
            </a:endParaRPr>
          </a:p>
          <a:p>
            <a:pPr marL="130810" marR="5080" indent="-118745">
              <a:lnSpc>
                <a:spcPts val="1110"/>
              </a:lnSpc>
              <a:spcBef>
                <a:spcPts val="145"/>
              </a:spcBef>
              <a:buClr>
                <a:srgbClr val="080808"/>
              </a:buClr>
              <a:buChar char="•"/>
              <a:tabLst>
                <a:tab pos="130810" algn="l"/>
              </a:tabLst>
            </a:pPr>
            <a:r>
              <a:rPr sz="1000" spc="-35" dirty="0">
                <a:solidFill>
                  <a:srgbClr val="383838"/>
                </a:solidFill>
                <a:latin typeface="Arial MT"/>
                <a:cs typeface="Arial MT"/>
              </a:rPr>
              <a:t>Creatq</a:t>
            </a:r>
            <a:r>
              <a:rPr sz="1000" spc="-4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12121"/>
                </a:solidFill>
                <a:latin typeface="Arial MT"/>
                <a:cs typeface="Arial MT"/>
              </a:rPr>
              <a:t>/</a:t>
            </a:r>
            <a:r>
              <a:rPr sz="1000" spc="1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1F1F"/>
                </a:solidFill>
                <a:latin typeface="Arial MT"/>
                <a:cs typeface="Arial MT"/>
              </a:rPr>
              <a:t>update </a:t>
            </a:r>
            <a:r>
              <a:rPr sz="1000" spc="-10" dirty="0">
                <a:solidFill>
                  <a:srgbClr val="0A0A0A"/>
                </a:solidFill>
                <a:latin typeface="Arial MT"/>
                <a:cs typeface="Arial MT"/>
              </a:rPr>
              <a:t>prescription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358189" y="3176337"/>
            <a:ext cx="633663" cy="216568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10415870" y="3064933"/>
            <a:ext cx="876300" cy="6032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415"/>
              </a:spcBef>
              <a:buClr>
                <a:srgbClr val="0A0A0A"/>
              </a:buClr>
              <a:buChar char="•"/>
              <a:tabLst>
                <a:tab pos="128905" algn="l"/>
              </a:tabLst>
            </a:pPr>
            <a:r>
              <a:rPr sz="1000" spc="-10" dirty="0">
                <a:solidFill>
                  <a:srgbClr val="343434"/>
                </a:solidFill>
                <a:latin typeface="Arial MT"/>
                <a:cs typeface="Arial MT"/>
              </a:rPr>
              <a:t>Prescriptions</a:t>
            </a:r>
            <a:endParaRPr sz="1000">
              <a:latin typeface="Arial MT"/>
              <a:cs typeface="Arial MT"/>
            </a:endParaRPr>
          </a:p>
          <a:p>
            <a:pPr marL="128270" indent="-115570">
              <a:lnSpc>
                <a:spcPct val="100000"/>
              </a:lnSpc>
              <a:spcBef>
                <a:spcPts val="315"/>
              </a:spcBef>
              <a:buClr>
                <a:srgbClr val="000000"/>
              </a:buClr>
              <a:buChar char="•"/>
              <a:tabLst>
                <a:tab pos="128270" algn="l"/>
              </a:tabLst>
            </a:pPr>
            <a:r>
              <a:rPr sz="1000" spc="-10" dirty="0">
                <a:solidFill>
                  <a:srgbClr val="2F2F2F"/>
                </a:solidFill>
                <a:latin typeface="Arial MT"/>
                <a:cs typeface="Arial MT"/>
              </a:rPr>
              <a:t>History</a:t>
            </a:r>
            <a:endParaRPr sz="1000">
              <a:latin typeface="Arial MT"/>
              <a:cs typeface="Arial MT"/>
            </a:endParaRPr>
          </a:p>
          <a:p>
            <a:pPr marL="130810" indent="-118110">
              <a:lnSpc>
                <a:spcPct val="100000"/>
              </a:lnSpc>
              <a:spcBef>
                <a:spcPts val="315"/>
              </a:spcBef>
              <a:buClr>
                <a:srgbClr val="0F0F0F"/>
              </a:buClr>
              <a:buChar char="•"/>
              <a:tabLst>
                <a:tab pos="130810" algn="l"/>
              </a:tabLst>
            </a:pPr>
            <a:r>
              <a:rPr sz="1000" dirty="0">
                <a:solidFill>
                  <a:srgbClr val="1C1C1C"/>
                </a:solidFill>
                <a:latin typeface="Arial MT"/>
                <a:cs typeface="Arial MT"/>
              </a:rPr>
              <a:t>Audit</a:t>
            </a:r>
            <a:r>
              <a:rPr sz="1000" spc="6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31313"/>
                </a:solidFill>
                <a:latin typeface="Arial MT"/>
                <a:cs typeface="Arial MT"/>
              </a:rPr>
              <a:t>Logs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108692" y="3425881"/>
            <a:ext cx="1492885" cy="5632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8905" indent="-116205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Char char="•"/>
              <a:tabLst>
                <a:tab pos="128905" algn="l"/>
              </a:tabLst>
            </a:pPr>
            <a:r>
              <a:rPr sz="1000" dirty="0">
                <a:solidFill>
                  <a:srgbClr val="161616"/>
                </a:solidFill>
                <a:latin typeface="Arial MT"/>
                <a:cs typeface="Arial MT"/>
              </a:rPr>
              <a:t>Web</a:t>
            </a:r>
            <a:r>
              <a:rPr sz="1000" spc="-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B2B2B"/>
                </a:solidFill>
                <a:latin typeface="Arial MT"/>
                <a:cs typeface="Arial MT"/>
              </a:rPr>
              <a:t>/</a:t>
            </a:r>
            <a:r>
              <a:rPr sz="1000" spc="9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Mobile</a:t>
            </a:r>
            <a:r>
              <a:rPr sz="1000" spc="-70" dirty="0"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A0A0A"/>
                </a:solidFill>
                <a:latin typeface="Arial MT"/>
                <a:cs typeface="Arial MT"/>
              </a:rPr>
              <a:t>Interface</a:t>
            </a:r>
            <a:endParaRPr sz="1000">
              <a:latin typeface="Arial MT"/>
              <a:cs typeface="Arial MT"/>
            </a:endParaRPr>
          </a:p>
          <a:p>
            <a:pPr marL="128270" indent="-115570">
              <a:lnSpc>
                <a:spcPct val="100000"/>
              </a:lnSpc>
              <a:spcBef>
                <a:spcPts val="190"/>
              </a:spcBef>
              <a:buClr>
                <a:srgbClr val="000000"/>
              </a:buClr>
              <a:buChar char="•"/>
              <a:tabLst>
                <a:tab pos="128270" algn="l"/>
              </a:tabLst>
            </a:pPr>
            <a:r>
              <a:rPr sz="1000" spc="-10" dirty="0">
                <a:solidFill>
                  <a:srgbClr val="0C0C0C"/>
                </a:solidFill>
                <a:latin typeface="Arial MT"/>
                <a:cs typeface="Arial MT"/>
              </a:rPr>
              <a:t>Role-</a:t>
            </a:r>
            <a:r>
              <a:rPr sz="1000" dirty="0">
                <a:solidFill>
                  <a:srgbClr val="0C0C0C"/>
                </a:solidFill>
                <a:latin typeface="Arial MT"/>
                <a:cs typeface="Arial MT"/>
              </a:rPr>
              <a:t>based</a:t>
            </a:r>
            <a:r>
              <a:rPr sz="1000" spc="3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C0C0C"/>
                </a:solidFill>
                <a:latin typeface="Arial MT"/>
                <a:cs typeface="Arial MT"/>
              </a:rPr>
              <a:t>dashboards</a:t>
            </a:r>
            <a:endParaRPr sz="1000">
              <a:latin typeface="Arial MT"/>
              <a:cs typeface="Arial MT"/>
            </a:endParaRPr>
          </a:p>
          <a:p>
            <a:pPr marL="128270" indent="-11557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Char char="•"/>
              <a:tabLst>
                <a:tab pos="128270" algn="l"/>
              </a:tabLst>
            </a:pPr>
            <a:r>
              <a:rPr sz="1000" spc="-35" dirty="0">
                <a:solidFill>
                  <a:srgbClr val="111111"/>
                </a:solidFill>
                <a:latin typeface="Arial MT"/>
                <a:cs typeface="Arial MT"/>
              </a:rPr>
              <a:t>Responsive</a:t>
            </a:r>
            <a:r>
              <a:rPr sz="1000" spc="5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61616"/>
                </a:solidFill>
                <a:latin typeface="Arial MT"/>
                <a:cs typeface="Arial MT"/>
              </a:rPr>
              <a:t>Design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6" name="object 4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5326" y="3946357"/>
            <a:ext cx="280736" cy="19250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358189" y="3665621"/>
            <a:ext cx="633663" cy="56949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563978" y="4026568"/>
            <a:ext cx="393031" cy="208547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5766551" y="3417859"/>
            <a:ext cx="1771014" cy="75184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75920" indent="-11747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Char char="•"/>
              <a:tabLst>
                <a:tab pos="375920" algn="l"/>
              </a:tabLst>
            </a:pP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Authenticahon</a:t>
            </a:r>
            <a:endParaRPr sz="1000">
              <a:latin typeface="Arial MT"/>
              <a:cs typeface="Arial MT"/>
            </a:endParaRPr>
          </a:p>
          <a:p>
            <a:pPr marL="376555" indent="-118110">
              <a:lnSpc>
                <a:spcPct val="100000"/>
              </a:lnSpc>
              <a:spcBef>
                <a:spcPts val="220"/>
              </a:spcBef>
              <a:buClr>
                <a:srgbClr val="000000"/>
              </a:buClr>
              <a:buChar char="•"/>
              <a:tabLst>
                <a:tab pos="376555" algn="l"/>
              </a:tabLst>
            </a:pPr>
            <a:r>
              <a:rPr sz="1000" spc="-10" dirty="0">
                <a:solidFill>
                  <a:srgbClr val="0E0E0E"/>
                </a:solidFill>
                <a:latin typeface="Arial MT"/>
                <a:cs typeface="Arial MT"/>
              </a:rPr>
              <a:t>Author</a:t>
            </a:r>
            <a:endParaRPr sz="1000">
              <a:latin typeface="Arial MT"/>
              <a:cs typeface="Arial MT"/>
            </a:endParaRPr>
          </a:p>
          <a:p>
            <a:pPr marL="12700" marR="5080" indent="361950">
              <a:lnSpc>
                <a:spcPct val="118000"/>
              </a:lnSpc>
              <a:spcBef>
                <a:spcPts val="30"/>
              </a:spcBef>
              <a:buClr>
                <a:srgbClr val="000000"/>
              </a:buClr>
              <a:buChar char="•"/>
              <a:tabLst>
                <a:tab pos="257810" algn="l"/>
                <a:tab pos="374650" algn="l"/>
              </a:tabLst>
            </a:pPr>
            <a:r>
              <a:rPr sz="1000" dirty="0">
                <a:solidFill>
                  <a:srgbClr val="181818"/>
                </a:solidFill>
                <a:latin typeface="Arial MT"/>
                <a:cs typeface="Arial MT"/>
              </a:rPr>
              <a:t>Prescription</a:t>
            </a:r>
            <a:r>
              <a:rPr sz="1000" spc="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C1C1C"/>
                </a:solidFill>
                <a:latin typeface="Arial MT"/>
                <a:cs typeface="Arial MT"/>
              </a:rPr>
              <a:t>&amp;</a:t>
            </a:r>
            <a:r>
              <a:rPr sz="1000" spc="9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C1C1C"/>
                </a:solidFill>
                <a:latin typeface="Arial MT"/>
                <a:cs typeface="Arial MT"/>
              </a:rPr>
              <a:t>Workflow </a:t>
            </a:r>
            <a:r>
              <a:rPr sz="1000" spc="-50" dirty="0">
                <a:solidFill>
                  <a:srgbClr val="879AA8"/>
                </a:solidFill>
                <a:latin typeface="Arial MT"/>
                <a:cs typeface="Arial MT"/>
              </a:rPr>
              <a:t>I</a:t>
            </a:r>
            <a:r>
              <a:rPr sz="1000" dirty="0">
                <a:solidFill>
                  <a:srgbClr val="879AA8"/>
                </a:solidFill>
                <a:latin typeface="Arial MT"/>
                <a:cs typeface="Arial MT"/>
              </a:rPr>
              <a:t>	</a:t>
            </a:r>
            <a:r>
              <a:rPr sz="1000" dirty="0">
                <a:solidFill>
                  <a:srgbClr val="0A0A0A"/>
                </a:solidFill>
                <a:latin typeface="Arial MT"/>
                <a:cs typeface="Arial MT"/>
              </a:rPr>
              <a:t>•</a:t>
            </a:r>
            <a:r>
              <a:rPr sz="1000" spc="365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C1C1C"/>
                </a:solidFill>
                <a:latin typeface="Arial MT"/>
                <a:cs typeface="Arial MT"/>
              </a:rPr>
              <a:t>APIs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390021" y="4026568"/>
            <a:ext cx="16042" cy="136357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224210" y="4026568"/>
            <a:ext cx="1989221" cy="2085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76989" y="4299284"/>
            <a:ext cx="529389" cy="200526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1055303" y="3923185"/>
            <a:ext cx="1161415" cy="56324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415"/>
              </a:spcBef>
            </a:pPr>
            <a:r>
              <a:rPr sz="1000" b="1" spc="50" dirty="0">
                <a:solidFill>
                  <a:srgbClr val="264969"/>
                </a:solidFill>
                <a:latin typeface="Arial" panose="020B0604020202020204"/>
                <a:cs typeface="Arial" panose="020B0604020202020204"/>
              </a:rPr>
              <a:t>ADMIN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 marL="128270" indent="-115570">
              <a:lnSpc>
                <a:spcPct val="100000"/>
              </a:lnSpc>
              <a:spcBef>
                <a:spcPts val="315"/>
              </a:spcBef>
              <a:buClr>
                <a:srgbClr val="000000"/>
              </a:buClr>
              <a:buChar char="•"/>
              <a:tabLst>
                <a:tab pos="128270" algn="l"/>
              </a:tabLst>
            </a:pPr>
            <a:r>
              <a:rPr sz="1000" spc="-45" dirty="0">
                <a:solidFill>
                  <a:srgbClr val="1A1A1A"/>
                </a:solidFill>
                <a:latin typeface="Arial MT"/>
                <a:cs typeface="Arial MT"/>
              </a:rPr>
              <a:t>User</a:t>
            </a:r>
            <a:r>
              <a:rPr sz="1000" spc="-1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81818"/>
                </a:solidFill>
                <a:latin typeface="Arial MT"/>
                <a:cs typeface="Arial MT"/>
              </a:rPr>
              <a:t>management</a:t>
            </a:r>
            <a:endParaRPr sz="1000">
              <a:latin typeface="Arial MT"/>
              <a:cs typeface="Arial MT"/>
            </a:endParaRPr>
          </a:p>
          <a:p>
            <a:pPr marL="132715" indent="-120015">
              <a:lnSpc>
                <a:spcPct val="100000"/>
              </a:lnSpc>
              <a:buClr>
                <a:srgbClr val="0A0A0A"/>
              </a:buClr>
              <a:buChar char="•"/>
              <a:tabLst>
                <a:tab pos="132715" algn="l"/>
              </a:tabLst>
            </a:pPr>
            <a:r>
              <a:rPr sz="1000" spc="-60" dirty="0">
                <a:solidFill>
                  <a:srgbClr val="131313"/>
                </a:solidFill>
                <a:latin typeface="Arial MT"/>
                <a:cs typeface="Arial MT"/>
              </a:rPr>
              <a:t>Syatem</a:t>
            </a:r>
            <a:r>
              <a:rPr sz="1000" spc="2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C0C0C"/>
                </a:solidFill>
                <a:latin typeface="Arial MT"/>
                <a:cs typeface="Arial MT"/>
              </a:rPr>
              <a:t>monitoring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541207" y="4619680"/>
            <a:ext cx="909319" cy="179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10" dirty="0">
                <a:solidFill>
                  <a:srgbClr val="315285"/>
                </a:solidFill>
                <a:latin typeface="Arial MT"/>
                <a:cs typeface="Arial MT"/>
              </a:rPr>
              <a:t>R</a:t>
            </a:r>
            <a:r>
              <a:rPr sz="1000" spc="-580" dirty="0">
                <a:solidFill>
                  <a:srgbClr val="315285"/>
                </a:solidFill>
                <a:latin typeface="Arial MT"/>
                <a:cs typeface="Arial MT"/>
              </a:rPr>
              <a:t>E</a:t>
            </a:r>
            <a:r>
              <a:rPr sz="1000" spc="-60" dirty="0">
                <a:solidFill>
                  <a:srgbClr val="284969"/>
                </a:solidFill>
                <a:latin typeface="Arial MT"/>
                <a:cs typeface="Arial MT"/>
              </a:rPr>
              <a:t>P</a:t>
            </a:r>
            <a:r>
              <a:rPr sz="1000" spc="-65" dirty="0">
                <a:solidFill>
                  <a:srgbClr val="315285"/>
                </a:solidFill>
                <a:latin typeface="Arial MT"/>
                <a:cs typeface="Arial MT"/>
              </a:rPr>
              <a:t>Q</a:t>
            </a:r>
            <a:r>
              <a:rPr sz="1000" spc="15" dirty="0">
                <a:solidFill>
                  <a:srgbClr val="2F417C"/>
                </a:solidFill>
                <a:latin typeface="Arial MT"/>
                <a:cs typeface="Arial MT"/>
              </a:rPr>
              <a:t>L</a:t>
            </a:r>
            <a:r>
              <a:rPr sz="1000" spc="25" dirty="0">
                <a:solidFill>
                  <a:srgbClr val="2F417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D3B66"/>
                </a:solidFill>
                <a:latin typeface="Arial MT"/>
                <a:cs typeface="Arial MT"/>
              </a:rPr>
              <a:t>C</a:t>
            </a:r>
            <a:r>
              <a:rPr sz="1000" spc="405" dirty="0">
                <a:solidFill>
                  <a:srgbClr val="1D3B6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3366B"/>
                </a:solidFill>
                <a:latin typeface="Arial MT"/>
                <a:cs typeface="Arial MT"/>
              </a:rPr>
              <a:t>T</a:t>
            </a:r>
            <a:r>
              <a:rPr sz="1000" spc="55" dirty="0">
                <a:solidFill>
                  <a:srgbClr val="23366B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2D4F77"/>
                </a:solidFill>
                <a:latin typeface="Arial MT"/>
                <a:cs typeface="Arial MT"/>
              </a:rPr>
              <a:t>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35754" y="4619680"/>
            <a:ext cx="1028700" cy="179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4535" algn="l"/>
              </a:tabLst>
            </a:pPr>
            <a:r>
              <a:rPr sz="1000" spc="-10" dirty="0">
                <a:solidFill>
                  <a:srgbClr val="264477"/>
                </a:solidFill>
                <a:latin typeface="Arial MT"/>
                <a:cs typeface="Arial MT"/>
              </a:rPr>
              <a:t>ERVICES</a:t>
            </a:r>
            <a:r>
              <a:rPr sz="1000" dirty="0">
                <a:solidFill>
                  <a:srgbClr val="264477"/>
                </a:solidFill>
                <a:latin typeface="Arial MT"/>
                <a:cs typeface="Arial MT"/>
              </a:rPr>
              <a:t>	</a:t>
            </a:r>
            <a:r>
              <a:rPr sz="1000" dirty="0">
                <a:solidFill>
                  <a:srgbClr val="465E62"/>
                </a:solidFill>
                <a:latin typeface="Arial MT"/>
                <a:cs typeface="Arial MT"/>
              </a:rPr>
              <a:t>IN</a:t>
            </a:r>
            <a:r>
              <a:rPr sz="1000" spc="360" dirty="0">
                <a:solidFill>
                  <a:srgbClr val="465E62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213A64"/>
                </a:solidFill>
                <a:latin typeface="Arial MT"/>
                <a:cs typeface="Arial MT"/>
              </a:rPr>
              <a:t>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891377" y="4619680"/>
            <a:ext cx="214629" cy="179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25" dirty="0">
                <a:solidFill>
                  <a:srgbClr val="364F85"/>
                </a:solidFill>
                <a:latin typeface="Arial MT"/>
                <a:cs typeface="Arial MT"/>
              </a:rPr>
              <a:t>UC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48" name="object 4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900610" y="4692315"/>
            <a:ext cx="312821" cy="8021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47537" y="4755147"/>
            <a:ext cx="332105" cy="0"/>
          </a:xfrm>
          <a:custGeom>
            <a:avLst/>
            <a:gdLst/>
            <a:ahLst/>
            <a:cxnLst/>
            <a:rect l="l" t="t" r="r" b="b"/>
            <a:pathLst>
              <a:path w="332105">
                <a:moveTo>
                  <a:pt x="0" y="0"/>
                </a:moveTo>
                <a:lnTo>
                  <a:pt x="33153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30905" y="4843379"/>
            <a:ext cx="7294245" cy="0"/>
          </a:xfrm>
          <a:custGeom>
            <a:avLst/>
            <a:gdLst/>
            <a:ahLst/>
            <a:cxnLst/>
            <a:rect l="l" t="t" r="r" b="b"/>
            <a:pathLst>
              <a:path w="7294245">
                <a:moveTo>
                  <a:pt x="0" y="0"/>
                </a:moveTo>
                <a:lnTo>
                  <a:pt x="7293810" y="0"/>
                </a:lnTo>
              </a:path>
            </a:pathLst>
          </a:custGeom>
          <a:ln w="3175">
            <a:solidFill>
              <a:srgbClr val="3F5B8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692062" y="4876800"/>
            <a:ext cx="489284" cy="88231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11271056" y="4812186"/>
            <a:ext cx="585470" cy="179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212121"/>
                </a:solidFill>
                <a:latin typeface="Arial MT"/>
                <a:cs typeface="Arial MT"/>
              </a:rPr>
              <a:t>Data</a:t>
            </a:r>
            <a:r>
              <a:rPr sz="1000" spc="-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5D5D5D"/>
                </a:solidFill>
                <a:latin typeface="Arial MT"/>
                <a:cs typeface="Arial MT"/>
              </a:rPr>
              <a:t>Ftow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097980" y="4988648"/>
            <a:ext cx="717550" cy="291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40"/>
              </a:lnSpc>
              <a:spcBef>
                <a:spcPts val="105"/>
              </a:spcBef>
            </a:pPr>
            <a:r>
              <a:rPr sz="1000" b="1" spc="-140" dirty="0">
                <a:solidFill>
                  <a:srgbClr val="113B72"/>
                </a:solidFill>
                <a:latin typeface="Arial" panose="020B0604020202020204"/>
                <a:cs typeface="Arial" panose="020B0604020202020204"/>
              </a:rPr>
              <a:t>NOTIFICATION</a:t>
            </a:r>
            <a:endParaRPr sz="1000">
              <a:latin typeface="Arial" panose="020B0604020202020204"/>
              <a:cs typeface="Arial" panose="020B0604020202020204"/>
            </a:endParaRPr>
          </a:p>
          <a:p>
            <a:pPr marL="15875">
              <a:lnSpc>
                <a:spcPts val="1040"/>
              </a:lnSpc>
            </a:pPr>
            <a:r>
              <a:rPr sz="1000" spc="-10" dirty="0">
                <a:solidFill>
                  <a:srgbClr val="566B9C"/>
                </a:solidFill>
                <a:latin typeface="Arial MT"/>
                <a:cs typeface="Arial MT"/>
              </a:rPr>
              <a:t>SERVICE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662989" y="5109410"/>
            <a:ext cx="360947" cy="360947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4010526" y="5053262"/>
            <a:ext cx="1363980" cy="377190"/>
            <a:chOff x="4010526" y="5053262"/>
            <a:chExt cx="1363980" cy="377190"/>
          </a:xfrm>
        </p:grpSpPr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10526" y="5053262"/>
              <a:ext cx="1363578" cy="8823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10526" y="5157537"/>
              <a:ext cx="665747" cy="272715"/>
            </a:xfrm>
            <a:prstGeom prst="rect">
              <a:avLst/>
            </a:prstGeom>
          </p:spPr>
        </p:pic>
      </p:grpSp>
      <p:pic>
        <p:nvPicPr>
          <p:cNvPr id="4" name="object 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727031" y="5125451"/>
            <a:ext cx="328863" cy="36094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160168" y="5045242"/>
            <a:ext cx="473242" cy="200526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7533061" y="4980628"/>
            <a:ext cx="600075" cy="29972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indent="635">
              <a:lnSpc>
                <a:spcPct val="79000"/>
              </a:lnSpc>
              <a:spcBef>
                <a:spcPts val="360"/>
              </a:spcBef>
            </a:pPr>
            <a:r>
              <a:rPr sz="1000" spc="-120" dirty="0">
                <a:solidFill>
                  <a:srgbClr val="1A365D"/>
                </a:solidFill>
                <a:latin typeface="Arial MT"/>
                <a:cs typeface="Arial MT"/>
              </a:rPr>
              <a:t>BACKUP</a:t>
            </a:r>
            <a:r>
              <a:rPr sz="1000" spc="30" dirty="0">
                <a:solidFill>
                  <a:srgbClr val="1A365D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31578A"/>
                </a:solidFill>
                <a:latin typeface="Arial MT"/>
                <a:cs typeface="Arial MT"/>
              </a:rPr>
              <a:t>&amp; </a:t>
            </a:r>
            <a:r>
              <a:rPr sz="1000" spc="-145" dirty="0">
                <a:solidFill>
                  <a:srgbClr val="2A4875"/>
                </a:solidFill>
                <a:latin typeface="Arial MT"/>
                <a:cs typeface="Arial MT"/>
              </a:rPr>
              <a:t>RECOVERY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019326" y="5010929"/>
            <a:ext cx="1087755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b="1" spc="-20" dirty="0">
                <a:solidFill>
                  <a:srgbClr val="3D5D8C"/>
                </a:solidFill>
                <a:latin typeface="Arial" panose="020B0604020202020204"/>
                <a:cs typeface="Arial" panose="020B0604020202020204"/>
              </a:rPr>
              <a:t>EXTERNAL</a:t>
            </a:r>
            <a:r>
              <a:rPr sz="800" b="1" spc="5" dirty="0">
                <a:solidFill>
                  <a:srgbClr val="3D5D8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800" b="1" spc="-10" dirty="0">
                <a:solidFill>
                  <a:srgbClr val="284B60"/>
                </a:solidFill>
                <a:latin typeface="Arial" panose="020B0604020202020204"/>
                <a:cs typeface="Arial" panose="020B0604020202020204"/>
              </a:rPr>
              <a:t>SERVICES</a:t>
            </a:r>
            <a:endParaRPr sz="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954439" y="5100943"/>
            <a:ext cx="32384" cy="179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00" spc="-70" dirty="0">
                <a:solidFill>
                  <a:srgbClr val="75878A"/>
                </a:solidFill>
                <a:latin typeface="Arial MT"/>
                <a:cs typeface="Arial MT"/>
              </a:rPr>
              <a:t>t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715405" y="5112752"/>
            <a:ext cx="948690" cy="1460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dirty="0">
                <a:solidFill>
                  <a:srgbClr val="526B87"/>
                </a:solidFill>
                <a:latin typeface="Arial MT"/>
                <a:cs typeface="Arial MT"/>
              </a:rPr>
              <a:t>8ECURFTY</a:t>
            </a:r>
            <a:r>
              <a:rPr sz="750" spc="305" dirty="0">
                <a:solidFill>
                  <a:srgbClr val="526B87"/>
                </a:solidFill>
                <a:latin typeface="Arial MT"/>
                <a:cs typeface="Arial MT"/>
              </a:rPr>
              <a:t> </a:t>
            </a:r>
            <a:r>
              <a:rPr sz="750" spc="40" dirty="0">
                <a:solidFill>
                  <a:srgbClr val="385987"/>
                </a:solidFill>
                <a:latin typeface="Arial MT"/>
                <a:cs typeface="Arial MT"/>
              </a:rPr>
              <a:t>LAYER</a:t>
            </a:r>
            <a:endParaRPr sz="75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438400" y="5454315"/>
            <a:ext cx="24063" cy="537410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2619407" y="5493975"/>
            <a:ext cx="1062990" cy="332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4145" indent="-131445">
              <a:lnSpc>
                <a:spcPct val="100000"/>
              </a:lnSpc>
              <a:spcBef>
                <a:spcPts val="105"/>
              </a:spcBef>
              <a:buChar char="•"/>
              <a:tabLst>
                <a:tab pos="144145" algn="l"/>
              </a:tabLst>
            </a:pPr>
            <a:r>
              <a:rPr sz="1000" spc="-85" dirty="0">
                <a:solidFill>
                  <a:srgbClr val="0C0C0C"/>
                </a:solidFill>
                <a:latin typeface="Arial MT"/>
                <a:cs typeface="Arial MT"/>
              </a:rPr>
              <a:t>Eme\l</a:t>
            </a:r>
            <a:r>
              <a:rPr sz="1000" spc="1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D2D2D"/>
                </a:solidFill>
                <a:latin typeface="Arial MT"/>
                <a:cs typeface="Arial MT"/>
              </a:rPr>
              <a:t>/</a:t>
            </a:r>
            <a:r>
              <a:rPr sz="1000" spc="4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61616"/>
                </a:solidFill>
                <a:latin typeface="Arial MT"/>
                <a:cs typeface="Arial MT"/>
              </a:rPr>
              <a:t>SMS</a:t>
            </a:r>
            <a:endParaRPr sz="1000">
              <a:latin typeface="Arial MT"/>
              <a:cs typeface="Arial MT"/>
            </a:endParaRPr>
          </a:p>
          <a:p>
            <a:pPr marL="146050" indent="-133350">
              <a:lnSpc>
                <a:spcPct val="100000"/>
              </a:lnSpc>
              <a:buClr>
                <a:srgbClr val="232323"/>
              </a:buClr>
              <a:buChar char="•"/>
              <a:tabLst>
                <a:tab pos="146050" algn="l"/>
              </a:tabLst>
            </a:pPr>
            <a:r>
              <a:rPr sz="1000" spc="-10" dirty="0">
                <a:solidFill>
                  <a:srgbClr val="161616"/>
                </a:solidFill>
                <a:latin typeface="Arial MT"/>
                <a:cs typeface="Arial MT"/>
              </a:rPr>
              <a:t>Alerts</a:t>
            </a:r>
            <a:r>
              <a:rPr sz="1000" spc="-4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61616"/>
                </a:solidFill>
                <a:latin typeface="Arial MT"/>
                <a:cs typeface="Arial MT"/>
              </a:rPr>
              <a:t>&amp;</a:t>
            </a:r>
            <a:r>
              <a:rPr sz="1000" spc="-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Updates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082130" y="5489964"/>
            <a:ext cx="1412240" cy="335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92555" algn="l"/>
              </a:tabLst>
            </a:pPr>
            <a:r>
              <a:rPr sz="1000" dirty="0">
                <a:solidFill>
                  <a:srgbClr val="828282"/>
                </a:solidFill>
                <a:latin typeface="Arial MT"/>
                <a:cs typeface="Arial MT"/>
              </a:rPr>
              <a:t>I</a:t>
            </a:r>
            <a:r>
              <a:rPr sz="1000" spc="130" dirty="0">
                <a:solidFill>
                  <a:srgbClr val="828282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•</a:t>
            </a:r>
            <a:r>
              <a:rPr sz="1000" spc="320" dirty="0"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81818"/>
                </a:solidFill>
                <a:latin typeface="Arial MT"/>
                <a:cs typeface="Arial MT"/>
              </a:rPr>
              <a:t>Prescription</a:t>
            </a:r>
            <a:r>
              <a:rPr sz="1000" spc="-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C0C0C"/>
                </a:solidFill>
                <a:latin typeface="Arial MT"/>
                <a:cs typeface="Arial MT"/>
              </a:rPr>
              <a:t>Files</a:t>
            </a:r>
            <a:r>
              <a:rPr sz="1000" dirty="0">
                <a:solidFill>
                  <a:srgbClr val="0C0C0C"/>
                </a:solidFill>
                <a:latin typeface="Arial MT"/>
                <a:cs typeface="Arial MT"/>
              </a:rPr>
              <a:t>	</a:t>
            </a:r>
            <a:r>
              <a:rPr sz="1000" spc="-170" dirty="0">
                <a:solidFill>
                  <a:srgbClr val="BABABA"/>
                </a:solidFill>
                <a:latin typeface="Arial MT"/>
                <a:cs typeface="Arial MT"/>
              </a:rPr>
              <a:t>t</a:t>
            </a:r>
            <a:endParaRPr sz="1000">
              <a:latin typeface="Arial MT"/>
              <a:cs typeface="Arial MT"/>
            </a:endParaRPr>
          </a:p>
          <a:p>
            <a:pPr marL="213360" indent="-115570">
              <a:lnSpc>
                <a:spcPct val="100000"/>
              </a:lnSpc>
              <a:spcBef>
                <a:spcPts val="35"/>
              </a:spcBef>
              <a:buClr>
                <a:srgbClr val="1A1A1A"/>
              </a:buClr>
              <a:buChar char="•"/>
              <a:tabLst>
                <a:tab pos="213360" algn="l"/>
              </a:tabLst>
            </a:pPr>
            <a:r>
              <a:rPr sz="1000" spc="-55" dirty="0">
                <a:solidFill>
                  <a:srgbClr val="2F2F2F"/>
                </a:solidFill>
                <a:latin typeface="Arial MT"/>
                <a:cs typeface="Arial MT"/>
              </a:rPr>
              <a:t>Reports</a:t>
            </a:r>
            <a:r>
              <a:rPr sz="1000" spc="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12121"/>
                </a:solidFill>
                <a:latin typeface="Arial MT"/>
                <a:cs typeface="Arial MT"/>
              </a:rPr>
              <a:t>/</a:t>
            </a:r>
            <a:r>
              <a:rPr sz="1000" spc="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42424"/>
                </a:solidFill>
                <a:latin typeface="Arial MT"/>
                <a:cs typeface="Arial MT"/>
              </a:rPr>
              <a:t>Documents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583380" y="5489964"/>
            <a:ext cx="899794" cy="335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 marR="5080" indent="-135255" algn="r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Char char="•"/>
              <a:tabLst>
                <a:tab pos="135255" algn="l"/>
              </a:tabLst>
            </a:pPr>
            <a:r>
              <a:rPr sz="1000" spc="-25" dirty="0">
                <a:solidFill>
                  <a:srgbClr val="161616"/>
                </a:solidFill>
                <a:latin typeface="Arial MT"/>
                <a:cs typeface="Arial MT"/>
              </a:rPr>
              <a:t>Activity</a:t>
            </a:r>
            <a:r>
              <a:rPr sz="1000" spc="-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61616"/>
                </a:solidFill>
                <a:latin typeface="Arial MT"/>
                <a:cs typeface="Arial MT"/>
              </a:rPr>
              <a:t>Logs</a:t>
            </a:r>
            <a:endParaRPr sz="1000">
              <a:latin typeface="Arial MT"/>
              <a:cs typeface="Arial MT"/>
            </a:endParaRPr>
          </a:p>
          <a:p>
            <a:pPr marR="12700" algn="r">
              <a:lnSpc>
                <a:spcPct val="100000"/>
              </a:lnSpc>
              <a:spcBef>
                <a:spcPts val="35"/>
              </a:spcBef>
            </a:pPr>
            <a:r>
              <a:rPr sz="1000" dirty="0">
                <a:solidFill>
                  <a:srgbClr val="898989"/>
                </a:solidFill>
                <a:latin typeface="Arial MT"/>
                <a:cs typeface="Arial MT"/>
              </a:rPr>
              <a:t>,</a:t>
            </a:r>
            <a:r>
              <a:rPr sz="1000" spc="114" dirty="0">
                <a:solidFill>
                  <a:srgbClr val="89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81818"/>
                </a:solidFill>
                <a:latin typeface="Arial MT"/>
                <a:cs typeface="Arial MT"/>
              </a:rPr>
              <a:t>•</a:t>
            </a:r>
            <a:r>
              <a:rPr sz="1000" spc="4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000" spc="-65" dirty="0">
                <a:solidFill>
                  <a:srgbClr val="3D3D3D"/>
                </a:solidFill>
                <a:latin typeface="Arial MT"/>
                <a:cs typeface="Arial MT"/>
              </a:rPr>
              <a:t>System</a:t>
            </a:r>
            <a:r>
              <a:rPr sz="1000" spc="-2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232323"/>
                </a:solidFill>
                <a:latin typeface="Arial MT"/>
                <a:cs typeface="Arial MT"/>
              </a:rPr>
              <a:t>Logs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972409" y="5490881"/>
            <a:ext cx="1158240" cy="3175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850" dirty="0">
                <a:solidFill>
                  <a:srgbClr val="708285"/>
                </a:solidFill>
                <a:latin typeface="Arial MT"/>
                <a:cs typeface="Arial MT"/>
              </a:rPr>
              <a:t>,</a:t>
            </a:r>
            <a:r>
              <a:rPr sz="850" spc="365" dirty="0">
                <a:solidFill>
                  <a:srgbClr val="708285"/>
                </a:solidFill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•</a:t>
            </a:r>
            <a:r>
              <a:rPr sz="850" spc="465" dirty="0"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11111"/>
                </a:solidFill>
                <a:latin typeface="Arial MT"/>
                <a:cs typeface="Arial MT"/>
              </a:rPr>
              <a:t>Data</a:t>
            </a:r>
            <a:r>
              <a:rPr sz="850" spc="2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31313"/>
                </a:solidFill>
                <a:latin typeface="Arial MT"/>
                <a:cs typeface="Arial MT"/>
              </a:rPr>
              <a:t>Backup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750" spc="10" dirty="0">
                <a:solidFill>
                  <a:srgbClr val="8A95A0"/>
                </a:solidFill>
                <a:latin typeface="Arial MT"/>
                <a:cs typeface="Arial MT"/>
              </a:rPr>
              <a:t>:</a:t>
            </a:r>
            <a:r>
              <a:rPr sz="750" spc="440" dirty="0">
                <a:solidFill>
                  <a:srgbClr val="8A95A0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0F0F0F"/>
                </a:solidFill>
                <a:latin typeface="Arial MT"/>
                <a:cs typeface="Arial MT"/>
              </a:rPr>
              <a:t>•</a:t>
            </a:r>
            <a:r>
              <a:rPr sz="750" spc="165" dirty="0">
                <a:solidFill>
                  <a:srgbClr val="0F0F0F"/>
                </a:solidFill>
                <a:latin typeface="Arial MT"/>
                <a:cs typeface="Arial MT"/>
              </a:rPr>
              <a:t>  </a:t>
            </a:r>
            <a:r>
              <a:rPr sz="750" b="1" spc="10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Disaster</a:t>
            </a:r>
            <a:r>
              <a:rPr sz="750" b="1" spc="95" dirty="0">
                <a:solidFill>
                  <a:srgbClr val="33333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50" b="1" spc="-10" dirty="0">
                <a:solidFill>
                  <a:srgbClr val="1F1F1F"/>
                </a:solidFill>
                <a:latin typeface="Arial" panose="020B0604020202020204"/>
                <a:cs typeface="Arial" panose="020B0604020202020204"/>
              </a:rPr>
              <a:t>Recovery</a:t>
            </a:r>
            <a:endParaRPr sz="7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6" name="object 3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8365957" y="5550568"/>
            <a:ext cx="1066800" cy="112294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8448386" y="5630333"/>
            <a:ext cx="1123315" cy="315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9075" indent="-107950">
              <a:lnSpc>
                <a:spcPts val="1135"/>
              </a:lnSpc>
              <a:spcBef>
                <a:spcPts val="105"/>
              </a:spcBef>
              <a:buClr>
                <a:srgbClr val="000000"/>
              </a:buClr>
              <a:buChar char="•"/>
              <a:tabLst>
                <a:tab pos="219075" algn="l"/>
              </a:tabLst>
            </a:pPr>
            <a:r>
              <a:rPr sz="1000" spc="-80" dirty="0">
                <a:solidFill>
                  <a:srgbClr val="212121"/>
                </a:solidFill>
                <a:latin typeface="Arial MT"/>
                <a:cs typeface="Arial MT"/>
              </a:rPr>
              <a:t>Pharmacy</a:t>
            </a:r>
            <a:r>
              <a:rPr sz="1000" spc="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383838"/>
                </a:solidFill>
                <a:latin typeface="Arial MT"/>
                <a:cs typeface="Arial MT"/>
              </a:rPr>
              <a:t>APU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ts val="1135"/>
              </a:lnSpc>
            </a:pPr>
            <a:r>
              <a:rPr sz="1000" dirty="0">
                <a:solidFill>
                  <a:srgbClr val="808080"/>
                </a:solidFill>
                <a:latin typeface="Arial MT"/>
                <a:cs typeface="Arial MT"/>
              </a:rPr>
              <a:t>'</a:t>
            </a:r>
            <a:r>
              <a:rPr sz="1000" spc="290" dirty="0">
                <a:solidFill>
                  <a:srgbClr val="808080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•</a:t>
            </a:r>
            <a:r>
              <a:rPr sz="1000" spc="285" dirty="0">
                <a:latin typeface="Arial MT"/>
                <a:cs typeface="Arial MT"/>
              </a:rPr>
              <a:t> </a:t>
            </a:r>
            <a:r>
              <a:rPr sz="1000" spc="-95" dirty="0">
                <a:solidFill>
                  <a:srgbClr val="151515"/>
                </a:solidFill>
                <a:latin typeface="Arial MT"/>
                <a:cs typeface="Arial MT"/>
              </a:rPr>
              <a:t>Payment</a:t>
            </a:r>
            <a:r>
              <a:rPr sz="1000" spc="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000" spc="-70" dirty="0">
                <a:solidFill>
                  <a:srgbClr val="383838"/>
                </a:solidFill>
                <a:latin typeface="Arial MT"/>
                <a:cs typeface="Arial MT"/>
              </a:rPr>
              <a:t>Gateway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601200" y="5334000"/>
            <a:ext cx="2543175" cy="601980"/>
            <a:chOff x="9601200" y="5334000"/>
            <a:chExt cx="2543175" cy="601980"/>
          </a:xfrm>
        </p:grpSpPr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601200" y="5550568"/>
              <a:ext cx="1299410" cy="38501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676021" y="5334000"/>
              <a:ext cx="1467852" cy="20854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069052" y="5662863"/>
              <a:ext cx="1010652" cy="104273"/>
            </a:xfrm>
            <a:prstGeom prst="rect">
              <a:avLst/>
            </a:prstGeom>
          </p:spPr>
        </p:pic>
      </p:grpSp>
      <p:sp>
        <p:nvSpPr>
          <p:cNvPr id="80" name="object 80"/>
          <p:cNvSpPr txBox="1"/>
          <p:nvPr/>
        </p:nvSpPr>
        <p:spPr>
          <a:xfrm>
            <a:off x="11041950" y="5734606"/>
            <a:ext cx="401320" cy="179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35" dirty="0">
                <a:solidFill>
                  <a:srgbClr val="4F4F4F"/>
                </a:solidFill>
                <a:latin typeface="Arial MT"/>
                <a:cs typeface="Arial MT"/>
              </a:rPr>
              <a:t>Control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" name="object 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676400" y="6256421"/>
            <a:ext cx="409073" cy="352926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2179313" y="6288059"/>
            <a:ext cx="656590" cy="31559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3810">
              <a:lnSpc>
                <a:spcPts val="1070"/>
              </a:lnSpc>
              <a:spcBef>
                <a:spcPts val="250"/>
              </a:spcBef>
            </a:pPr>
            <a:r>
              <a:rPr sz="1000" spc="-125" dirty="0">
                <a:solidFill>
                  <a:srgbClr val="1A366E"/>
                </a:solidFill>
                <a:latin typeface="Arial MT"/>
                <a:cs typeface="Arial MT"/>
              </a:rPr>
              <a:t>DATA</a:t>
            </a:r>
            <a:r>
              <a:rPr sz="1000" spc="40" dirty="0">
                <a:solidFill>
                  <a:srgbClr val="1A366E"/>
                </a:solidFill>
                <a:latin typeface="Arial MT"/>
                <a:cs typeface="Arial MT"/>
              </a:rPr>
              <a:t> </a:t>
            </a:r>
            <a:r>
              <a:rPr sz="1000" spc="-125" dirty="0">
                <a:solidFill>
                  <a:srgbClr val="2A447C"/>
                </a:solidFill>
                <a:latin typeface="Arial MT"/>
                <a:cs typeface="Arial MT"/>
              </a:rPr>
              <a:t>FLOW</a:t>
            </a:r>
            <a:r>
              <a:rPr sz="1000" spc="-65" dirty="0">
                <a:solidFill>
                  <a:srgbClr val="2A447C"/>
                </a:solidFill>
                <a:latin typeface="Arial MT"/>
                <a:cs typeface="Arial MT"/>
              </a:rPr>
              <a:t> </a:t>
            </a:r>
            <a:r>
              <a:rPr sz="1000" spc="-65" dirty="0">
                <a:solidFill>
                  <a:srgbClr val="26446E"/>
                </a:solidFill>
                <a:latin typeface="Arial MT"/>
                <a:cs typeface="Arial MT"/>
              </a:rPr>
              <a:t>SU¥1MARY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444561" y="6255975"/>
            <a:ext cx="910590" cy="32385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294005">
              <a:lnSpc>
                <a:spcPts val="1140"/>
              </a:lnSpc>
              <a:spcBef>
                <a:spcPts val="195"/>
              </a:spcBef>
            </a:pPr>
            <a:r>
              <a:rPr sz="1000" spc="-20" dirty="0">
                <a:latin typeface="Arial MT"/>
                <a:cs typeface="Arial MT"/>
              </a:rPr>
              <a:t>User </a:t>
            </a:r>
            <a:r>
              <a:rPr sz="1000" spc="-10" dirty="0">
                <a:latin typeface="Arial MT"/>
                <a:cs typeface="Arial MT"/>
              </a:rPr>
              <a:t>Authentication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596062" y="6384757"/>
            <a:ext cx="272715" cy="88231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5125868" y="6244835"/>
            <a:ext cx="709295" cy="342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310"/>
              </a:lnSpc>
              <a:spcBef>
                <a:spcPts val="95"/>
              </a:spcBef>
            </a:pPr>
            <a:r>
              <a:rPr sz="1100" spc="-40" dirty="0">
                <a:latin typeface="Arial MT"/>
                <a:cs typeface="Arial MT"/>
              </a:rPr>
              <a:t>Role-</a:t>
            </a:r>
            <a:r>
              <a:rPr sz="1100" spc="-10" dirty="0">
                <a:latin typeface="Arial MT"/>
                <a:cs typeface="Arial MT"/>
              </a:rPr>
              <a:t>based</a:t>
            </a:r>
            <a:endParaRPr sz="1100">
              <a:latin typeface="Arial MT"/>
              <a:cs typeface="Arial MT"/>
            </a:endParaRPr>
          </a:p>
          <a:p>
            <a:pPr marL="29210">
              <a:lnSpc>
                <a:spcPts val="1190"/>
              </a:lnSpc>
            </a:pPr>
            <a:r>
              <a:rPr sz="1000" spc="-10" dirty="0">
                <a:latin typeface="Arial MT"/>
                <a:cs typeface="Arial MT"/>
              </a:rPr>
              <a:t>Dashboard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4" name="object 3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112042" y="6384757"/>
            <a:ext cx="272715" cy="88231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6669049" y="6239264"/>
            <a:ext cx="691515" cy="35179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85725" marR="5080" indent="-73660">
              <a:lnSpc>
                <a:spcPts val="1200"/>
              </a:lnSpc>
              <a:spcBef>
                <a:spcPts val="280"/>
              </a:spcBef>
            </a:pPr>
            <a:r>
              <a:rPr sz="1150" spc="-45" dirty="0">
                <a:solidFill>
                  <a:srgbClr val="0C0C0C"/>
                </a:solidFill>
                <a:latin typeface="Arial MT"/>
                <a:cs typeface="Arial MT"/>
              </a:rPr>
              <a:t>Application </a:t>
            </a:r>
            <a:r>
              <a:rPr sz="1150" spc="-10" dirty="0">
                <a:latin typeface="Arial MT"/>
                <a:cs typeface="Arial MT"/>
              </a:rPr>
              <a:t>Services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7652084" y="6384757"/>
            <a:ext cx="272715" cy="88231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8133536" y="6239264"/>
            <a:ext cx="589915" cy="35179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67945">
              <a:lnSpc>
                <a:spcPts val="1200"/>
              </a:lnSpc>
              <a:spcBef>
                <a:spcPts val="280"/>
              </a:spcBef>
            </a:pPr>
            <a:r>
              <a:rPr sz="1150" spc="-10" dirty="0">
                <a:solidFill>
                  <a:srgbClr val="0F0F0F"/>
                </a:solidFill>
                <a:latin typeface="Arial MT"/>
                <a:cs typeface="Arial MT"/>
              </a:rPr>
              <a:t>Central </a:t>
            </a:r>
            <a:r>
              <a:rPr sz="1150" spc="-70" dirty="0">
                <a:latin typeface="Arial MT"/>
                <a:cs typeface="Arial MT"/>
              </a:rPr>
              <a:t>Database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37" name="object 37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943473" y="6384757"/>
            <a:ext cx="280736" cy="88231"/>
          </a:xfrm>
          <a:prstGeom prst="rect">
            <a:avLst/>
          </a:prstGeom>
        </p:spPr>
      </p:pic>
      <p:sp>
        <p:nvSpPr>
          <p:cNvPr id="79" name="object 79"/>
          <p:cNvSpPr txBox="1"/>
          <p:nvPr/>
        </p:nvSpPr>
        <p:spPr>
          <a:xfrm>
            <a:off x="9393945" y="6255975"/>
            <a:ext cx="1125220" cy="332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88595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1D1D1D"/>
                </a:solidFill>
                <a:latin typeface="Arial MT"/>
                <a:cs typeface="Arial MT"/>
              </a:rPr>
              <a:t>Secure</a:t>
            </a:r>
            <a:r>
              <a:rPr sz="1000" spc="3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242424"/>
                </a:solidFill>
                <a:latin typeface="Arial MT"/>
                <a:cs typeface="Arial MT"/>
              </a:rPr>
              <a:t>Data </a:t>
            </a:r>
            <a:r>
              <a:rPr sz="1000" dirty="0">
                <a:latin typeface="Arial MT"/>
                <a:cs typeface="Arial MT"/>
              </a:rPr>
              <a:t>Retrieval</a:t>
            </a:r>
            <a:r>
              <a:rPr sz="1000" spc="135" dirty="0"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525252"/>
                </a:solidFill>
                <a:latin typeface="Arial MT"/>
                <a:cs typeface="Arial MT"/>
              </a:rPr>
              <a:t>/</a:t>
            </a:r>
            <a:r>
              <a:rPr sz="1000" spc="22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11111"/>
                </a:solidFill>
                <a:latin typeface="Arial MT"/>
                <a:cs typeface="Arial MT"/>
              </a:rPr>
              <a:t>Update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400" y="-59690"/>
            <a:ext cx="12333605" cy="69176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67001" y="671260"/>
            <a:ext cx="640080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lang="en-IN" spc="434" dirty="0"/>
              <a:t>PROJECT TECHNOLOGY</a:t>
            </a:r>
            <a:endParaRPr spc="360"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pc="170" dirty="0"/>
              <a:t>SOFT</a:t>
            </a:r>
            <a:r>
              <a:rPr spc="170" dirty="0"/>
              <a:t>WARE:</a:t>
            </a:r>
            <a:endParaRPr spc="170" dirty="0"/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pc="170" dirty="0"/>
          </a:p>
          <a:p>
            <a:pPr marL="12700" marR="142240" indent="142875">
              <a:lnSpc>
                <a:spcPct val="101000"/>
              </a:lnSpc>
              <a:buChar char="•"/>
              <a:tabLst>
                <a:tab pos="155575" algn="l"/>
              </a:tabLst>
            </a:pPr>
            <a:r>
              <a:rPr spc="105" dirty="0"/>
              <a:t>Front-</a:t>
            </a:r>
            <a:r>
              <a:rPr spc="75" dirty="0"/>
              <a:t>end:</a:t>
            </a:r>
            <a:r>
              <a:rPr spc="10" dirty="0"/>
              <a:t> </a:t>
            </a:r>
            <a:r>
              <a:rPr spc="165" dirty="0"/>
              <a:t>HTML,</a:t>
            </a:r>
            <a:r>
              <a:rPr dirty="0"/>
              <a:t> </a:t>
            </a:r>
            <a:r>
              <a:rPr spc="190" dirty="0"/>
              <a:t>CSS,</a:t>
            </a:r>
            <a:r>
              <a:rPr spc="75" dirty="0"/>
              <a:t> </a:t>
            </a:r>
            <a:r>
              <a:rPr spc="130" dirty="0"/>
              <a:t>JavaScript</a:t>
            </a:r>
            <a:r>
              <a:rPr spc="-55" dirty="0"/>
              <a:t> </a:t>
            </a:r>
            <a:r>
              <a:rPr dirty="0"/>
              <a:t>/</a:t>
            </a:r>
            <a:r>
              <a:rPr spc="25" dirty="0"/>
              <a:t> </a:t>
            </a:r>
            <a:r>
              <a:rPr spc="85" dirty="0"/>
              <a:t>mobile </a:t>
            </a:r>
            <a:r>
              <a:rPr spc="175" dirty="0"/>
              <a:t>UI</a:t>
            </a:r>
            <a:r>
              <a:rPr spc="-25" dirty="0"/>
              <a:t> </a:t>
            </a:r>
            <a:r>
              <a:rPr spc="100" dirty="0"/>
              <a:t>framework</a:t>
            </a:r>
            <a:endParaRPr spc="100" dirty="0"/>
          </a:p>
          <a:p>
            <a:pPr marL="12700" marR="5080" indent="142875">
              <a:lnSpc>
                <a:spcPct val="105000"/>
              </a:lnSpc>
              <a:spcBef>
                <a:spcPts val="5"/>
              </a:spcBef>
              <a:buChar char="•"/>
              <a:tabLst>
                <a:tab pos="155575" algn="l"/>
              </a:tabLst>
            </a:pPr>
            <a:r>
              <a:rPr spc="135" dirty="0"/>
              <a:t>Back-</a:t>
            </a:r>
            <a:r>
              <a:rPr spc="75" dirty="0"/>
              <a:t>end:</a:t>
            </a:r>
            <a:r>
              <a:rPr spc="10" dirty="0"/>
              <a:t> </a:t>
            </a:r>
            <a:r>
              <a:rPr spc="120" dirty="0"/>
              <a:t>Python</a:t>
            </a:r>
            <a:r>
              <a:rPr dirty="0"/>
              <a:t> /</a:t>
            </a:r>
            <a:r>
              <a:rPr spc="-55" dirty="0"/>
              <a:t> </a:t>
            </a:r>
            <a:r>
              <a:rPr spc="170" dirty="0"/>
              <a:t>Java</a:t>
            </a:r>
            <a:r>
              <a:rPr spc="-5" dirty="0"/>
              <a:t> </a:t>
            </a:r>
            <a:r>
              <a:rPr dirty="0"/>
              <a:t>/</a:t>
            </a:r>
            <a:r>
              <a:rPr spc="25" dirty="0"/>
              <a:t> </a:t>
            </a:r>
            <a:r>
              <a:rPr spc="100" dirty="0"/>
              <a:t>Node.js</a:t>
            </a:r>
            <a:r>
              <a:rPr spc="-15" dirty="0"/>
              <a:t> </a:t>
            </a:r>
            <a:r>
              <a:rPr spc="90" dirty="0"/>
              <a:t>based</a:t>
            </a:r>
            <a:r>
              <a:rPr spc="20" dirty="0"/>
              <a:t> </a:t>
            </a:r>
            <a:r>
              <a:rPr spc="160" dirty="0"/>
              <a:t>API </a:t>
            </a:r>
            <a:r>
              <a:rPr spc="75" dirty="0"/>
              <a:t>layer</a:t>
            </a:r>
            <a:endParaRPr spc="75" dirty="0"/>
          </a:p>
          <a:p>
            <a:pPr marL="155575" indent="-142875">
              <a:lnSpc>
                <a:spcPct val="100000"/>
              </a:lnSpc>
              <a:spcBef>
                <a:spcPts val="105"/>
              </a:spcBef>
              <a:buChar char="•"/>
              <a:tabLst>
                <a:tab pos="155575" algn="l"/>
              </a:tabLst>
            </a:pPr>
            <a:r>
              <a:rPr spc="100" dirty="0"/>
              <a:t>Database:</a:t>
            </a:r>
            <a:r>
              <a:rPr spc="10" dirty="0"/>
              <a:t> </a:t>
            </a:r>
            <a:r>
              <a:rPr spc="160" dirty="0"/>
              <a:t>MySQL</a:t>
            </a:r>
            <a:r>
              <a:rPr spc="10" dirty="0"/>
              <a:t> </a:t>
            </a:r>
            <a:r>
              <a:rPr dirty="0"/>
              <a:t>/</a:t>
            </a:r>
            <a:r>
              <a:rPr spc="25" dirty="0"/>
              <a:t> </a:t>
            </a:r>
            <a:r>
              <a:rPr spc="120" dirty="0"/>
              <a:t>PostgreSQL</a:t>
            </a:r>
            <a:endParaRPr spc="120" dirty="0"/>
          </a:p>
          <a:p>
            <a:pPr marL="155575" indent="-142875">
              <a:lnSpc>
                <a:spcPct val="100000"/>
              </a:lnSpc>
              <a:spcBef>
                <a:spcPts val="105"/>
              </a:spcBef>
              <a:buChar char="•"/>
              <a:tabLst>
                <a:tab pos="155575" algn="l"/>
              </a:tabLst>
            </a:pPr>
            <a:r>
              <a:rPr spc="95" dirty="0"/>
              <a:t>Development:</a:t>
            </a:r>
            <a:r>
              <a:rPr spc="20" dirty="0"/>
              <a:t> </a:t>
            </a:r>
            <a:r>
              <a:rPr spc="180" dirty="0"/>
              <a:t>VS</a:t>
            </a:r>
            <a:r>
              <a:rPr spc="60" dirty="0"/>
              <a:t> </a:t>
            </a:r>
            <a:r>
              <a:rPr spc="130" dirty="0"/>
              <a:t>Code</a:t>
            </a:r>
            <a:r>
              <a:rPr spc="-30" dirty="0"/>
              <a:t> </a:t>
            </a:r>
            <a:r>
              <a:rPr spc="120" dirty="0"/>
              <a:t>or</a:t>
            </a:r>
            <a:r>
              <a:rPr spc="10" dirty="0"/>
              <a:t> </a:t>
            </a:r>
            <a:r>
              <a:rPr spc="80" dirty="0"/>
              <a:t>equivalent</a:t>
            </a:r>
            <a:r>
              <a:rPr spc="30" dirty="0"/>
              <a:t> </a:t>
            </a:r>
            <a:r>
              <a:rPr spc="140" dirty="0"/>
              <a:t>IDE</a:t>
            </a:r>
            <a:endParaRPr spc="140" dirty="0"/>
          </a:p>
          <a:p>
            <a:pPr marL="155575" indent="-142875">
              <a:lnSpc>
                <a:spcPct val="100000"/>
              </a:lnSpc>
              <a:spcBef>
                <a:spcPts val="35"/>
              </a:spcBef>
              <a:buChar char="•"/>
              <a:tabLst>
                <a:tab pos="155575" algn="l"/>
              </a:tabLst>
            </a:pPr>
            <a:r>
              <a:rPr spc="100" dirty="0"/>
              <a:t>Version</a:t>
            </a:r>
            <a:r>
              <a:rPr spc="-5" dirty="0"/>
              <a:t> </a:t>
            </a:r>
            <a:r>
              <a:rPr spc="85" dirty="0"/>
              <a:t>control:</a:t>
            </a:r>
            <a:r>
              <a:rPr spc="10" dirty="0"/>
              <a:t> </a:t>
            </a:r>
            <a:r>
              <a:rPr spc="100" dirty="0"/>
              <a:t>Git</a:t>
            </a:r>
            <a:endParaRPr spc="100" dirty="0"/>
          </a:p>
          <a:p>
            <a:pPr marL="155575" indent="-142875">
              <a:lnSpc>
                <a:spcPct val="100000"/>
              </a:lnSpc>
              <a:spcBef>
                <a:spcPts val="110"/>
              </a:spcBef>
              <a:buChar char="•"/>
              <a:tabLst>
                <a:tab pos="155575" algn="l"/>
              </a:tabLst>
            </a:pPr>
            <a:r>
              <a:rPr spc="185" dirty="0"/>
              <a:t>API</a:t>
            </a:r>
            <a:r>
              <a:rPr spc="-25" dirty="0"/>
              <a:t> </a:t>
            </a:r>
            <a:r>
              <a:rPr spc="75" dirty="0"/>
              <a:t>testing:</a:t>
            </a:r>
            <a:r>
              <a:rPr spc="5" dirty="0"/>
              <a:t> </a:t>
            </a:r>
            <a:r>
              <a:rPr spc="110" dirty="0"/>
              <a:t>Postman</a:t>
            </a:r>
            <a:endParaRPr spc="110" dirty="0"/>
          </a:p>
          <a:p>
            <a:pPr marL="12700" marR="1166495" indent="142875">
              <a:lnSpc>
                <a:spcPts val="2330"/>
              </a:lnSpc>
              <a:spcBef>
                <a:spcPts val="95"/>
              </a:spcBef>
              <a:buChar char="•"/>
              <a:tabLst>
                <a:tab pos="155575" algn="l"/>
              </a:tabLst>
            </a:pPr>
            <a:r>
              <a:rPr spc="100" dirty="0"/>
              <a:t>Deployment:</a:t>
            </a:r>
            <a:r>
              <a:rPr spc="20" dirty="0"/>
              <a:t> </a:t>
            </a:r>
            <a:r>
              <a:rPr spc="130" dirty="0"/>
              <a:t>Cloud</a:t>
            </a:r>
            <a:r>
              <a:rPr spc="-45" dirty="0"/>
              <a:t> </a:t>
            </a:r>
            <a:r>
              <a:rPr spc="120" dirty="0"/>
              <a:t>or</a:t>
            </a:r>
            <a:r>
              <a:rPr spc="10" dirty="0"/>
              <a:t> </a:t>
            </a:r>
            <a:r>
              <a:rPr spc="85" dirty="0"/>
              <a:t>local</a:t>
            </a:r>
            <a:r>
              <a:rPr dirty="0"/>
              <a:t> </a:t>
            </a:r>
            <a:r>
              <a:rPr spc="70" dirty="0"/>
              <a:t>server </a:t>
            </a:r>
            <a:r>
              <a:rPr spc="85" dirty="0"/>
              <a:t>environment</a:t>
            </a:r>
            <a:endParaRPr spc="85" dirty="0"/>
          </a:p>
        </p:txBody>
      </p:sp>
      <p:sp>
        <p:nvSpPr>
          <p:cNvPr id="4" name="object 4"/>
          <p:cNvSpPr txBox="1"/>
          <p:nvPr/>
        </p:nvSpPr>
        <p:spPr>
          <a:xfrm>
            <a:off x="6324980" y="1661794"/>
            <a:ext cx="1460500" cy="5860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850" spc="1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HARD</a:t>
            </a:r>
            <a:r>
              <a:rPr sz="1850" spc="1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WARE:</a:t>
            </a:r>
            <a:endParaRPr sz="185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24980" y="2253678"/>
            <a:ext cx="5183505" cy="236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86715" indent="142875">
              <a:lnSpc>
                <a:spcPct val="101000"/>
              </a:lnSpc>
              <a:spcBef>
                <a:spcPts val="95"/>
              </a:spcBef>
              <a:buChar char="•"/>
              <a:tabLst>
                <a:tab pos="155575" algn="l"/>
              </a:tabLst>
            </a:pPr>
            <a:r>
              <a:rPr sz="1850" spc="9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Processor:</a:t>
            </a:r>
            <a:r>
              <a:rPr sz="1850" spc="1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9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Intel</a:t>
            </a:r>
            <a:r>
              <a:rPr sz="1850" spc="-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2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Core</a:t>
            </a:r>
            <a:r>
              <a:rPr sz="1850" spc="4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i5</a:t>
            </a:r>
            <a:r>
              <a:rPr sz="1850" spc="2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/</a:t>
            </a:r>
            <a:r>
              <a:rPr sz="1850" spc="2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9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AMD</a:t>
            </a:r>
            <a:r>
              <a:rPr sz="18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Ryzen</a:t>
            </a:r>
            <a:r>
              <a:rPr sz="18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5</a:t>
            </a:r>
            <a:r>
              <a:rPr sz="1850" spc="2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5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or </a:t>
            </a:r>
            <a:r>
              <a:rPr sz="1850" spc="8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above</a:t>
            </a:r>
            <a:endParaRPr sz="1850">
              <a:latin typeface="Cambria" panose="02040503050406030204"/>
              <a:cs typeface="Cambria" panose="02040503050406030204"/>
            </a:endParaRPr>
          </a:p>
          <a:p>
            <a:pPr marL="155575" indent="-142875">
              <a:lnSpc>
                <a:spcPct val="100000"/>
              </a:lnSpc>
              <a:spcBef>
                <a:spcPts val="110"/>
              </a:spcBef>
              <a:buChar char="•"/>
              <a:tabLst>
                <a:tab pos="155575" algn="l"/>
              </a:tabLst>
            </a:pPr>
            <a:r>
              <a:rPr sz="1850" spc="13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RAM:</a:t>
            </a:r>
            <a:r>
              <a:rPr sz="1850" spc="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9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8</a:t>
            </a:r>
            <a:r>
              <a:rPr sz="1850" spc="4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23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GB</a:t>
            </a:r>
            <a:r>
              <a:rPr sz="1850" spc="-6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2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minimum;</a:t>
            </a:r>
            <a:r>
              <a:rPr sz="1850" spc="-1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-7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1G</a:t>
            </a:r>
            <a:r>
              <a:rPr sz="1850" spc="-4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23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GB</a:t>
            </a:r>
            <a:r>
              <a:rPr sz="1850" spc="1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0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recommended</a:t>
            </a:r>
            <a:endParaRPr sz="1850">
              <a:latin typeface="Cambria" panose="02040503050406030204"/>
              <a:cs typeface="Cambria" panose="02040503050406030204"/>
            </a:endParaRPr>
          </a:p>
          <a:p>
            <a:pPr marL="155575" indent="-142875">
              <a:lnSpc>
                <a:spcPct val="100000"/>
              </a:lnSpc>
              <a:spcBef>
                <a:spcPts val="110"/>
              </a:spcBef>
              <a:buChar char="•"/>
              <a:tabLst>
                <a:tab pos="155575" algn="l"/>
              </a:tabLst>
            </a:pPr>
            <a:r>
              <a:rPr sz="1850" spc="9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Storage:</a:t>
            </a:r>
            <a:r>
              <a:rPr sz="1850" spc="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5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20</a:t>
            </a:r>
            <a:r>
              <a:rPr sz="1850" spc="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GB+</a:t>
            </a:r>
            <a:r>
              <a:rPr sz="1850" spc="-2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9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free</a:t>
            </a:r>
            <a:r>
              <a:rPr sz="1850" spc="-4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22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SSD</a:t>
            </a:r>
            <a:r>
              <a:rPr sz="1850" spc="-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7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space</a:t>
            </a:r>
            <a:endParaRPr sz="1850">
              <a:latin typeface="Cambria" panose="02040503050406030204"/>
              <a:cs typeface="Cambria" panose="02040503050406030204"/>
            </a:endParaRPr>
          </a:p>
          <a:p>
            <a:pPr marL="155575" indent="-142875">
              <a:lnSpc>
                <a:spcPct val="100000"/>
              </a:lnSpc>
              <a:spcBef>
                <a:spcPts val="105"/>
              </a:spcBef>
              <a:buChar char="•"/>
              <a:tabLst>
                <a:tab pos="155575" algn="l"/>
              </a:tabLst>
            </a:pPr>
            <a:r>
              <a:rPr sz="1850" spc="9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Display:</a:t>
            </a:r>
            <a:r>
              <a:rPr sz="1850" spc="-3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13GG</a:t>
            </a:r>
            <a:r>
              <a:rPr sz="18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×</a:t>
            </a:r>
            <a:r>
              <a:rPr sz="1850" spc="-4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7G8</a:t>
            </a:r>
            <a:r>
              <a:rPr sz="1850" spc="-6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2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or</a:t>
            </a:r>
            <a:r>
              <a:rPr sz="1850" spc="-4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8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higher</a:t>
            </a:r>
            <a:endParaRPr sz="1850">
              <a:latin typeface="Cambria" panose="02040503050406030204"/>
              <a:cs typeface="Cambria" panose="02040503050406030204"/>
            </a:endParaRPr>
          </a:p>
          <a:p>
            <a:pPr marL="155575" indent="-142875">
              <a:lnSpc>
                <a:spcPct val="100000"/>
              </a:lnSpc>
              <a:spcBef>
                <a:spcPts val="105"/>
              </a:spcBef>
              <a:buChar char="•"/>
              <a:tabLst>
                <a:tab pos="155575" algn="l"/>
              </a:tabLst>
            </a:pPr>
            <a:r>
              <a:rPr sz="1850" spc="8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Internet:</a:t>
            </a:r>
            <a:r>
              <a:rPr sz="1850" spc="2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9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Required</a:t>
            </a:r>
            <a:r>
              <a:rPr sz="1850" spc="3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14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850" spc="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8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cloud/database</a:t>
            </a:r>
            <a:r>
              <a:rPr sz="1850" spc="5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7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access</a:t>
            </a:r>
            <a:endParaRPr sz="1850">
              <a:latin typeface="Cambria" panose="02040503050406030204"/>
              <a:cs typeface="Cambria" panose="02040503050406030204"/>
            </a:endParaRPr>
          </a:p>
          <a:p>
            <a:pPr marL="12700" marR="258445" indent="142875">
              <a:lnSpc>
                <a:spcPts val="2330"/>
              </a:lnSpc>
              <a:spcBef>
                <a:spcPts val="25"/>
              </a:spcBef>
              <a:buChar char="•"/>
              <a:tabLst>
                <a:tab pos="155575" algn="l"/>
              </a:tabLst>
            </a:pPr>
            <a:r>
              <a:rPr sz="1850" spc="114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Optional</a:t>
            </a:r>
            <a:r>
              <a:rPr sz="18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1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server/GPU</a:t>
            </a:r>
            <a:r>
              <a:rPr sz="1850" spc="1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8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resources</a:t>
            </a:r>
            <a:r>
              <a:rPr sz="1850" spc="7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8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depending </a:t>
            </a:r>
            <a:r>
              <a:rPr sz="1850" spc="13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on</a:t>
            </a:r>
            <a:r>
              <a:rPr sz="185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95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deployment</a:t>
            </a:r>
            <a:r>
              <a:rPr sz="1850" spc="3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50" spc="7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scale</a:t>
            </a:r>
            <a:endParaRPr sz="18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237085" cy="6957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865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43510"/>
            <a:ext cx="12343765" cy="71177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985"/>
            <a:ext cx="12192000" cy="68910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5332" y="869314"/>
            <a:ext cx="326644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05" dirty="0"/>
              <a:t>CONCLUSION</a:t>
            </a:r>
            <a:endParaRPr spc="405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2566352"/>
            <a:ext cx="9629140" cy="2165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Careflow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provides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centralized,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patient-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centric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solution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0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managing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digital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prescriptions and</a:t>
            </a:r>
            <a:r>
              <a:rPr sz="2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essential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healthcare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information.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reduces dependence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paper-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2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records</a:t>
            </a:r>
            <a:r>
              <a:rPr sz="20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organizing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prescriptions and</a:t>
            </a:r>
            <a:r>
              <a:rPr sz="2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patient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history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2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secure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platform.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improves</a:t>
            </a:r>
            <a:r>
              <a:rPr sz="2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accessibility,</a:t>
            </a:r>
            <a:r>
              <a:rPr sz="2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supports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continuity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care,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makes</a:t>
            </a:r>
            <a:r>
              <a:rPr sz="2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healthcare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information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easier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manage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authorized</a:t>
            </a:r>
            <a:r>
              <a:rPr sz="2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users.</a:t>
            </a:r>
            <a:r>
              <a:rPr sz="20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Future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enhancements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include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stronger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security,</a:t>
            </a:r>
            <a:r>
              <a:rPr sz="2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healthcare-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provider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integration,</a:t>
            </a:r>
            <a:r>
              <a:rPr sz="2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notifications,</a:t>
            </a:r>
            <a:r>
              <a:rPr sz="20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analytics,</a:t>
            </a:r>
            <a:r>
              <a:rPr sz="2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interoperability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0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sz="2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healthcare</a:t>
            </a:r>
            <a:r>
              <a:rPr sz="2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systems.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80D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18354" y="3096513"/>
            <a:ext cx="296545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50" dirty="0"/>
              <a:t>THANK</a:t>
            </a:r>
            <a:r>
              <a:rPr spc="80" dirty="0"/>
              <a:t> </a:t>
            </a:r>
            <a:r>
              <a:rPr spc="420" dirty="0"/>
              <a:t>YOU</a:t>
            </a:r>
            <a:endParaRPr spc="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4815</Words>
  <Application>WPS Presentation</Application>
  <PresentationFormat>Widescreen</PresentationFormat>
  <Paragraphs>238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Cambria</vt:lpstr>
      <vt:lpstr>Calibri</vt:lpstr>
      <vt:lpstr>Verdana</vt:lpstr>
      <vt:lpstr>Cambria Math</vt:lpstr>
      <vt:lpstr>Arial MT</vt:lpstr>
      <vt:lpstr>Lucida Sans Unicode</vt:lpstr>
      <vt:lpstr>Arial</vt:lpstr>
      <vt:lpstr>Times New Roman</vt:lpstr>
      <vt:lpstr>Courier New</vt:lpstr>
      <vt:lpstr>Microsoft YaHei</vt:lpstr>
      <vt:lpstr>Arial Unicode MS</vt:lpstr>
      <vt:lpstr>Office Theme</vt:lpstr>
      <vt:lpstr>CARE≡FLOW</vt:lpstr>
      <vt:lpstr>Abstract</vt:lpstr>
      <vt:lpstr>PROBLEM STATEMENT</vt:lpstr>
      <vt:lpstr>OBJECTIVES</vt:lpstr>
      <vt:lpstr>LITERATURE SURVEY</vt:lpstr>
      <vt:lpstr>PowerPoint 演示文稿</vt:lpstr>
      <vt:lpstr>PowerPoint 演示文稿</vt:lpstr>
      <vt:lpstr>SYSTEM ARCHITECTURE</vt:lpstr>
      <vt:lpstr>PowerPoint 演示文稿</vt:lpstr>
      <vt:lpstr>PROJECT TECHNOLOGY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Santhoshkumar</cp:lastModifiedBy>
  <cp:revision>6</cp:revision>
  <cp:lastPrinted>2026-09-27T14:23:00Z</cp:lastPrinted>
  <dcterms:created xsi:type="dcterms:W3CDTF">2026-09-27T13:59:00Z</dcterms:created>
  <dcterms:modified xsi:type="dcterms:W3CDTF">2026-10-29T13:27:32Z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2026-09-07T05:30:00Z</vt:filetime>
  </property>
  <property fmtid="{D5CDD505-2E9C-101B-9397-08002B2CF9AE}" pid="4" name="LastSaved">
    <vt:filetime>2026-09-27T05:30:00Z</vt:filetime>
  </property>
  <property fmtid="{D5CDD505-2E9C-101B-9397-08002B2CF9AE}" pid="5" name="KSOProductBuildVer">
    <vt:lpwstr>1033-12.1.0.28485</vt:lpwstr>
  </property>
  <property fmtid="{D5CDD505-2E9C-101B-9397-08002B2CF9AE}" pid="6" name="ICV">
    <vt:lpwstr>D11101506E1B441C86CE07B2F2899FCB_12</vt:lpwstr>
  </property>
</Properties>
</file>