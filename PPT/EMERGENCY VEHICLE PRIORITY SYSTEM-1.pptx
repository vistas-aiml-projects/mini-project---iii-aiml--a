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6858000" cy="9144000"/>
  <p:embeddedFontLst>
    <p:embeddedFont>
      <p:font typeface="Abril Fatface" panose="02000503000000020003" pitchFamily="2" charset="0"/>
      <p:regular r:id="rId21"/>
    </p:embeddedFont>
    <p:embeddedFont>
      <p:font typeface="Calistoga" pitchFamily="2" charset="0"/>
      <p:regular r:id="rId22"/>
    </p:embeddedFont>
    <p:embeddedFont>
      <p:font typeface="Cantora One" panose="02010602040000000003" pitchFamily="2" charset="0"/>
      <p:regular r:id="rId23"/>
    </p:embeddedFont>
    <p:embeddedFont>
      <p:font typeface="Canva Sans 1" panose="020B0503030501040103" pitchFamily="34" charset="0"/>
      <p:regular r:id="rId24"/>
    </p:embeddedFont>
    <p:embeddedFont>
      <p:font typeface="Canva Sans 1 Bold" panose="020B0803030501040103" pitchFamily="34" charset="0"/>
      <p:regular r:id="rId25"/>
    </p:embeddedFont>
    <p:embeddedFont>
      <p:font typeface="Canva Sans 2 Bold" panose="020B0803030501040103" pitchFamily="3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2" autoAdjust="0"/>
  </p:normalViewPr>
  <p:slideViewPr>
    <p:cSldViewPr>
      <p:cViewPr varScale="1">
        <p:scale>
          <a:sx n="52" d="100"/>
          <a:sy n="52" d="100"/>
        </p:scale>
        <p:origin x="878"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font" Target="fonts/font6.fntdata" /><Relationship Id="rId3" Type="http://schemas.openxmlformats.org/officeDocument/2006/relationships/slide" Target="slides/slide2.xml" /><Relationship Id="rId21" Type="http://schemas.openxmlformats.org/officeDocument/2006/relationships/font" Target="fonts/font1.fntdata"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font" Target="fonts/font5.fntdata"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font" Target="fonts/font4.fntdata"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font" Target="fonts/font3.fntdata" /><Relationship Id="rId28" Type="http://schemas.openxmlformats.org/officeDocument/2006/relationships/viewProps" Target="viewProp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font" Target="fonts/font2.fntdata" /><Relationship Id="rId27" Type="http://schemas.openxmlformats.org/officeDocument/2006/relationships/presProps" Target="presProps.xml" /><Relationship Id="rId30"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png" /><Relationship Id="rId1" Type="http://schemas.openxmlformats.org/officeDocument/2006/relationships/slideLayout" Target="../slideLayouts/slideLayout7.xml" /><Relationship Id="rId4" Type="http://schemas.openxmlformats.org/officeDocument/2006/relationships/image" Target="../media/image3.svg"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2" Type="http://schemas.openxmlformats.org/officeDocument/2006/relationships/image" Target="../media/image5.svg"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8" Type="http://schemas.openxmlformats.org/officeDocument/2006/relationships/image" Target="../media/image12.svg" /><Relationship Id="rId3" Type="http://schemas.openxmlformats.org/officeDocument/2006/relationships/image" Target="../media/image7.jpeg" /><Relationship Id="rId7" Type="http://schemas.openxmlformats.org/officeDocument/2006/relationships/image" Target="../media/image11.svg" /><Relationship Id="rId2" Type="http://schemas.openxmlformats.org/officeDocument/2006/relationships/image" Target="../media/image6.jpeg" /><Relationship Id="rId1" Type="http://schemas.openxmlformats.org/officeDocument/2006/relationships/slideLayout" Target="../slideLayouts/slideLayout7.xml" /><Relationship Id="rId6" Type="http://schemas.openxmlformats.org/officeDocument/2006/relationships/image" Target="../media/image10.jpeg" /><Relationship Id="rId5" Type="http://schemas.openxmlformats.org/officeDocument/2006/relationships/image" Target="../media/image9.jpeg" /><Relationship Id="rId4" Type="http://schemas.openxmlformats.org/officeDocument/2006/relationships/image" Target="../media/image8.png" /><Relationship Id="rId9" Type="http://schemas.openxmlformats.org/officeDocument/2006/relationships/image" Target="../media/image13.jpeg" /></Relationships>
</file>

<file path=ppt/slides/_rels/slide1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14.jpeg" /><Relationship Id="rId1" Type="http://schemas.openxmlformats.org/officeDocument/2006/relationships/slideLayout" Target="../slideLayouts/slideLayout7.xml" /><Relationship Id="rId5" Type="http://schemas.openxmlformats.org/officeDocument/2006/relationships/image" Target="../media/image16.jpeg" /><Relationship Id="rId4" Type="http://schemas.openxmlformats.org/officeDocument/2006/relationships/image" Target="../media/image15.png"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Relationship Id="rId2" Type="http://schemas.openxmlformats.org/officeDocument/2006/relationships/image" Target="../media/image17.svg"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721574" y="2839387"/>
            <a:ext cx="9229001" cy="4040498"/>
          </a:xfrm>
          <a:custGeom>
            <a:avLst/>
            <a:gdLst/>
            <a:ahLst/>
            <a:cxnLst/>
            <a:rect l="l" t="t" r="r" b="b"/>
            <a:pathLst>
              <a:path w="9229001" h="4040498">
                <a:moveTo>
                  <a:pt x="0" y="0"/>
                </a:moveTo>
                <a:lnTo>
                  <a:pt x="9229002" y="0"/>
                </a:lnTo>
                <a:lnTo>
                  <a:pt x="9229002" y="4040498"/>
                </a:lnTo>
                <a:lnTo>
                  <a:pt x="0" y="4040498"/>
                </a:lnTo>
                <a:lnTo>
                  <a:pt x="0" y="0"/>
                </a:lnTo>
                <a:close/>
              </a:path>
            </a:pathLst>
          </a:custGeom>
          <a:blipFill>
            <a:blip r:embed="rId2"/>
            <a:stretch>
              <a:fillRect b="-18774"/>
            </a:stretch>
          </a:blipFill>
        </p:spPr>
      </p:sp>
      <p:sp>
        <p:nvSpPr>
          <p:cNvPr id="3" name="Freeform 3"/>
          <p:cNvSpPr/>
          <p:nvPr/>
        </p:nvSpPr>
        <p:spPr>
          <a:xfrm>
            <a:off x="4011000" y="12370"/>
            <a:ext cx="8433864" cy="2606394"/>
          </a:xfrm>
          <a:custGeom>
            <a:avLst/>
            <a:gdLst/>
            <a:ahLst/>
            <a:cxnLst/>
            <a:rect l="l" t="t" r="r" b="b"/>
            <a:pathLst>
              <a:path w="8433864" h="2606394">
                <a:moveTo>
                  <a:pt x="0" y="0"/>
                </a:moveTo>
                <a:lnTo>
                  <a:pt x="8433864" y="0"/>
                </a:lnTo>
                <a:lnTo>
                  <a:pt x="8433864" y="2606394"/>
                </a:lnTo>
                <a:lnTo>
                  <a:pt x="0" y="2606394"/>
                </a:lnTo>
                <a:lnTo>
                  <a:pt x="0" y="0"/>
                </a:lnTo>
                <a:close/>
              </a:path>
            </a:pathLst>
          </a:custGeom>
          <a:blipFill>
            <a:blip r:embed="rId3"/>
            <a:stretch>
              <a:fillRect t="-118" b="-8425"/>
            </a:stretch>
          </a:blipFill>
        </p:spPr>
      </p:sp>
      <p:sp>
        <p:nvSpPr>
          <p:cNvPr id="4" name="Freeform 4"/>
          <p:cNvSpPr/>
          <p:nvPr/>
        </p:nvSpPr>
        <p:spPr>
          <a:xfrm>
            <a:off x="9730247" y="2241201"/>
            <a:ext cx="3356968" cy="2618435"/>
          </a:xfrm>
          <a:custGeom>
            <a:avLst/>
            <a:gdLst/>
            <a:ahLst/>
            <a:cxnLst/>
            <a:rect l="l" t="t" r="r" b="b"/>
            <a:pathLst>
              <a:path w="3356968" h="2618435">
                <a:moveTo>
                  <a:pt x="0" y="0"/>
                </a:moveTo>
                <a:lnTo>
                  <a:pt x="3356968" y="0"/>
                </a:lnTo>
                <a:lnTo>
                  <a:pt x="3356968" y="2618435"/>
                </a:lnTo>
                <a:lnTo>
                  <a:pt x="0" y="261843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910843" y="3404366"/>
            <a:ext cx="7810731" cy="1455270"/>
          </a:xfrm>
          <a:prstGeom prst="rect">
            <a:avLst/>
          </a:prstGeom>
        </p:spPr>
        <p:txBody>
          <a:bodyPr wrap="square" lIns="0" tIns="0" rIns="0" bIns="0" rtlCol="0" anchor="t">
            <a:spAutoFit/>
          </a:bodyPr>
          <a:lstStyle/>
          <a:p>
            <a:pPr algn="ctr">
              <a:lnSpc>
                <a:spcPts val="5888"/>
              </a:lnSpc>
            </a:pPr>
            <a:r>
              <a:rPr lang="en-US" sz="4205" dirty="0">
                <a:solidFill>
                  <a:srgbClr val="000000"/>
                </a:solidFill>
                <a:latin typeface="Abril Fatface"/>
                <a:ea typeface="Abril Fatface"/>
                <a:cs typeface="Abril Fatface"/>
                <a:sym typeface="Abril Fatface"/>
              </a:rPr>
              <a:t>SMART EMERGENCY VEHICLE</a:t>
            </a:r>
          </a:p>
          <a:p>
            <a:pPr algn="ctr">
              <a:lnSpc>
                <a:spcPts val="5888"/>
              </a:lnSpc>
            </a:pPr>
            <a:r>
              <a:rPr lang="en-US" sz="4205" dirty="0">
                <a:solidFill>
                  <a:srgbClr val="000000"/>
                </a:solidFill>
                <a:latin typeface="Abril Fatface"/>
                <a:ea typeface="Abril Fatface"/>
                <a:cs typeface="Abril Fatface"/>
                <a:sym typeface="Abril Fatface"/>
              </a:rPr>
              <a:t>PRIORITY SYSTEM</a:t>
            </a:r>
          </a:p>
        </p:txBody>
      </p:sp>
      <p:sp>
        <p:nvSpPr>
          <p:cNvPr id="6" name="TextBox 6"/>
          <p:cNvSpPr txBox="1"/>
          <p:nvPr/>
        </p:nvSpPr>
        <p:spPr>
          <a:xfrm>
            <a:off x="1028700" y="6459656"/>
            <a:ext cx="3015853" cy="573404"/>
          </a:xfrm>
          <a:prstGeom prst="rect">
            <a:avLst/>
          </a:prstGeom>
        </p:spPr>
        <p:txBody>
          <a:bodyPr lIns="0" tIns="0" rIns="0" bIns="0" rtlCol="0" anchor="t">
            <a:spAutoFit/>
          </a:bodyPr>
          <a:lstStyle/>
          <a:p>
            <a:pPr algn="ctr">
              <a:lnSpc>
                <a:spcPts val="4620"/>
              </a:lnSpc>
            </a:pPr>
            <a:r>
              <a:rPr lang="en-US" sz="3300">
                <a:solidFill>
                  <a:srgbClr val="000000"/>
                </a:solidFill>
                <a:latin typeface="Calistoga"/>
                <a:ea typeface="Calistoga"/>
                <a:cs typeface="Calistoga"/>
                <a:sym typeface="Calistoga"/>
              </a:rPr>
              <a:t>SUBMITTED BY</a:t>
            </a:r>
          </a:p>
        </p:txBody>
      </p:sp>
      <p:sp>
        <p:nvSpPr>
          <p:cNvPr id="7" name="TextBox 7"/>
          <p:cNvSpPr txBox="1"/>
          <p:nvPr/>
        </p:nvSpPr>
        <p:spPr>
          <a:xfrm>
            <a:off x="1807144" y="7256903"/>
            <a:ext cx="6574856" cy="1780540"/>
          </a:xfrm>
          <a:prstGeom prst="rect">
            <a:avLst/>
          </a:prstGeom>
        </p:spPr>
        <p:txBody>
          <a:bodyPr wrap="square" lIns="0" tIns="0" rIns="0" bIns="0" rtlCol="0" anchor="t">
            <a:spAutoFit/>
          </a:bodyPr>
          <a:lstStyle/>
          <a:p>
            <a:pPr algn="ctr">
              <a:lnSpc>
                <a:spcPts val="4759"/>
              </a:lnSpc>
            </a:pPr>
            <a:r>
              <a:rPr lang="en-US" sz="3399" dirty="0">
                <a:solidFill>
                  <a:srgbClr val="000000"/>
                </a:solidFill>
                <a:latin typeface="Cantora One"/>
                <a:ea typeface="Cantora One"/>
                <a:cs typeface="Cantora One"/>
                <a:sym typeface="Cantora One"/>
              </a:rPr>
              <a:t>ROHITH.S                      [24619164]</a:t>
            </a:r>
          </a:p>
          <a:p>
            <a:pPr algn="ctr">
              <a:lnSpc>
                <a:spcPts val="4759"/>
              </a:lnSpc>
            </a:pPr>
            <a:r>
              <a:rPr lang="en-US" sz="3399" dirty="0">
                <a:solidFill>
                  <a:srgbClr val="000000"/>
                </a:solidFill>
                <a:latin typeface="Cantora One"/>
                <a:ea typeface="Cantora One"/>
                <a:cs typeface="Cantora One"/>
                <a:sym typeface="Cantora One"/>
              </a:rPr>
              <a:t>JEREMIEL JOSEPH.S [24619115]</a:t>
            </a:r>
          </a:p>
          <a:p>
            <a:pPr algn="ctr">
              <a:lnSpc>
                <a:spcPts val="4759"/>
              </a:lnSpc>
            </a:pPr>
            <a:r>
              <a:rPr lang="en-US" sz="3399" dirty="0">
                <a:solidFill>
                  <a:srgbClr val="000000"/>
                </a:solidFill>
                <a:latin typeface="Cantora One"/>
                <a:ea typeface="Cantora One"/>
                <a:cs typeface="Cantora One"/>
                <a:sym typeface="Cantora One"/>
              </a:rPr>
              <a:t>GURU RAHUL.R           [22619187]</a:t>
            </a:r>
          </a:p>
        </p:txBody>
      </p:sp>
      <p:sp>
        <p:nvSpPr>
          <p:cNvPr id="8" name="TextBox 8"/>
          <p:cNvSpPr txBox="1"/>
          <p:nvPr/>
        </p:nvSpPr>
        <p:spPr>
          <a:xfrm>
            <a:off x="11023496" y="7885236"/>
            <a:ext cx="3454504" cy="523874"/>
          </a:xfrm>
          <a:prstGeom prst="rect">
            <a:avLst/>
          </a:prstGeom>
        </p:spPr>
        <p:txBody>
          <a:bodyPr wrap="square" lIns="0" tIns="0" rIns="0" bIns="0" rtlCol="0" anchor="t">
            <a:spAutoFit/>
          </a:bodyPr>
          <a:lstStyle/>
          <a:p>
            <a:pPr algn="ctr">
              <a:lnSpc>
                <a:spcPts val="4200"/>
              </a:lnSpc>
            </a:pPr>
            <a:r>
              <a:rPr lang="en-US" sz="3000" dirty="0">
                <a:solidFill>
                  <a:srgbClr val="000000"/>
                </a:solidFill>
                <a:latin typeface="Calistoga"/>
                <a:ea typeface="Calistoga"/>
                <a:cs typeface="Calistoga"/>
                <a:sym typeface="Calistoga"/>
              </a:rPr>
              <a:t>PROJECT GUIDE</a:t>
            </a:r>
          </a:p>
        </p:txBody>
      </p:sp>
      <p:sp>
        <p:nvSpPr>
          <p:cNvPr id="9" name="TextBox 9"/>
          <p:cNvSpPr txBox="1"/>
          <p:nvPr/>
        </p:nvSpPr>
        <p:spPr>
          <a:xfrm>
            <a:off x="12805246" y="8457053"/>
            <a:ext cx="2891953" cy="580390"/>
          </a:xfrm>
          <a:prstGeom prst="rect">
            <a:avLst/>
          </a:prstGeom>
        </p:spPr>
        <p:txBody>
          <a:bodyPr wrap="square" lIns="0" tIns="0" rIns="0" bIns="0" rtlCol="0" anchor="t">
            <a:spAutoFit/>
          </a:bodyPr>
          <a:lstStyle/>
          <a:p>
            <a:pPr algn="ctr">
              <a:lnSpc>
                <a:spcPts val="4759"/>
              </a:lnSpc>
            </a:pPr>
            <a:r>
              <a:rPr lang="en-US" sz="3399" dirty="0">
                <a:solidFill>
                  <a:srgbClr val="000000"/>
                </a:solidFill>
                <a:latin typeface="Cantora One"/>
                <a:ea typeface="Cantora One"/>
                <a:cs typeface="Cantora One"/>
                <a:sym typeface="Cantora One"/>
              </a:rPr>
              <a:t>MS.SHANTHI</a:t>
            </a:r>
          </a:p>
        </p:txBody>
      </p:sp>
      <p:sp>
        <p:nvSpPr>
          <p:cNvPr id="10" name="TextBox 10"/>
          <p:cNvSpPr txBox="1"/>
          <p:nvPr/>
        </p:nvSpPr>
        <p:spPr>
          <a:xfrm>
            <a:off x="15941873"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1"/>
                <a:ea typeface="Canva Sans 1"/>
                <a:cs typeface="Canva Sans 1"/>
                <a:sym typeface="Canva Sans 1"/>
              </a:rPr>
              <a:t>Page 1 of 19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2"/>
          <p:cNvSpPr txBox="1"/>
          <p:nvPr/>
        </p:nvSpPr>
        <p:spPr>
          <a:xfrm>
            <a:off x="5285822" y="427679"/>
            <a:ext cx="6278166" cy="1078218"/>
          </a:xfrm>
          <a:prstGeom prst="rect">
            <a:avLst/>
          </a:prstGeom>
        </p:spPr>
        <p:txBody>
          <a:bodyPr lIns="0" tIns="0" rIns="0" bIns="0" rtlCol="0" anchor="t">
            <a:spAutoFit/>
          </a:bodyPr>
          <a:lstStyle/>
          <a:p>
            <a:pPr algn="ctr">
              <a:lnSpc>
                <a:spcPts val="8820"/>
              </a:lnSpc>
            </a:pPr>
            <a:r>
              <a:rPr lang="en-US" sz="6300" b="1">
                <a:solidFill>
                  <a:srgbClr val="000000"/>
                </a:solidFill>
                <a:latin typeface="Canva Sans 1 Bold"/>
                <a:ea typeface="Canva Sans 1 Bold"/>
                <a:cs typeface="Canva Sans 1 Bold"/>
                <a:sym typeface="Canva Sans 1 Bold"/>
              </a:rPr>
              <a:t>INTRODUCTION</a:t>
            </a:r>
          </a:p>
        </p:txBody>
      </p:sp>
      <p:sp>
        <p:nvSpPr>
          <p:cNvPr id="3" name="TextBox 3"/>
          <p:cNvSpPr txBox="1"/>
          <p:nvPr/>
        </p:nvSpPr>
        <p:spPr>
          <a:xfrm>
            <a:off x="514350" y="2752864"/>
            <a:ext cx="17259300" cy="3941553"/>
          </a:xfrm>
          <a:prstGeom prst="rect">
            <a:avLst/>
          </a:prstGeom>
        </p:spPr>
        <p:txBody>
          <a:bodyPr lIns="0" tIns="0" rIns="0" bIns="0" rtlCol="0" anchor="t">
            <a:spAutoFit/>
          </a:bodyPr>
          <a:lstStyle/>
          <a:p>
            <a:pPr algn="just">
              <a:lnSpc>
                <a:spcPts val="3905"/>
              </a:lnSpc>
            </a:pPr>
            <a:r>
              <a:rPr lang="en-US" sz="2789" b="1">
                <a:solidFill>
                  <a:srgbClr val="000000"/>
                </a:solidFill>
                <a:latin typeface="Canva Sans 1 Bold"/>
                <a:ea typeface="Canva Sans 1 Bold"/>
                <a:cs typeface="Canva Sans 1 Bold"/>
                <a:sym typeface="Canva Sans 1 Bold"/>
              </a:rPr>
              <a:t>Emergency vehicles such as ambulances and fire engines can face significant delays due to traffic congestion and signalized junctions. This project proposes a Smart Cascading Emergency Vehicle Priority Network that uses wireless communication to connect multiple traffic junctions. When an emergency vehicle is detected at one junction, the system provides priority at that junction and forwards the emergency information to upcoming junctions, allowing them to prepare in advance. The prototype uses ESP32, LoRa wireless communication, traffic signals, and optional GPS to demonstrate faster emergency response, coordinated signal priority, and automatic restoration of normal traffic operation.</a:t>
            </a:r>
          </a:p>
        </p:txBody>
      </p:sp>
      <p:sp>
        <p:nvSpPr>
          <p:cNvPr id="4" name="TextBox 4"/>
          <p:cNvSpPr txBox="1"/>
          <p:nvPr/>
        </p:nvSpPr>
        <p:spPr>
          <a:xfrm>
            <a:off x="15941873"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1"/>
                <a:ea typeface="Canva Sans 1"/>
                <a:cs typeface="Canva Sans 1"/>
                <a:sym typeface="Canva Sans 1"/>
              </a:rPr>
              <a:t>Page 2 of 19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2"/>
          <p:cNvSpPr txBox="1"/>
          <p:nvPr/>
        </p:nvSpPr>
        <p:spPr>
          <a:xfrm>
            <a:off x="6874501" y="427679"/>
            <a:ext cx="5241299" cy="1078218"/>
          </a:xfrm>
          <a:prstGeom prst="rect">
            <a:avLst/>
          </a:prstGeom>
        </p:spPr>
        <p:txBody>
          <a:bodyPr wrap="square" lIns="0" tIns="0" rIns="0" bIns="0" rtlCol="0" anchor="t">
            <a:spAutoFit/>
          </a:bodyPr>
          <a:lstStyle/>
          <a:p>
            <a:pPr algn="ctr">
              <a:lnSpc>
                <a:spcPts val="8820"/>
              </a:lnSpc>
            </a:pPr>
            <a:r>
              <a:rPr lang="en-US" sz="6300" b="1" dirty="0">
                <a:solidFill>
                  <a:srgbClr val="000000"/>
                </a:solidFill>
                <a:latin typeface="Canva Sans 1 Bold"/>
                <a:ea typeface="Canva Sans 1 Bold"/>
                <a:cs typeface="Canva Sans 1 Bold"/>
                <a:sym typeface="Canva Sans 1 Bold"/>
              </a:rPr>
              <a:t>ABSTRACT</a:t>
            </a:r>
          </a:p>
        </p:txBody>
      </p:sp>
      <p:sp>
        <p:nvSpPr>
          <p:cNvPr id="3" name="TextBox 3"/>
          <p:cNvSpPr txBox="1"/>
          <p:nvPr/>
        </p:nvSpPr>
        <p:spPr>
          <a:xfrm>
            <a:off x="514350" y="2362892"/>
            <a:ext cx="17259300" cy="3720019"/>
          </a:xfrm>
          <a:prstGeom prst="rect">
            <a:avLst/>
          </a:prstGeom>
        </p:spPr>
        <p:txBody>
          <a:bodyPr lIns="0" tIns="0" rIns="0" bIns="0" rtlCol="0" anchor="t">
            <a:spAutoFit/>
          </a:bodyPr>
          <a:lstStyle/>
          <a:p>
            <a:pPr algn="l">
              <a:lnSpc>
                <a:spcPts val="3699"/>
              </a:lnSpc>
            </a:pPr>
            <a:r>
              <a:rPr lang="en-US" sz="2642" b="1">
                <a:solidFill>
                  <a:srgbClr val="000000"/>
                </a:solidFill>
                <a:latin typeface="Canva Sans 1 Bold"/>
                <a:ea typeface="Canva Sans 1 Bold"/>
                <a:cs typeface="Canva Sans 1 Bold"/>
                <a:sym typeface="Canva Sans 1 Bold"/>
              </a:rPr>
              <a:t>This project presents a Smart Cascading Emergency Vehicle Priority Network designed to reduce delays faced by emergency vehicles at multiple traffic junctions. The proposed system uses ESP32 microcontrollers and wireless communication modules such as LoRa to connect a series of intelligent traffic-signal junctions. When an emergency vehicle is detected at one junction, the system provides local signal priority and forwards the emergency information to the next junction, enabling upcoming junctions to prepare before the vehicle arrives. The prototype demonstrates emergency detection, wireless message forwarding, cascading junction preparation, safe signal preemption, and restoration of normal traffic operation, providing a low-cost approach for coordinated emergency vehicle movement.</a:t>
            </a:r>
          </a:p>
        </p:txBody>
      </p:sp>
      <p:sp>
        <p:nvSpPr>
          <p:cNvPr id="4" name="TextBox 4"/>
          <p:cNvSpPr txBox="1"/>
          <p:nvPr/>
        </p:nvSpPr>
        <p:spPr>
          <a:xfrm>
            <a:off x="15941873"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1"/>
                <a:ea typeface="Canva Sans 1"/>
                <a:cs typeface="Canva Sans 1"/>
                <a:sym typeface="Canva Sans 1"/>
              </a:rPr>
              <a:t>Page 3 of 19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2"/>
          <p:cNvSpPr txBox="1"/>
          <p:nvPr/>
        </p:nvSpPr>
        <p:spPr>
          <a:xfrm>
            <a:off x="15941873"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1"/>
                <a:ea typeface="Canva Sans 1"/>
                <a:cs typeface="Canva Sans 1"/>
                <a:sym typeface="Canva Sans 1"/>
              </a:rPr>
              <a:t>Page 4 of 19</a:t>
            </a:r>
          </a:p>
        </p:txBody>
      </p:sp>
      <p:sp>
        <p:nvSpPr>
          <p:cNvPr id="3" name="TextBox 3"/>
          <p:cNvSpPr txBox="1"/>
          <p:nvPr/>
        </p:nvSpPr>
        <p:spPr>
          <a:xfrm>
            <a:off x="4733092" y="427679"/>
            <a:ext cx="9821108" cy="1078218"/>
          </a:xfrm>
          <a:prstGeom prst="rect">
            <a:avLst/>
          </a:prstGeom>
        </p:spPr>
        <p:txBody>
          <a:bodyPr wrap="square" lIns="0" tIns="0" rIns="0" bIns="0" rtlCol="0" anchor="t">
            <a:spAutoFit/>
          </a:bodyPr>
          <a:lstStyle/>
          <a:p>
            <a:pPr algn="ctr">
              <a:lnSpc>
                <a:spcPts val="8820"/>
              </a:lnSpc>
            </a:pPr>
            <a:r>
              <a:rPr lang="en-US" sz="6300" b="1" dirty="0">
                <a:solidFill>
                  <a:srgbClr val="000000"/>
                </a:solidFill>
                <a:latin typeface="Canva Sans 1 Bold"/>
                <a:ea typeface="Canva Sans 1 Bold"/>
                <a:cs typeface="Canva Sans 1 Bold"/>
                <a:sym typeface="Canva Sans 1 Bold"/>
              </a:rPr>
              <a:t>PROBLEM STATEMENT</a:t>
            </a:r>
          </a:p>
        </p:txBody>
      </p:sp>
      <p:sp>
        <p:nvSpPr>
          <p:cNvPr id="4" name="TextBox 4"/>
          <p:cNvSpPr txBox="1"/>
          <p:nvPr/>
        </p:nvSpPr>
        <p:spPr>
          <a:xfrm>
            <a:off x="332541" y="1458271"/>
            <a:ext cx="17955459" cy="4911280"/>
          </a:xfrm>
          <a:prstGeom prst="rect">
            <a:avLst/>
          </a:prstGeom>
        </p:spPr>
        <p:txBody>
          <a:bodyPr lIns="0" tIns="0" rIns="0" bIns="0" rtlCol="0" anchor="t">
            <a:spAutoFit/>
          </a:bodyPr>
          <a:lstStyle/>
          <a:p>
            <a:pPr algn="l">
              <a:lnSpc>
                <a:spcPts val="3874"/>
              </a:lnSpc>
            </a:pPr>
            <a:endParaRPr dirty="0"/>
          </a:p>
          <a:p>
            <a:pPr algn="l">
              <a:lnSpc>
                <a:spcPts val="3874"/>
              </a:lnSpc>
            </a:pPr>
            <a:endParaRPr dirty="0"/>
          </a:p>
          <a:p>
            <a:pPr marL="597505" lvl="1" indent="-298752" algn="l">
              <a:lnSpc>
                <a:spcPts val="3874"/>
              </a:lnSpc>
              <a:buFont typeface="Arial"/>
              <a:buChar char="•"/>
            </a:pPr>
            <a:r>
              <a:rPr lang="en-US" sz="2767" b="1" dirty="0">
                <a:solidFill>
                  <a:srgbClr val="000000"/>
                </a:solidFill>
                <a:latin typeface="Canva Sans 1 Bold"/>
                <a:ea typeface="Canva Sans 1 Bold"/>
                <a:cs typeface="Canva Sans 1 Bold"/>
                <a:sym typeface="Canva Sans 1 Bold"/>
              </a:rPr>
              <a:t>Emergency vehicles often face delays due to traffic congestion.</a:t>
            </a:r>
          </a:p>
          <a:p>
            <a:pPr marL="597505" lvl="1" indent="-298752" algn="l">
              <a:lnSpc>
                <a:spcPts val="3874"/>
              </a:lnSpc>
              <a:buFont typeface="Arial"/>
              <a:buChar char="•"/>
            </a:pPr>
            <a:r>
              <a:rPr lang="en-US" sz="2767" b="1" dirty="0">
                <a:solidFill>
                  <a:srgbClr val="000000"/>
                </a:solidFill>
                <a:latin typeface="Canva Sans 1 Bold"/>
                <a:ea typeface="Canva Sans 1 Bold"/>
                <a:cs typeface="Canva Sans 1 Bold"/>
                <a:sym typeface="Canva Sans 1 Bold"/>
              </a:rPr>
              <a:t>Multiple traffic-signal junctions can further increase emergency response time.</a:t>
            </a:r>
          </a:p>
          <a:p>
            <a:pPr marL="640684" lvl="1" indent="-320342" algn="l">
              <a:lnSpc>
                <a:spcPts val="4154"/>
              </a:lnSpc>
              <a:buFont typeface="Arial"/>
              <a:buChar char="•"/>
            </a:pPr>
            <a:r>
              <a:rPr lang="en-US" sz="2967" b="1" dirty="0">
                <a:solidFill>
                  <a:srgbClr val="000000"/>
                </a:solidFill>
                <a:latin typeface="Canva Sans 1 Bold"/>
                <a:ea typeface="Canva Sans 1 Bold"/>
                <a:cs typeface="Canva Sans 1 Bold"/>
                <a:sym typeface="Canva Sans 1 Bold"/>
              </a:rPr>
              <a:t>Upcoming junctions may not receive advance information about an approaching emergency vehicle.</a:t>
            </a:r>
          </a:p>
          <a:p>
            <a:pPr marL="597505" lvl="1" indent="-298752" algn="l">
              <a:lnSpc>
                <a:spcPts val="3874"/>
              </a:lnSpc>
              <a:buFont typeface="Arial"/>
              <a:buChar char="•"/>
            </a:pPr>
            <a:r>
              <a:rPr lang="en-US" sz="2767" b="1" dirty="0">
                <a:solidFill>
                  <a:srgbClr val="000000"/>
                </a:solidFill>
                <a:latin typeface="Canva Sans 1 Bold"/>
                <a:ea typeface="Canva Sans 1 Bold"/>
                <a:cs typeface="Canva Sans 1 Bold"/>
                <a:sym typeface="Canva Sans 1 Bold"/>
              </a:rPr>
              <a:t>Conventional systems may respond only when the vehicle reaches the detection area.</a:t>
            </a:r>
          </a:p>
          <a:p>
            <a:pPr marL="597505" lvl="1" indent="-298752" algn="l">
              <a:lnSpc>
                <a:spcPts val="3874"/>
              </a:lnSpc>
              <a:buFont typeface="Arial"/>
              <a:buChar char="•"/>
            </a:pPr>
            <a:r>
              <a:rPr lang="en-US" sz="2767" b="1" dirty="0">
                <a:solidFill>
                  <a:srgbClr val="000000"/>
                </a:solidFill>
                <a:latin typeface="Canva Sans 1 Bold"/>
                <a:ea typeface="Canva Sans 1 Bold"/>
                <a:cs typeface="Canva Sans 1 Bold"/>
                <a:sym typeface="Canva Sans 1 Bold"/>
              </a:rPr>
              <a:t>There is a need for junction-to-junction communication to provide advance emergency information.</a:t>
            </a:r>
          </a:p>
          <a:p>
            <a:pPr marL="597505" lvl="1" indent="-298752" algn="l">
              <a:lnSpc>
                <a:spcPts val="3874"/>
              </a:lnSpc>
              <a:buFont typeface="Arial"/>
              <a:buChar char="•"/>
            </a:pPr>
            <a:r>
              <a:rPr lang="en-US" sz="2767" b="1" dirty="0">
                <a:solidFill>
                  <a:srgbClr val="000000"/>
                </a:solidFill>
                <a:latin typeface="Canva Sans 1 Bold"/>
                <a:ea typeface="Canva Sans 1 Bold"/>
                <a:cs typeface="Canva Sans 1 Bold"/>
                <a:sym typeface="Canva Sans 1 Bold"/>
              </a:rPr>
              <a:t>Upcoming junctions should prepare the traffic signal before the emergency vehicle arrives.</a:t>
            </a:r>
          </a:p>
          <a:p>
            <a:pPr marL="597505" lvl="1" indent="-298752" algn="l">
              <a:lnSpc>
                <a:spcPts val="3874"/>
              </a:lnSpc>
              <a:buFont typeface="Arial"/>
              <a:buChar char="•"/>
            </a:pPr>
            <a:r>
              <a:rPr lang="en-US" sz="2767" b="1" dirty="0">
                <a:solidFill>
                  <a:srgbClr val="000000"/>
                </a:solidFill>
                <a:latin typeface="Canva Sans 1 Bold"/>
                <a:ea typeface="Canva Sans 1 Bold"/>
                <a:cs typeface="Canva Sans 1 Bold"/>
                <a:sym typeface="Canva Sans 1 Bold"/>
              </a:rPr>
              <a:t>The system aims to provide coordinated and safe signal priority across multiple junctions.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2"/>
          <p:cNvSpPr txBox="1"/>
          <p:nvPr/>
        </p:nvSpPr>
        <p:spPr>
          <a:xfrm>
            <a:off x="15941873"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1"/>
                <a:ea typeface="Canva Sans 1"/>
                <a:cs typeface="Canva Sans 1"/>
                <a:sym typeface="Canva Sans 1"/>
              </a:rPr>
              <a:t>Page 5 of 19</a:t>
            </a:r>
          </a:p>
        </p:txBody>
      </p:sp>
      <p:sp>
        <p:nvSpPr>
          <p:cNvPr id="3" name="TextBox 3"/>
          <p:cNvSpPr txBox="1"/>
          <p:nvPr/>
        </p:nvSpPr>
        <p:spPr>
          <a:xfrm>
            <a:off x="6917115" y="427679"/>
            <a:ext cx="5198685" cy="1078218"/>
          </a:xfrm>
          <a:prstGeom prst="rect">
            <a:avLst/>
          </a:prstGeom>
        </p:spPr>
        <p:txBody>
          <a:bodyPr wrap="square" lIns="0" tIns="0" rIns="0" bIns="0" rtlCol="0" anchor="t">
            <a:spAutoFit/>
          </a:bodyPr>
          <a:lstStyle/>
          <a:p>
            <a:pPr algn="ctr">
              <a:lnSpc>
                <a:spcPts val="8820"/>
              </a:lnSpc>
            </a:pPr>
            <a:r>
              <a:rPr lang="en-US" sz="6300" b="1" dirty="0">
                <a:solidFill>
                  <a:srgbClr val="000000"/>
                </a:solidFill>
                <a:latin typeface="Canva Sans 1 Bold"/>
                <a:ea typeface="Canva Sans 1 Bold"/>
                <a:cs typeface="Canva Sans 1 Bold"/>
                <a:sym typeface="Canva Sans 1 Bold"/>
              </a:rPr>
              <a:t>OBJECTIVE</a:t>
            </a:r>
          </a:p>
        </p:txBody>
      </p:sp>
      <p:sp>
        <p:nvSpPr>
          <p:cNvPr id="4" name="TextBox 4"/>
          <p:cNvSpPr txBox="1"/>
          <p:nvPr/>
        </p:nvSpPr>
        <p:spPr>
          <a:xfrm>
            <a:off x="676381" y="2121806"/>
            <a:ext cx="16935238" cy="3021694"/>
          </a:xfrm>
          <a:prstGeom prst="rect">
            <a:avLst/>
          </a:prstGeom>
        </p:spPr>
        <p:txBody>
          <a:bodyPr lIns="0" tIns="0" rIns="0" bIns="0" rtlCol="0" anchor="t">
            <a:spAutoFit/>
          </a:bodyPr>
          <a:lstStyle/>
          <a:p>
            <a:pPr algn="l">
              <a:lnSpc>
                <a:spcPts val="4878"/>
              </a:lnSpc>
            </a:pPr>
            <a:r>
              <a:rPr lang="en-US" sz="3484" b="1">
                <a:solidFill>
                  <a:srgbClr val="000000"/>
                </a:solidFill>
                <a:latin typeface="Canva Sans 1 Bold"/>
                <a:ea typeface="Canva Sans 1 Bold"/>
                <a:cs typeface="Canva Sans 1 Bold"/>
                <a:sym typeface="Canva Sans 1 Bold"/>
              </a:rPr>
              <a:t>The main objective of this project is to reduce the delay of emergency vehicles at traffic junctions by detecting the vehicle, providing signal priority, and sending emergency information to upcoming junctions so they can prepare in advance. The system aims to enable faster, safer, and coordinated movement of emergency vehicles through multiple traffic signals.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1275281" y="1028700"/>
            <a:ext cx="15266700" cy="8885697"/>
          </a:xfrm>
          <a:custGeom>
            <a:avLst/>
            <a:gdLst/>
            <a:ahLst/>
            <a:cxnLst/>
            <a:rect l="l" t="t" r="r" b="b"/>
            <a:pathLst>
              <a:path w="15266700" h="8885697">
                <a:moveTo>
                  <a:pt x="0" y="0"/>
                </a:moveTo>
                <a:lnTo>
                  <a:pt x="15266701" y="0"/>
                </a:lnTo>
                <a:lnTo>
                  <a:pt x="15266701" y="8885697"/>
                </a:lnTo>
                <a:lnTo>
                  <a:pt x="0" y="8885697"/>
                </a:lnTo>
                <a:lnTo>
                  <a:pt x="0" y="0"/>
                </a:lnTo>
                <a:close/>
              </a:path>
            </a:pathLst>
          </a:custGeom>
          <a:blipFill>
            <a:blip r:embed="rId2"/>
            <a:stretch>
              <a:fillRect/>
            </a:stretch>
          </a:blipFill>
        </p:spPr>
      </p:sp>
      <p:sp>
        <p:nvSpPr>
          <p:cNvPr id="3" name="TextBox 3"/>
          <p:cNvSpPr txBox="1"/>
          <p:nvPr/>
        </p:nvSpPr>
        <p:spPr>
          <a:xfrm>
            <a:off x="15941873"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1"/>
                <a:ea typeface="Canva Sans 1"/>
                <a:cs typeface="Canva Sans 1"/>
                <a:sym typeface="Canva Sans 1"/>
              </a:rPr>
              <a:t>Page 6 of 19</a:t>
            </a:r>
          </a:p>
        </p:txBody>
      </p:sp>
      <p:sp>
        <p:nvSpPr>
          <p:cNvPr id="4" name="TextBox 4"/>
          <p:cNvSpPr txBox="1"/>
          <p:nvPr/>
        </p:nvSpPr>
        <p:spPr>
          <a:xfrm>
            <a:off x="5312270" y="-9513"/>
            <a:ext cx="8479929" cy="1020985"/>
          </a:xfrm>
          <a:prstGeom prst="rect">
            <a:avLst/>
          </a:prstGeom>
        </p:spPr>
        <p:txBody>
          <a:bodyPr wrap="square" lIns="0" tIns="0" rIns="0" bIns="0" rtlCol="0" anchor="t">
            <a:spAutoFit/>
          </a:bodyPr>
          <a:lstStyle/>
          <a:p>
            <a:pPr algn="ctr">
              <a:lnSpc>
                <a:spcPts val="8400"/>
              </a:lnSpc>
            </a:pPr>
            <a:r>
              <a:rPr lang="en-US" sz="6000" dirty="0">
                <a:solidFill>
                  <a:srgbClr val="000000"/>
                </a:solidFill>
                <a:latin typeface="Calistoga"/>
                <a:ea typeface="Calistoga"/>
                <a:cs typeface="Calistoga"/>
                <a:sym typeface="Calistoga"/>
              </a:rPr>
              <a:t>LITERATURE SURVEY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2"/>
          <p:cNvSpPr txBox="1"/>
          <p:nvPr/>
        </p:nvSpPr>
        <p:spPr>
          <a:xfrm>
            <a:off x="15941873"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1"/>
                <a:ea typeface="Canva Sans 1"/>
                <a:cs typeface="Canva Sans 1"/>
                <a:sym typeface="Canva Sans 1"/>
              </a:rPr>
              <a:t>Page 7 of 19</a:t>
            </a:r>
          </a:p>
        </p:txBody>
      </p:sp>
      <p:sp>
        <p:nvSpPr>
          <p:cNvPr id="3" name="TextBox 3"/>
          <p:cNvSpPr txBox="1"/>
          <p:nvPr/>
        </p:nvSpPr>
        <p:spPr>
          <a:xfrm>
            <a:off x="6263461" y="26047"/>
            <a:ext cx="5761077" cy="1002653"/>
          </a:xfrm>
          <a:prstGeom prst="rect">
            <a:avLst/>
          </a:prstGeom>
        </p:spPr>
        <p:txBody>
          <a:bodyPr lIns="0" tIns="0" rIns="0" bIns="0" rtlCol="0" anchor="t">
            <a:spAutoFit/>
          </a:bodyPr>
          <a:lstStyle/>
          <a:p>
            <a:pPr algn="ctr">
              <a:lnSpc>
                <a:spcPts val="8260"/>
              </a:lnSpc>
            </a:pPr>
            <a:r>
              <a:rPr lang="en-US" sz="5900" b="1">
                <a:solidFill>
                  <a:srgbClr val="000000"/>
                </a:solidFill>
                <a:latin typeface="Canva Sans 2 Bold"/>
                <a:ea typeface="Canva Sans 2 Bold"/>
                <a:cs typeface="Canva Sans 2 Bold"/>
                <a:sym typeface="Canva Sans 2 Bold"/>
              </a:rPr>
              <a:t>RESEARCH GAP</a:t>
            </a:r>
          </a:p>
        </p:txBody>
      </p:sp>
      <p:sp>
        <p:nvSpPr>
          <p:cNvPr id="4" name="TextBox 4"/>
          <p:cNvSpPr txBox="1"/>
          <p:nvPr/>
        </p:nvSpPr>
        <p:spPr>
          <a:xfrm>
            <a:off x="479397" y="1883660"/>
            <a:ext cx="16230600" cy="2980690"/>
          </a:xfrm>
          <a:prstGeom prst="rect">
            <a:avLst/>
          </a:prstGeom>
        </p:spPr>
        <p:txBody>
          <a:bodyPr lIns="0" tIns="0" rIns="0" bIns="0" rtlCol="0" anchor="t">
            <a:spAutoFit/>
          </a:bodyPr>
          <a:lstStyle/>
          <a:p>
            <a:pPr algn="l">
              <a:lnSpc>
                <a:spcPts val="4759"/>
              </a:lnSpc>
            </a:pPr>
            <a:r>
              <a:rPr lang="en-US" sz="3399" b="1">
                <a:solidFill>
                  <a:srgbClr val="000000"/>
                </a:solidFill>
                <a:latin typeface="Canva Sans 1 Bold"/>
                <a:ea typeface="Canva Sans 1 Bold"/>
                <a:cs typeface="Canva Sans 1 Bold"/>
                <a:sym typeface="Canva Sans 1 Bold"/>
              </a:rPr>
              <a:t>Existing systems often focus on vehicle detection, wireless communication, or adaptive traffic control separately. There is a need for an integrated system using ESP32 and LoRa to detect emergency vehicle requests, forward messages between multiple junctions, and prioritize traffic signals to support faster emergency vehicle movement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1028700" y="3572769"/>
            <a:ext cx="7967288" cy="4281080"/>
            <a:chOff x="0" y="0"/>
            <a:chExt cx="2098380" cy="1127527"/>
          </a:xfrm>
        </p:grpSpPr>
        <p:sp>
          <p:nvSpPr>
            <p:cNvPr id="3" name="Freeform 3"/>
            <p:cNvSpPr/>
            <p:nvPr/>
          </p:nvSpPr>
          <p:spPr>
            <a:xfrm>
              <a:off x="0" y="0"/>
              <a:ext cx="2098380" cy="1127527"/>
            </a:xfrm>
            <a:custGeom>
              <a:avLst/>
              <a:gdLst/>
              <a:ahLst/>
              <a:cxnLst/>
              <a:rect l="l" t="t" r="r" b="b"/>
              <a:pathLst>
                <a:path w="2098380" h="1127527">
                  <a:moveTo>
                    <a:pt x="49557" y="0"/>
                  </a:moveTo>
                  <a:lnTo>
                    <a:pt x="2048823" y="0"/>
                  </a:lnTo>
                  <a:cubicBezTo>
                    <a:pt x="2076193" y="0"/>
                    <a:pt x="2098380" y="22188"/>
                    <a:pt x="2098380" y="49557"/>
                  </a:cubicBezTo>
                  <a:lnTo>
                    <a:pt x="2098380" y="1077970"/>
                  </a:lnTo>
                  <a:cubicBezTo>
                    <a:pt x="2098380" y="1091113"/>
                    <a:pt x="2093159" y="1103718"/>
                    <a:pt x="2083865" y="1113012"/>
                  </a:cubicBezTo>
                  <a:cubicBezTo>
                    <a:pt x="2074572" y="1122306"/>
                    <a:pt x="2061967" y="1127527"/>
                    <a:pt x="2048823" y="1127527"/>
                  </a:cubicBezTo>
                  <a:lnTo>
                    <a:pt x="49557" y="1127527"/>
                  </a:lnTo>
                  <a:cubicBezTo>
                    <a:pt x="22188" y="1127527"/>
                    <a:pt x="0" y="1105340"/>
                    <a:pt x="0" y="1077970"/>
                  </a:cubicBezTo>
                  <a:lnTo>
                    <a:pt x="0" y="49557"/>
                  </a:lnTo>
                  <a:cubicBezTo>
                    <a:pt x="0" y="22188"/>
                    <a:pt x="22188" y="0"/>
                    <a:pt x="49557" y="0"/>
                  </a:cubicBezTo>
                  <a:close/>
                </a:path>
              </a:pathLst>
            </a:custGeom>
            <a:solidFill>
              <a:srgbClr val="1800AD"/>
            </a:solidFill>
          </p:spPr>
        </p:sp>
        <p:sp>
          <p:nvSpPr>
            <p:cNvPr id="4" name="TextBox 4"/>
            <p:cNvSpPr txBox="1"/>
            <p:nvPr/>
          </p:nvSpPr>
          <p:spPr>
            <a:xfrm>
              <a:off x="0" y="-66675"/>
              <a:ext cx="2098380" cy="1194202"/>
            </a:xfrm>
            <a:prstGeom prst="rect">
              <a:avLst/>
            </a:prstGeom>
          </p:spPr>
          <p:txBody>
            <a:bodyPr lIns="50800" tIns="50800" rIns="50800" bIns="50800" rtlCol="0" anchor="ctr"/>
            <a:lstStyle/>
            <a:p>
              <a:pPr algn="l">
                <a:lnSpc>
                  <a:spcPts val="3919"/>
                </a:lnSpc>
              </a:pPr>
              <a:r>
                <a:rPr lang="en-US" sz="2799">
                  <a:solidFill>
                    <a:srgbClr val="FEFEFE"/>
                  </a:solidFill>
                  <a:latin typeface="Cantora One"/>
                  <a:ea typeface="Cantora One"/>
                  <a:cs typeface="Cantora One"/>
                  <a:sym typeface="Cantora One"/>
                </a:rPr>
                <a:t>The existing system uses Emergency Vehicle Preemption (EVP) to detect emergency vehicles and provide priority at traffic-signal junctions. The traffic signal responds when the emergency vehicle is detected and allows it to pass with priority.</a:t>
              </a:r>
            </a:p>
          </p:txBody>
        </p:sp>
      </p:grpSp>
      <p:grpSp>
        <p:nvGrpSpPr>
          <p:cNvPr id="5" name="Group 5"/>
          <p:cNvGrpSpPr/>
          <p:nvPr/>
        </p:nvGrpSpPr>
        <p:grpSpPr>
          <a:xfrm>
            <a:off x="10093573" y="3572769"/>
            <a:ext cx="7545298" cy="4281080"/>
            <a:chOff x="0" y="0"/>
            <a:chExt cx="1987239" cy="1127527"/>
          </a:xfrm>
        </p:grpSpPr>
        <p:sp>
          <p:nvSpPr>
            <p:cNvPr id="6" name="Freeform 6"/>
            <p:cNvSpPr/>
            <p:nvPr/>
          </p:nvSpPr>
          <p:spPr>
            <a:xfrm>
              <a:off x="0" y="0"/>
              <a:ext cx="1987239" cy="1127527"/>
            </a:xfrm>
            <a:custGeom>
              <a:avLst/>
              <a:gdLst/>
              <a:ahLst/>
              <a:cxnLst/>
              <a:rect l="l" t="t" r="r" b="b"/>
              <a:pathLst>
                <a:path w="1987239" h="1127527">
                  <a:moveTo>
                    <a:pt x="52329" y="0"/>
                  </a:moveTo>
                  <a:lnTo>
                    <a:pt x="1934910" y="0"/>
                  </a:lnTo>
                  <a:cubicBezTo>
                    <a:pt x="1963811" y="0"/>
                    <a:pt x="1987239" y="23428"/>
                    <a:pt x="1987239" y="52329"/>
                  </a:cubicBezTo>
                  <a:lnTo>
                    <a:pt x="1987239" y="1075198"/>
                  </a:lnTo>
                  <a:cubicBezTo>
                    <a:pt x="1987239" y="1089077"/>
                    <a:pt x="1981726" y="1102387"/>
                    <a:pt x="1971912" y="1112200"/>
                  </a:cubicBezTo>
                  <a:cubicBezTo>
                    <a:pt x="1962099" y="1122014"/>
                    <a:pt x="1948788" y="1127527"/>
                    <a:pt x="1934910" y="1127527"/>
                  </a:cubicBezTo>
                  <a:lnTo>
                    <a:pt x="52329" y="1127527"/>
                  </a:lnTo>
                  <a:cubicBezTo>
                    <a:pt x="38450" y="1127527"/>
                    <a:pt x="25140" y="1122014"/>
                    <a:pt x="15327" y="1112200"/>
                  </a:cubicBezTo>
                  <a:cubicBezTo>
                    <a:pt x="5513" y="1102387"/>
                    <a:pt x="0" y="1089077"/>
                    <a:pt x="0" y="1075198"/>
                  </a:cubicBezTo>
                  <a:lnTo>
                    <a:pt x="0" y="52329"/>
                  </a:lnTo>
                  <a:cubicBezTo>
                    <a:pt x="0" y="38450"/>
                    <a:pt x="5513" y="25140"/>
                    <a:pt x="15327" y="15327"/>
                  </a:cubicBezTo>
                  <a:cubicBezTo>
                    <a:pt x="25140" y="5513"/>
                    <a:pt x="38450" y="0"/>
                    <a:pt x="52329" y="0"/>
                  </a:cubicBezTo>
                  <a:close/>
                </a:path>
              </a:pathLst>
            </a:custGeom>
            <a:solidFill>
              <a:srgbClr val="1800AD"/>
            </a:solidFill>
          </p:spPr>
        </p:sp>
        <p:sp>
          <p:nvSpPr>
            <p:cNvPr id="7" name="TextBox 7"/>
            <p:cNvSpPr txBox="1"/>
            <p:nvPr/>
          </p:nvSpPr>
          <p:spPr>
            <a:xfrm>
              <a:off x="0" y="-57150"/>
              <a:ext cx="1987239" cy="1184677"/>
            </a:xfrm>
            <a:prstGeom prst="rect">
              <a:avLst/>
            </a:prstGeom>
          </p:spPr>
          <p:txBody>
            <a:bodyPr lIns="50800" tIns="50800" rIns="50800" bIns="50800" rtlCol="0" anchor="ctr"/>
            <a:lstStyle/>
            <a:p>
              <a:pPr marL="518158" lvl="1" indent="-259079" algn="l">
                <a:lnSpc>
                  <a:spcPts val="3359"/>
                </a:lnSpc>
                <a:buFont typeface="Arial"/>
                <a:buChar char="•"/>
              </a:pPr>
              <a:r>
                <a:rPr lang="en-US" sz="2399">
                  <a:solidFill>
                    <a:srgbClr val="FEFEFE"/>
                  </a:solidFill>
                  <a:latin typeface="Cantora One"/>
                  <a:ea typeface="Cantora One"/>
                  <a:cs typeface="Cantora One"/>
                  <a:sym typeface="Cantora One"/>
                </a:rPr>
                <a:t>Upcoming junctions may not receive advance emergency information.</a:t>
              </a:r>
            </a:p>
            <a:p>
              <a:pPr marL="518158" lvl="1" indent="-259079" algn="l">
                <a:lnSpc>
                  <a:spcPts val="3359"/>
                </a:lnSpc>
                <a:buFont typeface="Arial"/>
                <a:buChar char="•"/>
              </a:pPr>
              <a:r>
                <a:rPr lang="en-US" sz="2399">
                  <a:solidFill>
                    <a:srgbClr val="FEFEFE"/>
                  </a:solidFill>
                  <a:latin typeface="Cantora One"/>
                  <a:ea typeface="Cantora One"/>
                  <a:cs typeface="Cantora One"/>
                  <a:sym typeface="Cantora One"/>
                </a:rPr>
                <a:t>Each junction may respond independently.</a:t>
              </a:r>
            </a:p>
            <a:p>
              <a:pPr marL="518158" lvl="1" indent="-259079" algn="l">
                <a:lnSpc>
                  <a:spcPts val="3359"/>
                </a:lnSpc>
                <a:buFont typeface="Arial"/>
                <a:buChar char="•"/>
              </a:pPr>
              <a:r>
                <a:rPr lang="en-US" sz="2399">
                  <a:solidFill>
                    <a:srgbClr val="FEFEFE"/>
                  </a:solidFill>
                  <a:latin typeface="Cantora One"/>
                  <a:ea typeface="Cantora One"/>
                  <a:cs typeface="Cantora One"/>
                  <a:sym typeface="Cantora One"/>
                </a:rPr>
                <a:t>The emergency vehicle may face delays at multiple junctions.</a:t>
              </a:r>
            </a:p>
            <a:p>
              <a:pPr marL="518158" lvl="1" indent="-259079" algn="l">
                <a:lnSpc>
                  <a:spcPts val="3359"/>
                </a:lnSpc>
                <a:buFont typeface="Arial"/>
                <a:buChar char="•"/>
              </a:pPr>
              <a:r>
                <a:rPr lang="en-US" sz="2399">
                  <a:solidFill>
                    <a:srgbClr val="FEFEFE"/>
                  </a:solidFill>
                  <a:latin typeface="Cantora One"/>
                  <a:ea typeface="Cantora One"/>
                  <a:cs typeface="Cantora One"/>
                  <a:sym typeface="Cantora One"/>
                </a:rPr>
                <a:t>There is limited junction-to-junction communication for advance preparation.</a:t>
              </a:r>
            </a:p>
            <a:p>
              <a:pPr marL="518158" lvl="1" indent="-259079" algn="l">
                <a:lnSpc>
                  <a:spcPts val="3359"/>
                </a:lnSpc>
                <a:buFont typeface="Arial"/>
                <a:buChar char="•"/>
              </a:pPr>
              <a:r>
                <a:rPr lang="en-US" sz="2399">
                  <a:solidFill>
                    <a:srgbClr val="FEFEFE"/>
                  </a:solidFill>
                  <a:latin typeface="Cantora One"/>
                  <a:ea typeface="Cantora One"/>
                  <a:cs typeface="Cantora One"/>
                  <a:sym typeface="Cantora One"/>
                </a:rPr>
                <a:t>Valuable emergency response time can be lost due to traffic congestion and signals.</a:t>
              </a:r>
            </a:p>
          </p:txBody>
        </p:sp>
      </p:grpSp>
      <p:sp>
        <p:nvSpPr>
          <p:cNvPr id="8" name="TextBox 8"/>
          <p:cNvSpPr txBox="1"/>
          <p:nvPr/>
        </p:nvSpPr>
        <p:spPr>
          <a:xfrm>
            <a:off x="15941873"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1"/>
                <a:ea typeface="Canva Sans 1"/>
                <a:cs typeface="Canva Sans 1"/>
                <a:sym typeface="Canva Sans 1"/>
              </a:rPr>
              <a:t>Page 8 of 19</a:t>
            </a:r>
          </a:p>
        </p:txBody>
      </p:sp>
      <p:sp>
        <p:nvSpPr>
          <p:cNvPr id="9" name="TextBox 9"/>
          <p:cNvSpPr txBox="1"/>
          <p:nvPr/>
        </p:nvSpPr>
        <p:spPr>
          <a:xfrm>
            <a:off x="5605640" y="427759"/>
            <a:ext cx="7967289" cy="1078056"/>
          </a:xfrm>
          <a:prstGeom prst="rect">
            <a:avLst/>
          </a:prstGeom>
        </p:spPr>
        <p:txBody>
          <a:bodyPr wrap="square" lIns="0" tIns="0" rIns="0" bIns="0" rtlCol="0" anchor="t">
            <a:spAutoFit/>
          </a:bodyPr>
          <a:lstStyle/>
          <a:p>
            <a:pPr algn="ctr">
              <a:lnSpc>
                <a:spcPts val="8829"/>
              </a:lnSpc>
            </a:pPr>
            <a:r>
              <a:rPr lang="en-US" sz="6306" b="1" dirty="0">
                <a:solidFill>
                  <a:srgbClr val="000000"/>
                </a:solidFill>
                <a:latin typeface="Canva Sans 1 Bold"/>
                <a:ea typeface="Canva Sans 1 Bold"/>
                <a:cs typeface="Canva Sans 1 Bold"/>
                <a:sym typeface="Canva Sans 1 Bold"/>
              </a:rPr>
              <a:t>EXISTING SYSTEM</a:t>
            </a:r>
          </a:p>
        </p:txBody>
      </p:sp>
      <p:sp>
        <p:nvSpPr>
          <p:cNvPr id="10" name="TextBox 10"/>
          <p:cNvSpPr txBox="1"/>
          <p:nvPr/>
        </p:nvSpPr>
        <p:spPr>
          <a:xfrm>
            <a:off x="2316829" y="2151943"/>
            <a:ext cx="5531771" cy="688974"/>
          </a:xfrm>
          <a:prstGeom prst="rect">
            <a:avLst/>
          </a:prstGeom>
        </p:spPr>
        <p:txBody>
          <a:bodyPr wrap="square" lIns="0" tIns="0" rIns="0" bIns="0" rtlCol="0" anchor="t">
            <a:spAutoFit/>
          </a:bodyPr>
          <a:lstStyle/>
          <a:p>
            <a:pPr algn="ctr">
              <a:lnSpc>
                <a:spcPts val="5600"/>
              </a:lnSpc>
            </a:pPr>
            <a:r>
              <a:rPr lang="en-US" sz="4000" b="1" dirty="0">
                <a:solidFill>
                  <a:srgbClr val="000000"/>
                </a:solidFill>
                <a:latin typeface="Canva Sans 1 Bold"/>
                <a:ea typeface="Canva Sans 1 Bold"/>
                <a:cs typeface="Canva Sans 1 Bold"/>
                <a:sym typeface="Canva Sans 1 Bold"/>
              </a:rPr>
              <a:t>CURRENT APPROACH</a:t>
            </a:r>
          </a:p>
        </p:txBody>
      </p:sp>
      <p:sp>
        <p:nvSpPr>
          <p:cNvPr id="11" name="TextBox 11"/>
          <p:cNvSpPr txBox="1"/>
          <p:nvPr/>
        </p:nvSpPr>
        <p:spPr>
          <a:xfrm>
            <a:off x="12463606" y="2151943"/>
            <a:ext cx="2805232" cy="688974"/>
          </a:xfrm>
          <a:prstGeom prst="rect">
            <a:avLst/>
          </a:prstGeom>
        </p:spPr>
        <p:txBody>
          <a:bodyPr lIns="0" tIns="0" rIns="0" bIns="0" rtlCol="0" anchor="t">
            <a:spAutoFit/>
          </a:bodyPr>
          <a:lstStyle/>
          <a:p>
            <a:pPr algn="ctr">
              <a:lnSpc>
                <a:spcPts val="5600"/>
              </a:lnSpc>
            </a:pPr>
            <a:r>
              <a:rPr lang="en-US" sz="4000" b="1">
                <a:solidFill>
                  <a:srgbClr val="000000"/>
                </a:solidFill>
                <a:latin typeface="Canva Sans 1 Bold"/>
                <a:ea typeface="Canva Sans 1 Bold"/>
                <a:cs typeface="Canva Sans 1 Bold"/>
                <a:sym typeface="Canva Sans 1 Bold"/>
              </a:rPr>
              <a:t>PROBLEMS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293752"/>
            <a:ext cx="6194924" cy="3105542"/>
            <a:chOff x="0" y="0"/>
            <a:chExt cx="1631585" cy="817920"/>
          </a:xfrm>
        </p:grpSpPr>
        <p:sp>
          <p:nvSpPr>
            <p:cNvPr id="3" name="Freeform 3"/>
            <p:cNvSpPr/>
            <p:nvPr/>
          </p:nvSpPr>
          <p:spPr>
            <a:xfrm>
              <a:off x="0" y="0"/>
              <a:ext cx="1631585" cy="817920"/>
            </a:xfrm>
            <a:custGeom>
              <a:avLst/>
              <a:gdLst/>
              <a:ahLst/>
              <a:cxnLst/>
              <a:rect l="l" t="t" r="r" b="b"/>
              <a:pathLst>
                <a:path w="1631585" h="817920">
                  <a:moveTo>
                    <a:pt x="63736" y="0"/>
                  </a:moveTo>
                  <a:lnTo>
                    <a:pt x="1567849" y="0"/>
                  </a:lnTo>
                  <a:cubicBezTo>
                    <a:pt x="1584753" y="0"/>
                    <a:pt x="1600964" y="6715"/>
                    <a:pt x="1612917" y="18668"/>
                  </a:cubicBezTo>
                  <a:cubicBezTo>
                    <a:pt x="1624870" y="30621"/>
                    <a:pt x="1631585" y="46832"/>
                    <a:pt x="1631585" y="63736"/>
                  </a:cubicBezTo>
                  <a:lnTo>
                    <a:pt x="1631585" y="754185"/>
                  </a:lnTo>
                  <a:cubicBezTo>
                    <a:pt x="1631585" y="789385"/>
                    <a:pt x="1603049" y="817920"/>
                    <a:pt x="1567849" y="817920"/>
                  </a:cubicBezTo>
                  <a:lnTo>
                    <a:pt x="63736" y="817920"/>
                  </a:lnTo>
                  <a:cubicBezTo>
                    <a:pt x="46832" y="817920"/>
                    <a:pt x="30621" y="811205"/>
                    <a:pt x="18668" y="799253"/>
                  </a:cubicBezTo>
                  <a:cubicBezTo>
                    <a:pt x="6715" y="787300"/>
                    <a:pt x="0" y="771088"/>
                    <a:pt x="0" y="754185"/>
                  </a:cubicBezTo>
                  <a:lnTo>
                    <a:pt x="0" y="63736"/>
                  </a:lnTo>
                  <a:cubicBezTo>
                    <a:pt x="0" y="46832"/>
                    <a:pt x="6715" y="30621"/>
                    <a:pt x="18668" y="18668"/>
                  </a:cubicBezTo>
                  <a:cubicBezTo>
                    <a:pt x="30621" y="6715"/>
                    <a:pt x="46832" y="0"/>
                    <a:pt x="63736" y="0"/>
                  </a:cubicBezTo>
                  <a:close/>
                </a:path>
              </a:pathLst>
            </a:custGeom>
            <a:solidFill>
              <a:srgbClr val="1800AD"/>
            </a:solidFill>
          </p:spPr>
        </p:sp>
        <p:sp>
          <p:nvSpPr>
            <p:cNvPr id="4" name="TextBox 4"/>
            <p:cNvSpPr txBox="1"/>
            <p:nvPr/>
          </p:nvSpPr>
          <p:spPr>
            <a:xfrm>
              <a:off x="0" y="-57150"/>
              <a:ext cx="1631585" cy="875070"/>
            </a:xfrm>
            <a:prstGeom prst="rect">
              <a:avLst/>
            </a:prstGeom>
          </p:spPr>
          <p:txBody>
            <a:bodyPr lIns="50800" tIns="50800" rIns="50800" bIns="50800" rtlCol="0" anchor="ctr"/>
            <a:lstStyle/>
            <a:p>
              <a:pPr algn="l">
                <a:lnSpc>
                  <a:spcPts val="3919"/>
                </a:lnSpc>
              </a:pPr>
              <a:r>
                <a:rPr lang="en-US" sz="2799">
                  <a:solidFill>
                    <a:srgbClr val="FFFFFF"/>
                  </a:solidFill>
                  <a:latin typeface="Canva Sans 1"/>
                  <a:ea typeface="Canva Sans 1"/>
                  <a:cs typeface="Canva Sans 1"/>
                  <a:sym typeface="Canva Sans 1"/>
                </a:rPr>
                <a:t>Emergency vehicle activates the system → ESP32 detects it → LoRa sends the emergency information.</a:t>
              </a:r>
            </a:p>
          </p:txBody>
        </p:sp>
      </p:grpSp>
      <p:sp>
        <p:nvSpPr>
          <p:cNvPr id="5" name="TextBox 5"/>
          <p:cNvSpPr txBox="1"/>
          <p:nvPr/>
        </p:nvSpPr>
        <p:spPr>
          <a:xfrm>
            <a:off x="15941873"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1"/>
                <a:ea typeface="Canva Sans 1"/>
                <a:cs typeface="Canva Sans 1"/>
                <a:sym typeface="Canva Sans 1"/>
              </a:rPr>
              <a:t>Page 9 of 19</a:t>
            </a:r>
          </a:p>
        </p:txBody>
      </p:sp>
      <p:sp>
        <p:nvSpPr>
          <p:cNvPr id="6" name="TextBox 6"/>
          <p:cNvSpPr txBox="1"/>
          <p:nvPr/>
        </p:nvSpPr>
        <p:spPr>
          <a:xfrm>
            <a:off x="5258156" y="123870"/>
            <a:ext cx="8153043" cy="1078218"/>
          </a:xfrm>
          <a:prstGeom prst="rect">
            <a:avLst/>
          </a:prstGeom>
        </p:spPr>
        <p:txBody>
          <a:bodyPr wrap="square" lIns="0" tIns="0" rIns="0" bIns="0" rtlCol="0" anchor="t">
            <a:spAutoFit/>
          </a:bodyPr>
          <a:lstStyle/>
          <a:p>
            <a:pPr algn="ctr">
              <a:lnSpc>
                <a:spcPts val="8820"/>
              </a:lnSpc>
            </a:pPr>
            <a:r>
              <a:rPr lang="en-US" sz="6300" b="1" dirty="0">
                <a:solidFill>
                  <a:srgbClr val="000000"/>
                </a:solidFill>
                <a:latin typeface="Canva Sans 1 Bold"/>
                <a:ea typeface="Canva Sans 1 Bold"/>
                <a:cs typeface="Canva Sans 1 Bold"/>
                <a:sym typeface="Canva Sans 1 Bold"/>
              </a:rPr>
              <a:t>PROPOSED SYSTEM</a:t>
            </a:r>
          </a:p>
        </p:txBody>
      </p:sp>
      <p:sp>
        <p:nvSpPr>
          <p:cNvPr id="7" name="TextBox 7"/>
          <p:cNvSpPr txBox="1"/>
          <p:nvPr/>
        </p:nvSpPr>
        <p:spPr>
          <a:xfrm>
            <a:off x="3128535" y="1486359"/>
            <a:ext cx="1580198" cy="688974"/>
          </a:xfrm>
          <a:prstGeom prst="rect">
            <a:avLst/>
          </a:prstGeom>
        </p:spPr>
        <p:txBody>
          <a:bodyPr lIns="0" tIns="0" rIns="0" bIns="0" rtlCol="0" anchor="t">
            <a:spAutoFit/>
          </a:bodyPr>
          <a:lstStyle/>
          <a:p>
            <a:pPr algn="ctr">
              <a:lnSpc>
                <a:spcPts val="5600"/>
              </a:lnSpc>
            </a:pPr>
            <a:r>
              <a:rPr lang="en-US" sz="4000" b="1">
                <a:solidFill>
                  <a:srgbClr val="000000"/>
                </a:solidFill>
                <a:latin typeface="Canva Sans 1 Bold"/>
                <a:ea typeface="Canva Sans 1 Bold"/>
                <a:cs typeface="Canva Sans 1 Bold"/>
                <a:sym typeface="Canva Sans 1 Bold"/>
              </a:rPr>
              <a:t>INPUT</a:t>
            </a:r>
          </a:p>
        </p:txBody>
      </p:sp>
      <p:sp>
        <p:nvSpPr>
          <p:cNvPr id="8" name="TextBox 8"/>
          <p:cNvSpPr txBox="1"/>
          <p:nvPr/>
        </p:nvSpPr>
        <p:spPr>
          <a:xfrm>
            <a:off x="11627347" y="1512394"/>
            <a:ext cx="3215878" cy="662939"/>
          </a:xfrm>
          <a:prstGeom prst="rect">
            <a:avLst/>
          </a:prstGeom>
        </p:spPr>
        <p:txBody>
          <a:bodyPr lIns="0" tIns="0" rIns="0" bIns="0" rtlCol="0" anchor="t">
            <a:spAutoFit/>
          </a:bodyPr>
          <a:lstStyle/>
          <a:p>
            <a:pPr algn="ctr">
              <a:lnSpc>
                <a:spcPts val="5460"/>
              </a:lnSpc>
            </a:pPr>
            <a:r>
              <a:rPr lang="en-US" sz="3900" b="1">
                <a:solidFill>
                  <a:srgbClr val="000000"/>
                </a:solidFill>
                <a:latin typeface="Canva Sans 1 Bold"/>
                <a:ea typeface="Canva Sans 1 Bold"/>
                <a:cs typeface="Canva Sans 1 Bold"/>
                <a:sym typeface="Canva Sans 1 Bold"/>
              </a:rPr>
              <a:t>PROCESSING</a:t>
            </a:r>
          </a:p>
        </p:txBody>
      </p:sp>
      <p:grpSp>
        <p:nvGrpSpPr>
          <p:cNvPr id="9" name="Group 9"/>
          <p:cNvGrpSpPr/>
          <p:nvPr/>
        </p:nvGrpSpPr>
        <p:grpSpPr>
          <a:xfrm>
            <a:off x="9494689" y="2293752"/>
            <a:ext cx="7481195" cy="3105542"/>
            <a:chOff x="0" y="0"/>
            <a:chExt cx="1970356" cy="817920"/>
          </a:xfrm>
        </p:grpSpPr>
        <p:sp>
          <p:nvSpPr>
            <p:cNvPr id="10" name="Freeform 10"/>
            <p:cNvSpPr/>
            <p:nvPr/>
          </p:nvSpPr>
          <p:spPr>
            <a:xfrm>
              <a:off x="0" y="0"/>
              <a:ext cx="1970356" cy="817920"/>
            </a:xfrm>
            <a:custGeom>
              <a:avLst/>
              <a:gdLst/>
              <a:ahLst/>
              <a:cxnLst/>
              <a:rect l="l" t="t" r="r" b="b"/>
              <a:pathLst>
                <a:path w="1970356" h="817920">
                  <a:moveTo>
                    <a:pt x="52777" y="0"/>
                  </a:moveTo>
                  <a:lnTo>
                    <a:pt x="1917578" y="0"/>
                  </a:lnTo>
                  <a:cubicBezTo>
                    <a:pt x="1946727" y="0"/>
                    <a:pt x="1970356" y="23629"/>
                    <a:pt x="1970356" y="52777"/>
                  </a:cubicBezTo>
                  <a:lnTo>
                    <a:pt x="1970356" y="765143"/>
                  </a:lnTo>
                  <a:cubicBezTo>
                    <a:pt x="1970356" y="779140"/>
                    <a:pt x="1964795" y="792565"/>
                    <a:pt x="1954898" y="802462"/>
                  </a:cubicBezTo>
                  <a:cubicBezTo>
                    <a:pt x="1945000" y="812360"/>
                    <a:pt x="1931576" y="817920"/>
                    <a:pt x="1917578" y="817920"/>
                  </a:cubicBezTo>
                  <a:lnTo>
                    <a:pt x="52777" y="817920"/>
                  </a:lnTo>
                  <a:cubicBezTo>
                    <a:pt x="38780" y="817920"/>
                    <a:pt x="25356" y="812360"/>
                    <a:pt x="15458" y="802462"/>
                  </a:cubicBezTo>
                  <a:cubicBezTo>
                    <a:pt x="5560" y="792565"/>
                    <a:pt x="0" y="779140"/>
                    <a:pt x="0" y="765143"/>
                  </a:cubicBezTo>
                  <a:lnTo>
                    <a:pt x="0" y="52777"/>
                  </a:lnTo>
                  <a:cubicBezTo>
                    <a:pt x="0" y="38780"/>
                    <a:pt x="5560" y="25356"/>
                    <a:pt x="15458" y="15458"/>
                  </a:cubicBezTo>
                  <a:cubicBezTo>
                    <a:pt x="25356" y="5560"/>
                    <a:pt x="38780" y="0"/>
                    <a:pt x="52777" y="0"/>
                  </a:cubicBezTo>
                  <a:close/>
                </a:path>
              </a:pathLst>
            </a:custGeom>
            <a:solidFill>
              <a:srgbClr val="1800AD"/>
            </a:solidFill>
          </p:spPr>
        </p:sp>
        <p:sp>
          <p:nvSpPr>
            <p:cNvPr id="11" name="TextBox 11"/>
            <p:cNvSpPr txBox="1"/>
            <p:nvPr/>
          </p:nvSpPr>
          <p:spPr>
            <a:xfrm>
              <a:off x="0" y="-57150"/>
              <a:ext cx="1970356" cy="875070"/>
            </a:xfrm>
            <a:prstGeom prst="rect">
              <a:avLst/>
            </a:prstGeom>
          </p:spPr>
          <p:txBody>
            <a:bodyPr lIns="50800" tIns="50800" rIns="50800" bIns="50800" rtlCol="0" anchor="ctr"/>
            <a:lstStyle/>
            <a:p>
              <a:pPr algn="l">
                <a:lnSpc>
                  <a:spcPts val="3919"/>
                </a:lnSpc>
              </a:pPr>
              <a:r>
                <a:rPr lang="en-US" sz="2799">
                  <a:solidFill>
                    <a:srgbClr val="FFFFFF"/>
                  </a:solidFill>
                  <a:latin typeface="Canva Sans 1"/>
                  <a:ea typeface="Canva Sans 1"/>
                  <a:cs typeface="Canva Sans 1"/>
                  <a:sym typeface="Canva Sans 1"/>
                </a:rPr>
                <a:t>The current junction gives priority and forwards the information to the next junction. The next junction prepares the signal before the emergency vehicle arrives.</a:t>
              </a:r>
            </a:p>
          </p:txBody>
        </p:sp>
      </p:grpSp>
      <p:sp>
        <p:nvSpPr>
          <p:cNvPr id="12" name="TextBox 12"/>
          <p:cNvSpPr txBox="1"/>
          <p:nvPr/>
        </p:nvSpPr>
        <p:spPr>
          <a:xfrm>
            <a:off x="7398117" y="5735309"/>
            <a:ext cx="2096572" cy="688974"/>
          </a:xfrm>
          <a:prstGeom prst="rect">
            <a:avLst/>
          </a:prstGeom>
        </p:spPr>
        <p:txBody>
          <a:bodyPr lIns="0" tIns="0" rIns="0" bIns="0" rtlCol="0" anchor="t">
            <a:spAutoFit/>
          </a:bodyPr>
          <a:lstStyle/>
          <a:p>
            <a:pPr algn="ctr">
              <a:lnSpc>
                <a:spcPts val="5600"/>
              </a:lnSpc>
            </a:pPr>
            <a:r>
              <a:rPr lang="en-US" sz="4000" b="1">
                <a:solidFill>
                  <a:srgbClr val="000000"/>
                </a:solidFill>
                <a:latin typeface="Canva Sans 1 Bold"/>
                <a:ea typeface="Canva Sans 1 Bold"/>
                <a:cs typeface="Canva Sans 1 Bold"/>
                <a:sym typeface="Canva Sans 1 Bold"/>
              </a:rPr>
              <a:t>OUTPUT</a:t>
            </a:r>
          </a:p>
        </p:txBody>
      </p:sp>
      <p:grpSp>
        <p:nvGrpSpPr>
          <p:cNvPr id="13" name="Group 13"/>
          <p:cNvGrpSpPr/>
          <p:nvPr/>
        </p:nvGrpSpPr>
        <p:grpSpPr>
          <a:xfrm>
            <a:off x="4708733" y="6490958"/>
            <a:ext cx="7481195" cy="3105542"/>
            <a:chOff x="0" y="0"/>
            <a:chExt cx="1970356" cy="817920"/>
          </a:xfrm>
        </p:grpSpPr>
        <p:sp>
          <p:nvSpPr>
            <p:cNvPr id="14" name="Freeform 14"/>
            <p:cNvSpPr/>
            <p:nvPr/>
          </p:nvSpPr>
          <p:spPr>
            <a:xfrm>
              <a:off x="0" y="0"/>
              <a:ext cx="1970356" cy="817920"/>
            </a:xfrm>
            <a:custGeom>
              <a:avLst/>
              <a:gdLst/>
              <a:ahLst/>
              <a:cxnLst/>
              <a:rect l="l" t="t" r="r" b="b"/>
              <a:pathLst>
                <a:path w="1970356" h="817920">
                  <a:moveTo>
                    <a:pt x="52777" y="0"/>
                  </a:moveTo>
                  <a:lnTo>
                    <a:pt x="1917578" y="0"/>
                  </a:lnTo>
                  <a:cubicBezTo>
                    <a:pt x="1946727" y="0"/>
                    <a:pt x="1970356" y="23629"/>
                    <a:pt x="1970356" y="52777"/>
                  </a:cubicBezTo>
                  <a:lnTo>
                    <a:pt x="1970356" y="765143"/>
                  </a:lnTo>
                  <a:cubicBezTo>
                    <a:pt x="1970356" y="779140"/>
                    <a:pt x="1964795" y="792565"/>
                    <a:pt x="1954898" y="802462"/>
                  </a:cubicBezTo>
                  <a:cubicBezTo>
                    <a:pt x="1945000" y="812360"/>
                    <a:pt x="1931576" y="817920"/>
                    <a:pt x="1917578" y="817920"/>
                  </a:cubicBezTo>
                  <a:lnTo>
                    <a:pt x="52777" y="817920"/>
                  </a:lnTo>
                  <a:cubicBezTo>
                    <a:pt x="38780" y="817920"/>
                    <a:pt x="25356" y="812360"/>
                    <a:pt x="15458" y="802462"/>
                  </a:cubicBezTo>
                  <a:cubicBezTo>
                    <a:pt x="5560" y="792565"/>
                    <a:pt x="0" y="779140"/>
                    <a:pt x="0" y="765143"/>
                  </a:cubicBezTo>
                  <a:lnTo>
                    <a:pt x="0" y="52777"/>
                  </a:lnTo>
                  <a:cubicBezTo>
                    <a:pt x="0" y="38780"/>
                    <a:pt x="5560" y="25356"/>
                    <a:pt x="15458" y="15458"/>
                  </a:cubicBezTo>
                  <a:cubicBezTo>
                    <a:pt x="25356" y="5560"/>
                    <a:pt x="38780" y="0"/>
                    <a:pt x="52777" y="0"/>
                  </a:cubicBezTo>
                  <a:close/>
                </a:path>
              </a:pathLst>
            </a:custGeom>
            <a:solidFill>
              <a:srgbClr val="1800AD"/>
            </a:solidFill>
          </p:spPr>
        </p:sp>
        <p:sp>
          <p:nvSpPr>
            <p:cNvPr id="15" name="TextBox 15"/>
            <p:cNvSpPr txBox="1"/>
            <p:nvPr/>
          </p:nvSpPr>
          <p:spPr>
            <a:xfrm>
              <a:off x="0" y="-57150"/>
              <a:ext cx="1970356" cy="875070"/>
            </a:xfrm>
            <a:prstGeom prst="rect">
              <a:avLst/>
            </a:prstGeom>
          </p:spPr>
          <p:txBody>
            <a:bodyPr lIns="50800" tIns="50800" rIns="50800" bIns="50800" rtlCol="0" anchor="ctr"/>
            <a:lstStyle/>
            <a:p>
              <a:pPr algn="l">
                <a:lnSpc>
                  <a:spcPts val="3919"/>
                </a:lnSpc>
              </a:pPr>
              <a:r>
                <a:rPr lang="en-US" sz="2799">
                  <a:solidFill>
                    <a:srgbClr val="FFFFFF"/>
                  </a:solidFill>
                  <a:latin typeface="Canva Sans 1"/>
                  <a:ea typeface="Canva Sans 1"/>
                  <a:cs typeface="Canva Sans 1"/>
                  <a:sym typeface="Canva Sans 1"/>
                </a:rPr>
                <a:t>The traffic signal becomes green for the emergency vehicle, upcoming junctions are prepared, and after the vehicle passes, the signals return to normal operation.</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264998"/>
            <a:ext cx="3086100" cy="1543050"/>
            <a:chOff x="0" y="0"/>
            <a:chExt cx="812800" cy="406400"/>
          </a:xfrm>
        </p:grpSpPr>
        <p:sp>
          <p:nvSpPr>
            <p:cNvPr id="3" name="Freeform 3"/>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4" name="TextBox 4"/>
            <p:cNvSpPr txBox="1"/>
            <p:nvPr/>
          </p:nvSpPr>
          <p:spPr>
            <a:xfrm>
              <a:off x="0" y="-47625"/>
              <a:ext cx="812800" cy="454025"/>
            </a:xfrm>
            <a:prstGeom prst="rect">
              <a:avLst/>
            </a:prstGeom>
          </p:spPr>
          <p:txBody>
            <a:bodyPr lIns="50800" tIns="50800" rIns="50800" bIns="50800" rtlCol="0" anchor="ctr"/>
            <a:lstStyle/>
            <a:p>
              <a:pPr algn="ctr">
                <a:lnSpc>
                  <a:spcPts val="2800"/>
                </a:lnSpc>
              </a:pPr>
              <a:endParaRPr/>
            </a:p>
          </p:txBody>
        </p:sp>
      </p:grpSp>
      <p:sp>
        <p:nvSpPr>
          <p:cNvPr id="5" name="AutoShape 5"/>
          <p:cNvSpPr/>
          <p:nvPr/>
        </p:nvSpPr>
        <p:spPr>
          <a:xfrm>
            <a:off x="4114800" y="2017473"/>
            <a:ext cx="1104642" cy="19050"/>
          </a:xfrm>
          <a:prstGeom prst="line">
            <a:avLst/>
          </a:prstGeom>
          <a:ln w="38100" cap="flat">
            <a:solidFill>
              <a:srgbClr val="000000"/>
            </a:solidFill>
            <a:prstDash val="solid"/>
            <a:headEnd type="none" w="sm" len="sm"/>
            <a:tailEnd type="triangle" w="lg" len="med"/>
          </a:ln>
        </p:spPr>
      </p:sp>
      <p:grpSp>
        <p:nvGrpSpPr>
          <p:cNvPr id="6" name="Group 6"/>
          <p:cNvGrpSpPr/>
          <p:nvPr/>
        </p:nvGrpSpPr>
        <p:grpSpPr>
          <a:xfrm>
            <a:off x="5219442" y="1264998"/>
            <a:ext cx="4314850" cy="1543050"/>
            <a:chOff x="0" y="0"/>
            <a:chExt cx="1136422" cy="406400"/>
          </a:xfrm>
        </p:grpSpPr>
        <p:sp>
          <p:nvSpPr>
            <p:cNvPr id="7" name="Freeform 7"/>
            <p:cNvSpPr/>
            <p:nvPr/>
          </p:nvSpPr>
          <p:spPr>
            <a:xfrm>
              <a:off x="0" y="0"/>
              <a:ext cx="1136422" cy="406400"/>
            </a:xfrm>
            <a:custGeom>
              <a:avLst/>
              <a:gdLst/>
              <a:ahLst/>
              <a:cxnLst/>
              <a:rect l="l" t="t" r="r" b="b"/>
              <a:pathLst>
                <a:path w="1136422" h="406400">
                  <a:moveTo>
                    <a:pt x="933222" y="0"/>
                  </a:moveTo>
                  <a:cubicBezTo>
                    <a:pt x="1045446" y="0"/>
                    <a:pt x="1136422" y="90976"/>
                    <a:pt x="1136422" y="203200"/>
                  </a:cubicBezTo>
                  <a:cubicBezTo>
                    <a:pt x="1136422" y="315424"/>
                    <a:pt x="1045446" y="406400"/>
                    <a:pt x="933222"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8" name="TextBox 8"/>
            <p:cNvSpPr txBox="1"/>
            <p:nvPr/>
          </p:nvSpPr>
          <p:spPr>
            <a:xfrm>
              <a:off x="0" y="-47625"/>
              <a:ext cx="1136422" cy="454025"/>
            </a:xfrm>
            <a:prstGeom prst="rect">
              <a:avLst/>
            </a:prstGeom>
          </p:spPr>
          <p:txBody>
            <a:bodyPr lIns="50800" tIns="50800" rIns="50800" bIns="50800" rtlCol="0" anchor="ctr"/>
            <a:lstStyle/>
            <a:p>
              <a:pPr algn="ctr">
                <a:lnSpc>
                  <a:spcPts val="2800"/>
                </a:lnSpc>
              </a:pPr>
              <a:endParaRPr/>
            </a:p>
          </p:txBody>
        </p:sp>
      </p:grpSp>
      <p:sp>
        <p:nvSpPr>
          <p:cNvPr id="9" name="AutoShape 9"/>
          <p:cNvSpPr/>
          <p:nvPr/>
        </p:nvSpPr>
        <p:spPr>
          <a:xfrm>
            <a:off x="9534621" y="1979376"/>
            <a:ext cx="1104642" cy="19050"/>
          </a:xfrm>
          <a:prstGeom prst="line">
            <a:avLst/>
          </a:prstGeom>
          <a:ln w="38100" cap="flat">
            <a:solidFill>
              <a:srgbClr val="000000"/>
            </a:solidFill>
            <a:prstDash val="solid"/>
            <a:headEnd type="none" w="sm" len="sm"/>
            <a:tailEnd type="triangle" w="lg" len="med"/>
          </a:ln>
        </p:spPr>
      </p:sp>
      <p:grpSp>
        <p:nvGrpSpPr>
          <p:cNvPr id="10" name="Group 10"/>
          <p:cNvGrpSpPr/>
          <p:nvPr/>
        </p:nvGrpSpPr>
        <p:grpSpPr>
          <a:xfrm>
            <a:off x="10639193" y="1207851"/>
            <a:ext cx="4314850" cy="1543050"/>
            <a:chOff x="0" y="0"/>
            <a:chExt cx="1136422" cy="406400"/>
          </a:xfrm>
        </p:grpSpPr>
        <p:sp>
          <p:nvSpPr>
            <p:cNvPr id="11" name="Freeform 11"/>
            <p:cNvSpPr/>
            <p:nvPr/>
          </p:nvSpPr>
          <p:spPr>
            <a:xfrm>
              <a:off x="0" y="0"/>
              <a:ext cx="1136422" cy="406400"/>
            </a:xfrm>
            <a:custGeom>
              <a:avLst/>
              <a:gdLst/>
              <a:ahLst/>
              <a:cxnLst/>
              <a:rect l="l" t="t" r="r" b="b"/>
              <a:pathLst>
                <a:path w="1136422" h="406400">
                  <a:moveTo>
                    <a:pt x="933222" y="0"/>
                  </a:moveTo>
                  <a:cubicBezTo>
                    <a:pt x="1045446" y="0"/>
                    <a:pt x="1136422" y="90976"/>
                    <a:pt x="1136422" y="203200"/>
                  </a:cubicBezTo>
                  <a:cubicBezTo>
                    <a:pt x="1136422" y="315424"/>
                    <a:pt x="1045446" y="406400"/>
                    <a:pt x="933222"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12" name="TextBox 12"/>
            <p:cNvSpPr txBox="1"/>
            <p:nvPr/>
          </p:nvSpPr>
          <p:spPr>
            <a:xfrm>
              <a:off x="0" y="-47625"/>
              <a:ext cx="1136422" cy="454025"/>
            </a:xfrm>
            <a:prstGeom prst="rect">
              <a:avLst/>
            </a:prstGeom>
          </p:spPr>
          <p:txBody>
            <a:bodyPr lIns="50800" tIns="50800" rIns="50800" bIns="50800" rtlCol="0" anchor="ctr"/>
            <a:lstStyle/>
            <a:p>
              <a:pPr algn="ctr">
                <a:lnSpc>
                  <a:spcPts val="2800"/>
                </a:lnSpc>
              </a:pPr>
              <a:endParaRPr/>
            </a:p>
          </p:txBody>
        </p:sp>
      </p:grpSp>
      <p:sp>
        <p:nvSpPr>
          <p:cNvPr id="13" name="Freeform 13"/>
          <p:cNvSpPr/>
          <p:nvPr/>
        </p:nvSpPr>
        <p:spPr>
          <a:xfrm rot="-10800000">
            <a:off x="14950697" y="1833854"/>
            <a:ext cx="881094" cy="1519127"/>
          </a:xfrm>
          <a:custGeom>
            <a:avLst/>
            <a:gdLst/>
            <a:ahLst/>
            <a:cxnLst/>
            <a:rect l="l" t="t" r="r" b="b"/>
            <a:pathLst>
              <a:path w="881094" h="1519127">
                <a:moveTo>
                  <a:pt x="0" y="0"/>
                </a:moveTo>
                <a:lnTo>
                  <a:pt x="881093" y="0"/>
                </a:lnTo>
                <a:lnTo>
                  <a:pt x="881093" y="1519128"/>
                </a:lnTo>
                <a:lnTo>
                  <a:pt x="0" y="151912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4" name="Group 14"/>
          <p:cNvGrpSpPr/>
          <p:nvPr/>
        </p:nvGrpSpPr>
        <p:grpSpPr>
          <a:xfrm>
            <a:off x="13627106" y="3352982"/>
            <a:ext cx="4409370" cy="1543050"/>
            <a:chOff x="0" y="0"/>
            <a:chExt cx="1161315" cy="406400"/>
          </a:xfrm>
        </p:grpSpPr>
        <p:sp>
          <p:nvSpPr>
            <p:cNvPr id="15" name="Freeform 15"/>
            <p:cNvSpPr/>
            <p:nvPr/>
          </p:nvSpPr>
          <p:spPr>
            <a:xfrm>
              <a:off x="0" y="0"/>
              <a:ext cx="1161315" cy="406400"/>
            </a:xfrm>
            <a:custGeom>
              <a:avLst/>
              <a:gdLst/>
              <a:ahLst/>
              <a:cxnLst/>
              <a:rect l="l" t="t" r="r" b="b"/>
              <a:pathLst>
                <a:path w="1161315" h="406400">
                  <a:moveTo>
                    <a:pt x="958115" y="0"/>
                  </a:moveTo>
                  <a:cubicBezTo>
                    <a:pt x="1070340" y="0"/>
                    <a:pt x="1161315" y="90976"/>
                    <a:pt x="1161315" y="203200"/>
                  </a:cubicBezTo>
                  <a:cubicBezTo>
                    <a:pt x="1161315" y="315424"/>
                    <a:pt x="1070340" y="406400"/>
                    <a:pt x="958115"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16" name="TextBox 16"/>
            <p:cNvSpPr txBox="1"/>
            <p:nvPr/>
          </p:nvSpPr>
          <p:spPr>
            <a:xfrm>
              <a:off x="0" y="-47625"/>
              <a:ext cx="1161315" cy="454025"/>
            </a:xfrm>
            <a:prstGeom prst="rect">
              <a:avLst/>
            </a:prstGeom>
          </p:spPr>
          <p:txBody>
            <a:bodyPr lIns="50800" tIns="50800" rIns="50800" bIns="50800" rtlCol="0" anchor="ctr"/>
            <a:lstStyle/>
            <a:p>
              <a:pPr algn="ctr">
                <a:lnSpc>
                  <a:spcPts val="2800"/>
                </a:lnSpc>
              </a:pPr>
              <a:endParaRPr/>
            </a:p>
          </p:txBody>
        </p:sp>
      </p:grpSp>
      <p:sp>
        <p:nvSpPr>
          <p:cNvPr id="17" name="AutoShape 17"/>
          <p:cNvSpPr/>
          <p:nvPr/>
        </p:nvSpPr>
        <p:spPr>
          <a:xfrm flipH="1">
            <a:off x="12522299" y="4105457"/>
            <a:ext cx="1104806" cy="0"/>
          </a:xfrm>
          <a:prstGeom prst="line">
            <a:avLst/>
          </a:prstGeom>
          <a:ln w="38100" cap="flat">
            <a:solidFill>
              <a:srgbClr val="000000"/>
            </a:solidFill>
            <a:prstDash val="solid"/>
            <a:headEnd type="none" w="sm" len="sm"/>
            <a:tailEnd type="triangle" w="lg" len="med"/>
          </a:ln>
        </p:spPr>
      </p:sp>
      <p:grpSp>
        <p:nvGrpSpPr>
          <p:cNvPr id="18" name="Group 18"/>
          <p:cNvGrpSpPr/>
          <p:nvPr/>
        </p:nvGrpSpPr>
        <p:grpSpPr>
          <a:xfrm>
            <a:off x="8112930" y="3352982"/>
            <a:ext cx="4409370" cy="1543050"/>
            <a:chOff x="0" y="0"/>
            <a:chExt cx="1161315" cy="406400"/>
          </a:xfrm>
        </p:grpSpPr>
        <p:sp>
          <p:nvSpPr>
            <p:cNvPr id="19" name="Freeform 19"/>
            <p:cNvSpPr/>
            <p:nvPr/>
          </p:nvSpPr>
          <p:spPr>
            <a:xfrm>
              <a:off x="0" y="0"/>
              <a:ext cx="1161315" cy="406400"/>
            </a:xfrm>
            <a:custGeom>
              <a:avLst/>
              <a:gdLst/>
              <a:ahLst/>
              <a:cxnLst/>
              <a:rect l="l" t="t" r="r" b="b"/>
              <a:pathLst>
                <a:path w="1161315" h="406400">
                  <a:moveTo>
                    <a:pt x="958115" y="0"/>
                  </a:moveTo>
                  <a:cubicBezTo>
                    <a:pt x="1070340" y="0"/>
                    <a:pt x="1161315" y="90976"/>
                    <a:pt x="1161315" y="203200"/>
                  </a:cubicBezTo>
                  <a:cubicBezTo>
                    <a:pt x="1161315" y="315424"/>
                    <a:pt x="1070340" y="406400"/>
                    <a:pt x="958115"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20" name="TextBox 20"/>
            <p:cNvSpPr txBox="1"/>
            <p:nvPr/>
          </p:nvSpPr>
          <p:spPr>
            <a:xfrm>
              <a:off x="0" y="-47625"/>
              <a:ext cx="1161315" cy="454025"/>
            </a:xfrm>
            <a:prstGeom prst="rect">
              <a:avLst/>
            </a:prstGeom>
          </p:spPr>
          <p:txBody>
            <a:bodyPr lIns="50800" tIns="50800" rIns="50800" bIns="50800" rtlCol="0" anchor="ctr"/>
            <a:lstStyle/>
            <a:p>
              <a:pPr algn="ctr">
                <a:lnSpc>
                  <a:spcPts val="2800"/>
                </a:lnSpc>
              </a:pPr>
              <a:endParaRPr/>
            </a:p>
          </p:txBody>
        </p:sp>
      </p:grpSp>
      <p:sp>
        <p:nvSpPr>
          <p:cNvPr id="21" name="AutoShape 21"/>
          <p:cNvSpPr/>
          <p:nvPr/>
        </p:nvSpPr>
        <p:spPr>
          <a:xfrm flipH="1">
            <a:off x="7008123" y="4143557"/>
            <a:ext cx="1104806" cy="0"/>
          </a:xfrm>
          <a:prstGeom prst="line">
            <a:avLst/>
          </a:prstGeom>
          <a:ln w="38100" cap="flat">
            <a:solidFill>
              <a:srgbClr val="000000"/>
            </a:solidFill>
            <a:prstDash val="solid"/>
            <a:headEnd type="none" w="sm" len="sm"/>
            <a:tailEnd type="triangle" w="lg" len="med"/>
          </a:ln>
        </p:spPr>
      </p:sp>
      <p:grpSp>
        <p:nvGrpSpPr>
          <p:cNvPr id="22" name="Group 22"/>
          <p:cNvGrpSpPr/>
          <p:nvPr/>
        </p:nvGrpSpPr>
        <p:grpSpPr>
          <a:xfrm>
            <a:off x="2571750" y="3372032"/>
            <a:ext cx="4409370" cy="1543050"/>
            <a:chOff x="0" y="0"/>
            <a:chExt cx="1161315" cy="406400"/>
          </a:xfrm>
        </p:grpSpPr>
        <p:sp>
          <p:nvSpPr>
            <p:cNvPr id="23" name="Freeform 23"/>
            <p:cNvSpPr/>
            <p:nvPr/>
          </p:nvSpPr>
          <p:spPr>
            <a:xfrm>
              <a:off x="0" y="0"/>
              <a:ext cx="1161315" cy="406400"/>
            </a:xfrm>
            <a:custGeom>
              <a:avLst/>
              <a:gdLst/>
              <a:ahLst/>
              <a:cxnLst/>
              <a:rect l="l" t="t" r="r" b="b"/>
              <a:pathLst>
                <a:path w="1161315" h="406400">
                  <a:moveTo>
                    <a:pt x="958115" y="0"/>
                  </a:moveTo>
                  <a:cubicBezTo>
                    <a:pt x="1070340" y="0"/>
                    <a:pt x="1161315" y="90976"/>
                    <a:pt x="1161315" y="203200"/>
                  </a:cubicBezTo>
                  <a:cubicBezTo>
                    <a:pt x="1161315" y="315424"/>
                    <a:pt x="1070340" y="406400"/>
                    <a:pt x="958115"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24" name="TextBox 24"/>
            <p:cNvSpPr txBox="1"/>
            <p:nvPr/>
          </p:nvSpPr>
          <p:spPr>
            <a:xfrm>
              <a:off x="0" y="-47625"/>
              <a:ext cx="1161315" cy="454025"/>
            </a:xfrm>
            <a:prstGeom prst="rect">
              <a:avLst/>
            </a:prstGeom>
          </p:spPr>
          <p:txBody>
            <a:bodyPr lIns="50800" tIns="50800" rIns="50800" bIns="50800" rtlCol="0" anchor="ctr"/>
            <a:lstStyle/>
            <a:p>
              <a:pPr algn="ctr">
                <a:lnSpc>
                  <a:spcPts val="2800"/>
                </a:lnSpc>
              </a:pPr>
              <a:endParaRPr/>
            </a:p>
          </p:txBody>
        </p:sp>
      </p:grpSp>
      <p:sp>
        <p:nvSpPr>
          <p:cNvPr id="25" name="TextBox 25"/>
          <p:cNvSpPr txBox="1"/>
          <p:nvPr/>
        </p:nvSpPr>
        <p:spPr>
          <a:xfrm>
            <a:off x="15941873"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1"/>
                <a:ea typeface="Canva Sans 1"/>
                <a:cs typeface="Canva Sans 1"/>
                <a:sym typeface="Canva Sans 1"/>
              </a:rPr>
              <a:t>Page 10 of 19</a:t>
            </a:r>
          </a:p>
        </p:txBody>
      </p:sp>
      <p:sp>
        <p:nvSpPr>
          <p:cNvPr id="26" name="TextBox 26"/>
          <p:cNvSpPr txBox="1"/>
          <p:nvPr/>
        </p:nvSpPr>
        <p:spPr>
          <a:xfrm>
            <a:off x="4355525" y="-49523"/>
            <a:ext cx="9842697" cy="1078218"/>
          </a:xfrm>
          <a:prstGeom prst="rect">
            <a:avLst/>
          </a:prstGeom>
        </p:spPr>
        <p:txBody>
          <a:bodyPr wrap="square" lIns="0" tIns="0" rIns="0" bIns="0" rtlCol="0" anchor="t">
            <a:spAutoFit/>
          </a:bodyPr>
          <a:lstStyle/>
          <a:p>
            <a:pPr algn="ctr">
              <a:lnSpc>
                <a:spcPts val="8820"/>
              </a:lnSpc>
            </a:pPr>
            <a:r>
              <a:rPr lang="en-US" sz="6300" b="1" dirty="0">
                <a:solidFill>
                  <a:srgbClr val="000000"/>
                </a:solidFill>
                <a:latin typeface="Canva Sans 1 Bold"/>
                <a:ea typeface="Canva Sans 1 Bold"/>
                <a:cs typeface="Canva Sans 1 Bold"/>
                <a:sym typeface="Canva Sans 1 Bold"/>
              </a:rPr>
              <a:t>SYSTEM ARCHITECTURE</a:t>
            </a:r>
          </a:p>
        </p:txBody>
      </p:sp>
      <p:sp>
        <p:nvSpPr>
          <p:cNvPr id="27" name="TextBox 27"/>
          <p:cNvSpPr txBox="1"/>
          <p:nvPr/>
        </p:nvSpPr>
        <p:spPr>
          <a:xfrm>
            <a:off x="1917680" y="1712991"/>
            <a:ext cx="1308140" cy="580390"/>
          </a:xfrm>
          <a:prstGeom prst="rect">
            <a:avLst/>
          </a:prstGeom>
        </p:spPr>
        <p:txBody>
          <a:bodyPr lIns="0" tIns="0" rIns="0" bIns="0" rtlCol="0" anchor="t">
            <a:spAutoFit/>
          </a:bodyPr>
          <a:lstStyle/>
          <a:p>
            <a:pPr algn="ctr">
              <a:lnSpc>
                <a:spcPts val="4759"/>
              </a:lnSpc>
            </a:pPr>
            <a:r>
              <a:rPr lang="en-US" sz="3399">
                <a:solidFill>
                  <a:srgbClr val="FFFFFF"/>
                </a:solidFill>
                <a:latin typeface="Canva Sans 1"/>
                <a:ea typeface="Canva Sans 1"/>
                <a:cs typeface="Canva Sans 1"/>
                <a:sym typeface="Canva Sans 1"/>
              </a:rPr>
              <a:t>START</a:t>
            </a:r>
          </a:p>
        </p:txBody>
      </p:sp>
      <p:sp>
        <p:nvSpPr>
          <p:cNvPr id="28" name="TextBox 28"/>
          <p:cNvSpPr txBox="1"/>
          <p:nvPr/>
        </p:nvSpPr>
        <p:spPr>
          <a:xfrm>
            <a:off x="5309822" y="1484135"/>
            <a:ext cx="4221123" cy="1047627"/>
          </a:xfrm>
          <a:prstGeom prst="rect">
            <a:avLst/>
          </a:prstGeom>
        </p:spPr>
        <p:txBody>
          <a:bodyPr wrap="square" lIns="0" tIns="0" rIns="0" bIns="0" rtlCol="0" anchor="t">
            <a:spAutoFit/>
          </a:bodyPr>
          <a:lstStyle/>
          <a:p>
            <a:pPr algn="ctr">
              <a:lnSpc>
                <a:spcPts val="4206"/>
              </a:lnSpc>
            </a:pPr>
            <a:r>
              <a:rPr lang="en-US" sz="3004" b="1" dirty="0">
                <a:solidFill>
                  <a:srgbClr val="FFFFFF"/>
                </a:solidFill>
                <a:latin typeface="Canva Sans 1 Bold"/>
                <a:ea typeface="Canva Sans 1 Bold"/>
                <a:cs typeface="Canva Sans 1 Bold"/>
                <a:sym typeface="Canva Sans 1 Bold"/>
              </a:rPr>
              <a:t>EMERGENCY VEHICLE</a:t>
            </a:r>
          </a:p>
          <a:p>
            <a:pPr algn="ctr">
              <a:lnSpc>
                <a:spcPts val="4206"/>
              </a:lnSpc>
            </a:pPr>
            <a:r>
              <a:rPr lang="en-US" sz="3004" b="1" dirty="0">
                <a:solidFill>
                  <a:srgbClr val="FFFFFF"/>
                </a:solidFill>
                <a:latin typeface="Canva Sans 1 Bold"/>
                <a:ea typeface="Canva Sans 1 Bold"/>
                <a:cs typeface="Canva Sans 1 Bold"/>
                <a:sym typeface="Canva Sans 1 Bold"/>
              </a:rPr>
              <a:t>DETECTION</a:t>
            </a:r>
          </a:p>
        </p:txBody>
      </p:sp>
      <p:sp>
        <p:nvSpPr>
          <p:cNvPr id="29" name="TextBox 29"/>
          <p:cNvSpPr txBox="1"/>
          <p:nvPr/>
        </p:nvSpPr>
        <p:spPr>
          <a:xfrm>
            <a:off x="11395014" y="1412953"/>
            <a:ext cx="3082986" cy="1180465"/>
          </a:xfrm>
          <a:prstGeom prst="rect">
            <a:avLst/>
          </a:prstGeom>
        </p:spPr>
        <p:txBody>
          <a:bodyPr wrap="square" lIns="0" tIns="0" rIns="0" bIns="0" rtlCol="0" anchor="t">
            <a:spAutoFit/>
          </a:bodyPr>
          <a:lstStyle/>
          <a:p>
            <a:pPr algn="ctr">
              <a:lnSpc>
                <a:spcPts val="4759"/>
              </a:lnSpc>
            </a:pPr>
            <a:r>
              <a:rPr lang="en-US" sz="3399" b="1" dirty="0">
                <a:solidFill>
                  <a:srgbClr val="FFFFFF"/>
                </a:solidFill>
                <a:latin typeface="Canva Sans 1 Bold"/>
                <a:ea typeface="Canva Sans 1 Bold"/>
                <a:cs typeface="Canva Sans 1 Bold"/>
                <a:sym typeface="Canva Sans 1 Bold"/>
              </a:rPr>
              <a:t>ESP32 DATA</a:t>
            </a:r>
          </a:p>
          <a:p>
            <a:pPr algn="ctr">
              <a:lnSpc>
                <a:spcPts val="4759"/>
              </a:lnSpc>
            </a:pPr>
            <a:r>
              <a:rPr lang="en-US" sz="3399" b="1" dirty="0">
                <a:solidFill>
                  <a:srgbClr val="FFFFFF"/>
                </a:solidFill>
                <a:latin typeface="Canva Sans 1 Bold"/>
                <a:ea typeface="Canva Sans 1 Bold"/>
                <a:cs typeface="Canva Sans 1 Bold"/>
                <a:sym typeface="Canva Sans 1 Bold"/>
              </a:rPr>
              <a:t>PROCESSING</a:t>
            </a:r>
          </a:p>
        </p:txBody>
      </p:sp>
      <p:sp>
        <p:nvSpPr>
          <p:cNvPr id="30" name="TextBox 30"/>
          <p:cNvSpPr txBox="1"/>
          <p:nvPr/>
        </p:nvSpPr>
        <p:spPr>
          <a:xfrm>
            <a:off x="14083189" y="3500937"/>
            <a:ext cx="3507031" cy="1180465"/>
          </a:xfrm>
          <a:prstGeom prst="rect">
            <a:avLst/>
          </a:prstGeom>
        </p:spPr>
        <p:txBody>
          <a:bodyPr wrap="square" lIns="0" tIns="0" rIns="0" bIns="0" rtlCol="0" anchor="t">
            <a:spAutoFit/>
          </a:bodyPr>
          <a:lstStyle/>
          <a:p>
            <a:pPr algn="ctr">
              <a:lnSpc>
                <a:spcPts val="4759"/>
              </a:lnSpc>
            </a:pPr>
            <a:r>
              <a:rPr lang="en-US" sz="3399" b="1" dirty="0">
                <a:solidFill>
                  <a:srgbClr val="FFFFFF"/>
                </a:solidFill>
                <a:latin typeface="Canva Sans 1 Bold"/>
                <a:ea typeface="Canva Sans 1 Bold"/>
                <a:cs typeface="Canva Sans 1 Bold"/>
                <a:sym typeface="Canva Sans 1 Bold"/>
              </a:rPr>
              <a:t>LORA </a:t>
            </a:r>
          </a:p>
          <a:p>
            <a:pPr algn="ctr">
              <a:lnSpc>
                <a:spcPts val="4759"/>
              </a:lnSpc>
            </a:pPr>
            <a:r>
              <a:rPr lang="en-US" sz="3399" b="1" dirty="0">
                <a:solidFill>
                  <a:srgbClr val="FFFFFF"/>
                </a:solidFill>
                <a:latin typeface="Canva Sans 1 Bold"/>
                <a:ea typeface="Canva Sans 1 Bold"/>
                <a:cs typeface="Canva Sans 1 Bold"/>
                <a:sym typeface="Canva Sans 1 Bold"/>
              </a:rPr>
              <a:t>TRANSMISSION</a:t>
            </a:r>
          </a:p>
        </p:txBody>
      </p:sp>
      <p:sp>
        <p:nvSpPr>
          <p:cNvPr id="31" name="TextBox 31"/>
          <p:cNvSpPr txBox="1"/>
          <p:nvPr/>
        </p:nvSpPr>
        <p:spPr>
          <a:xfrm>
            <a:off x="8779329" y="3500937"/>
            <a:ext cx="3120217" cy="1180465"/>
          </a:xfrm>
          <a:prstGeom prst="rect">
            <a:avLst/>
          </a:prstGeom>
        </p:spPr>
        <p:txBody>
          <a:bodyPr wrap="square" lIns="0" tIns="0" rIns="0" bIns="0" rtlCol="0" anchor="t">
            <a:spAutoFit/>
          </a:bodyPr>
          <a:lstStyle/>
          <a:p>
            <a:pPr algn="ctr">
              <a:lnSpc>
                <a:spcPts val="4759"/>
              </a:lnSpc>
            </a:pPr>
            <a:r>
              <a:rPr lang="en-US" sz="3399" b="1" dirty="0">
                <a:solidFill>
                  <a:srgbClr val="FFFFFF"/>
                </a:solidFill>
                <a:latin typeface="Canva Sans 1 Bold"/>
                <a:ea typeface="Canva Sans 1 Bold"/>
                <a:cs typeface="Canva Sans 1 Bold"/>
                <a:sym typeface="Canva Sans 1 Bold"/>
              </a:rPr>
              <a:t>JUNCTION 1</a:t>
            </a:r>
          </a:p>
          <a:p>
            <a:pPr algn="ctr">
              <a:lnSpc>
                <a:spcPts val="4759"/>
              </a:lnSpc>
            </a:pPr>
            <a:r>
              <a:rPr lang="en-US" sz="3399" b="1" dirty="0">
                <a:solidFill>
                  <a:srgbClr val="FFFFFF"/>
                </a:solidFill>
                <a:latin typeface="Canva Sans 1 Bold"/>
                <a:ea typeface="Canva Sans 1 Bold"/>
                <a:cs typeface="Canva Sans 1 Bold"/>
                <a:sym typeface="Canva Sans 1 Bold"/>
              </a:rPr>
              <a:t>SIGNAL</a:t>
            </a:r>
          </a:p>
        </p:txBody>
      </p:sp>
      <p:sp>
        <p:nvSpPr>
          <p:cNvPr id="32" name="TextBox 32"/>
          <p:cNvSpPr txBox="1"/>
          <p:nvPr/>
        </p:nvSpPr>
        <p:spPr>
          <a:xfrm>
            <a:off x="3462103" y="3481887"/>
            <a:ext cx="2899119" cy="1180465"/>
          </a:xfrm>
          <a:prstGeom prst="rect">
            <a:avLst/>
          </a:prstGeom>
        </p:spPr>
        <p:txBody>
          <a:bodyPr wrap="square" lIns="0" tIns="0" rIns="0" bIns="0" rtlCol="0" anchor="t">
            <a:spAutoFit/>
          </a:bodyPr>
          <a:lstStyle/>
          <a:p>
            <a:pPr algn="ctr">
              <a:lnSpc>
                <a:spcPts val="4759"/>
              </a:lnSpc>
            </a:pPr>
            <a:r>
              <a:rPr lang="en-US" sz="3399" b="1" dirty="0">
                <a:solidFill>
                  <a:srgbClr val="FFFFFF"/>
                </a:solidFill>
                <a:latin typeface="Canva Sans 1 Bold"/>
                <a:ea typeface="Canva Sans 1 Bold"/>
                <a:cs typeface="Canva Sans 1 Bold"/>
                <a:sym typeface="Canva Sans 1 Bold"/>
              </a:rPr>
              <a:t>JUNCTION 2</a:t>
            </a:r>
          </a:p>
          <a:p>
            <a:pPr algn="ctr">
              <a:lnSpc>
                <a:spcPts val="4759"/>
              </a:lnSpc>
            </a:pPr>
            <a:r>
              <a:rPr lang="en-US" sz="3399" b="1" dirty="0">
                <a:solidFill>
                  <a:srgbClr val="FFFFFF"/>
                </a:solidFill>
                <a:latin typeface="Canva Sans 1 Bold"/>
                <a:ea typeface="Canva Sans 1 Bold"/>
                <a:cs typeface="Canva Sans 1 Bold"/>
                <a:sym typeface="Canva Sans 1 Bold"/>
              </a:rPr>
              <a:t>SIGNAL</a:t>
            </a:r>
          </a:p>
        </p:txBody>
      </p:sp>
      <p:sp>
        <p:nvSpPr>
          <p:cNvPr id="33" name="AutoShape 33"/>
          <p:cNvSpPr/>
          <p:nvPr/>
        </p:nvSpPr>
        <p:spPr>
          <a:xfrm>
            <a:off x="1092763" y="4086407"/>
            <a:ext cx="1478987" cy="0"/>
          </a:xfrm>
          <a:prstGeom prst="line">
            <a:avLst/>
          </a:prstGeom>
          <a:ln w="38100" cap="flat">
            <a:solidFill>
              <a:srgbClr val="000000"/>
            </a:solidFill>
            <a:prstDash val="solid"/>
            <a:headEnd type="none" w="sm" len="sm"/>
            <a:tailEnd type="none" w="sm" len="sm"/>
          </a:ln>
        </p:spPr>
      </p:sp>
      <p:sp>
        <p:nvSpPr>
          <p:cNvPr id="34" name="AutoShape 34"/>
          <p:cNvSpPr/>
          <p:nvPr/>
        </p:nvSpPr>
        <p:spPr>
          <a:xfrm>
            <a:off x="1111813" y="4086407"/>
            <a:ext cx="0" cy="1478987"/>
          </a:xfrm>
          <a:prstGeom prst="line">
            <a:avLst/>
          </a:prstGeom>
          <a:ln w="38100" cap="flat">
            <a:solidFill>
              <a:srgbClr val="000000"/>
            </a:solidFill>
            <a:prstDash val="solid"/>
            <a:headEnd type="none" w="sm" len="sm"/>
            <a:tailEnd type="none" w="sm" len="sm"/>
          </a:ln>
        </p:spPr>
      </p:sp>
      <p:grpSp>
        <p:nvGrpSpPr>
          <p:cNvPr id="35" name="Group 35"/>
          <p:cNvGrpSpPr/>
          <p:nvPr/>
        </p:nvGrpSpPr>
        <p:grpSpPr>
          <a:xfrm>
            <a:off x="367065" y="5565394"/>
            <a:ext cx="4409370" cy="1543050"/>
            <a:chOff x="0" y="0"/>
            <a:chExt cx="1161315" cy="406400"/>
          </a:xfrm>
        </p:grpSpPr>
        <p:sp>
          <p:nvSpPr>
            <p:cNvPr id="36" name="Freeform 36"/>
            <p:cNvSpPr/>
            <p:nvPr/>
          </p:nvSpPr>
          <p:spPr>
            <a:xfrm>
              <a:off x="0" y="0"/>
              <a:ext cx="1161315" cy="406400"/>
            </a:xfrm>
            <a:custGeom>
              <a:avLst/>
              <a:gdLst/>
              <a:ahLst/>
              <a:cxnLst/>
              <a:rect l="l" t="t" r="r" b="b"/>
              <a:pathLst>
                <a:path w="1161315" h="406400">
                  <a:moveTo>
                    <a:pt x="958115" y="0"/>
                  </a:moveTo>
                  <a:cubicBezTo>
                    <a:pt x="1070340" y="0"/>
                    <a:pt x="1161315" y="90976"/>
                    <a:pt x="1161315" y="203200"/>
                  </a:cubicBezTo>
                  <a:cubicBezTo>
                    <a:pt x="1161315" y="315424"/>
                    <a:pt x="1070340" y="406400"/>
                    <a:pt x="958115"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37" name="TextBox 37"/>
            <p:cNvSpPr txBox="1"/>
            <p:nvPr/>
          </p:nvSpPr>
          <p:spPr>
            <a:xfrm>
              <a:off x="0" y="-47625"/>
              <a:ext cx="1161315" cy="454025"/>
            </a:xfrm>
            <a:prstGeom prst="rect">
              <a:avLst/>
            </a:prstGeom>
          </p:spPr>
          <p:txBody>
            <a:bodyPr lIns="50800" tIns="50800" rIns="50800" bIns="50800" rtlCol="0" anchor="ctr"/>
            <a:lstStyle/>
            <a:p>
              <a:pPr algn="ctr">
                <a:lnSpc>
                  <a:spcPts val="2800"/>
                </a:lnSpc>
              </a:pPr>
              <a:endParaRPr/>
            </a:p>
          </p:txBody>
        </p:sp>
      </p:grpSp>
      <p:sp>
        <p:nvSpPr>
          <p:cNvPr id="38" name="TextBox 38"/>
          <p:cNvSpPr txBox="1"/>
          <p:nvPr/>
        </p:nvSpPr>
        <p:spPr>
          <a:xfrm>
            <a:off x="1250097" y="5713349"/>
            <a:ext cx="3008326" cy="1180465"/>
          </a:xfrm>
          <a:prstGeom prst="rect">
            <a:avLst/>
          </a:prstGeom>
        </p:spPr>
        <p:txBody>
          <a:bodyPr wrap="square" lIns="0" tIns="0" rIns="0" bIns="0" rtlCol="0" anchor="t">
            <a:spAutoFit/>
          </a:bodyPr>
          <a:lstStyle/>
          <a:p>
            <a:pPr algn="ctr">
              <a:lnSpc>
                <a:spcPts val="4759"/>
              </a:lnSpc>
            </a:pPr>
            <a:r>
              <a:rPr lang="en-US" sz="3399" b="1" dirty="0">
                <a:solidFill>
                  <a:srgbClr val="FFFFFF"/>
                </a:solidFill>
                <a:latin typeface="Canva Sans 1 Bold"/>
                <a:ea typeface="Canva Sans 1 Bold"/>
                <a:cs typeface="Canva Sans 1 Bold"/>
                <a:sym typeface="Canva Sans 1 Bold"/>
              </a:rPr>
              <a:t>JUNCTION 3</a:t>
            </a:r>
          </a:p>
          <a:p>
            <a:pPr algn="ctr">
              <a:lnSpc>
                <a:spcPts val="4759"/>
              </a:lnSpc>
            </a:pPr>
            <a:r>
              <a:rPr lang="en-US" sz="3399" b="1" dirty="0">
                <a:solidFill>
                  <a:srgbClr val="FFFFFF"/>
                </a:solidFill>
                <a:latin typeface="Canva Sans 1 Bold"/>
                <a:ea typeface="Canva Sans 1 Bold"/>
                <a:cs typeface="Canva Sans 1 Bold"/>
                <a:sym typeface="Canva Sans 1 Bold"/>
              </a:rPr>
              <a:t>SIGNAL</a:t>
            </a:r>
          </a:p>
        </p:txBody>
      </p:sp>
      <p:sp>
        <p:nvSpPr>
          <p:cNvPr id="39" name="AutoShape 39"/>
          <p:cNvSpPr/>
          <p:nvPr/>
        </p:nvSpPr>
        <p:spPr>
          <a:xfrm>
            <a:off x="4757502" y="6327394"/>
            <a:ext cx="1104642" cy="19050"/>
          </a:xfrm>
          <a:prstGeom prst="line">
            <a:avLst/>
          </a:prstGeom>
          <a:ln w="38100" cap="flat">
            <a:solidFill>
              <a:srgbClr val="000000"/>
            </a:solidFill>
            <a:prstDash val="solid"/>
            <a:headEnd type="none" w="sm" len="sm"/>
            <a:tailEnd type="triangle" w="lg" len="med"/>
          </a:ln>
        </p:spPr>
      </p:sp>
      <p:grpSp>
        <p:nvGrpSpPr>
          <p:cNvPr id="40" name="Group 40"/>
          <p:cNvGrpSpPr/>
          <p:nvPr/>
        </p:nvGrpSpPr>
        <p:grpSpPr>
          <a:xfrm>
            <a:off x="5862144" y="5555869"/>
            <a:ext cx="4409370" cy="1543050"/>
            <a:chOff x="0" y="0"/>
            <a:chExt cx="1161315" cy="406400"/>
          </a:xfrm>
        </p:grpSpPr>
        <p:sp>
          <p:nvSpPr>
            <p:cNvPr id="41" name="Freeform 41"/>
            <p:cNvSpPr/>
            <p:nvPr/>
          </p:nvSpPr>
          <p:spPr>
            <a:xfrm>
              <a:off x="0" y="0"/>
              <a:ext cx="1161315" cy="406400"/>
            </a:xfrm>
            <a:custGeom>
              <a:avLst/>
              <a:gdLst/>
              <a:ahLst/>
              <a:cxnLst/>
              <a:rect l="l" t="t" r="r" b="b"/>
              <a:pathLst>
                <a:path w="1161315" h="406400">
                  <a:moveTo>
                    <a:pt x="958115" y="0"/>
                  </a:moveTo>
                  <a:cubicBezTo>
                    <a:pt x="1070340" y="0"/>
                    <a:pt x="1161315" y="90976"/>
                    <a:pt x="1161315" y="203200"/>
                  </a:cubicBezTo>
                  <a:cubicBezTo>
                    <a:pt x="1161315" y="315424"/>
                    <a:pt x="1070340" y="406400"/>
                    <a:pt x="958115"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42" name="TextBox 42"/>
            <p:cNvSpPr txBox="1"/>
            <p:nvPr/>
          </p:nvSpPr>
          <p:spPr>
            <a:xfrm>
              <a:off x="0" y="-47625"/>
              <a:ext cx="1161315" cy="454025"/>
            </a:xfrm>
            <a:prstGeom prst="rect">
              <a:avLst/>
            </a:prstGeom>
          </p:spPr>
          <p:txBody>
            <a:bodyPr lIns="50800" tIns="50800" rIns="50800" bIns="50800" rtlCol="0" anchor="ctr"/>
            <a:lstStyle/>
            <a:p>
              <a:pPr algn="ctr">
                <a:lnSpc>
                  <a:spcPts val="2800"/>
                </a:lnSpc>
              </a:pPr>
              <a:endParaRPr/>
            </a:p>
          </p:txBody>
        </p:sp>
      </p:grpSp>
      <p:sp>
        <p:nvSpPr>
          <p:cNvPr id="43" name="TextBox 43"/>
          <p:cNvSpPr txBox="1"/>
          <p:nvPr/>
        </p:nvSpPr>
        <p:spPr>
          <a:xfrm>
            <a:off x="6361223" y="5703824"/>
            <a:ext cx="3503414" cy="1180465"/>
          </a:xfrm>
          <a:prstGeom prst="rect">
            <a:avLst/>
          </a:prstGeom>
        </p:spPr>
        <p:txBody>
          <a:bodyPr lIns="0" tIns="0" rIns="0" bIns="0" rtlCol="0" anchor="t">
            <a:spAutoFit/>
          </a:bodyPr>
          <a:lstStyle/>
          <a:p>
            <a:pPr algn="ctr">
              <a:lnSpc>
                <a:spcPts val="4759"/>
              </a:lnSpc>
            </a:pPr>
            <a:r>
              <a:rPr lang="en-US" sz="3399" b="1">
                <a:solidFill>
                  <a:srgbClr val="FFFFFF"/>
                </a:solidFill>
                <a:latin typeface="Canva Sans 1 Bold"/>
                <a:ea typeface="Canva Sans 1 Bold"/>
                <a:cs typeface="Canva Sans 1 Bold"/>
                <a:sym typeface="Canva Sans 1 Bold"/>
              </a:rPr>
              <a:t>TRAFFIC SIGNAL</a:t>
            </a:r>
          </a:p>
          <a:p>
            <a:pPr algn="ctr">
              <a:lnSpc>
                <a:spcPts val="4759"/>
              </a:lnSpc>
            </a:pPr>
            <a:r>
              <a:rPr lang="en-US" sz="3399" b="1">
                <a:solidFill>
                  <a:srgbClr val="FFFFFF"/>
                </a:solidFill>
                <a:latin typeface="Canva Sans 1 Bold"/>
                <a:ea typeface="Canva Sans 1 Bold"/>
                <a:cs typeface="Canva Sans 1 Bold"/>
                <a:sym typeface="Canva Sans 1 Bold"/>
              </a:rPr>
              <a:t>CONTROL</a:t>
            </a:r>
          </a:p>
        </p:txBody>
      </p:sp>
      <p:sp>
        <p:nvSpPr>
          <p:cNvPr id="44" name="AutoShape 44"/>
          <p:cNvSpPr/>
          <p:nvPr/>
        </p:nvSpPr>
        <p:spPr>
          <a:xfrm>
            <a:off x="10271843" y="6289297"/>
            <a:ext cx="1104642" cy="19050"/>
          </a:xfrm>
          <a:prstGeom prst="line">
            <a:avLst/>
          </a:prstGeom>
          <a:ln w="38100" cap="flat">
            <a:solidFill>
              <a:srgbClr val="000000"/>
            </a:solidFill>
            <a:prstDash val="solid"/>
            <a:headEnd type="none" w="sm" len="sm"/>
            <a:tailEnd type="triangle" w="lg" len="med"/>
          </a:ln>
        </p:spPr>
      </p:sp>
      <p:grpSp>
        <p:nvGrpSpPr>
          <p:cNvPr id="45" name="Group 45"/>
          <p:cNvGrpSpPr/>
          <p:nvPr/>
        </p:nvGrpSpPr>
        <p:grpSpPr>
          <a:xfrm>
            <a:off x="11395014" y="5536822"/>
            <a:ext cx="4976485" cy="1543050"/>
            <a:chOff x="0" y="0"/>
            <a:chExt cx="1310679" cy="406400"/>
          </a:xfrm>
        </p:grpSpPr>
        <p:sp>
          <p:nvSpPr>
            <p:cNvPr id="46" name="Freeform 46"/>
            <p:cNvSpPr/>
            <p:nvPr/>
          </p:nvSpPr>
          <p:spPr>
            <a:xfrm>
              <a:off x="0" y="0"/>
              <a:ext cx="1310679" cy="406400"/>
            </a:xfrm>
            <a:custGeom>
              <a:avLst/>
              <a:gdLst/>
              <a:ahLst/>
              <a:cxnLst/>
              <a:rect l="l" t="t" r="r" b="b"/>
              <a:pathLst>
                <a:path w="1310679" h="406400">
                  <a:moveTo>
                    <a:pt x="1107479" y="0"/>
                  </a:moveTo>
                  <a:cubicBezTo>
                    <a:pt x="1219703" y="0"/>
                    <a:pt x="1310679" y="90976"/>
                    <a:pt x="1310679" y="203200"/>
                  </a:cubicBezTo>
                  <a:cubicBezTo>
                    <a:pt x="1310679" y="315424"/>
                    <a:pt x="1219703" y="406400"/>
                    <a:pt x="1107479"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47" name="TextBox 47"/>
            <p:cNvSpPr txBox="1"/>
            <p:nvPr/>
          </p:nvSpPr>
          <p:spPr>
            <a:xfrm>
              <a:off x="0" y="-47625"/>
              <a:ext cx="1310679" cy="454025"/>
            </a:xfrm>
            <a:prstGeom prst="rect">
              <a:avLst/>
            </a:prstGeom>
          </p:spPr>
          <p:txBody>
            <a:bodyPr lIns="50800" tIns="50800" rIns="50800" bIns="50800" rtlCol="0" anchor="ctr"/>
            <a:lstStyle/>
            <a:p>
              <a:pPr algn="ctr">
                <a:lnSpc>
                  <a:spcPts val="2800"/>
                </a:lnSpc>
              </a:pPr>
              <a:endParaRPr/>
            </a:p>
          </p:txBody>
        </p:sp>
      </p:grpSp>
      <p:sp>
        <p:nvSpPr>
          <p:cNvPr id="48" name="TextBox 48"/>
          <p:cNvSpPr txBox="1"/>
          <p:nvPr/>
        </p:nvSpPr>
        <p:spPr>
          <a:xfrm>
            <a:off x="11565553" y="5722874"/>
            <a:ext cx="4677251" cy="1180465"/>
          </a:xfrm>
          <a:prstGeom prst="rect">
            <a:avLst/>
          </a:prstGeom>
        </p:spPr>
        <p:txBody>
          <a:bodyPr lIns="0" tIns="0" rIns="0" bIns="0" rtlCol="0" anchor="t">
            <a:spAutoFit/>
          </a:bodyPr>
          <a:lstStyle/>
          <a:p>
            <a:pPr algn="ctr">
              <a:lnSpc>
                <a:spcPts val="4759"/>
              </a:lnSpc>
            </a:pPr>
            <a:r>
              <a:rPr lang="en-US" sz="3399" b="1">
                <a:solidFill>
                  <a:srgbClr val="FFFFFF"/>
                </a:solidFill>
                <a:latin typeface="Canva Sans 1 Bold"/>
                <a:ea typeface="Canva Sans 1 Bold"/>
                <a:cs typeface="Canva Sans 1 Bold"/>
                <a:sym typeface="Canva Sans 1 Bold"/>
              </a:rPr>
              <a:t>EMERGENCY VEHICLE</a:t>
            </a:r>
          </a:p>
          <a:p>
            <a:pPr algn="ctr">
              <a:lnSpc>
                <a:spcPts val="4759"/>
              </a:lnSpc>
            </a:pPr>
            <a:r>
              <a:rPr lang="en-US" sz="3399" b="1">
                <a:solidFill>
                  <a:srgbClr val="FFFFFF"/>
                </a:solidFill>
                <a:latin typeface="Canva Sans 1 Bold"/>
                <a:ea typeface="Canva Sans 1 Bold"/>
                <a:cs typeface="Canva Sans 1 Bold"/>
                <a:sym typeface="Canva Sans 1 Bold"/>
              </a:rPr>
              <a:t>PASSES</a:t>
            </a:r>
          </a:p>
        </p:txBody>
      </p:sp>
      <p:sp>
        <p:nvSpPr>
          <p:cNvPr id="49" name="Freeform 49"/>
          <p:cNvSpPr/>
          <p:nvPr/>
        </p:nvSpPr>
        <p:spPr>
          <a:xfrm rot="-10800000">
            <a:off x="16371499" y="6124726"/>
            <a:ext cx="881094" cy="1519127"/>
          </a:xfrm>
          <a:custGeom>
            <a:avLst/>
            <a:gdLst/>
            <a:ahLst/>
            <a:cxnLst/>
            <a:rect l="l" t="t" r="r" b="b"/>
            <a:pathLst>
              <a:path w="881094" h="1519127">
                <a:moveTo>
                  <a:pt x="0" y="0"/>
                </a:moveTo>
                <a:lnTo>
                  <a:pt x="881094" y="0"/>
                </a:lnTo>
                <a:lnTo>
                  <a:pt x="881094" y="1519127"/>
                </a:lnTo>
                <a:lnTo>
                  <a:pt x="0" y="1519127"/>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0" name="Group 50"/>
          <p:cNvGrpSpPr/>
          <p:nvPr/>
        </p:nvGrpSpPr>
        <p:grpSpPr>
          <a:xfrm>
            <a:off x="13059990" y="7527547"/>
            <a:ext cx="4976485" cy="1543050"/>
            <a:chOff x="0" y="0"/>
            <a:chExt cx="1310679" cy="406400"/>
          </a:xfrm>
        </p:grpSpPr>
        <p:sp>
          <p:nvSpPr>
            <p:cNvPr id="51" name="Freeform 51"/>
            <p:cNvSpPr/>
            <p:nvPr/>
          </p:nvSpPr>
          <p:spPr>
            <a:xfrm>
              <a:off x="0" y="0"/>
              <a:ext cx="1310679" cy="406400"/>
            </a:xfrm>
            <a:custGeom>
              <a:avLst/>
              <a:gdLst/>
              <a:ahLst/>
              <a:cxnLst/>
              <a:rect l="l" t="t" r="r" b="b"/>
              <a:pathLst>
                <a:path w="1310679" h="406400">
                  <a:moveTo>
                    <a:pt x="1107479" y="0"/>
                  </a:moveTo>
                  <a:cubicBezTo>
                    <a:pt x="1219703" y="0"/>
                    <a:pt x="1310679" y="90976"/>
                    <a:pt x="1310679" y="203200"/>
                  </a:cubicBezTo>
                  <a:cubicBezTo>
                    <a:pt x="1310679" y="315424"/>
                    <a:pt x="1219703" y="406400"/>
                    <a:pt x="1107479"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52" name="TextBox 52"/>
            <p:cNvSpPr txBox="1"/>
            <p:nvPr/>
          </p:nvSpPr>
          <p:spPr>
            <a:xfrm>
              <a:off x="0" y="-47625"/>
              <a:ext cx="1310679" cy="454025"/>
            </a:xfrm>
            <a:prstGeom prst="rect">
              <a:avLst/>
            </a:prstGeom>
          </p:spPr>
          <p:txBody>
            <a:bodyPr lIns="50800" tIns="50800" rIns="50800" bIns="50800" rtlCol="0" anchor="ctr"/>
            <a:lstStyle/>
            <a:p>
              <a:pPr algn="ctr">
                <a:lnSpc>
                  <a:spcPts val="2800"/>
                </a:lnSpc>
              </a:pPr>
              <a:endParaRPr/>
            </a:p>
          </p:txBody>
        </p:sp>
      </p:grpSp>
      <p:sp>
        <p:nvSpPr>
          <p:cNvPr id="53" name="TextBox 53"/>
          <p:cNvSpPr txBox="1"/>
          <p:nvPr/>
        </p:nvSpPr>
        <p:spPr>
          <a:xfrm>
            <a:off x="13627106" y="7675502"/>
            <a:ext cx="4127494" cy="1180465"/>
          </a:xfrm>
          <a:prstGeom prst="rect">
            <a:avLst/>
          </a:prstGeom>
        </p:spPr>
        <p:txBody>
          <a:bodyPr wrap="square" lIns="0" tIns="0" rIns="0" bIns="0" rtlCol="0" anchor="t">
            <a:spAutoFit/>
          </a:bodyPr>
          <a:lstStyle/>
          <a:p>
            <a:pPr algn="ctr">
              <a:lnSpc>
                <a:spcPts val="4759"/>
              </a:lnSpc>
            </a:pPr>
            <a:r>
              <a:rPr lang="en-US" sz="3399" b="1" dirty="0">
                <a:solidFill>
                  <a:srgbClr val="FFFFFF"/>
                </a:solidFill>
                <a:latin typeface="Canva Sans 1 Bold"/>
                <a:ea typeface="Canva Sans 1 Bold"/>
                <a:cs typeface="Canva Sans 1 Bold"/>
                <a:sym typeface="Canva Sans 1 Bold"/>
              </a:rPr>
              <a:t>RESTORE NORMAL</a:t>
            </a:r>
          </a:p>
          <a:p>
            <a:pPr algn="ctr">
              <a:lnSpc>
                <a:spcPts val="4759"/>
              </a:lnSpc>
            </a:pPr>
            <a:r>
              <a:rPr lang="en-US" sz="3399" b="1" dirty="0">
                <a:solidFill>
                  <a:srgbClr val="FFFFFF"/>
                </a:solidFill>
                <a:latin typeface="Canva Sans 1 Bold"/>
                <a:ea typeface="Canva Sans 1 Bold"/>
                <a:cs typeface="Canva Sans 1 Bold"/>
                <a:sym typeface="Canva Sans 1 Bold"/>
              </a:rPr>
              <a:t>TRAFFIC</a:t>
            </a:r>
          </a:p>
        </p:txBody>
      </p:sp>
      <p:sp>
        <p:nvSpPr>
          <p:cNvPr id="54" name="AutoShape 54"/>
          <p:cNvSpPr/>
          <p:nvPr/>
        </p:nvSpPr>
        <p:spPr>
          <a:xfrm flipH="1" flipV="1">
            <a:off x="9355904" y="8209133"/>
            <a:ext cx="3704086" cy="70889"/>
          </a:xfrm>
          <a:prstGeom prst="line">
            <a:avLst/>
          </a:prstGeom>
          <a:ln w="38100" cap="flat">
            <a:solidFill>
              <a:srgbClr val="000000"/>
            </a:solidFill>
            <a:prstDash val="solid"/>
            <a:headEnd type="none" w="sm" len="sm"/>
            <a:tailEnd type="triangle" w="lg" len="med"/>
          </a:ln>
        </p:spPr>
      </p:sp>
      <p:grpSp>
        <p:nvGrpSpPr>
          <p:cNvPr id="55" name="Group 55"/>
          <p:cNvGrpSpPr/>
          <p:nvPr/>
        </p:nvGrpSpPr>
        <p:grpSpPr>
          <a:xfrm>
            <a:off x="6090766" y="7527547"/>
            <a:ext cx="3086100" cy="1543050"/>
            <a:chOff x="0" y="0"/>
            <a:chExt cx="812800" cy="406400"/>
          </a:xfrm>
        </p:grpSpPr>
        <p:sp>
          <p:nvSpPr>
            <p:cNvPr id="56" name="Freeform 56"/>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57" name="TextBox 57"/>
            <p:cNvSpPr txBox="1"/>
            <p:nvPr/>
          </p:nvSpPr>
          <p:spPr>
            <a:xfrm>
              <a:off x="0" y="-47625"/>
              <a:ext cx="812800" cy="454025"/>
            </a:xfrm>
            <a:prstGeom prst="rect">
              <a:avLst/>
            </a:prstGeom>
          </p:spPr>
          <p:txBody>
            <a:bodyPr lIns="50800" tIns="50800" rIns="50800" bIns="50800" rtlCol="0" anchor="ctr"/>
            <a:lstStyle/>
            <a:p>
              <a:pPr algn="ctr">
                <a:lnSpc>
                  <a:spcPts val="2800"/>
                </a:lnSpc>
              </a:pPr>
              <a:endParaRPr/>
            </a:p>
          </p:txBody>
        </p:sp>
      </p:grpSp>
      <p:sp>
        <p:nvSpPr>
          <p:cNvPr id="58" name="TextBox 58"/>
          <p:cNvSpPr txBox="1"/>
          <p:nvPr/>
        </p:nvSpPr>
        <p:spPr>
          <a:xfrm>
            <a:off x="6981120" y="7975540"/>
            <a:ext cx="1477079" cy="580390"/>
          </a:xfrm>
          <a:prstGeom prst="rect">
            <a:avLst/>
          </a:prstGeom>
        </p:spPr>
        <p:txBody>
          <a:bodyPr wrap="square" lIns="0" tIns="0" rIns="0" bIns="0" rtlCol="0" anchor="t">
            <a:spAutoFit/>
          </a:bodyPr>
          <a:lstStyle/>
          <a:p>
            <a:pPr algn="ctr">
              <a:lnSpc>
                <a:spcPts val="4759"/>
              </a:lnSpc>
            </a:pPr>
            <a:r>
              <a:rPr lang="en-US" sz="3399" b="1" dirty="0">
                <a:solidFill>
                  <a:srgbClr val="FFFFFF"/>
                </a:solidFill>
                <a:latin typeface="Canva Sans 1 Bold"/>
                <a:ea typeface="Canva Sans 1 Bold"/>
                <a:cs typeface="Canva Sans 1 Bold"/>
                <a:sym typeface="Canva Sans 1 Bold"/>
              </a:rPr>
              <a:t>END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2"/>
          <p:cNvSpPr txBox="1"/>
          <p:nvPr/>
        </p:nvSpPr>
        <p:spPr>
          <a:xfrm>
            <a:off x="15941873"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1"/>
                <a:ea typeface="Canva Sans 1"/>
                <a:cs typeface="Canva Sans 1"/>
                <a:sym typeface="Canva Sans 1"/>
              </a:rPr>
              <a:t>Page 11 of 19</a:t>
            </a:r>
          </a:p>
        </p:txBody>
      </p:sp>
      <p:sp>
        <p:nvSpPr>
          <p:cNvPr id="3" name="TextBox 3"/>
          <p:cNvSpPr txBox="1"/>
          <p:nvPr/>
        </p:nvSpPr>
        <p:spPr>
          <a:xfrm>
            <a:off x="5972473" y="298988"/>
            <a:ext cx="6676727" cy="1078218"/>
          </a:xfrm>
          <a:prstGeom prst="rect">
            <a:avLst/>
          </a:prstGeom>
        </p:spPr>
        <p:txBody>
          <a:bodyPr wrap="square" lIns="0" tIns="0" rIns="0" bIns="0" rtlCol="0" anchor="t">
            <a:spAutoFit/>
          </a:bodyPr>
          <a:lstStyle/>
          <a:p>
            <a:pPr algn="ctr">
              <a:lnSpc>
                <a:spcPts val="8820"/>
              </a:lnSpc>
            </a:pPr>
            <a:r>
              <a:rPr lang="en-US" sz="6300" b="1" dirty="0">
                <a:solidFill>
                  <a:srgbClr val="000000"/>
                </a:solidFill>
                <a:latin typeface="Canva Sans 1 Bold"/>
                <a:ea typeface="Canva Sans 1 Bold"/>
                <a:cs typeface="Canva Sans 1 Bold"/>
                <a:sym typeface="Canva Sans 1 Bold"/>
              </a:rPr>
              <a:t>METHODOLOGY</a:t>
            </a:r>
          </a:p>
        </p:txBody>
      </p:sp>
      <p:sp>
        <p:nvSpPr>
          <p:cNvPr id="4" name="TextBox 4"/>
          <p:cNvSpPr txBox="1"/>
          <p:nvPr/>
        </p:nvSpPr>
        <p:spPr>
          <a:xfrm>
            <a:off x="654449" y="1745459"/>
            <a:ext cx="17633551" cy="5806177"/>
          </a:xfrm>
          <a:prstGeom prst="rect">
            <a:avLst/>
          </a:prstGeom>
        </p:spPr>
        <p:txBody>
          <a:bodyPr lIns="0" tIns="0" rIns="0" bIns="0" rtlCol="0" anchor="t">
            <a:spAutoFit/>
          </a:bodyPr>
          <a:lstStyle/>
          <a:p>
            <a:pPr algn="l">
              <a:lnSpc>
                <a:spcPts val="3899"/>
              </a:lnSpc>
            </a:pPr>
            <a:r>
              <a:rPr lang="en-US" sz="2785" b="1">
                <a:solidFill>
                  <a:srgbClr val="000000"/>
                </a:solidFill>
                <a:latin typeface="Canva Sans 1 Bold"/>
                <a:ea typeface="Canva Sans 1 Bold"/>
                <a:cs typeface="Canva Sans 1 Bold"/>
                <a:sym typeface="Canva Sans 1 Bold"/>
              </a:rPr>
              <a:t>1. Emergency Vehicle Detection – Detect the emergency vehicle using an emergency switch and ESP32.</a:t>
            </a:r>
          </a:p>
          <a:p>
            <a:pPr algn="l">
              <a:lnSpc>
                <a:spcPts val="3899"/>
              </a:lnSpc>
            </a:pPr>
            <a:r>
              <a:rPr lang="en-US" sz="2785" b="1">
                <a:solidFill>
                  <a:srgbClr val="000000"/>
                </a:solidFill>
                <a:latin typeface="Canva Sans 1 Bold"/>
                <a:ea typeface="Canva Sans 1 Bold"/>
                <a:cs typeface="Canva Sans 1 Bold"/>
                <a:sym typeface="Canva Sans 1 Bold"/>
              </a:rPr>
              <a:t>2. Emergency Information Generation – Generate the vehicle ID, type, emergency status, current junction, next junction, direction, and priority.</a:t>
            </a:r>
          </a:p>
          <a:p>
            <a:pPr algn="l">
              <a:lnSpc>
                <a:spcPts val="3899"/>
              </a:lnSpc>
            </a:pPr>
            <a:r>
              <a:rPr lang="en-US" sz="2785" b="1">
                <a:solidFill>
                  <a:srgbClr val="000000"/>
                </a:solidFill>
                <a:latin typeface="Canva Sans 1 Bold"/>
                <a:ea typeface="Canva Sans 1 Bold"/>
                <a:cs typeface="Canva Sans 1 Bold"/>
                <a:sym typeface="Canva Sans 1 Bold"/>
              </a:rPr>
              <a:t>3. Wireless Communication – Send the emergency information using LoRa communication.</a:t>
            </a:r>
          </a:p>
          <a:p>
            <a:pPr algn="l">
              <a:lnSpc>
                <a:spcPts val="3899"/>
              </a:lnSpc>
            </a:pPr>
            <a:r>
              <a:rPr lang="en-US" sz="2785" b="1">
                <a:solidFill>
                  <a:srgbClr val="000000"/>
                </a:solidFill>
                <a:latin typeface="Canva Sans 1 Bold"/>
                <a:ea typeface="Canva Sans 1 Bold"/>
                <a:cs typeface="Canva Sans 1 Bold"/>
                <a:sym typeface="Canva Sans 1 Bold"/>
              </a:rPr>
              <a:t>4. Junction Processing – The ESP32 at the junction receives and verifies the emergency message.</a:t>
            </a:r>
          </a:p>
          <a:p>
            <a:pPr algn="l">
              <a:lnSpc>
                <a:spcPts val="3899"/>
              </a:lnSpc>
            </a:pPr>
            <a:r>
              <a:rPr lang="en-US" sz="2785" b="1">
                <a:solidFill>
                  <a:srgbClr val="000000"/>
                </a:solidFill>
                <a:latin typeface="Canva Sans 1 Bold"/>
                <a:ea typeface="Canva Sans 1 Bold"/>
                <a:cs typeface="Canva Sans 1 Bold"/>
                <a:sym typeface="Canva Sans 1 Bold"/>
              </a:rPr>
              <a:t>5. Signal Priority – The current junction provides a safe priority signal for the emergency vehicle.</a:t>
            </a:r>
          </a:p>
          <a:p>
            <a:pPr algn="l">
              <a:lnSpc>
                <a:spcPts val="3899"/>
              </a:lnSpc>
            </a:pPr>
            <a:r>
              <a:rPr lang="en-US" sz="2785" b="1">
                <a:solidFill>
                  <a:srgbClr val="000000"/>
                </a:solidFill>
                <a:latin typeface="Canva Sans 1 Bold"/>
                <a:ea typeface="Canva Sans 1 Bold"/>
                <a:cs typeface="Canva Sans 1 Bold"/>
                <a:sym typeface="Canva Sans 1 Bold"/>
              </a:rPr>
              <a:t>6. Cascading Communication – The junction forwards the emergency information to the next junction.</a:t>
            </a:r>
          </a:p>
          <a:p>
            <a:pPr algn="l">
              <a:lnSpc>
                <a:spcPts val="3899"/>
              </a:lnSpc>
            </a:pPr>
            <a:r>
              <a:rPr lang="en-US" sz="2785" b="1">
                <a:solidFill>
                  <a:srgbClr val="000000"/>
                </a:solidFill>
                <a:latin typeface="Canva Sans 1 Bold"/>
                <a:ea typeface="Canva Sans 1 Bold"/>
                <a:cs typeface="Canva Sans 1 Bold"/>
                <a:sym typeface="Canva Sans 1 Bold"/>
              </a:rPr>
              <a:t>7. Advance Preparation – The next junction prepares its traffic signal before the emergency vehicle arrives.</a:t>
            </a:r>
          </a:p>
          <a:p>
            <a:pPr algn="l">
              <a:lnSpc>
                <a:spcPts val="3899"/>
              </a:lnSpc>
            </a:pPr>
            <a:r>
              <a:rPr lang="en-US" sz="2785" b="1">
                <a:solidFill>
                  <a:srgbClr val="000000"/>
                </a:solidFill>
                <a:latin typeface="Canva Sans 1 Bold"/>
                <a:ea typeface="Canva Sans 1 Bold"/>
                <a:cs typeface="Canva Sans 1 Bold"/>
                <a:sym typeface="Canva Sans 1 Bold"/>
              </a:rPr>
              <a:t>8. Vehicle Passage &amp; Restoration – After the vehicle passes, the system monitors clearance and restores normal traffic operation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439496" y="6641674"/>
            <a:ext cx="2407792" cy="1601182"/>
          </a:xfrm>
          <a:custGeom>
            <a:avLst/>
            <a:gdLst/>
            <a:ahLst/>
            <a:cxnLst/>
            <a:rect l="l" t="t" r="r" b="b"/>
            <a:pathLst>
              <a:path w="2407792" h="1601182">
                <a:moveTo>
                  <a:pt x="0" y="0"/>
                </a:moveTo>
                <a:lnTo>
                  <a:pt x="2407792" y="0"/>
                </a:lnTo>
                <a:lnTo>
                  <a:pt x="2407792" y="1601181"/>
                </a:lnTo>
                <a:lnTo>
                  <a:pt x="0" y="1601181"/>
                </a:lnTo>
                <a:lnTo>
                  <a:pt x="0" y="0"/>
                </a:lnTo>
                <a:close/>
              </a:path>
            </a:pathLst>
          </a:custGeom>
          <a:blipFill>
            <a:blip r:embed="rId2"/>
            <a:stretch>
              <a:fillRect/>
            </a:stretch>
          </a:blipFill>
        </p:spPr>
      </p:sp>
      <p:sp>
        <p:nvSpPr>
          <p:cNvPr id="3" name="Freeform 3"/>
          <p:cNvSpPr/>
          <p:nvPr/>
        </p:nvSpPr>
        <p:spPr>
          <a:xfrm>
            <a:off x="507538" y="8346832"/>
            <a:ext cx="2124560" cy="2124560"/>
          </a:xfrm>
          <a:custGeom>
            <a:avLst/>
            <a:gdLst/>
            <a:ahLst/>
            <a:cxnLst/>
            <a:rect l="l" t="t" r="r" b="b"/>
            <a:pathLst>
              <a:path w="2124560" h="2124560">
                <a:moveTo>
                  <a:pt x="0" y="0"/>
                </a:moveTo>
                <a:lnTo>
                  <a:pt x="2124560" y="0"/>
                </a:lnTo>
                <a:lnTo>
                  <a:pt x="2124560" y="2124561"/>
                </a:lnTo>
                <a:lnTo>
                  <a:pt x="0" y="2124561"/>
                </a:lnTo>
                <a:lnTo>
                  <a:pt x="0" y="0"/>
                </a:lnTo>
                <a:close/>
              </a:path>
            </a:pathLst>
          </a:custGeom>
          <a:blipFill>
            <a:blip r:embed="rId3"/>
            <a:stretch>
              <a:fillRect/>
            </a:stretch>
          </a:blipFill>
        </p:spPr>
      </p:sp>
      <p:sp>
        <p:nvSpPr>
          <p:cNvPr id="4" name="Freeform 4"/>
          <p:cNvSpPr/>
          <p:nvPr/>
        </p:nvSpPr>
        <p:spPr>
          <a:xfrm>
            <a:off x="3291900" y="6900864"/>
            <a:ext cx="2263200" cy="1082801"/>
          </a:xfrm>
          <a:custGeom>
            <a:avLst/>
            <a:gdLst/>
            <a:ahLst/>
            <a:cxnLst/>
            <a:rect l="l" t="t" r="r" b="b"/>
            <a:pathLst>
              <a:path w="2263200" h="1082801">
                <a:moveTo>
                  <a:pt x="0" y="0"/>
                </a:moveTo>
                <a:lnTo>
                  <a:pt x="2263199" y="0"/>
                </a:lnTo>
                <a:lnTo>
                  <a:pt x="2263199" y="1082801"/>
                </a:lnTo>
                <a:lnTo>
                  <a:pt x="0" y="1082801"/>
                </a:lnTo>
                <a:lnTo>
                  <a:pt x="0" y="0"/>
                </a:lnTo>
                <a:close/>
              </a:path>
            </a:pathLst>
          </a:custGeom>
          <a:blipFill>
            <a:blip r:embed="rId4"/>
            <a:stretch>
              <a:fillRect r="-22676"/>
            </a:stretch>
          </a:blipFill>
        </p:spPr>
      </p:sp>
      <p:sp>
        <p:nvSpPr>
          <p:cNvPr id="5" name="Freeform 5"/>
          <p:cNvSpPr/>
          <p:nvPr/>
        </p:nvSpPr>
        <p:spPr>
          <a:xfrm>
            <a:off x="3291900" y="8005020"/>
            <a:ext cx="2263200" cy="2325983"/>
          </a:xfrm>
          <a:custGeom>
            <a:avLst/>
            <a:gdLst/>
            <a:ahLst/>
            <a:cxnLst/>
            <a:rect l="l" t="t" r="r" b="b"/>
            <a:pathLst>
              <a:path w="2263200" h="2325983">
                <a:moveTo>
                  <a:pt x="0" y="0"/>
                </a:moveTo>
                <a:lnTo>
                  <a:pt x="2263199" y="0"/>
                </a:lnTo>
                <a:lnTo>
                  <a:pt x="2263199" y="2325983"/>
                </a:lnTo>
                <a:lnTo>
                  <a:pt x="0" y="2325983"/>
                </a:lnTo>
                <a:lnTo>
                  <a:pt x="0" y="0"/>
                </a:lnTo>
                <a:close/>
              </a:path>
            </a:pathLst>
          </a:custGeom>
          <a:blipFill>
            <a:blip r:embed="rId5"/>
            <a:stretch>
              <a:fillRect r="-782"/>
            </a:stretch>
          </a:blipFill>
        </p:spPr>
      </p:sp>
      <p:sp>
        <p:nvSpPr>
          <p:cNvPr id="6" name="Freeform 6"/>
          <p:cNvSpPr/>
          <p:nvPr/>
        </p:nvSpPr>
        <p:spPr>
          <a:xfrm rot="5400000">
            <a:off x="4008966" y="7402114"/>
            <a:ext cx="4679500" cy="991108"/>
          </a:xfrm>
          <a:custGeom>
            <a:avLst/>
            <a:gdLst/>
            <a:ahLst/>
            <a:cxnLst/>
            <a:rect l="l" t="t" r="r" b="b"/>
            <a:pathLst>
              <a:path w="4679500" h="991108">
                <a:moveTo>
                  <a:pt x="0" y="0"/>
                </a:moveTo>
                <a:lnTo>
                  <a:pt x="4679501" y="0"/>
                </a:lnTo>
                <a:lnTo>
                  <a:pt x="4679501" y="991108"/>
                </a:lnTo>
                <a:lnTo>
                  <a:pt x="0" y="991108"/>
                </a:lnTo>
                <a:lnTo>
                  <a:pt x="0" y="0"/>
                </a:lnTo>
                <a:close/>
              </a:path>
            </a:pathLst>
          </a:custGeom>
          <a:blipFill>
            <a:blip r:embed="rId6"/>
            <a:stretch>
              <a:fillRect t="-211617"/>
            </a:stretch>
          </a:blipFill>
        </p:spPr>
      </p:sp>
      <p:sp>
        <p:nvSpPr>
          <p:cNvPr id="7" name="Freeform 7"/>
          <p:cNvSpPr/>
          <p:nvPr/>
        </p:nvSpPr>
        <p:spPr>
          <a:xfrm>
            <a:off x="9294417" y="5646325"/>
            <a:ext cx="2621682" cy="1782744"/>
          </a:xfrm>
          <a:custGeom>
            <a:avLst/>
            <a:gdLst/>
            <a:ahLst/>
            <a:cxnLst/>
            <a:rect l="l" t="t" r="r" b="b"/>
            <a:pathLst>
              <a:path w="2621682" h="1782744">
                <a:moveTo>
                  <a:pt x="0" y="0"/>
                </a:moveTo>
                <a:lnTo>
                  <a:pt x="2621683" y="0"/>
                </a:lnTo>
                <a:lnTo>
                  <a:pt x="2621683" y="1782743"/>
                </a:lnTo>
                <a:lnTo>
                  <a:pt x="0" y="1782743"/>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Freeform 8"/>
          <p:cNvSpPr/>
          <p:nvPr/>
        </p:nvSpPr>
        <p:spPr>
          <a:xfrm>
            <a:off x="12516669" y="5801071"/>
            <a:ext cx="1303827" cy="1473251"/>
          </a:xfrm>
          <a:custGeom>
            <a:avLst/>
            <a:gdLst/>
            <a:ahLst/>
            <a:cxnLst/>
            <a:rect l="l" t="t" r="r" b="b"/>
            <a:pathLst>
              <a:path w="1303827" h="1473251">
                <a:moveTo>
                  <a:pt x="0" y="0"/>
                </a:moveTo>
                <a:lnTo>
                  <a:pt x="1303828" y="0"/>
                </a:lnTo>
                <a:lnTo>
                  <a:pt x="1303828" y="1473251"/>
                </a:lnTo>
                <a:lnTo>
                  <a:pt x="0" y="1473251"/>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9" name="Freeform 9"/>
          <p:cNvSpPr/>
          <p:nvPr/>
        </p:nvSpPr>
        <p:spPr>
          <a:xfrm>
            <a:off x="13346187" y="7429068"/>
            <a:ext cx="3460173" cy="2310614"/>
          </a:xfrm>
          <a:custGeom>
            <a:avLst/>
            <a:gdLst/>
            <a:ahLst/>
            <a:cxnLst/>
            <a:rect l="l" t="t" r="r" b="b"/>
            <a:pathLst>
              <a:path w="3460173" h="2310614">
                <a:moveTo>
                  <a:pt x="0" y="0"/>
                </a:moveTo>
                <a:lnTo>
                  <a:pt x="3460173" y="0"/>
                </a:lnTo>
                <a:lnTo>
                  <a:pt x="3460173" y="2310614"/>
                </a:lnTo>
                <a:lnTo>
                  <a:pt x="0" y="2310614"/>
                </a:lnTo>
                <a:lnTo>
                  <a:pt x="0" y="0"/>
                </a:lnTo>
                <a:close/>
              </a:path>
            </a:pathLst>
          </a:custGeom>
          <a:blipFill>
            <a:blip r:embed="rId9"/>
            <a:stretch>
              <a:fillRect/>
            </a:stretch>
          </a:blipFill>
        </p:spPr>
      </p:sp>
      <p:sp>
        <p:nvSpPr>
          <p:cNvPr id="10" name="TextBox 10"/>
          <p:cNvSpPr txBox="1"/>
          <p:nvPr/>
        </p:nvSpPr>
        <p:spPr>
          <a:xfrm>
            <a:off x="15941873"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1"/>
                <a:ea typeface="Canva Sans 1"/>
                <a:cs typeface="Canva Sans 1"/>
                <a:sym typeface="Canva Sans 1"/>
              </a:rPr>
              <a:t>Page 12 of 19</a:t>
            </a:r>
          </a:p>
        </p:txBody>
      </p:sp>
      <p:sp>
        <p:nvSpPr>
          <p:cNvPr id="11" name="TextBox 11"/>
          <p:cNvSpPr txBox="1"/>
          <p:nvPr/>
        </p:nvSpPr>
        <p:spPr>
          <a:xfrm>
            <a:off x="5364123" y="-114300"/>
            <a:ext cx="7982064" cy="1028688"/>
          </a:xfrm>
          <a:prstGeom prst="rect">
            <a:avLst/>
          </a:prstGeom>
        </p:spPr>
        <p:txBody>
          <a:bodyPr wrap="square" lIns="0" tIns="0" rIns="0" bIns="0" rtlCol="0" anchor="t">
            <a:spAutoFit/>
          </a:bodyPr>
          <a:lstStyle/>
          <a:p>
            <a:pPr algn="ctr">
              <a:lnSpc>
                <a:spcPts val="8400"/>
              </a:lnSpc>
            </a:pPr>
            <a:r>
              <a:rPr lang="en-US" sz="6000" b="1" dirty="0">
                <a:solidFill>
                  <a:srgbClr val="000000"/>
                </a:solidFill>
                <a:latin typeface="Canva Sans 1 Bold"/>
                <a:ea typeface="Canva Sans 1 Bold"/>
                <a:cs typeface="Canva Sans 1 Bold"/>
                <a:sym typeface="Canva Sans 1 Bold"/>
              </a:rPr>
              <a:t>TECHNOLOGY USED</a:t>
            </a:r>
          </a:p>
        </p:txBody>
      </p:sp>
      <p:sp>
        <p:nvSpPr>
          <p:cNvPr id="12" name="TextBox 12"/>
          <p:cNvSpPr txBox="1"/>
          <p:nvPr/>
        </p:nvSpPr>
        <p:spPr>
          <a:xfrm>
            <a:off x="2194387" y="1086349"/>
            <a:ext cx="3169735" cy="688974"/>
          </a:xfrm>
          <a:prstGeom prst="rect">
            <a:avLst/>
          </a:prstGeom>
        </p:spPr>
        <p:txBody>
          <a:bodyPr wrap="square" lIns="0" tIns="0" rIns="0" bIns="0" rtlCol="0" anchor="t">
            <a:spAutoFit/>
          </a:bodyPr>
          <a:lstStyle/>
          <a:p>
            <a:pPr algn="ctr">
              <a:lnSpc>
                <a:spcPts val="5600"/>
              </a:lnSpc>
            </a:pPr>
            <a:r>
              <a:rPr lang="en-US" sz="4000" b="1" dirty="0">
                <a:solidFill>
                  <a:srgbClr val="000000"/>
                </a:solidFill>
                <a:latin typeface="Canva Sans 1 Bold"/>
                <a:ea typeface="Canva Sans 1 Bold"/>
                <a:cs typeface="Canva Sans 1 Bold"/>
                <a:sym typeface="Canva Sans 1 Bold"/>
              </a:rPr>
              <a:t>HARDWARE</a:t>
            </a:r>
          </a:p>
        </p:txBody>
      </p:sp>
      <p:sp>
        <p:nvSpPr>
          <p:cNvPr id="13" name="TextBox 13"/>
          <p:cNvSpPr txBox="1"/>
          <p:nvPr/>
        </p:nvSpPr>
        <p:spPr>
          <a:xfrm>
            <a:off x="11538287" y="1086349"/>
            <a:ext cx="3169734" cy="688974"/>
          </a:xfrm>
          <a:prstGeom prst="rect">
            <a:avLst/>
          </a:prstGeom>
        </p:spPr>
        <p:txBody>
          <a:bodyPr wrap="square" lIns="0" tIns="0" rIns="0" bIns="0" rtlCol="0" anchor="t">
            <a:spAutoFit/>
          </a:bodyPr>
          <a:lstStyle/>
          <a:p>
            <a:pPr algn="ctr">
              <a:lnSpc>
                <a:spcPts val="5600"/>
              </a:lnSpc>
            </a:pPr>
            <a:r>
              <a:rPr lang="en-US" sz="4000" b="1" dirty="0">
                <a:solidFill>
                  <a:srgbClr val="000000"/>
                </a:solidFill>
                <a:latin typeface="Canva Sans 1 Bold"/>
                <a:ea typeface="Canva Sans 1 Bold"/>
                <a:cs typeface="Canva Sans 1 Bold"/>
                <a:sym typeface="Canva Sans 1 Bold"/>
              </a:rPr>
              <a:t>SOFTWARE</a:t>
            </a:r>
          </a:p>
        </p:txBody>
      </p:sp>
      <p:sp>
        <p:nvSpPr>
          <p:cNvPr id="14" name="TextBox 14"/>
          <p:cNvSpPr txBox="1"/>
          <p:nvPr/>
        </p:nvSpPr>
        <p:spPr>
          <a:xfrm>
            <a:off x="1028700" y="1965823"/>
            <a:ext cx="5067300" cy="3651962"/>
          </a:xfrm>
          <a:prstGeom prst="rect">
            <a:avLst/>
          </a:prstGeom>
        </p:spPr>
        <p:txBody>
          <a:bodyPr wrap="square" lIns="0" tIns="0" rIns="0" bIns="0" rtlCol="0" anchor="t">
            <a:spAutoFit/>
          </a:bodyPr>
          <a:lstStyle/>
          <a:p>
            <a:pPr marL="734059" lvl="1" indent="-367030" algn="l">
              <a:lnSpc>
                <a:spcPts val="4759"/>
              </a:lnSpc>
              <a:buFont typeface="Arial"/>
              <a:buChar char="•"/>
            </a:pPr>
            <a:r>
              <a:rPr lang="en-US" sz="3399" b="1" dirty="0">
                <a:solidFill>
                  <a:srgbClr val="000000"/>
                </a:solidFill>
                <a:latin typeface="Canva Sans 1 Bold"/>
                <a:ea typeface="Canva Sans 1 Bold"/>
                <a:cs typeface="Canva Sans 1 Bold"/>
                <a:sym typeface="Canva Sans 1 Bold"/>
              </a:rPr>
              <a:t>ESP32 BOARD</a:t>
            </a:r>
          </a:p>
          <a:p>
            <a:pPr marL="734059" lvl="1" indent="-367030" algn="l">
              <a:lnSpc>
                <a:spcPts val="4759"/>
              </a:lnSpc>
              <a:buFont typeface="Arial"/>
              <a:buChar char="•"/>
            </a:pPr>
            <a:r>
              <a:rPr lang="en-US" sz="3399" b="1" dirty="0">
                <a:solidFill>
                  <a:srgbClr val="000000"/>
                </a:solidFill>
                <a:latin typeface="Canva Sans 1 Bold"/>
                <a:ea typeface="Canva Sans 1 Bold"/>
                <a:cs typeface="Canva Sans 1 Bold"/>
                <a:sym typeface="Canva Sans 1 Bold"/>
              </a:rPr>
              <a:t>LORA MODULE</a:t>
            </a:r>
          </a:p>
          <a:p>
            <a:pPr marL="734059" lvl="1" indent="-367030" algn="l">
              <a:lnSpc>
                <a:spcPts val="4759"/>
              </a:lnSpc>
              <a:buFont typeface="Arial"/>
              <a:buChar char="•"/>
            </a:pPr>
            <a:r>
              <a:rPr lang="en-US" sz="3399" b="1" dirty="0">
                <a:solidFill>
                  <a:srgbClr val="000000"/>
                </a:solidFill>
                <a:latin typeface="Canva Sans 1 Bold"/>
                <a:ea typeface="Canva Sans 1 Bold"/>
                <a:cs typeface="Canva Sans 1 Bold"/>
                <a:sym typeface="Canva Sans 1 Bold"/>
              </a:rPr>
              <a:t>TRAFFIC MODULE</a:t>
            </a:r>
          </a:p>
          <a:p>
            <a:pPr marL="734059" lvl="1" indent="-367030" algn="l">
              <a:lnSpc>
                <a:spcPts val="4759"/>
              </a:lnSpc>
              <a:buFont typeface="Arial"/>
              <a:buChar char="•"/>
            </a:pPr>
            <a:r>
              <a:rPr lang="en-US" sz="3399" b="1" dirty="0">
                <a:solidFill>
                  <a:srgbClr val="000000"/>
                </a:solidFill>
                <a:latin typeface="Canva Sans 1 Bold"/>
                <a:ea typeface="Canva Sans 1 Bold"/>
                <a:cs typeface="Canva Sans 1 Bold"/>
                <a:sym typeface="Canva Sans 1 Bold"/>
              </a:rPr>
              <a:t>BREAD BOARD</a:t>
            </a:r>
          </a:p>
          <a:p>
            <a:pPr marL="734059" lvl="1" indent="-367030" algn="l">
              <a:lnSpc>
                <a:spcPts val="4759"/>
              </a:lnSpc>
              <a:buFont typeface="Arial"/>
              <a:buChar char="•"/>
            </a:pPr>
            <a:r>
              <a:rPr lang="en-US" sz="3399" b="1" dirty="0">
                <a:solidFill>
                  <a:srgbClr val="000000"/>
                </a:solidFill>
                <a:latin typeface="Canva Sans 1 Bold"/>
                <a:ea typeface="Canva Sans 1 Bold"/>
                <a:cs typeface="Canva Sans 1 Bold"/>
                <a:sym typeface="Canva Sans 1 Bold"/>
              </a:rPr>
              <a:t>JUMPER WIRES</a:t>
            </a:r>
          </a:p>
          <a:p>
            <a:pPr marL="734059" lvl="1" indent="-367030" algn="l">
              <a:lnSpc>
                <a:spcPts val="4759"/>
              </a:lnSpc>
              <a:buFont typeface="Arial"/>
              <a:buChar char="•"/>
            </a:pPr>
            <a:r>
              <a:rPr lang="en-US" sz="3399" b="1" dirty="0">
                <a:solidFill>
                  <a:srgbClr val="000000"/>
                </a:solidFill>
                <a:latin typeface="Canva Sans 1 Bold"/>
                <a:ea typeface="Canva Sans 1 Bold"/>
                <a:cs typeface="Canva Sans 1 Bold"/>
                <a:sym typeface="Canva Sans 1 Bold"/>
              </a:rPr>
              <a:t>LED DISPLAY</a:t>
            </a:r>
          </a:p>
        </p:txBody>
      </p:sp>
      <p:sp>
        <p:nvSpPr>
          <p:cNvPr id="15" name="TextBox 15"/>
          <p:cNvSpPr txBox="1"/>
          <p:nvPr/>
        </p:nvSpPr>
        <p:spPr>
          <a:xfrm>
            <a:off x="10434216" y="1965823"/>
            <a:ext cx="6372144" cy="3651962"/>
          </a:xfrm>
          <a:prstGeom prst="rect">
            <a:avLst/>
          </a:prstGeom>
        </p:spPr>
        <p:txBody>
          <a:bodyPr wrap="square" lIns="0" tIns="0" rIns="0" bIns="0" rtlCol="0" anchor="t">
            <a:spAutoFit/>
          </a:bodyPr>
          <a:lstStyle/>
          <a:p>
            <a:pPr marL="734059" lvl="1" indent="-367030" algn="l">
              <a:lnSpc>
                <a:spcPts val="4759"/>
              </a:lnSpc>
              <a:buFont typeface="Arial"/>
              <a:buChar char="•"/>
            </a:pPr>
            <a:r>
              <a:rPr lang="en-US" sz="3399" b="1" dirty="0">
                <a:solidFill>
                  <a:srgbClr val="000000"/>
                </a:solidFill>
                <a:latin typeface="Canva Sans 1 Bold"/>
                <a:ea typeface="Canva Sans 1 Bold"/>
                <a:cs typeface="Canva Sans 1 Bold"/>
                <a:sym typeface="Canva Sans 1 Bold"/>
              </a:rPr>
              <a:t>ARDUINO IDE</a:t>
            </a:r>
          </a:p>
          <a:p>
            <a:pPr marL="734059" lvl="1" indent="-367030" algn="l">
              <a:lnSpc>
                <a:spcPts val="4759"/>
              </a:lnSpc>
              <a:buFont typeface="Arial"/>
              <a:buChar char="•"/>
            </a:pPr>
            <a:r>
              <a:rPr lang="en-US" sz="3399" b="1" dirty="0">
                <a:solidFill>
                  <a:srgbClr val="000000"/>
                </a:solidFill>
                <a:latin typeface="Canva Sans 1 Bold"/>
                <a:ea typeface="Canva Sans 1 Bold"/>
                <a:cs typeface="Canva Sans 1 Bold"/>
                <a:sym typeface="Canva Sans 1 Bold"/>
              </a:rPr>
              <a:t>EMBEDDED C/C++</a:t>
            </a:r>
          </a:p>
          <a:p>
            <a:pPr marL="734059" lvl="1" indent="-367030" algn="l">
              <a:lnSpc>
                <a:spcPts val="4759"/>
              </a:lnSpc>
              <a:buFont typeface="Arial"/>
              <a:buChar char="•"/>
            </a:pPr>
            <a:r>
              <a:rPr lang="en-US" sz="3399" b="1" dirty="0">
                <a:solidFill>
                  <a:srgbClr val="000000"/>
                </a:solidFill>
                <a:latin typeface="Canva Sans 1 Bold"/>
                <a:ea typeface="Canva Sans 1 Bold"/>
                <a:cs typeface="Canva Sans 1 Bold"/>
                <a:sym typeface="Canva Sans 1 Bold"/>
              </a:rPr>
              <a:t>SIMULATOR</a:t>
            </a:r>
          </a:p>
          <a:p>
            <a:pPr marL="734059" lvl="1" indent="-367030" algn="l">
              <a:lnSpc>
                <a:spcPts val="4759"/>
              </a:lnSpc>
              <a:buFont typeface="Arial"/>
              <a:buChar char="•"/>
            </a:pPr>
            <a:r>
              <a:rPr lang="en-US" sz="3399" b="1" dirty="0">
                <a:solidFill>
                  <a:srgbClr val="000000"/>
                </a:solidFill>
                <a:latin typeface="Canva Sans 1 Bold"/>
                <a:ea typeface="Canva Sans 1 Bold"/>
                <a:cs typeface="Canva Sans 1 Bold"/>
                <a:sym typeface="Canva Sans 1 Bold"/>
              </a:rPr>
              <a:t>ESP32 BOARD SUPPORT</a:t>
            </a:r>
          </a:p>
          <a:p>
            <a:pPr marL="734059" lvl="1" indent="-367030" algn="l">
              <a:lnSpc>
                <a:spcPts val="4759"/>
              </a:lnSpc>
              <a:buFont typeface="Arial"/>
              <a:buChar char="•"/>
            </a:pPr>
            <a:r>
              <a:rPr lang="en-US" sz="3399" b="1" dirty="0">
                <a:solidFill>
                  <a:srgbClr val="000000"/>
                </a:solidFill>
                <a:latin typeface="Canva Sans 1 Bold"/>
                <a:ea typeface="Canva Sans 1 Bold"/>
                <a:cs typeface="Canva Sans 1 Bold"/>
                <a:sym typeface="Canva Sans 1 Bold"/>
              </a:rPr>
              <a:t>SERIAL MONITOR</a:t>
            </a:r>
          </a:p>
          <a:p>
            <a:pPr marL="734059" lvl="1" indent="-367030" algn="l">
              <a:lnSpc>
                <a:spcPts val="4759"/>
              </a:lnSpc>
              <a:buFont typeface="Arial"/>
              <a:buChar char="•"/>
            </a:pPr>
            <a:r>
              <a:rPr lang="en-US" sz="3399" b="1" dirty="0">
                <a:solidFill>
                  <a:srgbClr val="000000"/>
                </a:solidFill>
                <a:latin typeface="Canva Sans 1 Bold"/>
                <a:ea typeface="Canva Sans 1 Bold"/>
                <a:cs typeface="Canva Sans 1 Bold"/>
                <a:sym typeface="Canva Sans 1 Bold"/>
              </a:rPr>
              <a:t>GOOGLE COLLAB</a:t>
            </a:r>
          </a:p>
        </p:txBody>
      </p:sp>
      <p:sp>
        <p:nvSpPr>
          <p:cNvPr id="16" name="TextBox 16"/>
          <p:cNvSpPr txBox="1"/>
          <p:nvPr/>
        </p:nvSpPr>
        <p:spPr>
          <a:xfrm rot="5400000">
            <a:off x="5219645" y="7270846"/>
            <a:ext cx="2353394" cy="887095"/>
          </a:xfrm>
          <a:prstGeom prst="rect">
            <a:avLst/>
          </a:prstGeom>
        </p:spPr>
        <p:txBody>
          <a:bodyPr lIns="0" tIns="0" rIns="0" bIns="0" rtlCol="0" anchor="t">
            <a:spAutoFit/>
          </a:bodyPr>
          <a:lstStyle/>
          <a:p>
            <a:pPr algn="ctr">
              <a:lnSpc>
                <a:spcPts val="7279"/>
              </a:lnSpc>
            </a:pPr>
            <a:r>
              <a:rPr lang="en-US" sz="5199" b="1">
                <a:solidFill>
                  <a:srgbClr val="FF3131"/>
                </a:solidFill>
                <a:latin typeface="Canva Sans 1 Bold"/>
                <a:ea typeface="Canva Sans 1 Bold"/>
                <a:cs typeface="Canva Sans 1 Bold"/>
                <a:sym typeface="Canva Sans 1 Bold"/>
              </a:rPr>
              <a:t>LED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6669190" y="782883"/>
            <a:ext cx="5238426" cy="3143056"/>
          </a:xfrm>
          <a:custGeom>
            <a:avLst/>
            <a:gdLst/>
            <a:ahLst/>
            <a:cxnLst/>
            <a:rect l="l" t="t" r="r" b="b"/>
            <a:pathLst>
              <a:path w="5238426" h="3143056">
                <a:moveTo>
                  <a:pt x="0" y="0"/>
                </a:moveTo>
                <a:lnTo>
                  <a:pt x="5238427" y="0"/>
                </a:lnTo>
                <a:lnTo>
                  <a:pt x="5238427" y="3143056"/>
                </a:lnTo>
                <a:lnTo>
                  <a:pt x="0" y="3143056"/>
                </a:lnTo>
                <a:lnTo>
                  <a:pt x="0" y="0"/>
                </a:lnTo>
                <a:close/>
              </a:path>
            </a:pathLst>
          </a:custGeom>
          <a:blipFill>
            <a:blip r:embed="rId2"/>
            <a:stretch>
              <a:fillRect/>
            </a:stretch>
          </a:blipFill>
        </p:spPr>
      </p:sp>
      <p:sp>
        <p:nvSpPr>
          <p:cNvPr id="3" name="Freeform 3"/>
          <p:cNvSpPr/>
          <p:nvPr/>
        </p:nvSpPr>
        <p:spPr>
          <a:xfrm>
            <a:off x="12370507" y="1375839"/>
            <a:ext cx="5383997" cy="2799678"/>
          </a:xfrm>
          <a:custGeom>
            <a:avLst/>
            <a:gdLst/>
            <a:ahLst/>
            <a:cxnLst/>
            <a:rect l="l" t="t" r="r" b="b"/>
            <a:pathLst>
              <a:path w="5383997" h="2799678">
                <a:moveTo>
                  <a:pt x="0" y="0"/>
                </a:moveTo>
                <a:lnTo>
                  <a:pt x="5383997" y="0"/>
                </a:lnTo>
                <a:lnTo>
                  <a:pt x="5383997" y="2799679"/>
                </a:lnTo>
                <a:lnTo>
                  <a:pt x="0" y="2799679"/>
                </a:lnTo>
                <a:lnTo>
                  <a:pt x="0" y="0"/>
                </a:lnTo>
                <a:close/>
              </a:path>
            </a:pathLst>
          </a:custGeom>
          <a:blipFill>
            <a:blip r:embed="rId3"/>
            <a:stretch>
              <a:fillRect/>
            </a:stretch>
          </a:blipFill>
        </p:spPr>
      </p:sp>
      <p:sp>
        <p:nvSpPr>
          <p:cNvPr id="4" name="Freeform 4"/>
          <p:cNvSpPr/>
          <p:nvPr/>
        </p:nvSpPr>
        <p:spPr>
          <a:xfrm>
            <a:off x="13909257" y="6069854"/>
            <a:ext cx="3350043" cy="3350043"/>
          </a:xfrm>
          <a:custGeom>
            <a:avLst/>
            <a:gdLst/>
            <a:ahLst/>
            <a:cxnLst/>
            <a:rect l="l" t="t" r="r" b="b"/>
            <a:pathLst>
              <a:path w="3350043" h="3350043">
                <a:moveTo>
                  <a:pt x="0" y="0"/>
                </a:moveTo>
                <a:lnTo>
                  <a:pt x="3350043" y="0"/>
                </a:lnTo>
                <a:lnTo>
                  <a:pt x="3350043" y="3350044"/>
                </a:lnTo>
                <a:lnTo>
                  <a:pt x="0" y="3350044"/>
                </a:lnTo>
                <a:lnTo>
                  <a:pt x="0" y="0"/>
                </a:lnTo>
                <a:close/>
              </a:path>
            </a:pathLst>
          </a:custGeom>
          <a:blipFill>
            <a:blip r:embed="rId4"/>
            <a:stretch>
              <a:fillRect/>
            </a:stretch>
          </a:blipFill>
        </p:spPr>
      </p:sp>
      <p:sp>
        <p:nvSpPr>
          <p:cNvPr id="5" name="Freeform 5"/>
          <p:cNvSpPr/>
          <p:nvPr/>
        </p:nvSpPr>
        <p:spPr>
          <a:xfrm>
            <a:off x="8350837" y="6772103"/>
            <a:ext cx="3218857" cy="2787822"/>
          </a:xfrm>
          <a:custGeom>
            <a:avLst/>
            <a:gdLst/>
            <a:ahLst/>
            <a:cxnLst/>
            <a:rect l="l" t="t" r="r" b="b"/>
            <a:pathLst>
              <a:path w="3218857" h="2787822">
                <a:moveTo>
                  <a:pt x="0" y="0"/>
                </a:moveTo>
                <a:lnTo>
                  <a:pt x="3218858" y="0"/>
                </a:lnTo>
                <a:lnTo>
                  <a:pt x="3218858" y="2787822"/>
                </a:lnTo>
                <a:lnTo>
                  <a:pt x="0" y="2787822"/>
                </a:lnTo>
                <a:lnTo>
                  <a:pt x="0" y="0"/>
                </a:lnTo>
                <a:close/>
              </a:path>
            </a:pathLst>
          </a:custGeom>
          <a:blipFill>
            <a:blip r:embed="rId5"/>
            <a:stretch>
              <a:fillRect r="-29267"/>
            </a:stretch>
          </a:blipFill>
        </p:spPr>
      </p:sp>
      <p:sp>
        <p:nvSpPr>
          <p:cNvPr id="6" name="TextBox 6"/>
          <p:cNvSpPr txBox="1"/>
          <p:nvPr/>
        </p:nvSpPr>
        <p:spPr>
          <a:xfrm>
            <a:off x="15941873"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1"/>
                <a:ea typeface="Canva Sans 1"/>
                <a:cs typeface="Canva Sans 1"/>
                <a:sym typeface="Canva Sans 1"/>
              </a:rPr>
              <a:t>Page 13 of 19</a:t>
            </a:r>
          </a:p>
        </p:txBody>
      </p:sp>
      <p:sp>
        <p:nvSpPr>
          <p:cNvPr id="7" name="TextBox 7"/>
          <p:cNvSpPr txBox="1"/>
          <p:nvPr/>
        </p:nvSpPr>
        <p:spPr>
          <a:xfrm>
            <a:off x="7367158" y="26047"/>
            <a:ext cx="3681842" cy="1002653"/>
          </a:xfrm>
          <a:prstGeom prst="rect">
            <a:avLst/>
          </a:prstGeom>
        </p:spPr>
        <p:txBody>
          <a:bodyPr wrap="square" lIns="0" tIns="0" rIns="0" bIns="0" rtlCol="0" anchor="t">
            <a:spAutoFit/>
          </a:bodyPr>
          <a:lstStyle/>
          <a:p>
            <a:pPr algn="ctr">
              <a:lnSpc>
                <a:spcPts val="8260"/>
              </a:lnSpc>
            </a:pPr>
            <a:r>
              <a:rPr lang="en-US" sz="5900" b="1" dirty="0">
                <a:solidFill>
                  <a:srgbClr val="000000"/>
                </a:solidFill>
                <a:latin typeface="Canva Sans 1 Bold"/>
                <a:ea typeface="Canva Sans 1 Bold"/>
                <a:cs typeface="Canva Sans 1 Bold"/>
                <a:sym typeface="Canva Sans 1 Bold"/>
              </a:rPr>
              <a:t>DATASET</a:t>
            </a:r>
          </a:p>
        </p:txBody>
      </p:sp>
      <p:sp>
        <p:nvSpPr>
          <p:cNvPr id="8" name="TextBox 8"/>
          <p:cNvSpPr txBox="1"/>
          <p:nvPr/>
        </p:nvSpPr>
        <p:spPr>
          <a:xfrm>
            <a:off x="2202345" y="1763811"/>
            <a:ext cx="6148491" cy="6114174"/>
          </a:xfrm>
          <a:prstGeom prst="rect">
            <a:avLst/>
          </a:prstGeom>
        </p:spPr>
        <p:txBody>
          <a:bodyPr wrap="square" lIns="0" tIns="0" rIns="0" bIns="0" rtlCol="0" anchor="t">
            <a:spAutoFit/>
          </a:bodyPr>
          <a:lstStyle/>
          <a:p>
            <a:pPr marL="734059" lvl="1" indent="-367030" algn="l">
              <a:lnSpc>
                <a:spcPts val="4759"/>
              </a:lnSpc>
              <a:buFont typeface="Arial"/>
              <a:buChar char="•"/>
            </a:pPr>
            <a:r>
              <a:rPr lang="en-US" sz="3399" b="1" dirty="0">
                <a:solidFill>
                  <a:srgbClr val="000000"/>
                </a:solidFill>
                <a:latin typeface="Canva Sans 1 Bold"/>
                <a:ea typeface="Canva Sans 1 Bold"/>
                <a:cs typeface="Canva Sans 1 Bold"/>
                <a:sym typeface="Canva Sans 1 Bold"/>
              </a:rPr>
              <a:t>VEHICLE ID</a:t>
            </a:r>
          </a:p>
          <a:p>
            <a:pPr marL="734059" lvl="1" indent="-367030" algn="l">
              <a:lnSpc>
                <a:spcPts val="4759"/>
              </a:lnSpc>
              <a:buFont typeface="Arial"/>
              <a:buChar char="•"/>
            </a:pPr>
            <a:r>
              <a:rPr lang="en-US" sz="3399" b="1" dirty="0">
                <a:solidFill>
                  <a:srgbClr val="000000"/>
                </a:solidFill>
                <a:latin typeface="Canva Sans 1 Bold"/>
                <a:ea typeface="Canva Sans 1 Bold"/>
                <a:cs typeface="Canva Sans 1 Bold"/>
                <a:sym typeface="Canva Sans 1 Bold"/>
              </a:rPr>
              <a:t>VECHICLE TYPE</a:t>
            </a:r>
          </a:p>
          <a:p>
            <a:pPr marL="734059" lvl="1" indent="-367030" algn="l">
              <a:lnSpc>
                <a:spcPts val="4759"/>
              </a:lnSpc>
              <a:buFont typeface="Arial"/>
              <a:buChar char="•"/>
            </a:pPr>
            <a:r>
              <a:rPr lang="en-US" sz="3399" b="1" dirty="0">
                <a:solidFill>
                  <a:srgbClr val="000000"/>
                </a:solidFill>
                <a:latin typeface="Canva Sans 1 Bold"/>
                <a:ea typeface="Canva Sans 1 Bold"/>
                <a:cs typeface="Canva Sans 1 Bold"/>
                <a:sym typeface="Canva Sans 1 Bold"/>
              </a:rPr>
              <a:t>GPS LATITUDE</a:t>
            </a:r>
          </a:p>
          <a:p>
            <a:pPr marL="734059" lvl="1" indent="-367030" algn="l">
              <a:lnSpc>
                <a:spcPts val="4759"/>
              </a:lnSpc>
              <a:buFont typeface="Arial"/>
              <a:buChar char="•"/>
            </a:pPr>
            <a:r>
              <a:rPr lang="en-US" sz="3399" b="1" dirty="0">
                <a:solidFill>
                  <a:srgbClr val="000000"/>
                </a:solidFill>
                <a:latin typeface="Canva Sans 1 Bold"/>
                <a:ea typeface="Canva Sans 1 Bold"/>
                <a:cs typeface="Canva Sans 1 Bold"/>
                <a:sym typeface="Canva Sans 1 Bold"/>
              </a:rPr>
              <a:t>GPS LONGITUDE</a:t>
            </a:r>
          </a:p>
          <a:p>
            <a:pPr marL="734059" lvl="1" indent="-367030" algn="l">
              <a:lnSpc>
                <a:spcPts val="4759"/>
              </a:lnSpc>
              <a:buFont typeface="Arial"/>
              <a:buChar char="•"/>
            </a:pPr>
            <a:r>
              <a:rPr lang="en-US" sz="3399" b="1" dirty="0">
                <a:solidFill>
                  <a:srgbClr val="000000"/>
                </a:solidFill>
                <a:latin typeface="Canva Sans 1 Bold"/>
                <a:ea typeface="Canva Sans 1 Bold"/>
                <a:cs typeface="Canva Sans 1 Bold"/>
                <a:sym typeface="Canva Sans 1 Bold"/>
              </a:rPr>
              <a:t>JUNCTION ID</a:t>
            </a:r>
          </a:p>
          <a:p>
            <a:pPr marL="734059" lvl="1" indent="-367030" algn="l">
              <a:lnSpc>
                <a:spcPts val="4759"/>
              </a:lnSpc>
              <a:buFont typeface="Arial"/>
              <a:buChar char="•"/>
            </a:pPr>
            <a:r>
              <a:rPr lang="en-US" sz="3399" b="1" dirty="0">
                <a:solidFill>
                  <a:srgbClr val="000000"/>
                </a:solidFill>
                <a:latin typeface="Canva Sans 1 Bold"/>
                <a:ea typeface="Canva Sans 1 Bold"/>
                <a:cs typeface="Canva Sans 1 Bold"/>
                <a:sym typeface="Canva Sans 1 Bold"/>
              </a:rPr>
              <a:t>EMERGENCY STATUS</a:t>
            </a:r>
          </a:p>
          <a:p>
            <a:pPr marL="734059" lvl="1" indent="-367030" algn="l">
              <a:lnSpc>
                <a:spcPts val="4759"/>
              </a:lnSpc>
              <a:buFont typeface="Arial"/>
              <a:buChar char="•"/>
            </a:pPr>
            <a:r>
              <a:rPr lang="en-US" sz="3399" b="1" dirty="0">
                <a:solidFill>
                  <a:srgbClr val="000000"/>
                </a:solidFill>
                <a:latin typeface="Canva Sans 1 Bold"/>
                <a:ea typeface="Canva Sans 1 Bold"/>
                <a:cs typeface="Canva Sans 1 Bold"/>
                <a:sym typeface="Canva Sans 1 Bold"/>
              </a:rPr>
              <a:t>TRAFFIC DENSITY</a:t>
            </a:r>
          </a:p>
          <a:p>
            <a:pPr marL="734059" lvl="1" indent="-367030" algn="l">
              <a:lnSpc>
                <a:spcPts val="4759"/>
              </a:lnSpc>
              <a:buFont typeface="Arial"/>
              <a:buChar char="•"/>
            </a:pPr>
            <a:r>
              <a:rPr lang="en-US" sz="3399" b="1" dirty="0">
                <a:solidFill>
                  <a:srgbClr val="000000"/>
                </a:solidFill>
                <a:latin typeface="Canva Sans 1 Bold"/>
                <a:ea typeface="Canva Sans 1 Bold"/>
                <a:cs typeface="Canva Sans 1 Bold"/>
                <a:sym typeface="Canva Sans 1 Bold"/>
              </a:rPr>
              <a:t>SIGNAL STATUS</a:t>
            </a:r>
          </a:p>
          <a:p>
            <a:pPr marL="734059" lvl="1" indent="-367030" algn="l">
              <a:lnSpc>
                <a:spcPts val="4759"/>
              </a:lnSpc>
              <a:buFont typeface="Arial"/>
              <a:buChar char="•"/>
            </a:pPr>
            <a:r>
              <a:rPr lang="en-US" sz="3399" b="1" dirty="0">
                <a:solidFill>
                  <a:srgbClr val="000000"/>
                </a:solidFill>
                <a:latin typeface="Canva Sans 1 Bold"/>
                <a:ea typeface="Canva Sans 1 Bold"/>
                <a:cs typeface="Canva Sans 1 Bold"/>
                <a:sym typeface="Canva Sans 1 Bold"/>
              </a:rPr>
              <a:t>LoRa MESSAGE STATUS</a:t>
            </a:r>
          </a:p>
          <a:p>
            <a:pPr marL="734059" lvl="1" indent="-367030" algn="l">
              <a:lnSpc>
                <a:spcPts val="4759"/>
              </a:lnSpc>
              <a:buFont typeface="Arial"/>
              <a:buChar char="•"/>
            </a:pPr>
            <a:r>
              <a:rPr lang="en-US" sz="3399" b="1" dirty="0">
                <a:solidFill>
                  <a:srgbClr val="000000"/>
                </a:solidFill>
                <a:latin typeface="Canva Sans 1 Bold"/>
                <a:ea typeface="Canva Sans 1 Bold"/>
                <a:cs typeface="Canva Sans 1 Bold"/>
                <a:sym typeface="Canva Sans 1 Bold"/>
              </a:rPr>
              <a:t>PRIORITY STATUS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2"/>
          <p:cNvSpPr txBox="1"/>
          <p:nvPr/>
        </p:nvSpPr>
        <p:spPr>
          <a:xfrm>
            <a:off x="15941873"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1"/>
                <a:ea typeface="Canva Sans 1"/>
                <a:cs typeface="Canva Sans 1"/>
                <a:sym typeface="Canva Sans 1"/>
              </a:rPr>
              <a:t>Page 14 of 19</a:t>
            </a:r>
          </a:p>
        </p:txBody>
      </p:sp>
      <p:sp>
        <p:nvSpPr>
          <p:cNvPr id="3" name="TextBox 3"/>
          <p:cNvSpPr txBox="1"/>
          <p:nvPr/>
        </p:nvSpPr>
        <p:spPr>
          <a:xfrm>
            <a:off x="5695652" y="12"/>
            <a:ext cx="7424524" cy="1028688"/>
          </a:xfrm>
          <a:prstGeom prst="rect">
            <a:avLst/>
          </a:prstGeom>
        </p:spPr>
        <p:txBody>
          <a:bodyPr wrap="square" lIns="0" tIns="0" rIns="0" bIns="0" rtlCol="0" anchor="t">
            <a:spAutoFit/>
          </a:bodyPr>
          <a:lstStyle/>
          <a:p>
            <a:pPr algn="ctr">
              <a:lnSpc>
                <a:spcPts val="8400"/>
              </a:lnSpc>
            </a:pPr>
            <a:r>
              <a:rPr lang="en-US" sz="6000" b="1" dirty="0">
                <a:solidFill>
                  <a:srgbClr val="000000"/>
                </a:solidFill>
                <a:latin typeface="Canva Sans 1 Bold"/>
                <a:ea typeface="Canva Sans 1 Bold"/>
                <a:cs typeface="Canva Sans 1 Bold"/>
                <a:sym typeface="Canva Sans 1 Bold"/>
              </a:rPr>
              <a:t>IMPLEMENTATION</a:t>
            </a:r>
          </a:p>
        </p:txBody>
      </p:sp>
      <p:sp>
        <p:nvSpPr>
          <p:cNvPr id="4" name="TextBox 4"/>
          <p:cNvSpPr txBox="1"/>
          <p:nvPr/>
        </p:nvSpPr>
        <p:spPr>
          <a:xfrm>
            <a:off x="1719476" y="1748092"/>
            <a:ext cx="8110324" cy="5289910"/>
          </a:xfrm>
          <a:prstGeom prst="rect">
            <a:avLst/>
          </a:prstGeom>
        </p:spPr>
        <p:txBody>
          <a:bodyPr wrap="square" lIns="0" tIns="0" rIns="0" bIns="0" rtlCol="0" anchor="t">
            <a:spAutoFit/>
          </a:bodyPr>
          <a:lstStyle/>
          <a:p>
            <a:pPr marL="794478" lvl="1" indent="-397239" algn="l">
              <a:lnSpc>
                <a:spcPts val="5151"/>
              </a:lnSpc>
              <a:buFont typeface="Arial"/>
              <a:buChar char="•"/>
            </a:pPr>
            <a:r>
              <a:rPr lang="en-US" sz="3679" b="1" dirty="0">
                <a:solidFill>
                  <a:srgbClr val="000000"/>
                </a:solidFill>
                <a:latin typeface="Canva Sans 1 Bold"/>
                <a:ea typeface="Canva Sans 1 Bold"/>
                <a:cs typeface="Canva Sans 1 Bold"/>
                <a:sym typeface="Canva Sans 1 Bold"/>
              </a:rPr>
              <a:t>HARDWARE SETUP</a:t>
            </a:r>
          </a:p>
          <a:p>
            <a:pPr marL="794478" lvl="1" indent="-397239" algn="l">
              <a:lnSpc>
                <a:spcPts val="5151"/>
              </a:lnSpc>
              <a:buFont typeface="Arial"/>
              <a:buChar char="•"/>
            </a:pPr>
            <a:r>
              <a:rPr lang="en-US" sz="3679" b="1" dirty="0">
                <a:solidFill>
                  <a:srgbClr val="000000"/>
                </a:solidFill>
                <a:latin typeface="Canva Sans 1 Bold"/>
                <a:ea typeface="Canva Sans 1 Bold"/>
                <a:cs typeface="Canva Sans 1 Bold"/>
                <a:sym typeface="Canva Sans 1 Bold"/>
              </a:rPr>
              <a:t>EMERGENCY DETECTION</a:t>
            </a:r>
          </a:p>
          <a:p>
            <a:pPr marL="794478" lvl="1" indent="-397239" algn="l">
              <a:lnSpc>
                <a:spcPts val="5151"/>
              </a:lnSpc>
              <a:buFont typeface="Arial"/>
              <a:buChar char="•"/>
            </a:pPr>
            <a:r>
              <a:rPr lang="en-US" sz="3679" b="1" dirty="0">
                <a:solidFill>
                  <a:srgbClr val="000000"/>
                </a:solidFill>
                <a:latin typeface="Canva Sans 1 Bold"/>
                <a:ea typeface="Canva Sans 1 Bold"/>
                <a:cs typeface="Canva Sans 1 Bold"/>
                <a:sym typeface="Canva Sans 1 Bold"/>
              </a:rPr>
              <a:t>DATA PROCESSING</a:t>
            </a:r>
          </a:p>
          <a:p>
            <a:pPr marL="794478" lvl="1" indent="-397239" algn="l">
              <a:lnSpc>
                <a:spcPts val="5151"/>
              </a:lnSpc>
              <a:buFont typeface="Arial"/>
              <a:buChar char="•"/>
            </a:pPr>
            <a:r>
              <a:rPr lang="en-US" sz="3679" b="1" dirty="0">
                <a:solidFill>
                  <a:srgbClr val="000000"/>
                </a:solidFill>
                <a:latin typeface="Canva Sans 1 Bold"/>
                <a:ea typeface="Canva Sans 1 Bold"/>
                <a:cs typeface="Canva Sans 1 Bold"/>
                <a:sym typeface="Canva Sans 1 Bold"/>
              </a:rPr>
              <a:t>WIRELESS COMMUNICATION</a:t>
            </a:r>
          </a:p>
          <a:p>
            <a:pPr marL="794478" lvl="1" indent="-397239" algn="l">
              <a:lnSpc>
                <a:spcPts val="5151"/>
              </a:lnSpc>
              <a:buFont typeface="Arial"/>
              <a:buChar char="•"/>
            </a:pPr>
            <a:r>
              <a:rPr lang="en-US" sz="3679" b="1" dirty="0">
                <a:solidFill>
                  <a:srgbClr val="000000"/>
                </a:solidFill>
                <a:latin typeface="Canva Sans 1 Bold"/>
                <a:ea typeface="Canva Sans 1 Bold"/>
                <a:cs typeface="Canva Sans 1 Bold"/>
                <a:sym typeface="Canva Sans 1 Bold"/>
              </a:rPr>
              <a:t>JUNCTION COORDINATION</a:t>
            </a:r>
          </a:p>
          <a:p>
            <a:pPr marL="794478" lvl="1" indent="-397239" algn="l">
              <a:lnSpc>
                <a:spcPts val="5151"/>
              </a:lnSpc>
              <a:buFont typeface="Arial"/>
              <a:buChar char="•"/>
            </a:pPr>
            <a:r>
              <a:rPr lang="en-US" sz="3679" b="1" dirty="0">
                <a:solidFill>
                  <a:srgbClr val="000000"/>
                </a:solidFill>
                <a:latin typeface="Canva Sans 1 Bold"/>
                <a:ea typeface="Canva Sans 1 Bold"/>
                <a:cs typeface="Canva Sans 1 Bold"/>
                <a:sym typeface="Canva Sans 1 Bold"/>
              </a:rPr>
              <a:t>PRIORITY ASSIGNMENT</a:t>
            </a:r>
          </a:p>
          <a:p>
            <a:pPr marL="794478" lvl="1" indent="-397239" algn="l">
              <a:lnSpc>
                <a:spcPts val="5151"/>
              </a:lnSpc>
              <a:buFont typeface="Arial"/>
              <a:buChar char="•"/>
            </a:pPr>
            <a:r>
              <a:rPr lang="en-US" sz="3679" b="1" dirty="0">
                <a:solidFill>
                  <a:srgbClr val="000000"/>
                </a:solidFill>
                <a:latin typeface="Canva Sans 1 Bold"/>
                <a:ea typeface="Canva Sans 1 Bold"/>
                <a:cs typeface="Canva Sans 1 Bold"/>
                <a:sym typeface="Canva Sans 1 Bold"/>
              </a:rPr>
              <a:t>TRAFFIC SIGNAL CONTROL</a:t>
            </a:r>
          </a:p>
          <a:p>
            <a:pPr marL="794478" lvl="1" indent="-397239" algn="l">
              <a:lnSpc>
                <a:spcPts val="5151"/>
              </a:lnSpc>
              <a:buFont typeface="Arial"/>
              <a:buChar char="•"/>
            </a:pPr>
            <a:r>
              <a:rPr lang="en-US" sz="3679" b="1" dirty="0">
                <a:solidFill>
                  <a:srgbClr val="000000"/>
                </a:solidFill>
                <a:latin typeface="Canva Sans 1 Bold"/>
                <a:ea typeface="Canva Sans 1 Bold"/>
                <a:cs typeface="Canva Sans 1 Bold"/>
                <a:sym typeface="Canva Sans 1 Bold"/>
              </a:rPr>
              <a:t>SYSTEM TESTING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2"/>
          <p:cNvSpPr txBox="1"/>
          <p:nvPr/>
        </p:nvSpPr>
        <p:spPr>
          <a:xfrm>
            <a:off x="15941873"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1"/>
                <a:ea typeface="Canva Sans 1"/>
                <a:cs typeface="Canva Sans 1"/>
                <a:sym typeface="Canva Sans 1"/>
              </a:rPr>
              <a:t>Page 15 of 19</a:t>
            </a:r>
          </a:p>
        </p:txBody>
      </p:sp>
      <p:sp>
        <p:nvSpPr>
          <p:cNvPr id="3" name="TextBox 3"/>
          <p:cNvSpPr txBox="1"/>
          <p:nvPr/>
        </p:nvSpPr>
        <p:spPr>
          <a:xfrm>
            <a:off x="7727692" y="12"/>
            <a:ext cx="3702308" cy="1028688"/>
          </a:xfrm>
          <a:prstGeom prst="rect">
            <a:avLst/>
          </a:prstGeom>
        </p:spPr>
        <p:txBody>
          <a:bodyPr wrap="square" lIns="0" tIns="0" rIns="0" bIns="0" rtlCol="0" anchor="t">
            <a:spAutoFit/>
          </a:bodyPr>
          <a:lstStyle/>
          <a:p>
            <a:pPr algn="ctr">
              <a:lnSpc>
                <a:spcPts val="8400"/>
              </a:lnSpc>
            </a:pPr>
            <a:r>
              <a:rPr lang="en-US" sz="6000" b="1" dirty="0">
                <a:solidFill>
                  <a:srgbClr val="000000"/>
                </a:solidFill>
                <a:latin typeface="Canva Sans 1 Bold"/>
                <a:ea typeface="Canva Sans 1 Bold"/>
                <a:cs typeface="Canva Sans 1 Bold"/>
                <a:sym typeface="Canva Sans 1 Bold"/>
              </a:rPr>
              <a:t>RESULT</a:t>
            </a:r>
          </a:p>
        </p:txBody>
      </p:sp>
      <p:sp>
        <p:nvSpPr>
          <p:cNvPr id="4" name="TextBox 4"/>
          <p:cNvSpPr txBox="1"/>
          <p:nvPr/>
        </p:nvSpPr>
        <p:spPr>
          <a:xfrm>
            <a:off x="590745" y="1180976"/>
            <a:ext cx="17401937" cy="4552508"/>
          </a:xfrm>
          <a:prstGeom prst="rect">
            <a:avLst/>
          </a:prstGeom>
        </p:spPr>
        <p:txBody>
          <a:bodyPr lIns="0" tIns="0" rIns="0" bIns="0" rtlCol="0" anchor="t">
            <a:spAutoFit/>
          </a:bodyPr>
          <a:lstStyle/>
          <a:p>
            <a:pPr algn="l">
              <a:lnSpc>
                <a:spcPts val="4529"/>
              </a:lnSpc>
            </a:pPr>
            <a:r>
              <a:rPr lang="en-US" sz="3235" b="1">
                <a:solidFill>
                  <a:srgbClr val="000000"/>
                </a:solidFill>
                <a:latin typeface="Canva Sans 1 Bold"/>
                <a:ea typeface="Canva Sans 1 Bold"/>
                <a:cs typeface="Canva Sans 1 Bold"/>
                <a:sym typeface="Canva Sans 1 Bold"/>
              </a:rPr>
              <a:t>The proposed IoT and LoRa-Based Emergency Vehicle Preemption System provides a smart approach to emergency traffic management. By integrating ESP32 microcontrollers and LoRa communication, the system aims to transmit emergency requests between multiple traffic junctions and prioritize traffic signals for emergency vehicles. The proposed solution can help reduce vehicle waiting time, improve traffic coordination, and support faster emergency response. The system's performance will be evaluated through hardware testing of communication reliability, signal response time, and junction coordination.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2"/>
          <p:cNvSpPr txBox="1"/>
          <p:nvPr/>
        </p:nvSpPr>
        <p:spPr>
          <a:xfrm>
            <a:off x="15941873"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1"/>
                <a:ea typeface="Canva Sans 1"/>
                <a:cs typeface="Canva Sans 1"/>
                <a:sym typeface="Canva Sans 1"/>
              </a:rPr>
              <a:t>Page 16 of 19</a:t>
            </a:r>
          </a:p>
        </p:txBody>
      </p:sp>
      <p:sp>
        <p:nvSpPr>
          <p:cNvPr id="3" name="TextBox 3"/>
          <p:cNvSpPr txBox="1"/>
          <p:nvPr/>
        </p:nvSpPr>
        <p:spPr>
          <a:xfrm>
            <a:off x="4539258" y="172805"/>
            <a:ext cx="9786342" cy="1028688"/>
          </a:xfrm>
          <a:prstGeom prst="rect">
            <a:avLst/>
          </a:prstGeom>
        </p:spPr>
        <p:txBody>
          <a:bodyPr wrap="square" lIns="0" tIns="0" rIns="0" bIns="0" rtlCol="0" anchor="t">
            <a:spAutoFit/>
          </a:bodyPr>
          <a:lstStyle/>
          <a:p>
            <a:pPr algn="ctr">
              <a:lnSpc>
                <a:spcPts val="8400"/>
              </a:lnSpc>
            </a:pPr>
            <a:r>
              <a:rPr lang="en-US" sz="6000" b="1" dirty="0">
                <a:solidFill>
                  <a:srgbClr val="000000"/>
                </a:solidFill>
                <a:latin typeface="Canva Sans 1 Bold"/>
                <a:ea typeface="Canva Sans 1 Bold"/>
                <a:cs typeface="Canva Sans 1 Bold"/>
                <a:sym typeface="Canva Sans 1 Bold"/>
              </a:rPr>
              <a:t>FUTURE ENHANCEMENT</a:t>
            </a:r>
          </a:p>
        </p:txBody>
      </p:sp>
      <p:sp>
        <p:nvSpPr>
          <p:cNvPr id="4" name="TextBox 4"/>
          <p:cNvSpPr txBox="1"/>
          <p:nvPr/>
        </p:nvSpPr>
        <p:spPr>
          <a:xfrm>
            <a:off x="612088" y="1842611"/>
            <a:ext cx="17063825" cy="4465350"/>
          </a:xfrm>
          <a:prstGeom prst="rect">
            <a:avLst/>
          </a:prstGeom>
        </p:spPr>
        <p:txBody>
          <a:bodyPr lIns="0" tIns="0" rIns="0" bIns="0" rtlCol="0" anchor="t">
            <a:spAutoFit/>
          </a:bodyPr>
          <a:lstStyle/>
          <a:p>
            <a:pPr algn="l">
              <a:lnSpc>
                <a:spcPts val="4441"/>
              </a:lnSpc>
            </a:pPr>
            <a:r>
              <a:rPr lang="en-US" sz="3172" b="1">
                <a:solidFill>
                  <a:srgbClr val="000000"/>
                </a:solidFill>
                <a:latin typeface="Canva Sans 1 Bold"/>
                <a:ea typeface="Canva Sans 1 Bold"/>
                <a:cs typeface="Canva Sans 1 Bold"/>
                <a:sym typeface="Canva Sans 1 Bold"/>
              </a:rPr>
              <a:t>The proposed IoT and LoRa-Based Emergency Vehicle Preemption System provides a smart approach to emergency traffic management. By integrating ESP32 microcontrollers and LoRa communication, the system aims to transmit emergency requests between multiple traffic junctions and prioritize traffic signals for emergency vehicles. The proposed solution can help reduce vehicle waiting time, improve traffic coordination, and support faster emergency response. The system's performance will be evaluated through hardware testing of communication reliability, signal response time, and junction coordination.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2"/>
          <p:cNvSpPr txBox="1"/>
          <p:nvPr/>
        </p:nvSpPr>
        <p:spPr>
          <a:xfrm>
            <a:off x="15941873"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1"/>
                <a:ea typeface="Canva Sans 1"/>
                <a:cs typeface="Canva Sans 1"/>
                <a:sym typeface="Canva Sans 1"/>
              </a:rPr>
              <a:t>Page 17 of 19</a:t>
            </a:r>
          </a:p>
        </p:txBody>
      </p:sp>
      <p:sp>
        <p:nvSpPr>
          <p:cNvPr id="3" name="TextBox 3"/>
          <p:cNvSpPr txBox="1"/>
          <p:nvPr/>
        </p:nvSpPr>
        <p:spPr>
          <a:xfrm>
            <a:off x="4724401" y="12"/>
            <a:ext cx="8305800" cy="1028688"/>
          </a:xfrm>
          <a:prstGeom prst="rect">
            <a:avLst/>
          </a:prstGeom>
        </p:spPr>
        <p:txBody>
          <a:bodyPr wrap="square" lIns="0" tIns="0" rIns="0" bIns="0" rtlCol="0" anchor="t">
            <a:spAutoFit/>
          </a:bodyPr>
          <a:lstStyle/>
          <a:p>
            <a:pPr algn="ctr">
              <a:lnSpc>
                <a:spcPts val="8400"/>
              </a:lnSpc>
            </a:pPr>
            <a:r>
              <a:rPr lang="en-US" sz="6000" b="1" dirty="0">
                <a:solidFill>
                  <a:srgbClr val="000000"/>
                </a:solidFill>
                <a:latin typeface="Canva Sans 1 Bold"/>
                <a:ea typeface="Canva Sans 1 Bold"/>
                <a:cs typeface="Canva Sans 1 Bold"/>
                <a:sym typeface="Canva Sans 1 Bold"/>
              </a:rPr>
              <a:t>CONCLUSION</a:t>
            </a:r>
          </a:p>
        </p:txBody>
      </p:sp>
      <p:sp>
        <p:nvSpPr>
          <p:cNvPr id="4" name="TextBox 4"/>
          <p:cNvSpPr txBox="1"/>
          <p:nvPr/>
        </p:nvSpPr>
        <p:spPr>
          <a:xfrm>
            <a:off x="459629" y="2239738"/>
            <a:ext cx="17368743" cy="1965528"/>
          </a:xfrm>
          <a:prstGeom prst="rect">
            <a:avLst/>
          </a:prstGeom>
        </p:spPr>
        <p:txBody>
          <a:bodyPr lIns="0" tIns="0" rIns="0" bIns="0" rtlCol="0" anchor="t">
            <a:spAutoFit/>
          </a:bodyPr>
          <a:lstStyle/>
          <a:p>
            <a:pPr algn="l">
              <a:lnSpc>
                <a:spcPts val="3983"/>
              </a:lnSpc>
            </a:pPr>
            <a:r>
              <a:rPr lang="en-US" sz="2845" b="1">
                <a:solidFill>
                  <a:srgbClr val="000000"/>
                </a:solidFill>
                <a:latin typeface="Canva Sans 1 Bold"/>
                <a:ea typeface="Canva Sans 1 Bold"/>
                <a:cs typeface="Canva Sans 1 Bold"/>
                <a:sym typeface="Canva Sans 1 Bold"/>
              </a:rPr>
              <a:t>In the future, the proposed system can be enhanced with AI-based traffic prediction, GPS route optimization, cloud monitoring, and smart city integration. These improvements can increase system efficiency, improve coordination between multiple junctions, and support faster emergency vehicle movement.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2"/>
          <p:cNvSpPr txBox="1"/>
          <p:nvPr/>
        </p:nvSpPr>
        <p:spPr>
          <a:xfrm>
            <a:off x="15941873"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1"/>
                <a:ea typeface="Canva Sans 1"/>
                <a:cs typeface="Canva Sans 1"/>
                <a:sym typeface="Canva Sans 1"/>
              </a:rPr>
              <a:t>Page 18 of 19</a:t>
            </a:r>
          </a:p>
        </p:txBody>
      </p:sp>
      <p:sp>
        <p:nvSpPr>
          <p:cNvPr id="3" name="TextBox 3"/>
          <p:cNvSpPr txBox="1"/>
          <p:nvPr/>
        </p:nvSpPr>
        <p:spPr>
          <a:xfrm>
            <a:off x="6444972" y="220065"/>
            <a:ext cx="5398056" cy="1028688"/>
          </a:xfrm>
          <a:prstGeom prst="rect">
            <a:avLst/>
          </a:prstGeom>
        </p:spPr>
        <p:txBody>
          <a:bodyPr lIns="0" tIns="0" rIns="0" bIns="0" rtlCol="0" anchor="t">
            <a:spAutoFit/>
          </a:bodyPr>
          <a:lstStyle/>
          <a:p>
            <a:pPr algn="ctr">
              <a:lnSpc>
                <a:spcPts val="8400"/>
              </a:lnSpc>
            </a:pPr>
            <a:r>
              <a:rPr lang="en-US" sz="6000" b="1">
                <a:solidFill>
                  <a:srgbClr val="000000"/>
                </a:solidFill>
                <a:latin typeface="Canva Sans 1 Bold"/>
                <a:ea typeface="Canva Sans 1 Bold"/>
                <a:cs typeface="Canva Sans 1 Bold"/>
                <a:sym typeface="Canva Sans 1 Bold"/>
              </a:rPr>
              <a:t>GANTT CHART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3273537" y="3190778"/>
            <a:ext cx="11740925" cy="2935231"/>
          </a:xfrm>
          <a:custGeom>
            <a:avLst/>
            <a:gdLst/>
            <a:ahLst/>
            <a:cxnLst/>
            <a:rect l="l" t="t" r="r" b="b"/>
            <a:pathLst>
              <a:path w="11740925" h="2935231">
                <a:moveTo>
                  <a:pt x="0" y="0"/>
                </a:moveTo>
                <a:lnTo>
                  <a:pt x="11740926" y="0"/>
                </a:lnTo>
                <a:lnTo>
                  <a:pt x="11740926" y="2935231"/>
                </a:lnTo>
                <a:lnTo>
                  <a:pt x="0" y="293523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15941873"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1"/>
                <a:ea typeface="Canva Sans 1"/>
                <a:cs typeface="Canva Sans 1"/>
                <a:sym typeface="Canva Sans 1"/>
              </a:rPr>
              <a:t>Page 19 of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EMERGENCY VEHICLE PRIORITY SYSTEM</Template>
  <TotalTime>0</TotalTime>
  <Words>1178</Words>
  <Application>Microsoft Office PowerPoint</Application>
  <PresentationFormat>Custom</PresentationFormat>
  <Paragraphs>135</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ROHITH S</dc:creator>
  <cp:lastModifiedBy>ROHITH S</cp:lastModifiedBy>
  <cp:revision>2</cp:revision>
  <dcterms:created xsi:type="dcterms:W3CDTF">2026-10-15T17:06:55Z</dcterms:created>
  <dcterms:modified xsi:type="dcterms:W3CDTF">2026-10-29T11:37:55Z</dcterms:modified>
  <dc:identifier>DAHXVRoD64w</dc:identifier>
</cp:coreProperties>
</file>