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embeddedFontLst>
    <p:embeddedFont>
      <p:font typeface="Carlito"/>
      <p:regular r:id="rId201314"/>
    </p:embeddedFont>
    <p:embeddedFont>
      <p:font typeface="Carlito Bold"/>
      <p:regular r:id="rId201315"/>
    </p:embeddedFont>
    <p:embeddedFont>
      <p:font typeface="Inter Bold"/>
      <p:regular r:id="rId201316"/>
    </p:embeddedFont>
    <p:embeddedFont>
      <p:font typeface="Inter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of 2: campaign setup, executive dashboard, AI budget allocation engine and A/B strategy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of 2: audience segmentation, what-if analysis, executive summary report and AI ad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image" Target="../media/image-1002-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12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" y="137120"/>
            <a:ext cx="12321172" cy="68192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image" Target="../media/image-14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png"/><Relationship Id="rId4" Type="http://schemas.openxmlformats.org/officeDocument/2006/relationships/image" Target="../media/image-15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11" cy="6858000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777961" y="25400"/>
            <a:ext cx="3413337" cy="6858000"/>
          </a:xfrm>
          <a:prstGeom prst="rect">
            <a:avLst/>
          </a:prstGeom>
          <a:solidFill>
            <a:srgbClr val="153565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89411" y="4231580"/>
            <a:ext cx="201111" cy="914400"/>
          </a:xfrm>
          <a:prstGeom prst="rect">
            <a:avLst/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82605" y="3683000"/>
            <a:ext cx="201111" cy="1462980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75799" y="3134320"/>
            <a:ext cx="201111" cy="2011660"/>
          </a:xfrm>
          <a:prstGeom prst="rect">
            <a:avLst/>
          </a:prstGeom>
          <a:solidFill>
            <a:srgbClr val="119187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368993" y="3911600"/>
            <a:ext cx="201111" cy="1234380"/>
          </a:xfrm>
          <a:prstGeom prst="rect">
            <a:avLst/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62187" y="2585641"/>
            <a:ext cx="201111" cy="2560241"/>
          </a:xfrm>
          <a:prstGeom prst="rect">
            <a:avLst/>
          </a:prstGeom>
          <a:solidFill>
            <a:srgbClr val="E18923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155381" y="3180060"/>
            <a:ext cx="201111" cy="1965920"/>
          </a:xfrm>
          <a:prstGeom prst="rect">
            <a:avLst/>
          </a:prstGeom>
          <a:solidFill>
            <a:srgbClr val="CB4784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87743" y="5809357"/>
            <a:ext cx="346254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Guide: Mrs. V.P. Kanchana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225922" y="1148457"/>
            <a:ext cx="2578631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700" b="1" spc="-129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PREDICT.</a:t>
            </a:r>
            <a:endParaRPr lang="en-US" sz="17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700" b="1" spc="-129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OPTIMIZE.</a:t>
            </a:r>
            <a:endParaRPr lang="en-US" sz="1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00" b="1" spc="-129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EXPLAIN.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225922" y="2383830"/>
            <a:ext cx="2395775" cy="41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100" spc="-54" kern="100" dirty="0">
                <a:solidFill>
                  <a:srgbClr val="CDDE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From campaign data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spc="-54" kern="100" dirty="0">
                <a:solidFill>
                  <a:srgbClr val="CDDE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to actionable decisions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634" y="496689"/>
            <a:ext cx="975345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14ADBE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AI &amp; ML MINI PROJECT  •  PROJECT PRESENTATION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1450" y="140791"/>
            <a:ext cx="3950097" cy="86270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7934" y="1283791"/>
            <a:ext cx="7699182" cy="13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50" b="1" spc="-105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</a:t>
            </a:r>
            <a:endParaRPr lang="en-US" sz="27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50" b="1" spc="-105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PREDICTION &amp; BUDGET</a:t>
            </a:r>
            <a:endParaRPr lang="en-US" sz="27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50" b="1" spc="-105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OPTIMIZATION SYSTEM</a:t>
            </a:r>
            <a:endParaRPr lang="en-US" sz="2750" dirty="0"/>
          </a:p>
        </p:txBody>
      </p:sp>
      <p:sp>
        <p:nvSpPr>
          <p:cNvPr id="16" name="Shape 13"/>
          <p:cNvSpPr/>
          <p:nvPr/>
        </p:nvSpPr>
        <p:spPr>
          <a:xfrm>
            <a:off x="749777" y="2990056"/>
            <a:ext cx="1234350" cy="50205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86289" y="3294955"/>
            <a:ext cx="715051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spc="-83" kern="100" dirty="0">
                <a:solidFill>
                  <a:srgbClr val="DCE7F5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machine-learning and constrained-optimization approach to smarter digital advertising budgets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86289" y="4643537"/>
            <a:ext cx="7150516" cy="69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550"/>
              </a:spcAft>
              <a:buNone/>
            </a:pPr>
            <a:r>
              <a:rPr lang="en-US" sz="1200" b="1" spc="-48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Harishwaran K  •  24619142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550"/>
              </a:spcAft>
              <a:buNone/>
            </a:pPr>
            <a:r>
              <a:rPr lang="en-US" sz="1200" b="1" spc="-48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Mageshwaran H  •  24619144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b="1" spc="-48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Keerthivarman M  •  24619145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86289" y="5834063"/>
            <a:ext cx="81258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-49" kern="100" dirty="0">
                <a:solidFill>
                  <a:srgbClr val="C1D3E9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VISTAS, Pallavaram  | 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Abstract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PROJECT OVERVIEW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02 / 17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783" y="1353245"/>
            <a:ext cx="6812090" cy="452626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145" y="1622524"/>
            <a:ext cx="6236139" cy="3372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700"/>
              </a:spcAft>
              <a:buNone/>
            </a:pPr>
            <a:r>
              <a:rPr lang="en-US" sz="1600" spc="-78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Digital advertising performance changes with platform, campaign type, audience, timing and spend. This project combines historical campaign data, machine-learning prediction and constrained optimization in one workflow.</a:t>
            </a:r>
            <a:endParaRPr lang="en-US" sz="1600" dirty="0"/>
          </a:p>
          <a:p>
            <a:pPr algn="l" indent="0" marL="0">
              <a:lnSpc>
                <a:spcPct val="100000"/>
              </a:lnSpc>
              <a:spcAft>
                <a:spcPts val="2700"/>
              </a:spcAft>
              <a:buNone/>
            </a:pPr>
            <a:r>
              <a:rPr lang="en-US" sz="1600" spc="-78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Gradient Boosting regression model estimates expected revenue from campaign features. Platform response curves represent diminishing returns, while the SLSQP optimizer distributes a fixed budget subject to configured limits. A web dashboard presents predictions, recommended allocations and what-if comparisons.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spc="-78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intended outcome is a more transparent, data-informed budget plan—not a guarantee of actual clicks, conversions or revenue.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17845" y="1353245"/>
            <a:ext cx="3611770" cy="1234380"/>
          </a:xfrm>
          <a:prstGeom prst="roundRect">
            <a:avLst>
              <a:gd name="adj" fmla="val 14395"/>
            </a:avLst>
          </a:prstGeom>
          <a:solidFill>
            <a:srgbClr val="E7F1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17845" y="1353245"/>
            <a:ext cx="63994" cy="1234380"/>
          </a:xfrm>
          <a:prstGeom prst="rect">
            <a:avLst/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37311" y="1523702"/>
            <a:ext cx="41543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PREDICT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37311" y="1900337"/>
            <a:ext cx="38008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Estimate expected campaign revenue.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7845" y="2770584"/>
            <a:ext cx="3611770" cy="1234380"/>
          </a:xfrm>
          <a:prstGeom prst="roundRect">
            <a:avLst>
              <a:gd name="adj" fmla="val 14395"/>
            </a:avLst>
          </a:prstGeom>
          <a:solidFill>
            <a:srgbClr val="E7F7F5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17845" y="2770584"/>
            <a:ext cx="63994" cy="1234380"/>
          </a:xfrm>
          <a:prstGeom prst="rect">
            <a:avLst/>
          </a:prstGeom>
          <a:solidFill>
            <a:srgbClr val="119187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37311" y="2941042"/>
            <a:ext cx="41543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OPTIMIZE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37311" y="3317677"/>
            <a:ext cx="38008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Allocate budget within constraints.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17845" y="4187924"/>
            <a:ext cx="3611770" cy="1234380"/>
          </a:xfrm>
          <a:prstGeom prst="roundRect">
            <a:avLst>
              <a:gd name="adj" fmla="val 14395"/>
            </a:avLst>
          </a:prstGeom>
          <a:solidFill>
            <a:srgbClr val="F1EC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17845" y="4187924"/>
            <a:ext cx="63994" cy="1234380"/>
          </a:xfrm>
          <a:prstGeom prst="rect">
            <a:avLst/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37311" y="4358382"/>
            <a:ext cx="41543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EXPLAIN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37311" y="4735016"/>
            <a:ext cx="38008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Show recommendations and what-if scenarios.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Problem Statement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PROBLEM CONTEXT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03 / 17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7934" y="1377582"/>
            <a:ext cx="1071654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-1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How should a limited advertising budget be distributed across channels when expected performance differs and returns may diminish as spend increases?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31422" y="2331641"/>
            <a:ext cx="3428914" cy="1920180"/>
          </a:xfrm>
          <a:prstGeom prst="roundRect">
            <a:avLst>
              <a:gd name="adj" fmla="val 14397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422" y="2331641"/>
            <a:ext cx="63994" cy="1920180"/>
          </a:xfrm>
          <a:prstGeom prst="rect">
            <a:avLst/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889" y="2500313"/>
            <a:ext cx="42562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Fragmented evidence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0889" y="2878661"/>
            <a:ext cx="30083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Historical campaign results, channel details and external factors may sit in separate datasets.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8931" y="2331641"/>
            <a:ext cx="3428914" cy="1920180"/>
          </a:xfrm>
          <a:prstGeom prst="roundRect">
            <a:avLst>
              <a:gd name="adj" fmla="val 14397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8931" y="2331641"/>
            <a:ext cx="63994" cy="1920180"/>
          </a:xfrm>
          <a:prstGeom prst="rect">
            <a:avLst/>
          </a:prstGeom>
          <a:solidFill>
            <a:srgbClr val="E18923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397" y="2500313"/>
            <a:ext cx="42562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Uncertain outcomes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8397" y="2878661"/>
            <a:ext cx="30083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Clicks, conversions and revenue vary with campaign context, timing and budget.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439" y="2331641"/>
            <a:ext cx="3428914" cy="1920180"/>
          </a:xfrm>
          <a:prstGeom prst="roundRect">
            <a:avLst>
              <a:gd name="adj" fmla="val 14397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439" y="2331641"/>
            <a:ext cx="63994" cy="1920180"/>
          </a:xfrm>
          <a:prstGeom prst="rect">
            <a:avLst/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65906" y="2500313"/>
            <a:ext cx="39257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Manual allocation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65906" y="2878661"/>
            <a:ext cx="30083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fixed budget must be divided while respecting channel limits and comparing trade-offs.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422" y="4617641"/>
            <a:ext cx="10743931" cy="868660"/>
          </a:xfrm>
          <a:prstGeom prst="roundRect">
            <a:avLst>
              <a:gd name="adj" fmla="val 14404"/>
            </a:avLst>
          </a:prstGeom>
          <a:solidFill>
            <a:srgbClr val="E7F1FA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24011" y="4733429"/>
            <a:ext cx="1016798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Project need: connect reliable data preparation, performance prediction and constraint-aware budget allocation.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Objectives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PROJECT GOALS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04 / 17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422" y="1417241"/>
            <a:ext cx="3401431" cy="1737320"/>
          </a:xfrm>
          <a:prstGeom prst="roundRect">
            <a:avLst>
              <a:gd name="adj" fmla="val 14403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377" y="1618456"/>
            <a:ext cx="530311" cy="438845"/>
          </a:xfrm>
          <a:prstGeom prst="roundRect">
            <a:avLst>
              <a:gd name="adj" fmla="val 14412"/>
            </a:avLst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4352" y="1689199"/>
            <a:ext cx="10302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-52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36672" y="1640780"/>
            <a:ext cx="33344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Prepare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400" y="2220416"/>
            <a:ext cx="2852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Clean missing values, encode categories and create usable campaign features.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670" y="1417241"/>
            <a:ext cx="3401431" cy="1737320"/>
          </a:xfrm>
          <a:prstGeom prst="roundRect">
            <a:avLst>
              <a:gd name="adj" fmla="val 14403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525" y="1618456"/>
            <a:ext cx="530311" cy="438845"/>
          </a:xfrm>
          <a:prstGeom prst="roundRect">
            <a:avLst>
              <a:gd name="adj" fmla="val 14412"/>
            </a:avLst>
          </a:prstGeom>
          <a:solidFill>
            <a:srgbClr val="119187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67599" y="1689199"/>
            <a:ext cx="10302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-52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39820" y="1640780"/>
            <a:ext cx="33344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Predict revenue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647" y="2220416"/>
            <a:ext cx="2852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Train a Gradient Boosting regressor to estimate expected campaign performance.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7917" y="1417241"/>
            <a:ext cx="3401431" cy="1737320"/>
          </a:xfrm>
          <a:prstGeom prst="roundRect">
            <a:avLst>
              <a:gd name="adj" fmla="val 14403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0772" y="1618456"/>
            <a:ext cx="530311" cy="438845"/>
          </a:xfrm>
          <a:prstGeom prst="roundRect">
            <a:avLst>
              <a:gd name="adj" fmla="val 14412"/>
            </a:avLst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70747" y="1689199"/>
            <a:ext cx="10302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-52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43067" y="1640780"/>
            <a:ext cx="31486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Model response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93895" y="2220416"/>
            <a:ext cx="2852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Fit platform response curves to represent diminishing returns.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422" y="3566120"/>
            <a:ext cx="3401431" cy="1737320"/>
          </a:xfrm>
          <a:prstGeom prst="roundRect">
            <a:avLst>
              <a:gd name="adj" fmla="val 14403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377" y="3767237"/>
            <a:ext cx="530311" cy="438845"/>
          </a:xfrm>
          <a:prstGeom prst="roundRect">
            <a:avLst>
              <a:gd name="adj" fmla="val 14412"/>
            </a:avLst>
          </a:prstGeom>
          <a:solidFill>
            <a:srgbClr val="E18923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4352" y="3837980"/>
            <a:ext cx="10302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-52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36672" y="3789660"/>
            <a:ext cx="33344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Compare channels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7400" y="4369296"/>
            <a:ext cx="2852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Evaluate predicted outcomes across platforms and campaign contexts.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670" y="3566120"/>
            <a:ext cx="3401431" cy="1737320"/>
          </a:xfrm>
          <a:prstGeom prst="roundRect">
            <a:avLst>
              <a:gd name="adj" fmla="val 14403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525" y="3767237"/>
            <a:ext cx="530311" cy="438845"/>
          </a:xfrm>
          <a:prstGeom prst="roundRect">
            <a:avLst>
              <a:gd name="adj" fmla="val 14412"/>
            </a:avLst>
          </a:prstGeom>
          <a:solidFill>
            <a:srgbClr val="CB4784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67599" y="3837980"/>
            <a:ext cx="10302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-52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39820" y="3789660"/>
            <a:ext cx="333446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Optimize spend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90647" y="4369296"/>
            <a:ext cx="2852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Allocate a fixed total budget under configured bounds and constraints.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37917" y="3566120"/>
            <a:ext cx="3401431" cy="1737320"/>
          </a:xfrm>
          <a:prstGeom prst="roundRect">
            <a:avLst>
              <a:gd name="adj" fmla="val 14403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20772" y="3767237"/>
            <a:ext cx="530311" cy="438845"/>
          </a:xfrm>
          <a:prstGeom prst="roundRect">
            <a:avLst>
              <a:gd name="adj" fmla="val 14412"/>
            </a:avLst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070747" y="3837980"/>
            <a:ext cx="10302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spc="-52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43067" y="3789660"/>
            <a:ext cx="31486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Support decisions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93895" y="4369296"/>
            <a:ext cx="2852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Present predictions, allocations and what-if analysis in a dashboard.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Literature Survey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PRIOR RESEARCH • 1 OF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05 / 17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783" y="1389856"/>
            <a:ext cx="2240204" cy="457200"/>
          </a:xfrm>
          <a:prstGeom prst="rect">
            <a:avLst/>
          </a:prstGeom>
          <a:solidFill>
            <a:srgbClr val="11274F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8880" y="1508125"/>
            <a:ext cx="25939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Authors / 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5987" y="1389856"/>
            <a:ext cx="2514537" cy="457200"/>
          </a:xfrm>
          <a:prstGeom prst="rect">
            <a:avLst/>
          </a:prstGeom>
          <a:solidFill>
            <a:srgbClr val="11274F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9084" y="1508125"/>
            <a:ext cx="286814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Problem focus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0524" y="1389856"/>
            <a:ext cx="3245959" cy="457200"/>
          </a:xfrm>
          <a:prstGeom prst="rect">
            <a:avLst/>
          </a:prstGeom>
          <a:solidFill>
            <a:srgbClr val="11274F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3621" y="1508125"/>
            <a:ext cx="359966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Approach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583" y="1389856"/>
            <a:ext cx="2925987" cy="457200"/>
          </a:xfrm>
          <a:prstGeom prst="rect">
            <a:avLst/>
          </a:prstGeom>
          <a:solidFill>
            <a:srgbClr val="11274F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9680" y="1508125"/>
            <a:ext cx="32796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Limitation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783" y="1847056"/>
            <a:ext cx="2240204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1928" y="1983581"/>
            <a:ext cx="255729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1E2D4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Nuara et al. (2018; 2022)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5987" y="1847056"/>
            <a:ext cx="2514537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72232" y="1983581"/>
            <a:ext cx="22220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Joint bid/budget optimization for PPC campaigns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524" y="1847056"/>
            <a:ext cx="3245959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86769" y="1983581"/>
            <a:ext cx="29534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Bandit-based learning for dynamic bid and daily-budget decisions.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583" y="1847056"/>
            <a:ext cx="2925987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32728" y="1983581"/>
            <a:ext cx="263349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Requires online feedback; more complex than offline planning.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783" y="3017441"/>
            <a:ext cx="2240204" cy="1115516"/>
          </a:xfrm>
          <a:prstGeom prst="rect">
            <a:avLst/>
          </a:prstGeom>
          <a:solidFill>
            <a:srgbClr val="F1F5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1928" y="3153966"/>
            <a:ext cx="255729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1E2D4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Han &amp; Gabor (2020)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5987" y="3017441"/>
            <a:ext cx="2514537" cy="1115516"/>
          </a:xfrm>
          <a:prstGeom prst="rect">
            <a:avLst/>
          </a:prstGeom>
          <a:solidFill>
            <a:srgbClr val="F1F5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072232" y="3153966"/>
            <a:ext cx="22220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Contextual bandits for advertising budget allocation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40524" y="3017441"/>
            <a:ext cx="3245959" cy="1115516"/>
          </a:xfrm>
          <a:prstGeom prst="rect">
            <a:avLst/>
          </a:prstGeom>
          <a:solidFill>
            <a:srgbClr val="F1F5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86769" y="3153966"/>
            <a:ext cx="29534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Uses context and prior outcomes to estimate payouts and allocate with Thompson Sampling.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583" y="3017441"/>
            <a:ext cx="2925987" cy="1115516"/>
          </a:xfrm>
          <a:prstGeom prst="rect">
            <a:avLst/>
          </a:prstGeom>
          <a:solidFill>
            <a:srgbClr val="F1F5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832728" y="3153966"/>
            <a:ext cx="263349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Depends on contextual feedback and online settings.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783" y="4187924"/>
            <a:ext cx="2240204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1928" y="4324449"/>
            <a:ext cx="194771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1E2D4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Geng et al. (2021); Gigli &amp; Stella (2024/25)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5987" y="4187924"/>
            <a:ext cx="2514537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072232" y="4324449"/>
            <a:ext cx="22220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Automated bidding and performance-marketing optimization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40524" y="4187924"/>
            <a:ext cx="3245959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86769" y="4324449"/>
            <a:ext cx="29534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Interpretable optimization and data-efficient bandit methods.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583" y="4187924"/>
            <a:ext cx="2925987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832728" y="4324449"/>
            <a:ext cx="263349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May require platform-specific deployment or continued exploration.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422" y="5532041"/>
            <a:ext cx="10698193" cy="502841"/>
          </a:xfrm>
          <a:prstGeom prst="roundRect">
            <a:avLst>
              <a:gd name="adj" fmla="val 14396"/>
            </a:avLst>
          </a:prstGeom>
          <a:solidFill>
            <a:srgbClr val="F1ECFA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6096" y="5673824"/>
            <a:ext cx="108689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spc="-48" kern="100" dirty="0">
                <a:solidFill>
                  <a:srgbClr val="684DAB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Common theme: dynamic allocation, contextual learning and feedback-driven decisions.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Literature Survey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PRIOR RESEARCH • 2 OF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06 / 17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783" y="1389856"/>
            <a:ext cx="2240204" cy="457200"/>
          </a:xfrm>
          <a:prstGeom prst="rect">
            <a:avLst/>
          </a:prstGeom>
          <a:solidFill>
            <a:srgbClr val="11274F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8880" y="1508125"/>
            <a:ext cx="25939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Authors / 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5987" y="1389856"/>
            <a:ext cx="2514537" cy="457200"/>
          </a:xfrm>
          <a:prstGeom prst="rect">
            <a:avLst/>
          </a:prstGeom>
          <a:solidFill>
            <a:srgbClr val="11274F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9084" y="1508125"/>
            <a:ext cx="286814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Problem focus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0524" y="1389856"/>
            <a:ext cx="3245959" cy="457200"/>
          </a:xfrm>
          <a:prstGeom prst="rect">
            <a:avLst/>
          </a:prstGeom>
          <a:solidFill>
            <a:srgbClr val="11274F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3621" y="1508125"/>
            <a:ext cx="359966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Approach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583" y="1389856"/>
            <a:ext cx="2925987" cy="457200"/>
          </a:xfrm>
          <a:prstGeom prst="rect">
            <a:avLst/>
          </a:prstGeom>
          <a:solidFill>
            <a:srgbClr val="11274F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9680" y="1508125"/>
            <a:ext cx="32796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Limitation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783" y="1847056"/>
            <a:ext cx="2240204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1928" y="1986459"/>
            <a:ext cx="25572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42" kern="100" dirty="0">
                <a:solidFill>
                  <a:srgbClr val="1E2D4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Amin et al. (2012)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5987" y="1847056"/>
            <a:ext cx="2514537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72232" y="1986459"/>
            <a:ext cx="22220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51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Budget Optimization for Sponsored Search: Censored Learning in MDPs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40524" y="1847056"/>
            <a:ext cx="3245959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86769" y="1986459"/>
            <a:ext cx="29534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51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Models limited-budget click maximization using censored auction observations.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583" y="1847056"/>
            <a:ext cx="2925987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32728" y="1986459"/>
            <a:ext cx="26334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51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Focused on sponsored search; multi-channel adaptation may be needed.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783" y="3017441"/>
            <a:ext cx="2240204" cy="1115516"/>
          </a:xfrm>
          <a:prstGeom prst="rect">
            <a:avLst/>
          </a:prstGeom>
          <a:solidFill>
            <a:srgbClr val="F1F5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1928" y="3156843"/>
            <a:ext cx="25572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42" kern="100" dirty="0">
                <a:solidFill>
                  <a:srgbClr val="1E2D4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Li et al. (2024)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25987" y="3017441"/>
            <a:ext cx="2514537" cy="1115516"/>
          </a:xfrm>
          <a:prstGeom prst="rect">
            <a:avLst/>
          </a:prstGeom>
          <a:solidFill>
            <a:srgbClr val="F1F5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072232" y="3155078"/>
            <a:ext cx="2222048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51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Multi-Channel Advertising Budget Allocation Using RL and Improved Differential Evolution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40524" y="3017441"/>
            <a:ext cx="3245959" cy="1115516"/>
          </a:xfrm>
          <a:prstGeom prst="rect">
            <a:avLst/>
          </a:prstGeom>
          <a:solidFill>
            <a:srgbClr val="F1F5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86769" y="3156843"/>
            <a:ext cx="29534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51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Combines reinforcement learning and improved differential evolution for long-term allocation.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583" y="3017441"/>
            <a:ext cx="2925987" cy="1115516"/>
          </a:xfrm>
          <a:prstGeom prst="rect">
            <a:avLst/>
          </a:prstGeom>
          <a:solidFill>
            <a:srgbClr val="F1F5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832728" y="3156843"/>
            <a:ext cx="26334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51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More complex than an offline prediction-and-optimization pipeline.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783" y="4187924"/>
            <a:ext cx="2240204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1928" y="4327227"/>
            <a:ext cx="25572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42" kern="100" dirty="0">
                <a:solidFill>
                  <a:srgbClr val="1E2D4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Wang &amp; Zareeihemat (2025)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925987" y="4187924"/>
            <a:ext cx="2514537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072232" y="4325462"/>
            <a:ext cx="2222048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51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Multi-channel Advertising Budget Allocation Using Q-learning and Mutual Learning-based ABC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40524" y="4187924"/>
            <a:ext cx="3245959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86769" y="4327227"/>
            <a:ext cx="29534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51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Combines Q-learning with an enhanced artificial bee colony optimizer.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86583" y="4187924"/>
            <a:ext cx="2925987" cy="111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832728" y="4327227"/>
            <a:ext cx="26334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-51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Depends on reward feedback and optimizer design; needs wider testing.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1422" y="5532041"/>
            <a:ext cx="10698193" cy="502841"/>
          </a:xfrm>
          <a:prstGeom prst="roundRect">
            <a:avLst>
              <a:gd name="adj" fmla="val 14396"/>
            </a:avLst>
          </a:prstGeom>
          <a:solidFill>
            <a:srgbClr val="E7F7F5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6096" y="5673824"/>
            <a:ext cx="108689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spc="-48" kern="100" dirty="0">
                <a:solidFill>
                  <a:srgbClr val="119187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Our direction: a practical, offline pipeline that links prediction to a constrained allocation step.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Research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MOTIVATION FOR THE PROPOSED APPROACH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07 / 17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161" y="1508720"/>
            <a:ext cx="5074714" cy="1298377"/>
          </a:xfrm>
          <a:prstGeom prst="roundRect">
            <a:avLst>
              <a:gd name="adj" fmla="val 14402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161" y="1508720"/>
            <a:ext cx="63994" cy="1298377"/>
          </a:xfrm>
          <a:prstGeom prst="rect">
            <a:avLst/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96528" y="1678285"/>
            <a:ext cx="617006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Disconnected steps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6528" y="2054920"/>
            <a:ext cx="465423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Prediction and budget allocation are often treated as separate tasks.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162" y="1508720"/>
            <a:ext cx="5074714" cy="1298377"/>
          </a:xfrm>
          <a:prstGeom prst="roundRect">
            <a:avLst>
              <a:gd name="adj" fmla="val 14402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162" y="1508720"/>
            <a:ext cx="63994" cy="1298377"/>
          </a:xfrm>
          <a:prstGeom prst="rect">
            <a:avLst/>
          </a:prstGeom>
          <a:solidFill>
            <a:srgbClr val="119187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8530" y="1678285"/>
            <a:ext cx="56631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Diminishing returns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28530" y="2054920"/>
            <a:ext cx="52638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channel’s response to additional spend may not remain linear.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161" y="3108920"/>
            <a:ext cx="5074714" cy="1298377"/>
          </a:xfrm>
          <a:prstGeom prst="roundRect">
            <a:avLst>
              <a:gd name="adj" fmla="val 14402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161" y="3108920"/>
            <a:ext cx="63994" cy="1298377"/>
          </a:xfrm>
          <a:prstGeom prst="rect">
            <a:avLst/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96528" y="3278485"/>
            <a:ext cx="617006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Operational constraints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6528" y="3655120"/>
            <a:ext cx="465423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Recommendations must satisfy total-budget and channel-bound limits.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162" y="3108920"/>
            <a:ext cx="5074714" cy="1298377"/>
          </a:xfrm>
          <a:prstGeom prst="roundRect">
            <a:avLst>
              <a:gd name="adj" fmla="val 14402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162" y="3108920"/>
            <a:ext cx="63994" cy="1298377"/>
          </a:xfrm>
          <a:prstGeom prst="rect">
            <a:avLst/>
          </a:prstGeom>
          <a:solidFill>
            <a:srgbClr val="E18923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28530" y="3278485"/>
            <a:ext cx="56631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Usability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28530" y="3655120"/>
            <a:ext cx="465423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Decision-makers need interpretable outputs and quick scenario comparison.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161" y="5074841"/>
            <a:ext cx="10560976" cy="658316"/>
          </a:xfrm>
          <a:prstGeom prst="roundRect">
            <a:avLst>
              <a:gd name="adj" fmla="val 14399"/>
            </a:avLst>
          </a:prstGeom>
          <a:solidFill>
            <a:srgbClr val="11274F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7475" y="5281910"/>
            <a:ext cx="106403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Research direction: unify historical-data prediction, response modelling and constrained budget optimization.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Existing 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CURRENT CHALLENGES IN CAMPAIGN PLANNING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08 / 17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422" y="1417241"/>
            <a:ext cx="3428914" cy="18288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422" y="1417241"/>
            <a:ext cx="63994" cy="1828800"/>
          </a:xfrm>
          <a:prstGeom prst="rect">
            <a:avLst/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50889" y="1586805"/>
            <a:ext cx="42562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Manual budget decisions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0889" y="1963539"/>
            <a:ext cx="300833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Teams rely on historical reports and experience to distribute spend.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8931" y="1417241"/>
            <a:ext cx="3428914" cy="18288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8931" y="1417241"/>
            <a:ext cx="63994" cy="1828800"/>
          </a:xfrm>
          <a:prstGeom prst="rect">
            <a:avLst/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397" y="1586805"/>
            <a:ext cx="42562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Separate analytics tools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8397" y="1963539"/>
            <a:ext cx="300833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Prediction, reporting and allocation may be handled in different workflows.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439" y="1417241"/>
            <a:ext cx="3428914" cy="18288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439" y="1417241"/>
            <a:ext cx="63994" cy="1828800"/>
          </a:xfrm>
          <a:prstGeom prst="rect">
            <a:avLst/>
          </a:prstGeom>
          <a:solidFill>
            <a:srgbClr val="E18923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65906" y="1586805"/>
            <a:ext cx="39257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Limited scenario testing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65906" y="1963539"/>
            <a:ext cx="300833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Comparing alternative channel allocations can take time and manual effort.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150" y="3819823"/>
            <a:ext cx="112865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spc="-137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Limitations addressed by this project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017" y="4322663"/>
            <a:ext cx="10149725" cy="84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950"/>
              </a:spcAft>
              <a:buNone/>
            </a:pPr>
            <a:r>
              <a:rPr lang="en-US" sz="1300" b="1" spc="-64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spcAft>
                <a:spcPts val="950"/>
              </a:spcAft>
              <a:buNone/>
            </a:pPr>
            <a:r>
              <a:rPr lang="en-US" sz="1300" b="1" spc="-64" kern="100" dirty="0">
                <a:solidFill>
                  <a:srgbClr val="1E2D4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Limited consistency: </a:t>
            </a:r>
            <a:pPr algn="l" indent="0" marL="0">
              <a:lnSpc>
                <a:spcPct val="100000"/>
              </a:lnSpc>
              <a:spcAft>
                <a:spcPts val="950"/>
              </a:spcAft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data cleaning and feature preparation may differ between analyses.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950"/>
              </a:spcAft>
              <a:buNone/>
            </a:pPr>
            <a:r>
              <a:rPr lang="en-US" sz="1300" b="1" spc="-64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spcAft>
                <a:spcPts val="950"/>
              </a:spcAft>
              <a:buNone/>
            </a:pPr>
            <a:r>
              <a:rPr lang="en-US" sz="1300" b="1" spc="-64" kern="100" dirty="0">
                <a:solidFill>
                  <a:srgbClr val="1E2D4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Hard to enforce constraints: </a:t>
            </a:r>
            <a:pPr algn="l" indent="0" marL="0">
              <a:lnSpc>
                <a:spcPct val="100000"/>
              </a:lnSpc>
              <a:spcAft>
                <a:spcPts val="950"/>
              </a:spcAft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manual allocations can exceed bounds or fail to use the planned total.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b="1" spc="-64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buNone/>
            </a:pPr>
            <a:r>
              <a:rPr lang="en-US" sz="1300" b="1" spc="-64" kern="100" dirty="0">
                <a:solidFill>
                  <a:srgbClr val="1E2D4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Less transparent trade-offs: </a:t>
            </a:r>
            <a:pPr algn="l" indent="0" marL="0">
              <a:lnSpc>
                <a:spcPct val="100000"/>
              </a:lnSpc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decision-makers may not see predicted outcomes for alternative budgets.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Proposed 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INTEGRATED PREDICTION-TO-OPTIMIZATION WORKFLOW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09 / 17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05" y="1965920"/>
            <a:ext cx="1993255" cy="1874441"/>
          </a:xfrm>
          <a:prstGeom prst="roundRect">
            <a:avLst>
              <a:gd name="adj" fmla="val 14399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550" y="2148780"/>
            <a:ext cx="475444" cy="420588"/>
          </a:xfrm>
          <a:prstGeom prst="roundRect">
            <a:avLst>
              <a:gd name="adj" fmla="val 14385"/>
            </a:avLst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1497" y="2233712"/>
            <a:ext cx="9937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3142" y="2767310"/>
            <a:ext cx="227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Historical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062" y="3153966"/>
            <a:ext cx="162764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Campaign, channel and context fields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5915" y="2867620"/>
            <a:ext cx="274234" cy="25400"/>
          </a:xfrm>
          <a:prstGeom prst="rect">
            <a:avLst/>
          </a:prstGeom>
          <a:solidFill>
            <a:srgbClr val="2366AD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5987" y="1965920"/>
            <a:ext cx="1993255" cy="1874441"/>
          </a:xfrm>
          <a:prstGeom prst="roundRect">
            <a:avLst>
              <a:gd name="adj" fmla="val 14399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72232" y="2148780"/>
            <a:ext cx="475444" cy="420588"/>
          </a:xfrm>
          <a:prstGeom prst="roundRect">
            <a:avLst>
              <a:gd name="adj" fmla="val 14385"/>
            </a:avLst>
          </a:prstGeom>
          <a:solidFill>
            <a:srgbClr val="119187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13079" y="2233712"/>
            <a:ext cx="9937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94823" y="2767310"/>
            <a:ext cx="227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Preprocess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743" y="3153966"/>
            <a:ext cx="162764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Clean, encode and transform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597" y="2867620"/>
            <a:ext cx="274234" cy="25400"/>
          </a:xfrm>
          <a:prstGeom prst="rect">
            <a:avLst/>
          </a:prstGeom>
          <a:solidFill>
            <a:srgbClr val="2366AD"/>
          </a:solidFill>
          <a:ln/>
        </p:spPr>
      </p:sp>
      <p:sp>
        <p:nvSpPr>
          <p:cNvPr id="20" name="Shape 18"/>
          <p:cNvSpPr/>
          <p:nvPr/>
        </p:nvSpPr>
        <p:spPr>
          <a:xfrm>
            <a:off x="5257668" y="1965920"/>
            <a:ext cx="1993255" cy="1874441"/>
          </a:xfrm>
          <a:prstGeom prst="roundRect">
            <a:avLst>
              <a:gd name="adj" fmla="val 14399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03913" y="2148780"/>
            <a:ext cx="475444" cy="420588"/>
          </a:xfrm>
          <a:prstGeom prst="roundRect">
            <a:avLst>
              <a:gd name="adj" fmla="val 14385"/>
            </a:avLst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44760" y="2233712"/>
            <a:ext cx="9937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6505" y="2767310"/>
            <a:ext cx="227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Predict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425" y="3153966"/>
            <a:ext cx="162764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Gradient Boosting revenue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69278" y="2867620"/>
            <a:ext cx="274234" cy="25400"/>
          </a:xfrm>
          <a:prstGeom prst="rect">
            <a:avLst/>
          </a:prstGeom>
          <a:solidFill>
            <a:srgbClr val="2366AD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9251" y="1965920"/>
            <a:ext cx="1993255" cy="1874441"/>
          </a:xfrm>
          <a:prstGeom prst="roundRect">
            <a:avLst>
              <a:gd name="adj" fmla="val 14399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35595" y="2148780"/>
            <a:ext cx="475444" cy="420588"/>
          </a:xfrm>
          <a:prstGeom prst="roundRect">
            <a:avLst>
              <a:gd name="adj" fmla="val 14385"/>
            </a:avLst>
          </a:prstGeom>
          <a:solidFill>
            <a:srgbClr val="E18923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76442" y="2233712"/>
            <a:ext cx="9937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58186" y="2767310"/>
            <a:ext cx="227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Optimize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67314" y="3153966"/>
            <a:ext cx="22372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Response curves + SLSQP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0960" y="2867620"/>
            <a:ext cx="274234" cy="25400"/>
          </a:xfrm>
          <a:prstGeom prst="rect">
            <a:avLst/>
          </a:prstGeom>
          <a:solidFill>
            <a:srgbClr val="2366AD"/>
          </a:solidFill>
          <a:ln/>
        </p:spPr>
      </p:sp>
      <p:sp>
        <p:nvSpPr>
          <p:cNvPr id="32" name="Shape 30"/>
          <p:cNvSpPr/>
          <p:nvPr/>
        </p:nvSpPr>
        <p:spPr>
          <a:xfrm>
            <a:off x="9920932" y="1965920"/>
            <a:ext cx="1993255" cy="1874441"/>
          </a:xfrm>
          <a:prstGeom prst="roundRect">
            <a:avLst>
              <a:gd name="adj" fmla="val 14399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067276" y="2148780"/>
            <a:ext cx="475444" cy="420588"/>
          </a:xfrm>
          <a:prstGeom prst="roundRect">
            <a:avLst>
              <a:gd name="adj" fmla="val 14385"/>
            </a:avLst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808123" y="2233712"/>
            <a:ext cx="9937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b="1" spc="-44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89868" y="2767310"/>
            <a:ext cx="22738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Present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103788" y="3153966"/>
            <a:ext cx="162764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Dashboard and what-if analysis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161" y="4434780"/>
            <a:ext cx="10606715" cy="960041"/>
          </a:xfrm>
          <a:prstGeom prst="roundRect">
            <a:avLst>
              <a:gd name="adj" fmla="val 14398"/>
            </a:avLst>
          </a:prstGeom>
          <a:solidFill>
            <a:srgbClr val="E7F1FA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60523" y="4648696"/>
            <a:ext cx="1003076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Core principle: estimate expected revenue first, then optimize the budget while respecting the total available amount and configured channel limits.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637" y="381516"/>
            <a:ext cx="1084443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326" y="847963"/>
            <a:ext cx="11052692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HIGH-LEVEL ARCHITECTURE • ATTACHED REFERENCE DIAGRAM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9614" y="1299170"/>
            <a:ext cx="7612368" cy="50748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54974" y="6601004"/>
            <a:ext cx="429408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10 / 17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STEP-BY-STEP IMPLEMENTATION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11 / 17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422" y="1353245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422" y="1353245"/>
            <a:ext cx="63994" cy="1206996"/>
          </a:xfrm>
          <a:prstGeom prst="rect">
            <a:avLst/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50889" y="1523702"/>
            <a:ext cx="61700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1. Data 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889" y="1900337"/>
            <a:ext cx="5263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Load historical campaign CSV data and select relevant fields.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424" y="1353245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424" y="1353245"/>
            <a:ext cx="63994" cy="1206996"/>
          </a:xfrm>
          <a:prstGeom prst="rect">
            <a:avLst/>
          </a:prstGeom>
          <a:solidFill>
            <a:srgbClr val="119187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82791" y="1523702"/>
            <a:ext cx="57089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2. Data preprocessing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2791" y="1900337"/>
            <a:ext cx="4654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Handle missing values, encode categorical features and transform revenue if required.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422" y="2834580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422" y="2834580"/>
            <a:ext cx="63994" cy="1206996"/>
          </a:xfrm>
          <a:prstGeom prst="rect">
            <a:avLst/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0889" y="3005038"/>
            <a:ext cx="61700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3. Model training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0889" y="3381673"/>
            <a:ext cx="5263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Train Gradient Boosting regression; use an 80/20 train-test split.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424" y="2834580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424" y="2834580"/>
            <a:ext cx="63994" cy="1206996"/>
          </a:xfrm>
          <a:prstGeom prst="rect">
            <a:avLst/>
          </a:prstGeom>
          <a:solidFill>
            <a:srgbClr val="E18923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82791" y="3005038"/>
            <a:ext cx="57089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4. Response curves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82791" y="3381673"/>
            <a:ext cx="5263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Fit platform-level response curves to model diminishing returns.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422" y="4315916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422" y="4315916"/>
            <a:ext cx="63994" cy="1206996"/>
          </a:xfrm>
          <a:prstGeom prst="rect">
            <a:avLst/>
          </a:prstGeom>
          <a:solidFill>
            <a:srgbClr val="CB4784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0889" y="4486374"/>
            <a:ext cx="61700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5. Budget optimization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0889" y="4863009"/>
            <a:ext cx="4654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Use SLSQP to maximize predicted revenue within budget and channel constraints.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424" y="4315916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424" y="4315916"/>
            <a:ext cx="63994" cy="1206996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82791" y="4486374"/>
            <a:ext cx="57089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6. Evaluation &amp; interface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82791" y="4863009"/>
            <a:ext cx="4654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Review MAE, RMSE and R²; display predictions and what-if allocations in the dashboard.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Technology Stack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BASED ON THE PROJECT REFERENCE AND SUPPLIED IMPLEMENTATION NOTES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12 / 17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422" y="1371600"/>
            <a:ext cx="3401431" cy="1755577"/>
          </a:xfrm>
          <a:prstGeom prst="roundRect">
            <a:avLst>
              <a:gd name="adj" fmla="val 14401"/>
            </a:avLst>
          </a:prstGeom>
          <a:solidFill>
            <a:srgbClr val="E7F1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422" y="1371600"/>
            <a:ext cx="73122" cy="1755577"/>
          </a:xfrm>
          <a:prstGeom prst="rect">
            <a:avLst/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9145" y="1564680"/>
            <a:ext cx="40819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Frontend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9145" y="1964432"/>
            <a:ext cx="35082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48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React • Vite • Recharts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9145" y="2422525"/>
            <a:ext cx="289870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Web interface, dashboard charts and scenario views.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152" y="1371600"/>
            <a:ext cx="3401431" cy="1755577"/>
          </a:xfrm>
          <a:prstGeom prst="roundRect">
            <a:avLst>
              <a:gd name="adj" fmla="val 14401"/>
            </a:avLst>
          </a:prstGeom>
          <a:solidFill>
            <a:srgbClr val="E7F7F5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62152" y="1371600"/>
            <a:ext cx="73122" cy="1755577"/>
          </a:xfrm>
          <a:prstGeom prst="rect">
            <a:avLst/>
          </a:prstGeom>
          <a:solidFill>
            <a:srgbClr val="119187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99775" y="1564680"/>
            <a:ext cx="40819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Backend 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99775" y="1964432"/>
            <a:ext cx="35082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48" kern="100" dirty="0">
                <a:solidFill>
                  <a:srgbClr val="119187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Python • FastAPI • Uvicorn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99775" y="2422525"/>
            <a:ext cx="350828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Serves prediction and optimization requests.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92783" y="1371600"/>
            <a:ext cx="3401431" cy="1755577"/>
          </a:xfrm>
          <a:prstGeom prst="roundRect">
            <a:avLst>
              <a:gd name="adj" fmla="val 14401"/>
            </a:avLst>
          </a:prstGeom>
          <a:solidFill>
            <a:srgbClr val="F1EC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92783" y="1371600"/>
            <a:ext cx="73122" cy="1755577"/>
          </a:xfrm>
          <a:prstGeom prst="rect">
            <a:avLst/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30406" y="1564680"/>
            <a:ext cx="37612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Data processing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30406" y="1964432"/>
            <a:ext cx="35082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48" kern="100" dirty="0">
                <a:solidFill>
                  <a:srgbClr val="684DAB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Pandas • NumPy • CSV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30406" y="2422525"/>
            <a:ext cx="350828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Data loading, cleaning and feature preparation.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422" y="3456384"/>
            <a:ext cx="3401431" cy="1755577"/>
          </a:xfrm>
          <a:prstGeom prst="roundRect">
            <a:avLst>
              <a:gd name="adj" fmla="val 14401"/>
            </a:avLst>
          </a:prstGeom>
          <a:solidFill>
            <a:srgbClr val="FFF3E2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422" y="3456384"/>
            <a:ext cx="73122" cy="1755577"/>
          </a:xfrm>
          <a:prstGeom prst="rect">
            <a:avLst/>
          </a:prstGeom>
          <a:solidFill>
            <a:srgbClr val="E18923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9145" y="3649563"/>
            <a:ext cx="40819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Machine learning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9145" y="4049216"/>
            <a:ext cx="35082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48" kern="100" dirty="0">
                <a:solidFill>
                  <a:srgbClr val="E18923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Scikit-learn • Gradient Boosting • Joblib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9145" y="4507309"/>
            <a:ext cx="350828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Revenue prediction and model persistence.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62152" y="3456384"/>
            <a:ext cx="3401431" cy="1755577"/>
          </a:xfrm>
          <a:prstGeom prst="roundRect">
            <a:avLst>
              <a:gd name="adj" fmla="val 14401"/>
            </a:avLst>
          </a:prstGeom>
          <a:solidFill>
            <a:srgbClr val="FAE8F1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62152" y="3456384"/>
            <a:ext cx="73122" cy="1755577"/>
          </a:xfrm>
          <a:prstGeom prst="rect">
            <a:avLst/>
          </a:prstGeom>
          <a:solidFill>
            <a:srgbClr val="CB4784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99775" y="3649563"/>
            <a:ext cx="40819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Optimization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99775" y="4049216"/>
            <a:ext cx="35082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48" kern="100" dirty="0">
                <a:solidFill>
                  <a:srgbClr val="CB4784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SciPy • SLSQP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99775" y="4507309"/>
            <a:ext cx="289870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Constrained allocation across platforms/channels.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92783" y="3456384"/>
            <a:ext cx="3401431" cy="1755577"/>
          </a:xfrm>
          <a:prstGeom prst="roundRect">
            <a:avLst>
              <a:gd name="adj" fmla="val 14401"/>
            </a:avLst>
          </a:prstGeom>
          <a:solidFill>
            <a:srgbClr val="E7F1FA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92783" y="3456384"/>
            <a:ext cx="73122" cy="1755577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30406" y="3649563"/>
            <a:ext cx="37612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Deployment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30406" y="4049216"/>
            <a:ext cx="35082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48" kern="100" dirty="0">
                <a:solidFill>
                  <a:srgbClr val="14ADBE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Cloud deployment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30406" y="4507309"/>
            <a:ext cx="350828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-5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Hosts the web interface and API service.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673" y="5743575"/>
            <a:ext cx="111432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i="1" spc="-52" kern="100" dirty="0">
                <a:solidFill>
                  <a:srgbClr val="5A6C8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Note: the reference website informs the product/interface context; exact production infrastructure is not publicly confirmed.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390" y="355600"/>
            <a:ext cx="11720219" cy="396180"/>
          </a:xfrm>
          <a:prstGeom prst="rect">
            <a:avLst/>
          </a:prstGeom>
          <a:noFill/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63538" y="356779"/>
            <a:ext cx="11561473" cy="396180"/>
          </a:xfrm>
          <a:prstGeom prst="rect">
            <a:avLst/>
          </a:prstGeom>
          <a:noFill/>
          <a:ln/>
        </p:spPr>
        <p:txBody>
          <a:bodyPr wrap="none" lIns="36575" tIns="0" rIns="36575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Setup to optimized budget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09565" y="916285"/>
            <a:ext cx="5606910" cy="27241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9559" y="999927"/>
            <a:ext cx="609842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44" kern="100" dirty="0">
                <a:solidFill>
                  <a:srgbClr val="0B7A6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</a:t>
            </a:r>
            <a:pPr algn="l" indent="0" marL="0">
              <a:lnSpc>
                <a:spcPct val="125000"/>
              </a:lnSpc>
              <a:buNone/>
            </a:pPr>
            <a:r>
              <a:rPr lang="en-US" sz="1300" spc="-44" kern="100" dirty="0">
                <a:solidFill>
                  <a:srgbClr val="14302B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Campaign setup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3047" y="1314450"/>
            <a:ext cx="5410065" cy="2222500"/>
          </a:xfrm>
          <a:prstGeom prst="roundRect">
            <a:avLst>
              <a:gd name="adj" fmla="val 1543"/>
            </a:avLst>
          </a:prstGeom>
          <a:solidFill>
            <a:srgbClr val="EEF1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931" y="1314450"/>
            <a:ext cx="4722297" cy="2222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5221" y="916285"/>
            <a:ext cx="5606910" cy="27241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315215" y="999927"/>
            <a:ext cx="58764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44" kern="100" dirty="0">
                <a:solidFill>
                  <a:srgbClr val="0B7A6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1300" spc="-44" kern="100" dirty="0">
                <a:solidFill>
                  <a:srgbClr val="14302B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Executive dashboard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03" y="1314450"/>
            <a:ext cx="5410065" cy="2222500"/>
          </a:xfrm>
          <a:prstGeom prst="roundRect">
            <a:avLst>
              <a:gd name="adj" fmla="val 1543"/>
            </a:avLst>
          </a:prstGeom>
          <a:solidFill>
            <a:srgbClr val="EEF1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87" y="1314450"/>
            <a:ext cx="4722297" cy="2222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9565" y="3799185"/>
            <a:ext cx="5606910" cy="27241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549559" y="3882827"/>
            <a:ext cx="609842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44" kern="100" dirty="0">
                <a:solidFill>
                  <a:srgbClr val="0B7A6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1300" spc="-44" kern="100" dirty="0">
                <a:solidFill>
                  <a:srgbClr val="14302B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AI budget allocation engine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13047" y="4197350"/>
            <a:ext cx="5410065" cy="2222500"/>
          </a:xfrm>
          <a:prstGeom prst="roundRect">
            <a:avLst>
              <a:gd name="adj" fmla="val 1543"/>
            </a:avLst>
          </a:prstGeom>
          <a:solidFill>
            <a:srgbClr val="EEF1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803" y="4197350"/>
            <a:ext cx="2588354" cy="22225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75221" y="3799185"/>
            <a:ext cx="5606910" cy="27241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/>
        </p:spPr>
      </p:sp>
      <p:sp>
        <p:nvSpPr>
          <p:cNvPr id="17" name="Text 12"/>
          <p:cNvSpPr/>
          <p:nvPr/>
        </p:nvSpPr>
        <p:spPr>
          <a:xfrm>
            <a:off x="6315215" y="3882827"/>
            <a:ext cx="58764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44" kern="100" dirty="0">
                <a:solidFill>
                  <a:srgbClr val="0B7A6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4</a:t>
            </a:r>
            <a:pPr algn="l" indent="0" marL="0">
              <a:lnSpc>
                <a:spcPct val="125000"/>
              </a:lnSpc>
              <a:buNone/>
            </a:pPr>
            <a:r>
              <a:rPr lang="en-US" sz="1300" spc="-44" kern="100" dirty="0">
                <a:solidFill>
                  <a:srgbClr val="14302B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A/B strategy split comparison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78703" y="4197350"/>
            <a:ext cx="5410065" cy="2222500"/>
          </a:xfrm>
          <a:prstGeom prst="roundRect">
            <a:avLst>
              <a:gd name="adj" fmla="val 1543"/>
            </a:avLst>
          </a:prstGeom>
          <a:solidFill>
            <a:srgbClr val="EEF1F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546" y="4197350"/>
            <a:ext cx="2914180" cy="22225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690" y="355600"/>
            <a:ext cx="11720219" cy="396180"/>
          </a:xfrm>
          <a:prstGeom prst="rect">
            <a:avLst/>
          </a:prstGeom>
          <a:noFill/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0839" y="356779"/>
            <a:ext cx="11605922" cy="396180"/>
          </a:xfrm>
          <a:prstGeom prst="rect">
            <a:avLst/>
          </a:prstGeom>
          <a:noFill/>
          <a:ln/>
        </p:spPr>
        <p:txBody>
          <a:bodyPr wrap="none" lIns="36575" tIns="0" rIns="36575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spc="-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Audience, scenarios, reporting and creative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09565" y="916285"/>
            <a:ext cx="5606910" cy="27241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9559" y="999927"/>
            <a:ext cx="609842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44" kern="100" dirty="0">
                <a:solidFill>
                  <a:srgbClr val="0B7A6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1300" spc="-44" kern="100" dirty="0">
                <a:solidFill>
                  <a:srgbClr val="14302B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Audience segmentation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3047" y="1314450"/>
            <a:ext cx="5410065" cy="2222500"/>
          </a:xfrm>
          <a:prstGeom prst="roundRect">
            <a:avLst>
              <a:gd name="adj" fmla="val 1543"/>
            </a:avLst>
          </a:prstGeom>
          <a:solidFill>
            <a:srgbClr val="EEF1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089" y="1314450"/>
            <a:ext cx="2989981" cy="2222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5221" y="916285"/>
            <a:ext cx="5606910" cy="27241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315215" y="999927"/>
            <a:ext cx="58764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44" kern="100" dirty="0">
                <a:solidFill>
                  <a:srgbClr val="0B7A6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6</a:t>
            </a:r>
            <a:pPr algn="l" indent="0" marL="0">
              <a:lnSpc>
                <a:spcPct val="125000"/>
              </a:lnSpc>
              <a:buNone/>
            </a:pPr>
            <a:r>
              <a:rPr lang="en-US" sz="1300" spc="-44" kern="100" dirty="0">
                <a:solidFill>
                  <a:srgbClr val="14302B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What-if budget sensitivity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8703" y="1314450"/>
            <a:ext cx="5410065" cy="2222500"/>
          </a:xfrm>
          <a:prstGeom prst="roundRect">
            <a:avLst>
              <a:gd name="adj" fmla="val 1543"/>
            </a:avLst>
          </a:prstGeom>
          <a:solidFill>
            <a:srgbClr val="EEF1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933" y="1314450"/>
            <a:ext cx="3341405" cy="2222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9565" y="3799185"/>
            <a:ext cx="5606910" cy="27241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549559" y="3882827"/>
            <a:ext cx="609842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44" kern="100" dirty="0">
                <a:solidFill>
                  <a:srgbClr val="0B7A6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7</a:t>
            </a:r>
            <a:pPr algn="l" indent="0" marL="0">
              <a:lnSpc>
                <a:spcPct val="125000"/>
              </a:lnSpc>
              <a:buNone/>
            </a:pPr>
            <a:r>
              <a:rPr lang="en-US" sz="1300" spc="-44" kern="100" dirty="0">
                <a:solidFill>
                  <a:srgbClr val="14302B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Executive summary report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13047" y="4197350"/>
            <a:ext cx="5410065" cy="2222500"/>
          </a:xfrm>
          <a:prstGeom prst="roundRect">
            <a:avLst>
              <a:gd name="adj" fmla="val 1543"/>
            </a:avLst>
          </a:prstGeom>
          <a:solidFill>
            <a:srgbClr val="EEF1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681" y="4197350"/>
            <a:ext cx="1544599" cy="22225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75221" y="3799185"/>
            <a:ext cx="5606910" cy="27241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/>
        </p:spPr>
      </p:sp>
      <p:sp>
        <p:nvSpPr>
          <p:cNvPr id="17" name="Text 12"/>
          <p:cNvSpPr/>
          <p:nvPr/>
        </p:nvSpPr>
        <p:spPr>
          <a:xfrm>
            <a:off x="6315215" y="3882827"/>
            <a:ext cx="58764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spc="-44" kern="100" dirty="0">
                <a:solidFill>
                  <a:srgbClr val="0B7A6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8</a:t>
            </a:r>
            <a:pPr algn="l" indent="0" marL="0">
              <a:lnSpc>
                <a:spcPct val="125000"/>
              </a:lnSpc>
              <a:buNone/>
            </a:pPr>
            <a:r>
              <a:rPr lang="en-US" sz="1300" spc="-44" kern="100" dirty="0">
                <a:solidFill>
                  <a:srgbClr val="14302B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AI ad generator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78703" y="4197350"/>
            <a:ext cx="5410065" cy="2222500"/>
          </a:xfrm>
          <a:prstGeom prst="roundRect">
            <a:avLst>
              <a:gd name="adj" fmla="val 1543"/>
            </a:avLst>
          </a:prstGeom>
          <a:solidFill>
            <a:srgbClr val="EEF1F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712" y="4197350"/>
            <a:ext cx="4753848" cy="22225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Future Enhancements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POTENTIAL NEXT STEPS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14 / 17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422" y="1371600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422" y="1371600"/>
            <a:ext cx="63994" cy="1206996"/>
          </a:xfrm>
          <a:prstGeom prst="rect">
            <a:avLst/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50889" y="1541959"/>
            <a:ext cx="61700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Live data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0889" y="1918692"/>
            <a:ext cx="5263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Connect advertising APIs for fresher campaign performance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424" y="1371600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424" y="1371600"/>
            <a:ext cx="63994" cy="1206996"/>
          </a:xfrm>
          <a:prstGeom prst="rect">
            <a:avLst/>
          </a:prstGeom>
          <a:solidFill>
            <a:srgbClr val="119187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82791" y="1541959"/>
            <a:ext cx="57089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Advanced forecasting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2791" y="1918692"/>
            <a:ext cx="4654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Explore time-series and deep-learning models where data supports them.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422" y="2852837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422" y="2852837"/>
            <a:ext cx="63994" cy="1206996"/>
          </a:xfrm>
          <a:prstGeom prst="rect">
            <a:avLst/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0889" y="3023295"/>
            <a:ext cx="61700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Adaptive optimization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0889" y="3400028"/>
            <a:ext cx="4654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Evaluate bandit-based methods when reliable feedback loops are available.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424" y="2852837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424" y="2852837"/>
            <a:ext cx="63994" cy="1206996"/>
          </a:xfrm>
          <a:prstGeom prst="rect">
            <a:avLst/>
          </a:prstGeom>
          <a:solidFill>
            <a:srgbClr val="E18923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82791" y="3023295"/>
            <a:ext cx="57089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Monitoring &amp; alerts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82791" y="3400028"/>
            <a:ext cx="5263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Add performance drift checks, budget alerts and scheduled evaluation.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422" y="4334173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422" y="4334173"/>
            <a:ext cx="63994" cy="1206996"/>
          </a:xfrm>
          <a:prstGeom prst="rect">
            <a:avLst/>
          </a:prstGeom>
          <a:solidFill>
            <a:srgbClr val="CB4784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0889" y="4504630"/>
            <a:ext cx="617006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Deployment scale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0889" y="4881364"/>
            <a:ext cx="5263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Containerize services and consider autoscaling for higher usage.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424" y="4334173"/>
            <a:ext cx="5074714" cy="1206996"/>
          </a:xfrm>
          <a:prstGeom prst="roundRect">
            <a:avLst>
              <a:gd name="adj" fmla="val 14394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424" y="4334173"/>
            <a:ext cx="63994" cy="1206996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82791" y="4504630"/>
            <a:ext cx="57089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Decision transparency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82791" y="4881364"/>
            <a:ext cx="4654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-5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Show assumptions, confidence and the reason behind each recommendation.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Conclusion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SUMMARY AND EXPECTED CONTRIBUTION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15 / 17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411" y="1441678"/>
            <a:ext cx="1044231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160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 unified workflow from historical campaign data to a budget recommendation.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68638" y="2423120"/>
            <a:ext cx="3337437" cy="1645841"/>
          </a:xfrm>
          <a:prstGeom prst="roundRect">
            <a:avLst>
              <a:gd name="adj" fmla="val 14398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38" y="2423120"/>
            <a:ext cx="63994" cy="1645841"/>
          </a:xfrm>
          <a:prstGeom prst="rect">
            <a:avLst/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88006" y="2591792"/>
            <a:ext cx="41465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Predict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8006" y="2969320"/>
            <a:ext cx="291695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Gradient Boosting estimates expected revenue from campaign context.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525" y="2423120"/>
            <a:ext cx="3337437" cy="1645841"/>
          </a:xfrm>
          <a:prstGeom prst="roundRect">
            <a:avLst>
              <a:gd name="adj" fmla="val 14398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525" y="2423120"/>
            <a:ext cx="63994" cy="1645841"/>
          </a:xfrm>
          <a:prstGeom prst="rect">
            <a:avLst/>
          </a:prstGeom>
          <a:solidFill>
            <a:srgbClr val="119187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36991" y="2591792"/>
            <a:ext cx="41465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Optimize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36991" y="2969320"/>
            <a:ext cx="291695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Response curves and SLSQP support budget allocation under constraints.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66511" y="2423120"/>
            <a:ext cx="3337437" cy="1645841"/>
          </a:xfrm>
          <a:prstGeom prst="roundRect">
            <a:avLst>
              <a:gd name="adj" fmla="val 14398"/>
            </a:avLst>
          </a:prstGeom>
          <a:solidFill>
            <a:srgbClr val="FFFFFF"/>
          </a:solidFill>
          <a:ln w="12700">
            <a:solidFill>
              <a:srgbClr val="DBE4EE"/>
            </a:solidFill>
            <a:prstDash val="solid"/>
          </a:ln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511" y="2423120"/>
            <a:ext cx="63994" cy="1645841"/>
          </a:xfrm>
          <a:prstGeom prst="rect">
            <a:avLst/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85878" y="2591792"/>
            <a:ext cx="36058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spc="-64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Communicate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85878" y="2981702"/>
            <a:ext cx="2916958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64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dashboard helps compare predictions, recommended allocations and what-if scenarios.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377" y="4709120"/>
            <a:ext cx="10286743" cy="822920"/>
          </a:xfrm>
          <a:prstGeom prst="roundRect">
            <a:avLst>
              <a:gd name="adj" fmla="val 14408"/>
            </a:avLst>
          </a:prstGeom>
          <a:solidFill>
            <a:srgbClr val="E7F7F5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79483" y="4910237"/>
            <a:ext cx="97565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spc="-56" kern="100" dirty="0">
                <a:solidFill>
                  <a:srgbClr val="119187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Expected contribution: more consistent, explainable and constraint-aware budget planning. Actual impact must be validated using measured results.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97" cy="146248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9340" y="335280"/>
            <a:ext cx="1159510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205" kern="100" dirty="0">
                <a:solidFill>
                  <a:srgbClr val="11274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References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823" y="833239"/>
            <a:ext cx="116248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spc="-36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SELECTED REFERENCES FROM THE SUPPLIED PRESENTATION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11" y="1078905"/>
            <a:ext cx="11109642" cy="13692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11" y="6547048"/>
            <a:ext cx="11109642" cy="10914"/>
          </a:xfrm>
          <a:prstGeom prst="rect">
            <a:avLst/>
          </a:prstGeom>
          <a:solidFill>
            <a:srgbClr val="DBE4E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54677" y="6587927"/>
            <a:ext cx="409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16 / 17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539" y="1349970"/>
            <a:ext cx="10515436" cy="2791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spc="-69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Nuara et al. (2018; 2022). Joint bid/budget optimization for PPC campaigns. AAAI / related work.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spc="-69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Han &amp; Gabor (2020). Contextual bandits for advertising budget allocation. AdKDD.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spc="-69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Geng et al. (2021). Automated bidding and performance-marketing optimization. Stanford GSB.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spc="-69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Amin et al. (2012). Budget Optimization for Sponsored Search: Censored Learning in MDPs. PMLR.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spc="-69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Li et al. (2024). Multi-channel advertising budget allocation using reinforcement learning and improved differential evolution. IEEE Access.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spc="-69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Gigli &amp; Stella (2024/25). Performance-marketing bandits.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spc="-69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Wang &amp; Zareeihemat (2025). Multi-channel advertising budget allocation using Q-learning and mutual learning-based artificial bee colony. Expert Systems with Applications.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spc="-69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Scikit-learn documentation; SciPy documentation (curve fitting and SLSQP).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b="1" spc="-69" kern="100" dirty="0">
                <a:solidFill>
                  <a:srgbClr val="2366AD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•  </a:t>
            </a:r>
            <a:pPr algn="l" indent="0" marL="0">
              <a:lnSpc>
                <a:spcPct val="100000"/>
              </a:lnSpc>
              <a:buNone/>
            </a:pPr>
            <a:r>
              <a:rPr lang="en-US" sz="1400" spc="-69" kern="100" dirty="0">
                <a:solidFill>
                  <a:srgbClr val="1E2D44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Project reference: https://campaign-budget-optimizer-cznq.vercel.app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411" y="5970389"/>
            <a:ext cx="1133228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i="1" spc="-63" kern="100" dirty="0">
                <a:solidFill>
                  <a:srgbClr val="5A6C8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Bibliographic details are retained at the level provided in the source deck; verify full publication metadata before submission.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178" y="6581080"/>
            <a:ext cx="3916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b="1" dirty="0">
                <a:solidFill>
                  <a:srgbClr val="5A6C8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CAMPAIGN PERFORMANCE PREDICTION &amp; BUDGET OPTIMIZATION SYSTEM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11" cy="6858000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869438" y="0"/>
            <a:ext cx="3321959" cy="6858000"/>
          </a:xfrm>
          <a:prstGeom prst="rect">
            <a:avLst/>
          </a:prstGeom>
          <a:solidFill>
            <a:srgbClr val="153565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9411" y="1474981"/>
            <a:ext cx="8395085" cy="57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50" b="1" spc="-133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THANK YOU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841156" y="2487116"/>
            <a:ext cx="1234350" cy="54769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667" y="2822099"/>
            <a:ext cx="8485471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spc="-89" kern="100" dirty="0">
                <a:solidFill>
                  <a:srgbClr val="DBE7F5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667" y="5009356"/>
            <a:ext cx="7333372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550"/>
              </a:spcAft>
              <a:buNone/>
            </a:pPr>
            <a:r>
              <a:rPr lang="en-US" sz="1200" spc="-59" kern="100" dirty="0">
                <a:solidFill>
                  <a:srgbClr val="C1D3E9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Campaign Performance Prediction &amp; Budget Optimization System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spc="-59" kern="100" dirty="0">
                <a:solidFill>
                  <a:srgbClr val="C1D3E9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AI &amp; ML Mini Project  •  VISTAS, Pallavaram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25922" y="1351657"/>
            <a:ext cx="2441514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700" b="1" spc="-129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PREDICT.</a:t>
            </a:r>
            <a:endParaRPr lang="en-US" sz="17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700" b="1" spc="-129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OPTIMIZE.</a:t>
            </a:r>
            <a:endParaRPr lang="en-US" sz="1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00" b="1" spc="-129" kern="10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EXPLAIN.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89411" y="4343400"/>
            <a:ext cx="201111" cy="822920"/>
          </a:xfrm>
          <a:prstGeom prst="rect">
            <a:avLst/>
          </a:prstGeom>
          <a:solidFill>
            <a:srgbClr val="2366AD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582605" y="3886200"/>
            <a:ext cx="201111" cy="1280120"/>
          </a:xfrm>
          <a:prstGeom prst="rect">
            <a:avLst/>
          </a:prstGeom>
          <a:solidFill>
            <a:srgbClr val="14ADBE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975799" y="3337520"/>
            <a:ext cx="201111" cy="1828800"/>
          </a:xfrm>
          <a:prstGeom prst="rect">
            <a:avLst/>
          </a:prstGeom>
          <a:solidFill>
            <a:srgbClr val="119187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368993" y="4069060"/>
            <a:ext cx="201111" cy="1097260"/>
          </a:xfrm>
          <a:prstGeom prst="rect">
            <a:avLst/>
          </a:prstGeom>
          <a:solidFill>
            <a:srgbClr val="684DAB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62187" y="2834580"/>
            <a:ext cx="201111" cy="2331641"/>
          </a:xfrm>
          <a:prstGeom prst="rect">
            <a:avLst/>
          </a:prstGeom>
          <a:solidFill>
            <a:srgbClr val="E18923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155381" y="3520380"/>
            <a:ext cx="201111" cy="1645841"/>
          </a:xfrm>
          <a:prstGeom prst="rect">
            <a:avLst/>
          </a:prstGeom>
          <a:solidFill>
            <a:srgbClr val="CB4784"/>
          </a:solidFill>
          <a:ln/>
          <a:effectLst>
            <a:outerShdw sx="100000" sy="100000" kx="0" ky="0" algn="bl" rotWithShape="0" blurRad="39370" dist="22860" dir="5400000">
              <a:srgbClr val="000000">
                <a:alpha val="30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2026-10-29T20:34:34Z</dcterms:created>
  <dcterms:modified xsi:type="dcterms:W3CDTF">2026-10-29T20:34:34Z</dcterms:modified>
</cp:coreProperties>
</file>