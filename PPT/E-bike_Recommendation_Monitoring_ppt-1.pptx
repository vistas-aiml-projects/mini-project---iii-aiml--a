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embeddedFontLst>
    <p:embeddedFont>
      <p:font typeface="Montserrat Bold" panose="020B0604020202020204" charset="0"/>
      <p:regular r:id="rId21"/>
    </p:embeddedFont>
    <p:embeddedFont>
      <p:font typeface="Source Sans 3" panose="020B0604020202020204" charset="0"/>
      <p:regular r:id="rId22"/>
    </p:embeddedFont>
    <p:embeddedFont>
      <p:font typeface="Source Sans 3 Bold" panose="020B0604020202020204" charset="0"/>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5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EDED"/>
          </a:solidFill>
          <a:ln/>
        </p:spPr>
        <p:txBody>
          <a:bodyPr/>
          <a:lstStyle/>
          <a:p>
            <a:endParaRPr lang="en-IN"/>
          </a:p>
        </p:txBody>
      </p:sp>
      <p:sp>
        <p:nvSpPr>
          <p:cNvPr id="3" name="Shape 1"/>
          <p:cNvSpPr/>
          <p:nvPr/>
        </p:nvSpPr>
        <p:spPr>
          <a:xfrm>
            <a:off x="0" y="0"/>
            <a:ext cx="12191695" cy="68580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sv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15.png"/><Relationship Id="rId2" Type="http://schemas.openxmlformats.org/officeDocument/2006/relationships/notesSlide" Target="../notesSlides/notesSlide11.xml"/><Relationship Id="rId16"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33.svg"/><Relationship Id="rId4" Type="http://schemas.openxmlformats.org/officeDocument/2006/relationships/image" Target="../media/image32.sv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6.jpe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5291700" y="1574587"/>
            <a:ext cx="6180181" cy="2010937"/>
          </a:xfrm>
          <a:prstGeom prst="rect">
            <a:avLst/>
          </a:prstGeom>
          <a:noFill/>
          <a:ln/>
        </p:spPr>
        <p:txBody>
          <a:bodyPr wrap="square" lIns="0" tIns="0" rIns="0" bIns="0" rtlCol="0" anchor="t">
            <a:normAutofit fontScale="92500" lnSpcReduction="10000"/>
          </a:bodyPr>
          <a:lstStyle/>
          <a:p>
            <a:pPr marL="0" indent="0" algn="l">
              <a:lnSpc>
                <a:spcPct val="104000"/>
              </a:lnSpc>
              <a:buNone/>
            </a:pPr>
            <a:r>
              <a:rPr lang="en-US" sz="3650" b="1" kern="0" spc="-37" dirty="0">
                <a:solidFill>
                  <a:srgbClr val="000000"/>
                </a:solidFill>
                <a:latin typeface="Montserrat Bold" pitchFamily="34" charset="0"/>
                <a:ea typeface="Montserrat Bold" pitchFamily="34" charset="-122"/>
                <a:cs typeface="Montserrat Bold" pitchFamily="34" charset="-120"/>
              </a:rPr>
              <a:t>AI‑Powered Multi‑Brand E‑Bike Recommendation and Smart Monitoring System</a:t>
            </a:r>
            <a:endParaRPr lang="en-US" sz="3650" dirty="0"/>
          </a:p>
        </p:txBody>
      </p:sp>
      <p:sp>
        <p:nvSpPr>
          <p:cNvPr id="4" name="Text 1"/>
          <p:cNvSpPr/>
          <p:nvPr/>
        </p:nvSpPr>
        <p:spPr>
          <a:xfrm>
            <a:off x="5291700" y="3850890"/>
            <a:ext cx="6180181" cy="1791237"/>
          </a:xfrm>
          <a:prstGeom prst="rect">
            <a:avLst/>
          </a:prstGeom>
          <a:noFill/>
          <a:ln/>
        </p:spPr>
        <p:txBody>
          <a:bodyPr wrap="square" lIns="0" tIns="0" rIns="0" bIns="0" rtlCol="0" anchor="t">
            <a:normAutofit fontScale="92500" lnSpcReduction="20000"/>
          </a:bodyPr>
          <a:lstStyle/>
          <a:p>
            <a:pPr marL="0" indent="0" algn="l">
              <a:lnSpc>
                <a:spcPct val="125000"/>
              </a:lnSpc>
              <a:spcAft>
                <a:spcPts val="1800"/>
              </a:spcAft>
              <a:buNone/>
            </a:pPr>
            <a:r>
              <a:rPr lang="en-US" sz="1600" dirty="0">
                <a:solidFill>
                  <a:srgbClr val="3D3838"/>
                </a:solidFill>
                <a:latin typeface="Source Sans 3" pitchFamily="34" charset="0"/>
                <a:ea typeface="Source Sans 3" pitchFamily="34" charset="-122"/>
                <a:cs typeface="Source Sans 3" pitchFamily="34" charset="-120"/>
              </a:rPr>
              <a:t>     B.Tech CSE (Artificial Intelligence &amp; Machine Learning) </a:t>
            </a:r>
            <a:endParaRPr lang="en-US" sz="1600" dirty="0"/>
          </a:p>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     Soundarya M, Saraniya A, </a:t>
            </a:r>
            <a:r>
              <a:rPr lang="en-US" sz="1600" dirty="0" err="1">
                <a:solidFill>
                  <a:srgbClr val="3D3838"/>
                </a:solidFill>
                <a:latin typeface="Source Sans 3" pitchFamily="34" charset="0"/>
                <a:ea typeface="Source Sans 3" pitchFamily="34" charset="-122"/>
                <a:cs typeface="Source Sans 3" pitchFamily="34" charset="-120"/>
              </a:rPr>
              <a:t>Josphin</a:t>
            </a:r>
            <a:r>
              <a:rPr lang="en-US" sz="1600" dirty="0">
                <a:solidFill>
                  <a:srgbClr val="3D3838"/>
                </a:solidFill>
                <a:latin typeface="Source Sans 3" pitchFamily="34" charset="0"/>
                <a:ea typeface="Source Sans 3" pitchFamily="34" charset="-122"/>
                <a:cs typeface="Source Sans 3" pitchFamily="34" charset="-120"/>
              </a:rPr>
              <a:t> Sheran J</a:t>
            </a:r>
            <a:endParaRPr lang="en-US" sz="1600" dirty="0"/>
          </a:p>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     Register No: 24619160, 24619128, 24619116• </a:t>
            </a:r>
          </a:p>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     Dept. of Artificial </a:t>
            </a:r>
            <a:r>
              <a:rPr lang="en-US" sz="1600" dirty="0" err="1">
                <a:solidFill>
                  <a:srgbClr val="3D3838"/>
                </a:solidFill>
                <a:latin typeface="Source Sans 3" pitchFamily="34" charset="0"/>
                <a:ea typeface="Source Sans 3" pitchFamily="34" charset="-122"/>
                <a:cs typeface="Source Sans 3" pitchFamily="34" charset="-120"/>
              </a:rPr>
              <a:t>Inteligence</a:t>
            </a:r>
            <a:r>
              <a:rPr lang="en-US" sz="1600" dirty="0">
                <a:solidFill>
                  <a:srgbClr val="3D3838"/>
                </a:solidFill>
                <a:latin typeface="Source Sans 3" pitchFamily="34" charset="0"/>
                <a:ea typeface="Source Sans 3" pitchFamily="34" charset="-122"/>
                <a:cs typeface="Source Sans 3" pitchFamily="34" charset="-120"/>
              </a:rPr>
              <a:t> &amp; Machine Learning</a:t>
            </a:r>
            <a:endParaRPr lang="en-US" sz="1600" dirty="0"/>
          </a:p>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     College: </a:t>
            </a:r>
            <a:r>
              <a:rPr lang="en-US" sz="1600" dirty="0" err="1">
                <a:solidFill>
                  <a:srgbClr val="3D3838"/>
                </a:solidFill>
                <a:latin typeface="Source Sans 3" pitchFamily="34" charset="0"/>
                <a:ea typeface="Source Sans 3" pitchFamily="34" charset="-122"/>
                <a:cs typeface="Source Sans 3" pitchFamily="34" charset="-120"/>
              </a:rPr>
              <a:t>VISTAaS</a:t>
            </a:r>
            <a:endParaRPr lang="en-US" sz="1600" dirty="0">
              <a:solidFill>
                <a:srgbClr val="3D3838"/>
              </a:solidFill>
              <a:latin typeface="Source Sans 3" pitchFamily="34" charset="0"/>
              <a:ea typeface="Source Sans 3" pitchFamily="34" charset="-122"/>
              <a:cs typeface="Source Sans 3" pitchFamily="34" charset="-120"/>
            </a:endParaRPr>
          </a:p>
          <a:p>
            <a:pPr marL="0" indent="0" algn="l">
              <a:lnSpc>
                <a:spcPct val="125000"/>
              </a:lnSpc>
              <a:buNone/>
            </a:pPr>
            <a:r>
              <a:rPr lang="en-US" sz="1600" dirty="0">
                <a:solidFill>
                  <a:srgbClr val="3D3838"/>
                </a:solidFill>
                <a:latin typeface="Source Sans 3" pitchFamily="34" charset="0"/>
                <a:ea typeface="Source Sans 3" pitchFamily="34" charset="-122"/>
                <a:cs typeface="Source Sans 3" pitchFamily="34" charset="-120"/>
              </a:rPr>
              <a:t>     Guide: </a:t>
            </a:r>
            <a:r>
              <a:rPr lang="en-US" sz="1600" dirty="0" err="1">
                <a:solidFill>
                  <a:srgbClr val="3D3838"/>
                </a:solidFill>
                <a:latin typeface="Source Sans 3" pitchFamily="34" charset="0"/>
                <a:ea typeface="Source Sans 3" pitchFamily="34" charset="-122"/>
                <a:cs typeface="Source Sans 3" pitchFamily="34" charset="-120"/>
              </a:rPr>
              <a:t>Dr.Manikandan</a:t>
            </a:r>
            <a:r>
              <a:rPr lang="en-US" sz="1600" dirty="0">
                <a:solidFill>
                  <a:srgbClr val="3D3838"/>
                </a:solidFill>
                <a:latin typeface="Source Sans 3" pitchFamily="34" charset="0"/>
                <a:ea typeface="Source Sans 3" pitchFamily="34" charset="-122"/>
                <a:cs typeface="Source Sans 3" pitchFamily="34" charset="-120"/>
              </a:rPr>
              <a:t> [ Assistant Professor ]</a:t>
            </a:r>
            <a:endParaRPr lang="en-US" sz="1600" dirty="0"/>
          </a:p>
        </p:txBody>
      </p:sp>
      <p:sp>
        <p:nvSpPr>
          <p:cNvPr id="5" name="Shape 2"/>
          <p:cNvSpPr/>
          <p:nvPr/>
        </p:nvSpPr>
        <p:spPr>
          <a:xfrm>
            <a:off x="5291700" y="5885385"/>
            <a:ext cx="6180181" cy="21851"/>
          </a:xfrm>
          <a:prstGeom prst="roundRect">
            <a:avLst>
              <a:gd name="adj" fmla="val 49999"/>
            </a:avLst>
          </a:prstGeom>
          <a:solidFill>
            <a:srgbClr val="3D3838">
              <a:alpha val="50000"/>
            </a:srgbClr>
          </a:solidFill>
          <a:ln/>
        </p:spPr>
        <p:txBody>
          <a:bodyPr/>
          <a:lstStyle/>
          <a:p>
            <a:endParaRPr lang="en-IN"/>
          </a:p>
        </p:txBody>
      </p:sp>
      <p:sp>
        <p:nvSpPr>
          <p:cNvPr id="6" name="Text 3"/>
          <p:cNvSpPr/>
          <p:nvPr/>
        </p:nvSpPr>
        <p:spPr>
          <a:xfrm>
            <a:off x="5291700" y="6150493"/>
            <a:ext cx="6789766" cy="212360"/>
          </a:xfrm>
          <a:prstGeom prst="rect">
            <a:avLst/>
          </a:prstGeom>
          <a:noFill/>
          <a:ln/>
        </p:spPr>
        <p:txBody>
          <a:bodyPr wrap="none" lIns="0" tIns="0" rIns="0" bIns="0" rtlCol="0" anchor="t"/>
          <a:lstStyle/>
          <a:p>
            <a:pPr marL="0" indent="0" algn="l">
              <a:lnSpc>
                <a:spcPct val="125000"/>
              </a:lnSpc>
              <a:buNone/>
            </a:pPr>
            <a:r>
              <a:rPr lang="en-US" sz="1250" dirty="0">
                <a:solidFill>
                  <a:srgbClr val="3D3838"/>
                </a:solidFill>
                <a:latin typeface="Source Sans 3" pitchFamily="34" charset="0"/>
                <a:ea typeface="Source Sans 3" pitchFamily="34" charset="-122"/>
                <a:cs typeface="Source Sans 3" pitchFamily="34" charset="-120"/>
              </a:rPr>
              <a:t>Slide 1 • AI‑Powered Multi‑Brand E‑Bike Recommendation and Smart Monitoring System</a:t>
            </a:r>
            <a:endParaRPr lang="en-US" sz="1250" dirty="0"/>
          </a:p>
        </p:txBody>
      </p:sp>
      <p:pic>
        <p:nvPicPr>
          <p:cNvPr id="8" name="Picture 7">
            <a:extLst>
              <a:ext uri="{FF2B5EF4-FFF2-40B4-BE49-F238E27FC236}">
                <a16:creationId xmlns:a16="http://schemas.microsoft.com/office/drawing/2014/main" id="{BDE0523A-3FBF-D78A-9AC3-A1C65BCD70C9}"/>
              </a:ext>
            </a:extLst>
          </p:cNvPr>
          <p:cNvPicPr>
            <a:picLocks noChangeAspect="1"/>
          </p:cNvPicPr>
          <p:nvPr/>
        </p:nvPicPr>
        <p:blipFill>
          <a:blip r:embed="rId3"/>
          <a:stretch>
            <a:fillRect/>
          </a:stretch>
        </p:blipFill>
        <p:spPr>
          <a:xfrm>
            <a:off x="10755330" y="6500172"/>
            <a:ext cx="1433102" cy="371049"/>
          </a:xfrm>
          <a:prstGeom prst="rect">
            <a:avLst/>
          </a:prstGeom>
        </p:spPr>
      </p:pic>
      <p:pic>
        <p:nvPicPr>
          <p:cNvPr id="9" name="Picture 8" descr="Electric Bikes in India, Latest Electric Bikes Price 2026, Reviews, Images,  Offers">
            <a:extLst>
              <a:ext uri="{FF2B5EF4-FFF2-40B4-BE49-F238E27FC236}">
                <a16:creationId xmlns:a16="http://schemas.microsoft.com/office/drawing/2014/main" id="{CE648411-E730-BAB1-FECE-93B5E99C5754}"/>
              </a:ext>
            </a:extLst>
          </p:cNvPr>
          <p:cNvPicPr>
            <a:picLocks noChangeAspect="1"/>
          </p:cNvPicPr>
          <p:nvPr/>
        </p:nvPicPr>
        <p:blipFill>
          <a:blip r:embed="rId4"/>
          <a:stretch>
            <a:fillRect/>
          </a:stretch>
        </p:blipFill>
        <p:spPr>
          <a:xfrm>
            <a:off x="-423048" y="-25400"/>
            <a:ext cx="6180181" cy="7636008"/>
          </a:xfrm>
          <a:prstGeom prst="rect">
            <a:avLst/>
          </a:prstGeom>
        </p:spPr>
      </p:pic>
      <p:pic>
        <p:nvPicPr>
          <p:cNvPr id="12" name="Picture 11">
            <a:extLst>
              <a:ext uri="{FF2B5EF4-FFF2-40B4-BE49-F238E27FC236}">
                <a16:creationId xmlns:a16="http://schemas.microsoft.com/office/drawing/2014/main" id="{2278A2C5-EA9D-E075-7F18-46B7EFD4FBFF}"/>
              </a:ext>
            </a:extLst>
          </p:cNvPr>
          <p:cNvPicPr>
            <a:picLocks noChangeAspect="1"/>
          </p:cNvPicPr>
          <p:nvPr/>
        </p:nvPicPr>
        <p:blipFill>
          <a:blip r:embed="rId5"/>
          <a:stretch>
            <a:fillRect/>
          </a:stretch>
        </p:blipFill>
        <p:spPr>
          <a:xfrm>
            <a:off x="1751870" y="71833"/>
            <a:ext cx="8696325" cy="13811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9814" y="749498"/>
            <a:ext cx="10752067" cy="525859"/>
          </a:xfrm>
          <a:prstGeom prst="rect">
            <a:avLst/>
          </a:prstGeom>
          <a:noFill/>
          <a:ln/>
        </p:spPr>
        <p:txBody>
          <a:bodyPr wrap="none" lIns="0" tIns="0" rIns="0" bIns="0" rtlCol="0" anchor="t"/>
          <a:lstStyle/>
          <a:p>
            <a:pPr marL="0" indent="0" algn="l">
              <a:lnSpc>
                <a:spcPct val="104000"/>
              </a:lnSpc>
              <a:buNone/>
            </a:pPr>
            <a:r>
              <a:rPr lang="en-US" sz="3300" b="1" kern="0" spc="-33" dirty="0">
                <a:solidFill>
                  <a:srgbClr val="000000"/>
                </a:solidFill>
                <a:latin typeface="Montserrat Bold" pitchFamily="34" charset="0"/>
                <a:ea typeface="Montserrat Bold" pitchFamily="34" charset="-122"/>
                <a:cs typeface="Montserrat Bold" pitchFamily="34" charset="-120"/>
              </a:rPr>
              <a:t>Abstract</a:t>
            </a:r>
            <a:endParaRPr lang="en-US" sz="3300" dirty="0"/>
          </a:p>
        </p:txBody>
      </p:sp>
      <p:sp>
        <p:nvSpPr>
          <p:cNvPr id="3" name="Text 1"/>
          <p:cNvSpPr/>
          <p:nvPr/>
        </p:nvSpPr>
        <p:spPr>
          <a:xfrm>
            <a:off x="719813" y="1675110"/>
            <a:ext cx="6281487" cy="3574852"/>
          </a:xfrm>
          <a:prstGeom prst="rect">
            <a:avLst/>
          </a:prstGeom>
          <a:noFill/>
          <a:ln/>
        </p:spPr>
        <p:txBody>
          <a:bodyPr wrap="square" lIns="0" tIns="0" rIns="0" bIns="0" rtlCol="0" anchor="t">
            <a:normAutofit fontScale="62500" lnSpcReduction="20000"/>
          </a:bodyPr>
          <a:lstStyle/>
          <a:p>
            <a:pPr algn="just">
              <a:lnSpc>
                <a:spcPct val="119000"/>
              </a:lnSpc>
              <a:spcAft>
                <a:spcPts val="1150"/>
              </a:spcAft>
            </a:pPr>
            <a:r>
              <a:rPr lang="en-US" sz="1450" dirty="0">
                <a:solidFill>
                  <a:srgbClr val="3D3838"/>
                </a:solidFill>
                <a:latin typeface="Source Sans 3" pitchFamily="34" charset="0"/>
                <a:ea typeface="Source Sans 3" pitchFamily="34" charset="-122"/>
                <a:cs typeface="Source Sans 3" pitchFamily="34" charset="-120"/>
              </a:rPr>
              <a:t>        </a:t>
            </a:r>
            <a:r>
              <a:rPr lang="en-US" sz="2300" dirty="0">
                <a:solidFill>
                  <a:srgbClr val="3D3838"/>
                </a:solidFill>
                <a:latin typeface="Source Sans 3" pitchFamily="34" charset="0"/>
                <a:ea typeface="Source Sans 3" pitchFamily="34" charset="-122"/>
                <a:cs typeface="Source Sans 3" pitchFamily="34" charset="-120"/>
              </a:rPr>
              <a:t>The AI-Powered Multi-Brand E-Bike Recommendation and Smart Monitoring System is an intelligent solution that helps users choose the most suitable electric bicycle while continuously monitoring battery health and vehicle performance. The system uses Artificial Intelligence (AI) to recommend e-bikes based on user preferences such as budget, travel distance, speed, and battery capacity across multiple brands.</a:t>
            </a:r>
          </a:p>
          <a:p>
            <a:pPr algn="just">
              <a:lnSpc>
                <a:spcPct val="119000"/>
              </a:lnSpc>
              <a:spcAft>
                <a:spcPts val="1150"/>
              </a:spcAft>
            </a:pPr>
            <a:r>
              <a:rPr lang="en-US" sz="2300" dirty="0">
                <a:solidFill>
                  <a:srgbClr val="3D3838"/>
                </a:solidFill>
                <a:latin typeface="Source Sans 3" pitchFamily="34" charset="0"/>
                <a:ea typeface="Source Sans 3" pitchFamily="34" charset="-122"/>
                <a:cs typeface="Source Sans 3" pitchFamily="34" charset="-120"/>
              </a:rPr>
              <a:t>It also integrates an ESP32 microcontroller, smart Battery Management System (BMS), current and temperature sensors, and an LCD/mobile interface to monitor real-time parameters including battery percentage, voltage, current, temperature, and estimated range. The collected data enables predictive battery health analysis and provides alerts for overheating, low battery, and abnormal operating conditions.</a:t>
            </a:r>
          </a:p>
          <a:p>
            <a:pPr algn="just">
              <a:lnSpc>
                <a:spcPct val="119000"/>
              </a:lnSpc>
              <a:spcAft>
                <a:spcPts val="1150"/>
              </a:spcAft>
            </a:pPr>
            <a:r>
              <a:rPr lang="en-US" sz="2300" dirty="0">
                <a:solidFill>
                  <a:srgbClr val="3D3838"/>
                </a:solidFill>
                <a:latin typeface="Source Sans 3" pitchFamily="34" charset="0"/>
                <a:ea typeface="Source Sans 3" pitchFamily="34" charset="-122"/>
                <a:cs typeface="Source Sans 3" pitchFamily="34" charset="-120"/>
              </a:rPr>
              <a:t>This project improves decision-making, enhances battery safety, reduces maintenance costs, and promotes efficient adoption of electric mobility through a smart, user-friendly platform.</a:t>
            </a:r>
            <a:endParaRPr lang="en-US" sz="2300" dirty="0"/>
          </a:p>
        </p:txBody>
      </p:sp>
      <p:pic>
        <p:nvPicPr>
          <p:cNvPr id="4" name="Image 0" descr="preencoded.png"/>
          <p:cNvPicPr>
            <a:picLocks noChangeAspect="1"/>
          </p:cNvPicPr>
          <p:nvPr/>
        </p:nvPicPr>
        <p:blipFill>
          <a:blip r:embed="rId3"/>
          <a:stretch>
            <a:fillRect/>
          </a:stretch>
        </p:blipFill>
        <p:spPr>
          <a:xfrm>
            <a:off x="7117676" y="2191891"/>
            <a:ext cx="4130869" cy="2340868"/>
          </a:xfrm>
          <a:prstGeom prst="rect">
            <a:avLst/>
          </a:prstGeom>
        </p:spPr>
      </p:pic>
      <p:sp>
        <p:nvSpPr>
          <p:cNvPr id="6" name="Shape 3"/>
          <p:cNvSpPr/>
          <p:nvPr/>
        </p:nvSpPr>
        <p:spPr>
          <a:xfrm>
            <a:off x="719814" y="5638304"/>
            <a:ext cx="10752067" cy="25400"/>
          </a:xfrm>
          <a:prstGeom prst="roundRect">
            <a:avLst>
              <a:gd name="adj" fmla="val 49999"/>
            </a:avLst>
          </a:prstGeom>
          <a:solidFill>
            <a:srgbClr val="3D3838">
              <a:alpha val="50000"/>
            </a:srgbClr>
          </a:solidFill>
          <a:ln/>
        </p:spPr>
        <p:txBody>
          <a:bodyPr/>
          <a:lstStyle/>
          <a:p>
            <a:endParaRPr lang="en-IN"/>
          </a:p>
        </p:txBody>
      </p:sp>
      <p:sp>
        <p:nvSpPr>
          <p:cNvPr id="7" name="Text 4"/>
          <p:cNvSpPr/>
          <p:nvPr/>
        </p:nvSpPr>
        <p:spPr>
          <a:xfrm>
            <a:off x="719814" y="5897364"/>
            <a:ext cx="11361652" cy="211038"/>
          </a:xfrm>
          <a:prstGeom prst="rect">
            <a:avLst/>
          </a:prstGeom>
          <a:noFill/>
          <a:ln/>
        </p:spPr>
        <p:txBody>
          <a:bodyPr wrap="none" lIns="0" tIns="0" rIns="0" bIns="0" rtlCol="0" anchor="t"/>
          <a:lstStyle/>
          <a:p>
            <a:pPr marL="0" indent="0" algn="l">
              <a:lnSpc>
                <a:spcPct val="119000"/>
              </a:lnSpc>
              <a:buNone/>
            </a:pPr>
            <a:r>
              <a:rPr lang="en-US" sz="1150" dirty="0">
                <a:solidFill>
                  <a:srgbClr val="3D3838"/>
                </a:solidFill>
                <a:latin typeface="Source Sans 3" pitchFamily="34" charset="0"/>
                <a:ea typeface="Source Sans 3" pitchFamily="34" charset="-122"/>
                <a:cs typeface="Source Sans 3" pitchFamily="34" charset="-120"/>
              </a:rPr>
              <a:t>Slide 2 • Concise academic abstract</a:t>
            </a:r>
            <a:endParaRPr lang="en-US" sz="1150" dirty="0"/>
          </a:p>
        </p:txBody>
      </p:sp>
      <p:pic>
        <p:nvPicPr>
          <p:cNvPr id="9" name="Picture 8">
            <a:extLst>
              <a:ext uri="{FF2B5EF4-FFF2-40B4-BE49-F238E27FC236}">
                <a16:creationId xmlns:a16="http://schemas.microsoft.com/office/drawing/2014/main" id="{DA337DD1-7268-1007-9CC1-DF738DCD4758}"/>
              </a:ext>
            </a:extLst>
          </p:cNvPr>
          <p:cNvPicPr>
            <a:picLocks noChangeAspect="1"/>
          </p:cNvPicPr>
          <p:nvPr/>
        </p:nvPicPr>
        <p:blipFill>
          <a:blip r:embed="rId4"/>
          <a:stretch>
            <a:fillRect/>
          </a:stretch>
        </p:blipFill>
        <p:spPr>
          <a:xfrm>
            <a:off x="10909273" y="6496744"/>
            <a:ext cx="1282727" cy="2952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19814" y="684312"/>
            <a:ext cx="10752067" cy="496689"/>
          </a:xfrm>
          <a:prstGeom prst="rect">
            <a:avLst/>
          </a:prstGeom>
          <a:noFill/>
          <a:ln/>
        </p:spPr>
        <p:txBody>
          <a:bodyPr wrap="none" lIns="0" tIns="0" rIns="0" bIns="0" rtlCol="0" anchor="t"/>
          <a:lstStyle/>
          <a:p>
            <a:pPr marL="0" indent="0" algn="l">
              <a:lnSpc>
                <a:spcPct val="104000"/>
              </a:lnSpc>
              <a:buNone/>
            </a:pPr>
            <a:r>
              <a:rPr lang="en-US" sz="3100" b="1" kern="0" spc="-31" dirty="0">
                <a:solidFill>
                  <a:srgbClr val="000000"/>
                </a:solidFill>
                <a:latin typeface="Montserrat Bold" pitchFamily="34" charset="0"/>
                <a:ea typeface="Montserrat Bold" pitchFamily="34" charset="-122"/>
                <a:cs typeface="Montserrat Bold" pitchFamily="34" charset="-120"/>
              </a:rPr>
              <a:t>Problem Statement</a:t>
            </a:r>
            <a:endParaRPr lang="en-US" sz="3100" dirty="0"/>
          </a:p>
        </p:txBody>
      </p:sp>
      <p:sp>
        <p:nvSpPr>
          <p:cNvPr id="3" name="Text 1"/>
          <p:cNvSpPr/>
          <p:nvPr/>
        </p:nvSpPr>
        <p:spPr>
          <a:xfrm>
            <a:off x="719814" y="1537593"/>
            <a:ext cx="5162818" cy="3949303"/>
          </a:xfrm>
          <a:prstGeom prst="rect">
            <a:avLst/>
          </a:prstGeom>
          <a:noFill/>
          <a:ln/>
        </p:spPr>
        <p:txBody>
          <a:bodyPr wrap="square" lIns="0" tIns="0" rIns="0" bIns="0" rtlCol="0" anchor="t">
            <a:normAutofit/>
          </a:bodyPr>
          <a:lstStyle/>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E‑bike market has many brands and models with varied specifications.</a:t>
            </a:r>
            <a:endParaRPr lang="en-US" sz="1350" dirty="0"/>
          </a:p>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Non‑technical buyers find technical specs (range, battery, motor) hard to interpret.</a:t>
            </a:r>
            <a:endParaRPr lang="en-US" sz="1350" dirty="0"/>
          </a:p>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Comparison sites require manual specification matching; limited personalization.</a:t>
            </a:r>
            <a:endParaRPr lang="en-US" sz="1350" dirty="0"/>
          </a:p>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Recommendation results often lack clear explanation or compatibility rationale.</a:t>
            </a:r>
            <a:endParaRPr lang="en-US" sz="1350" dirty="0"/>
          </a:p>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Post‑purchase monitoring and recommendation systems rarely integrate.</a:t>
            </a:r>
            <a:endParaRPr lang="en-US" sz="1350" dirty="0"/>
          </a:p>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Raw sensor data often lacks translation into actionable health or maintenance guidance.</a:t>
            </a:r>
            <a:endParaRPr lang="en-US" sz="1350" dirty="0"/>
          </a:p>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There is a need for an integrated platform that couples explainable pre‑purchase recommendation with continuous post‑purchase monitoring and alerts.</a:t>
            </a:r>
            <a:endParaRPr lang="en-US" sz="1350" dirty="0"/>
          </a:p>
        </p:txBody>
      </p:sp>
      <p:sp>
        <p:nvSpPr>
          <p:cNvPr id="6" name="Shape 3"/>
          <p:cNvSpPr/>
          <p:nvPr/>
        </p:nvSpPr>
        <p:spPr>
          <a:xfrm>
            <a:off x="719814" y="5749727"/>
            <a:ext cx="10752067" cy="19050"/>
          </a:xfrm>
          <a:prstGeom prst="roundRect">
            <a:avLst>
              <a:gd name="adj" fmla="val 49999"/>
            </a:avLst>
          </a:prstGeom>
          <a:solidFill>
            <a:srgbClr val="3D3838">
              <a:alpha val="50000"/>
            </a:srgbClr>
          </a:solidFill>
          <a:ln/>
        </p:spPr>
        <p:txBody>
          <a:bodyPr/>
          <a:lstStyle/>
          <a:p>
            <a:endParaRPr lang="en-IN"/>
          </a:p>
        </p:txBody>
      </p:sp>
      <p:sp>
        <p:nvSpPr>
          <p:cNvPr id="7" name="Text 4"/>
          <p:cNvSpPr/>
          <p:nvPr/>
        </p:nvSpPr>
        <p:spPr>
          <a:xfrm>
            <a:off x="719814" y="5979616"/>
            <a:ext cx="11361652" cy="194072"/>
          </a:xfrm>
          <a:prstGeom prst="rect">
            <a:avLst/>
          </a:prstGeom>
          <a:noFill/>
          <a:ln/>
        </p:spPr>
        <p:txBody>
          <a:bodyPr wrap="none" lIns="0" tIns="0" rIns="0" bIns="0" rtlCol="0" anchor="t"/>
          <a:lstStyle/>
          <a:p>
            <a:pPr marL="0" indent="0" algn="l">
              <a:lnSpc>
                <a:spcPct val="116000"/>
              </a:lnSpc>
              <a:buNone/>
            </a:pPr>
            <a:r>
              <a:rPr lang="en-US" sz="1100" dirty="0">
                <a:solidFill>
                  <a:srgbClr val="3D3838"/>
                </a:solidFill>
                <a:latin typeface="Source Sans 3" pitchFamily="34" charset="0"/>
                <a:ea typeface="Source Sans 3" pitchFamily="34" charset="-122"/>
                <a:cs typeface="Source Sans 3" pitchFamily="34" charset="-120"/>
              </a:rPr>
              <a:t>Slide 3 • Clear articulation of the core problem</a:t>
            </a:r>
            <a:endParaRPr lang="en-US" sz="1100" dirty="0"/>
          </a:p>
        </p:txBody>
      </p:sp>
      <p:pic>
        <p:nvPicPr>
          <p:cNvPr id="9" name="Picture 8">
            <a:extLst>
              <a:ext uri="{FF2B5EF4-FFF2-40B4-BE49-F238E27FC236}">
                <a16:creationId xmlns:a16="http://schemas.microsoft.com/office/drawing/2014/main" id="{62640DDA-C67A-522B-9E22-D97D9FBABC1A}"/>
              </a:ext>
            </a:extLst>
          </p:cNvPr>
          <p:cNvPicPr>
            <a:picLocks noChangeAspect="1"/>
          </p:cNvPicPr>
          <p:nvPr/>
        </p:nvPicPr>
        <p:blipFill>
          <a:blip r:embed="rId3"/>
          <a:stretch>
            <a:fillRect/>
          </a:stretch>
        </p:blipFill>
        <p:spPr>
          <a:xfrm>
            <a:off x="10823785" y="6494959"/>
            <a:ext cx="1368215" cy="295275"/>
          </a:xfrm>
          <a:prstGeom prst="rect">
            <a:avLst/>
          </a:prstGeom>
        </p:spPr>
      </p:pic>
      <p:sp>
        <p:nvSpPr>
          <p:cNvPr id="10" name="Rectangle 9">
            <a:extLst>
              <a:ext uri="{FF2B5EF4-FFF2-40B4-BE49-F238E27FC236}">
                <a16:creationId xmlns:a16="http://schemas.microsoft.com/office/drawing/2014/main" id="{8FB654DD-2ED6-1C32-8110-4CFAB6FB5358}"/>
              </a:ext>
            </a:extLst>
          </p:cNvPr>
          <p:cNvSpPr/>
          <p:nvPr/>
        </p:nvSpPr>
        <p:spPr>
          <a:xfrm>
            <a:off x="6191480" y="1745693"/>
            <a:ext cx="5431315" cy="3059087"/>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9814" y="681137"/>
            <a:ext cx="10752067" cy="496689"/>
          </a:xfrm>
          <a:prstGeom prst="rect">
            <a:avLst/>
          </a:prstGeom>
          <a:noFill/>
          <a:ln/>
        </p:spPr>
        <p:txBody>
          <a:bodyPr wrap="none" lIns="0" tIns="0" rIns="0" bIns="0" rtlCol="0" anchor="t"/>
          <a:lstStyle/>
          <a:p>
            <a:pPr marL="0" indent="0" algn="l">
              <a:lnSpc>
                <a:spcPct val="104000"/>
              </a:lnSpc>
              <a:buNone/>
            </a:pPr>
            <a:r>
              <a:rPr lang="en-US" sz="3100" b="1" kern="0" spc="-31" dirty="0">
                <a:solidFill>
                  <a:srgbClr val="000000"/>
                </a:solidFill>
                <a:latin typeface="Montserrat Bold" pitchFamily="34" charset="0"/>
                <a:ea typeface="Montserrat Bold" pitchFamily="34" charset="-122"/>
                <a:cs typeface="Montserrat Bold" pitchFamily="34" charset="-120"/>
              </a:rPr>
              <a:t>Project Objectives</a:t>
            </a:r>
            <a:endParaRPr lang="en-US" sz="3100" dirty="0"/>
          </a:p>
        </p:txBody>
      </p:sp>
      <p:sp>
        <p:nvSpPr>
          <p:cNvPr id="3" name="Shape 1"/>
          <p:cNvSpPr/>
          <p:nvPr/>
        </p:nvSpPr>
        <p:spPr>
          <a:xfrm>
            <a:off x="719814" y="1474986"/>
            <a:ext cx="3484971" cy="1420217"/>
          </a:xfrm>
          <a:prstGeom prst="roundRect">
            <a:avLst>
              <a:gd name="adj" fmla="val 1847"/>
            </a:avLst>
          </a:prstGeom>
          <a:solidFill>
            <a:srgbClr val="F2EEEE"/>
          </a:solidFill>
          <a:ln/>
        </p:spPr>
        <p:txBody>
          <a:bodyPr/>
          <a:lstStyle/>
          <a:p>
            <a:endParaRPr lang="en-IN"/>
          </a:p>
        </p:txBody>
      </p:sp>
      <p:sp>
        <p:nvSpPr>
          <p:cNvPr id="4" name="Text 2"/>
          <p:cNvSpPr/>
          <p:nvPr/>
        </p:nvSpPr>
        <p:spPr>
          <a:xfrm>
            <a:off x="894633" y="1649809"/>
            <a:ext cx="3135333" cy="496491"/>
          </a:xfrm>
          <a:prstGeom prst="rect">
            <a:avLst/>
          </a:prstGeom>
          <a:noFill/>
          <a:ln/>
        </p:spPr>
        <p:txBody>
          <a:bodyPr wrap="square" lIns="0" tIns="0" rIns="0" bIns="0" rtlCol="0" anchor="t">
            <a:normAutofit/>
          </a:bodyPr>
          <a:lstStyle/>
          <a:p>
            <a:pPr marL="0" indent="0" algn="l">
              <a:lnSpc>
                <a:spcPct val="104000"/>
              </a:lnSpc>
              <a:buNone/>
            </a:pPr>
            <a:r>
              <a:rPr lang="en-US" sz="1550" b="1" kern="0" spc="-16" dirty="0">
                <a:solidFill>
                  <a:srgbClr val="3D3838"/>
                </a:solidFill>
                <a:latin typeface="Montserrat Bold" pitchFamily="34" charset="0"/>
                <a:ea typeface="Montserrat Bold" pitchFamily="34" charset="-122"/>
                <a:cs typeface="Montserrat Bold" pitchFamily="34" charset="-120"/>
              </a:rPr>
              <a:t>1. Multi‑brand recommendation</a:t>
            </a:r>
            <a:endParaRPr lang="en-US" sz="1550" dirty="0"/>
          </a:p>
        </p:txBody>
      </p:sp>
      <p:sp>
        <p:nvSpPr>
          <p:cNvPr id="5" name="Text 3"/>
          <p:cNvSpPr/>
          <p:nvPr/>
        </p:nvSpPr>
        <p:spPr>
          <a:xfrm>
            <a:off x="894633" y="2235398"/>
            <a:ext cx="3135333" cy="484981"/>
          </a:xfrm>
          <a:prstGeom prst="rect">
            <a:avLst/>
          </a:prstGeom>
          <a:noFill/>
          <a:ln/>
        </p:spPr>
        <p:txBody>
          <a:bodyPr wrap="square" lIns="0" tIns="0" rIns="0" bIns="0" rtlCol="0" anchor="t">
            <a:normAutofit/>
          </a:bodyPr>
          <a:lstStyle/>
          <a:p>
            <a:pPr marL="0" indent="0" algn="l">
              <a:lnSpc>
                <a:spcPct val="116000"/>
              </a:lnSpc>
              <a:buNone/>
            </a:pPr>
            <a:r>
              <a:rPr lang="en-US" sz="1350" dirty="0">
                <a:solidFill>
                  <a:srgbClr val="3D3838"/>
                </a:solidFill>
                <a:latin typeface="Source Sans 3" pitchFamily="34" charset="0"/>
                <a:ea typeface="Source Sans 3" pitchFamily="34" charset="-122"/>
                <a:cs typeface="Source Sans 3" pitchFamily="34" charset="-120"/>
              </a:rPr>
              <a:t>Develop a system to compare multiple manufacturers and models.</a:t>
            </a:r>
            <a:endParaRPr lang="en-US" sz="1350" dirty="0"/>
          </a:p>
        </p:txBody>
      </p:sp>
      <p:sp>
        <p:nvSpPr>
          <p:cNvPr id="6" name="Shape 4"/>
          <p:cNvSpPr/>
          <p:nvPr/>
        </p:nvSpPr>
        <p:spPr>
          <a:xfrm>
            <a:off x="4353312" y="1474986"/>
            <a:ext cx="3484971" cy="1420217"/>
          </a:xfrm>
          <a:prstGeom prst="roundRect">
            <a:avLst>
              <a:gd name="adj" fmla="val 1847"/>
            </a:avLst>
          </a:prstGeom>
          <a:solidFill>
            <a:srgbClr val="F2EEEE"/>
          </a:solidFill>
          <a:ln/>
        </p:spPr>
        <p:txBody>
          <a:bodyPr/>
          <a:lstStyle/>
          <a:p>
            <a:endParaRPr lang="en-IN"/>
          </a:p>
        </p:txBody>
      </p:sp>
      <p:sp>
        <p:nvSpPr>
          <p:cNvPr id="7" name="Text 5"/>
          <p:cNvSpPr/>
          <p:nvPr/>
        </p:nvSpPr>
        <p:spPr>
          <a:xfrm>
            <a:off x="4528131" y="1649809"/>
            <a:ext cx="3135333" cy="248245"/>
          </a:xfrm>
          <a:prstGeom prst="rect">
            <a:avLst/>
          </a:prstGeom>
          <a:noFill/>
          <a:ln/>
        </p:spPr>
        <p:txBody>
          <a:bodyPr wrap="none" lIns="0" tIns="0" rIns="0" bIns="0" rtlCol="0" anchor="t"/>
          <a:lstStyle/>
          <a:p>
            <a:pPr marL="0" indent="0" algn="l">
              <a:lnSpc>
                <a:spcPct val="104000"/>
              </a:lnSpc>
              <a:buNone/>
            </a:pPr>
            <a:r>
              <a:rPr lang="en-US" sz="1550" b="1" kern="0" spc="-16" dirty="0">
                <a:solidFill>
                  <a:srgbClr val="3D3838"/>
                </a:solidFill>
                <a:latin typeface="Montserrat Bold" pitchFamily="34" charset="0"/>
                <a:ea typeface="Montserrat Bold" pitchFamily="34" charset="-122"/>
                <a:cs typeface="Montserrat Bold" pitchFamily="34" charset="-120"/>
              </a:rPr>
              <a:t>2. Simple user input</a:t>
            </a:r>
            <a:endParaRPr lang="en-US" sz="1550" dirty="0"/>
          </a:p>
        </p:txBody>
      </p:sp>
      <p:sp>
        <p:nvSpPr>
          <p:cNvPr id="8" name="Text 6"/>
          <p:cNvSpPr/>
          <p:nvPr/>
        </p:nvSpPr>
        <p:spPr>
          <a:xfrm>
            <a:off x="4528131" y="1987153"/>
            <a:ext cx="3135333" cy="484981"/>
          </a:xfrm>
          <a:prstGeom prst="rect">
            <a:avLst/>
          </a:prstGeom>
          <a:noFill/>
          <a:ln/>
        </p:spPr>
        <p:txBody>
          <a:bodyPr wrap="square" lIns="0" tIns="0" rIns="0" bIns="0" rtlCol="0" anchor="t">
            <a:normAutofit/>
          </a:bodyPr>
          <a:lstStyle/>
          <a:p>
            <a:pPr marL="0" indent="0" algn="l">
              <a:lnSpc>
                <a:spcPct val="116000"/>
              </a:lnSpc>
              <a:buNone/>
            </a:pPr>
            <a:r>
              <a:rPr lang="en-US" sz="1350" dirty="0">
                <a:solidFill>
                  <a:srgbClr val="3D3838"/>
                </a:solidFill>
                <a:latin typeface="Source Sans 3" pitchFamily="34" charset="0"/>
                <a:ea typeface="Source Sans 3" pitchFamily="34" charset="-122"/>
                <a:cs typeface="Source Sans 3" pitchFamily="34" charset="-120"/>
              </a:rPr>
              <a:t>Accept budget, distance, terrain, height, weight, purpose and preference.</a:t>
            </a:r>
            <a:endParaRPr lang="en-US" sz="1350" dirty="0"/>
          </a:p>
        </p:txBody>
      </p:sp>
      <p:sp>
        <p:nvSpPr>
          <p:cNvPr id="9" name="Shape 7"/>
          <p:cNvSpPr/>
          <p:nvPr/>
        </p:nvSpPr>
        <p:spPr>
          <a:xfrm>
            <a:off x="7986810" y="1474986"/>
            <a:ext cx="3484971" cy="1420217"/>
          </a:xfrm>
          <a:prstGeom prst="roundRect">
            <a:avLst>
              <a:gd name="adj" fmla="val 1847"/>
            </a:avLst>
          </a:prstGeom>
          <a:solidFill>
            <a:srgbClr val="F2EEEE"/>
          </a:solidFill>
          <a:ln/>
        </p:spPr>
        <p:txBody>
          <a:bodyPr/>
          <a:lstStyle/>
          <a:p>
            <a:endParaRPr lang="en-IN"/>
          </a:p>
        </p:txBody>
      </p:sp>
      <p:sp>
        <p:nvSpPr>
          <p:cNvPr id="10" name="Text 8"/>
          <p:cNvSpPr/>
          <p:nvPr/>
        </p:nvSpPr>
        <p:spPr>
          <a:xfrm>
            <a:off x="8161629" y="1649809"/>
            <a:ext cx="3135333" cy="248245"/>
          </a:xfrm>
          <a:prstGeom prst="rect">
            <a:avLst/>
          </a:prstGeom>
          <a:noFill/>
          <a:ln/>
        </p:spPr>
        <p:txBody>
          <a:bodyPr wrap="none" lIns="0" tIns="0" rIns="0" bIns="0" rtlCol="0" anchor="t"/>
          <a:lstStyle/>
          <a:p>
            <a:pPr marL="0" indent="0" algn="l">
              <a:lnSpc>
                <a:spcPct val="104000"/>
              </a:lnSpc>
              <a:buNone/>
            </a:pPr>
            <a:r>
              <a:rPr lang="en-US" sz="1550" b="1" kern="0" spc="-16" dirty="0">
                <a:solidFill>
                  <a:srgbClr val="3D3838"/>
                </a:solidFill>
                <a:latin typeface="Montserrat Bold" pitchFamily="34" charset="0"/>
                <a:ea typeface="Montserrat Bold" pitchFamily="34" charset="-122"/>
                <a:cs typeface="Montserrat Bold" pitchFamily="34" charset="-120"/>
              </a:rPr>
              <a:t>3. Compatibility scoring</a:t>
            </a:r>
            <a:endParaRPr lang="en-US" sz="1550" dirty="0"/>
          </a:p>
        </p:txBody>
      </p:sp>
      <p:sp>
        <p:nvSpPr>
          <p:cNvPr id="11" name="Text 9"/>
          <p:cNvSpPr/>
          <p:nvPr/>
        </p:nvSpPr>
        <p:spPr>
          <a:xfrm>
            <a:off x="8161629" y="1987153"/>
            <a:ext cx="3135333" cy="484981"/>
          </a:xfrm>
          <a:prstGeom prst="rect">
            <a:avLst/>
          </a:prstGeom>
          <a:noFill/>
          <a:ln/>
        </p:spPr>
        <p:txBody>
          <a:bodyPr wrap="square" lIns="0" tIns="0" rIns="0" bIns="0" rtlCol="0" anchor="t">
            <a:normAutofit/>
          </a:bodyPr>
          <a:lstStyle/>
          <a:p>
            <a:pPr marL="0" indent="0" algn="l">
              <a:lnSpc>
                <a:spcPct val="116000"/>
              </a:lnSpc>
              <a:buNone/>
            </a:pPr>
            <a:r>
              <a:rPr lang="en-US" sz="1350" dirty="0">
                <a:solidFill>
                  <a:srgbClr val="3D3838"/>
                </a:solidFill>
                <a:latin typeface="Source Sans 3" pitchFamily="34" charset="0"/>
                <a:ea typeface="Source Sans 3" pitchFamily="34" charset="-122"/>
                <a:cs typeface="Source Sans 3" pitchFamily="34" charset="-120"/>
              </a:rPr>
              <a:t>Compare requirements with product specs to compute scores and rankings.</a:t>
            </a:r>
            <a:endParaRPr lang="en-US" sz="1350" dirty="0"/>
          </a:p>
        </p:txBody>
      </p:sp>
      <p:sp>
        <p:nvSpPr>
          <p:cNvPr id="12" name="Shape 10"/>
          <p:cNvSpPr/>
          <p:nvPr/>
        </p:nvSpPr>
        <p:spPr>
          <a:xfrm>
            <a:off x="719814" y="3043734"/>
            <a:ext cx="3484971" cy="1420217"/>
          </a:xfrm>
          <a:prstGeom prst="roundRect">
            <a:avLst>
              <a:gd name="adj" fmla="val 1847"/>
            </a:avLst>
          </a:prstGeom>
          <a:solidFill>
            <a:srgbClr val="F2EEEE"/>
          </a:solidFill>
          <a:ln/>
        </p:spPr>
        <p:txBody>
          <a:bodyPr/>
          <a:lstStyle/>
          <a:p>
            <a:endParaRPr lang="en-IN"/>
          </a:p>
        </p:txBody>
      </p:sp>
      <p:sp>
        <p:nvSpPr>
          <p:cNvPr id="13" name="Text 11"/>
          <p:cNvSpPr/>
          <p:nvPr/>
        </p:nvSpPr>
        <p:spPr>
          <a:xfrm>
            <a:off x="894633" y="3218557"/>
            <a:ext cx="3135333" cy="496491"/>
          </a:xfrm>
          <a:prstGeom prst="rect">
            <a:avLst/>
          </a:prstGeom>
          <a:noFill/>
          <a:ln/>
        </p:spPr>
        <p:txBody>
          <a:bodyPr wrap="square" lIns="0" tIns="0" rIns="0" bIns="0" rtlCol="0" anchor="t">
            <a:normAutofit/>
          </a:bodyPr>
          <a:lstStyle/>
          <a:p>
            <a:pPr marL="0" indent="0" algn="l">
              <a:lnSpc>
                <a:spcPct val="104000"/>
              </a:lnSpc>
              <a:buNone/>
            </a:pPr>
            <a:r>
              <a:rPr lang="en-US" sz="1550" b="1" kern="0" spc="-16" dirty="0">
                <a:solidFill>
                  <a:srgbClr val="3D3838"/>
                </a:solidFill>
                <a:latin typeface="Montserrat Bold" pitchFamily="34" charset="0"/>
                <a:ea typeface="Montserrat Bold" pitchFamily="34" charset="-122"/>
                <a:cs typeface="Montserrat Bold" pitchFamily="34" charset="-120"/>
              </a:rPr>
              <a:t>4. Explainable recommendations</a:t>
            </a:r>
            <a:endParaRPr lang="en-US" sz="1550" dirty="0"/>
          </a:p>
        </p:txBody>
      </p:sp>
      <p:sp>
        <p:nvSpPr>
          <p:cNvPr id="14" name="Text 12"/>
          <p:cNvSpPr/>
          <p:nvPr/>
        </p:nvSpPr>
        <p:spPr>
          <a:xfrm>
            <a:off x="894633" y="3804146"/>
            <a:ext cx="3135333" cy="484981"/>
          </a:xfrm>
          <a:prstGeom prst="rect">
            <a:avLst/>
          </a:prstGeom>
          <a:noFill/>
          <a:ln/>
        </p:spPr>
        <p:txBody>
          <a:bodyPr wrap="square" lIns="0" tIns="0" rIns="0" bIns="0" rtlCol="0" anchor="t">
            <a:normAutofit/>
          </a:bodyPr>
          <a:lstStyle/>
          <a:p>
            <a:pPr marL="0" indent="0" algn="l">
              <a:lnSpc>
                <a:spcPct val="116000"/>
              </a:lnSpc>
              <a:buNone/>
            </a:pPr>
            <a:r>
              <a:rPr lang="en-US" sz="1350" dirty="0">
                <a:solidFill>
                  <a:srgbClr val="3D3838"/>
                </a:solidFill>
                <a:latin typeface="Source Sans 3" pitchFamily="34" charset="0"/>
                <a:ea typeface="Source Sans 3" pitchFamily="34" charset="-122"/>
                <a:cs typeface="Source Sans 3" pitchFamily="34" charset="-120"/>
              </a:rPr>
              <a:t>Provide human‑readable reasons for each recommendation.</a:t>
            </a:r>
            <a:endParaRPr lang="en-US" sz="1350" dirty="0"/>
          </a:p>
        </p:txBody>
      </p:sp>
      <p:sp>
        <p:nvSpPr>
          <p:cNvPr id="15" name="Shape 13"/>
          <p:cNvSpPr/>
          <p:nvPr/>
        </p:nvSpPr>
        <p:spPr>
          <a:xfrm>
            <a:off x="4353312" y="3043734"/>
            <a:ext cx="3484971" cy="1420217"/>
          </a:xfrm>
          <a:prstGeom prst="roundRect">
            <a:avLst>
              <a:gd name="adj" fmla="val 1847"/>
            </a:avLst>
          </a:prstGeom>
          <a:solidFill>
            <a:srgbClr val="F2EEEE"/>
          </a:solidFill>
          <a:ln/>
        </p:spPr>
        <p:txBody>
          <a:bodyPr/>
          <a:lstStyle/>
          <a:p>
            <a:endParaRPr lang="en-IN"/>
          </a:p>
        </p:txBody>
      </p:sp>
      <p:sp>
        <p:nvSpPr>
          <p:cNvPr id="16" name="Text 14"/>
          <p:cNvSpPr/>
          <p:nvPr/>
        </p:nvSpPr>
        <p:spPr>
          <a:xfrm>
            <a:off x="4528131" y="3218557"/>
            <a:ext cx="3135333" cy="248245"/>
          </a:xfrm>
          <a:prstGeom prst="rect">
            <a:avLst/>
          </a:prstGeom>
          <a:noFill/>
          <a:ln/>
        </p:spPr>
        <p:txBody>
          <a:bodyPr wrap="none" lIns="0" tIns="0" rIns="0" bIns="0" rtlCol="0" anchor="t"/>
          <a:lstStyle/>
          <a:p>
            <a:pPr marL="0" indent="0" algn="l">
              <a:lnSpc>
                <a:spcPct val="104000"/>
              </a:lnSpc>
              <a:buNone/>
            </a:pPr>
            <a:r>
              <a:rPr lang="en-US" sz="1550" b="1" kern="0" spc="-16" dirty="0">
                <a:solidFill>
                  <a:srgbClr val="3D3838"/>
                </a:solidFill>
                <a:latin typeface="Montserrat Bold" pitchFamily="34" charset="0"/>
                <a:ea typeface="Montserrat Bold" pitchFamily="34" charset="-122"/>
                <a:cs typeface="Montserrat Bold" pitchFamily="34" charset="-120"/>
              </a:rPr>
              <a:t>5. IoT monitoring prototype</a:t>
            </a:r>
            <a:endParaRPr lang="en-US" sz="1550" dirty="0"/>
          </a:p>
        </p:txBody>
      </p:sp>
      <p:sp>
        <p:nvSpPr>
          <p:cNvPr id="17" name="Text 15"/>
          <p:cNvSpPr/>
          <p:nvPr/>
        </p:nvSpPr>
        <p:spPr>
          <a:xfrm>
            <a:off x="4528131" y="3555901"/>
            <a:ext cx="3135333" cy="484981"/>
          </a:xfrm>
          <a:prstGeom prst="rect">
            <a:avLst/>
          </a:prstGeom>
          <a:noFill/>
          <a:ln/>
        </p:spPr>
        <p:txBody>
          <a:bodyPr wrap="square" lIns="0" tIns="0" rIns="0" bIns="0" rtlCol="0" anchor="t">
            <a:normAutofit/>
          </a:bodyPr>
          <a:lstStyle/>
          <a:p>
            <a:pPr marL="0" indent="0" algn="l">
              <a:lnSpc>
                <a:spcPct val="116000"/>
              </a:lnSpc>
              <a:buNone/>
            </a:pPr>
            <a:r>
              <a:rPr lang="en-US" sz="1350" dirty="0">
                <a:solidFill>
                  <a:srgbClr val="3D3838"/>
                </a:solidFill>
                <a:latin typeface="Source Sans 3" pitchFamily="34" charset="0"/>
                <a:ea typeface="Source Sans 3" pitchFamily="34" charset="-122"/>
                <a:cs typeface="Source Sans 3" pitchFamily="34" charset="-120"/>
              </a:rPr>
              <a:t>Design ESP32‑based telemetry for battery, motor, vibration and motion.</a:t>
            </a:r>
            <a:endParaRPr lang="en-US" sz="1350" dirty="0"/>
          </a:p>
        </p:txBody>
      </p:sp>
      <p:sp>
        <p:nvSpPr>
          <p:cNvPr id="18" name="Shape 16"/>
          <p:cNvSpPr/>
          <p:nvPr/>
        </p:nvSpPr>
        <p:spPr>
          <a:xfrm>
            <a:off x="7986810" y="3043734"/>
            <a:ext cx="3484971" cy="1420217"/>
          </a:xfrm>
          <a:prstGeom prst="roundRect">
            <a:avLst>
              <a:gd name="adj" fmla="val 1847"/>
            </a:avLst>
          </a:prstGeom>
          <a:solidFill>
            <a:srgbClr val="F2EEEE"/>
          </a:solidFill>
          <a:ln/>
        </p:spPr>
        <p:txBody>
          <a:bodyPr/>
          <a:lstStyle/>
          <a:p>
            <a:endParaRPr lang="en-IN"/>
          </a:p>
        </p:txBody>
      </p:sp>
      <p:sp>
        <p:nvSpPr>
          <p:cNvPr id="19" name="Text 17"/>
          <p:cNvSpPr/>
          <p:nvPr/>
        </p:nvSpPr>
        <p:spPr>
          <a:xfrm>
            <a:off x="8161629" y="3218557"/>
            <a:ext cx="3135333" cy="248245"/>
          </a:xfrm>
          <a:prstGeom prst="rect">
            <a:avLst/>
          </a:prstGeom>
          <a:noFill/>
          <a:ln/>
        </p:spPr>
        <p:txBody>
          <a:bodyPr wrap="none" lIns="0" tIns="0" rIns="0" bIns="0" rtlCol="0" anchor="t"/>
          <a:lstStyle/>
          <a:p>
            <a:pPr marL="0" indent="0" algn="l">
              <a:lnSpc>
                <a:spcPct val="104000"/>
              </a:lnSpc>
              <a:buNone/>
            </a:pPr>
            <a:r>
              <a:rPr lang="en-US" sz="1550" b="1" kern="0" spc="-16" dirty="0">
                <a:solidFill>
                  <a:srgbClr val="3D3838"/>
                </a:solidFill>
                <a:latin typeface="Montserrat Bold" pitchFamily="34" charset="0"/>
                <a:ea typeface="Montserrat Bold" pitchFamily="34" charset="-122"/>
                <a:cs typeface="Montserrat Bold" pitchFamily="34" charset="-120"/>
              </a:rPr>
              <a:t>6. Alerts &amp; maintenance</a:t>
            </a:r>
            <a:endParaRPr lang="en-US" sz="1550" dirty="0"/>
          </a:p>
        </p:txBody>
      </p:sp>
      <p:sp>
        <p:nvSpPr>
          <p:cNvPr id="20" name="Text 18"/>
          <p:cNvSpPr/>
          <p:nvPr/>
        </p:nvSpPr>
        <p:spPr>
          <a:xfrm>
            <a:off x="8161629" y="3555901"/>
            <a:ext cx="3135333" cy="484981"/>
          </a:xfrm>
          <a:prstGeom prst="rect">
            <a:avLst/>
          </a:prstGeom>
          <a:noFill/>
          <a:ln/>
        </p:spPr>
        <p:txBody>
          <a:bodyPr wrap="square" lIns="0" tIns="0" rIns="0" bIns="0" rtlCol="0" anchor="t">
            <a:normAutofit/>
          </a:bodyPr>
          <a:lstStyle/>
          <a:p>
            <a:pPr marL="0" indent="0" algn="l">
              <a:lnSpc>
                <a:spcPct val="116000"/>
              </a:lnSpc>
              <a:buNone/>
            </a:pPr>
            <a:r>
              <a:rPr lang="en-US" sz="1350" dirty="0">
                <a:solidFill>
                  <a:srgbClr val="3D3838"/>
                </a:solidFill>
                <a:latin typeface="Source Sans 3" pitchFamily="34" charset="0"/>
                <a:ea typeface="Source Sans 3" pitchFamily="34" charset="-122"/>
                <a:cs typeface="Source Sans 3" pitchFamily="34" charset="-120"/>
              </a:rPr>
              <a:t>Detect anomalies, raise alerts and suggest maintenance actions.</a:t>
            </a:r>
            <a:endParaRPr lang="en-US" sz="1350" dirty="0"/>
          </a:p>
        </p:txBody>
      </p:sp>
      <p:sp>
        <p:nvSpPr>
          <p:cNvPr id="21" name="Shape 19"/>
          <p:cNvSpPr/>
          <p:nvPr/>
        </p:nvSpPr>
        <p:spPr>
          <a:xfrm>
            <a:off x="719814" y="4612481"/>
            <a:ext cx="10751968" cy="929481"/>
          </a:xfrm>
          <a:prstGeom prst="roundRect">
            <a:avLst>
              <a:gd name="adj" fmla="val 2821"/>
            </a:avLst>
          </a:prstGeom>
          <a:solidFill>
            <a:srgbClr val="F2EEEE"/>
          </a:solidFill>
          <a:ln/>
        </p:spPr>
        <p:txBody>
          <a:bodyPr/>
          <a:lstStyle/>
          <a:p>
            <a:endParaRPr lang="en-IN"/>
          </a:p>
        </p:txBody>
      </p:sp>
      <p:sp>
        <p:nvSpPr>
          <p:cNvPr id="22" name="Text 20"/>
          <p:cNvSpPr/>
          <p:nvPr/>
        </p:nvSpPr>
        <p:spPr>
          <a:xfrm>
            <a:off x="894633" y="4787305"/>
            <a:ext cx="10402330" cy="248245"/>
          </a:xfrm>
          <a:prstGeom prst="rect">
            <a:avLst/>
          </a:prstGeom>
          <a:noFill/>
          <a:ln/>
        </p:spPr>
        <p:txBody>
          <a:bodyPr wrap="none" lIns="0" tIns="0" rIns="0" bIns="0" rtlCol="0" anchor="t"/>
          <a:lstStyle/>
          <a:p>
            <a:pPr marL="0" indent="0" algn="l">
              <a:lnSpc>
                <a:spcPct val="104000"/>
              </a:lnSpc>
              <a:buNone/>
            </a:pPr>
            <a:r>
              <a:rPr lang="en-US" sz="1550" b="1" kern="0" spc="-16" dirty="0">
                <a:solidFill>
                  <a:srgbClr val="3D3838"/>
                </a:solidFill>
                <a:latin typeface="Montserrat Bold" pitchFamily="34" charset="0"/>
                <a:ea typeface="Montserrat Bold" pitchFamily="34" charset="-122"/>
                <a:cs typeface="Montserrat Bold" pitchFamily="34" charset="-120"/>
              </a:rPr>
              <a:t>7. Integrated platform</a:t>
            </a:r>
            <a:endParaRPr lang="en-US" sz="1550" dirty="0"/>
          </a:p>
        </p:txBody>
      </p:sp>
      <p:sp>
        <p:nvSpPr>
          <p:cNvPr id="23" name="Text 21"/>
          <p:cNvSpPr/>
          <p:nvPr/>
        </p:nvSpPr>
        <p:spPr>
          <a:xfrm>
            <a:off x="894633" y="5124648"/>
            <a:ext cx="10402330" cy="242491"/>
          </a:xfrm>
          <a:prstGeom prst="rect">
            <a:avLst/>
          </a:prstGeom>
          <a:noFill/>
          <a:ln/>
        </p:spPr>
        <p:txBody>
          <a:bodyPr wrap="none" lIns="0" tIns="0" rIns="0" bIns="0" rtlCol="0" anchor="t"/>
          <a:lstStyle/>
          <a:p>
            <a:pPr marL="0" indent="0" algn="l">
              <a:lnSpc>
                <a:spcPct val="116000"/>
              </a:lnSpc>
              <a:buNone/>
            </a:pPr>
            <a:r>
              <a:rPr lang="en-US" sz="1350" dirty="0">
                <a:solidFill>
                  <a:srgbClr val="3D3838"/>
                </a:solidFill>
                <a:latin typeface="Source Sans 3" pitchFamily="34" charset="0"/>
                <a:ea typeface="Source Sans 3" pitchFamily="34" charset="-122"/>
                <a:cs typeface="Source Sans 3" pitchFamily="34" charset="-120"/>
              </a:rPr>
              <a:t>Combine recommendation and monitoring for a continuous user experience.</a:t>
            </a:r>
            <a:endParaRPr lang="en-US" sz="1350" dirty="0"/>
          </a:p>
        </p:txBody>
      </p:sp>
      <p:sp>
        <p:nvSpPr>
          <p:cNvPr id="24" name="Shape 22"/>
          <p:cNvSpPr/>
          <p:nvPr/>
        </p:nvSpPr>
        <p:spPr>
          <a:xfrm>
            <a:off x="719814" y="5752802"/>
            <a:ext cx="10752067" cy="19050"/>
          </a:xfrm>
          <a:prstGeom prst="roundRect">
            <a:avLst>
              <a:gd name="adj" fmla="val 49999"/>
            </a:avLst>
          </a:prstGeom>
          <a:solidFill>
            <a:srgbClr val="3D3838">
              <a:alpha val="50000"/>
            </a:srgbClr>
          </a:solidFill>
          <a:ln/>
        </p:spPr>
        <p:txBody>
          <a:bodyPr/>
          <a:lstStyle/>
          <a:p>
            <a:endParaRPr lang="en-IN"/>
          </a:p>
        </p:txBody>
      </p:sp>
      <p:sp>
        <p:nvSpPr>
          <p:cNvPr id="25" name="Text 23"/>
          <p:cNvSpPr/>
          <p:nvPr/>
        </p:nvSpPr>
        <p:spPr>
          <a:xfrm>
            <a:off x="719814" y="5982692"/>
            <a:ext cx="11361652" cy="194072"/>
          </a:xfrm>
          <a:prstGeom prst="rect">
            <a:avLst/>
          </a:prstGeom>
          <a:noFill/>
          <a:ln/>
        </p:spPr>
        <p:txBody>
          <a:bodyPr wrap="none" lIns="0" tIns="0" rIns="0" bIns="0" rtlCol="0" anchor="t"/>
          <a:lstStyle/>
          <a:p>
            <a:pPr marL="0" indent="0" algn="l">
              <a:lnSpc>
                <a:spcPct val="116000"/>
              </a:lnSpc>
              <a:buNone/>
            </a:pPr>
            <a:r>
              <a:rPr lang="en-US" sz="1100" dirty="0">
                <a:solidFill>
                  <a:srgbClr val="3D3838"/>
                </a:solidFill>
                <a:latin typeface="Source Sans 3" pitchFamily="34" charset="0"/>
                <a:ea typeface="Source Sans 3" pitchFamily="34" charset="-122"/>
                <a:cs typeface="Source Sans 3" pitchFamily="34" charset="-120"/>
              </a:rPr>
              <a:t>Slide 4 • Ten concise objectives</a:t>
            </a:r>
            <a:endParaRPr lang="en-US" sz="1100" dirty="0"/>
          </a:p>
        </p:txBody>
      </p:sp>
      <p:pic>
        <p:nvPicPr>
          <p:cNvPr id="27" name="Picture 26">
            <a:extLst>
              <a:ext uri="{FF2B5EF4-FFF2-40B4-BE49-F238E27FC236}">
                <a16:creationId xmlns:a16="http://schemas.microsoft.com/office/drawing/2014/main" id="{969ED6D8-87D2-7B3E-422C-B22643C1CDCC}"/>
              </a:ext>
            </a:extLst>
          </p:cNvPr>
          <p:cNvPicPr>
            <a:picLocks noChangeAspect="1"/>
          </p:cNvPicPr>
          <p:nvPr/>
        </p:nvPicPr>
        <p:blipFill>
          <a:blip r:embed="rId3"/>
          <a:stretch>
            <a:fillRect/>
          </a:stretch>
        </p:blipFill>
        <p:spPr>
          <a:xfrm>
            <a:off x="10436585" y="6508835"/>
            <a:ext cx="1720755" cy="2952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9814" y="746621"/>
            <a:ext cx="10752067" cy="438249"/>
          </a:xfrm>
          <a:prstGeom prst="rect">
            <a:avLst/>
          </a:prstGeom>
          <a:noFill/>
          <a:ln/>
        </p:spPr>
        <p:txBody>
          <a:bodyPr wrap="none" lIns="0" tIns="0" rIns="0" bIns="0" rtlCol="0" anchor="t"/>
          <a:lstStyle/>
          <a:p>
            <a:pPr marL="0" indent="0" algn="l">
              <a:lnSpc>
                <a:spcPct val="104000"/>
              </a:lnSpc>
              <a:buNone/>
            </a:pPr>
            <a:r>
              <a:rPr lang="en-US" sz="2750" b="1" kern="0" spc="-28" dirty="0">
                <a:solidFill>
                  <a:srgbClr val="000000"/>
                </a:solidFill>
                <a:latin typeface="Montserrat Bold" pitchFamily="34" charset="0"/>
                <a:ea typeface="Montserrat Bold" pitchFamily="34" charset="-122"/>
                <a:cs typeface="Montserrat Bold" pitchFamily="34" charset="-120"/>
              </a:rPr>
              <a:t>Literature Survey</a:t>
            </a:r>
            <a:endParaRPr lang="en-US" sz="2750" dirty="0"/>
          </a:p>
        </p:txBody>
      </p:sp>
      <p:sp>
        <p:nvSpPr>
          <p:cNvPr id="3" name="Text 1"/>
          <p:cNvSpPr/>
          <p:nvPr/>
        </p:nvSpPr>
        <p:spPr>
          <a:xfrm>
            <a:off x="719814" y="1416248"/>
            <a:ext cx="11361652" cy="202406"/>
          </a:xfrm>
          <a:prstGeom prst="rect">
            <a:avLst/>
          </a:prstGeom>
          <a:noFill/>
          <a:ln/>
        </p:spPr>
        <p:txBody>
          <a:bodyPr wrap="none" lIns="0" tIns="0" rIns="0" bIns="0" rtlCol="0" anchor="t"/>
          <a:lstStyle/>
          <a:p>
            <a:pPr marL="0" indent="0" algn="l">
              <a:lnSpc>
                <a:spcPct val="109000"/>
              </a:lnSpc>
              <a:buNone/>
            </a:pPr>
            <a:r>
              <a:rPr lang="en-US" sz="1200" dirty="0">
                <a:solidFill>
                  <a:srgbClr val="3D3838"/>
                </a:solidFill>
                <a:latin typeface="Source Sans 3" pitchFamily="34" charset="0"/>
                <a:ea typeface="Source Sans 3" pitchFamily="34" charset="-122"/>
                <a:cs typeface="Source Sans 3" pitchFamily="34" charset="-120"/>
              </a:rPr>
              <a:t>Selected studies and related works (placeholders used where exact references are unavailable).</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402064138"/>
              </p:ext>
            </p:extLst>
          </p:nvPr>
        </p:nvGraphicFramePr>
        <p:xfrm>
          <a:off x="719814" y="1748730"/>
          <a:ext cx="10752067" cy="4805731"/>
        </p:xfrm>
        <a:graphic>
          <a:graphicData uri="http://schemas.openxmlformats.org/drawingml/2006/table">
            <a:tbl>
              <a:tblPr/>
              <a:tblGrid>
                <a:gridCol w="2688017">
                  <a:extLst>
                    <a:ext uri="{9D8B030D-6E8A-4147-A177-3AD203B41FA5}">
                      <a16:colId xmlns:a16="http://schemas.microsoft.com/office/drawing/2014/main" val="20000"/>
                    </a:ext>
                  </a:extLst>
                </a:gridCol>
                <a:gridCol w="2150413">
                  <a:extLst>
                    <a:ext uri="{9D8B030D-6E8A-4147-A177-3AD203B41FA5}">
                      <a16:colId xmlns:a16="http://schemas.microsoft.com/office/drawing/2014/main" val="20001"/>
                    </a:ext>
                  </a:extLst>
                </a:gridCol>
                <a:gridCol w="3225620">
                  <a:extLst>
                    <a:ext uri="{9D8B030D-6E8A-4147-A177-3AD203B41FA5}">
                      <a16:colId xmlns:a16="http://schemas.microsoft.com/office/drawing/2014/main" val="20002"/>
                    </a:ext>
                  </a:extLst>
                </a:gridCol>
                <a:gridCol w="2688017">
                  <a:extLst>
                    <a:ext uri="{9D8B030D-6E8A-4147-A177-3AD203B41FA5}">
                      <a16:colId xmlns:a16="http://schemas.microsoft.com/office/drawing/2014/main" val="20003"/>
                    </a:ext>
                  </a:extLst>
                </a:gridCol>
              </a:tblGrid>
              <a:tr h="429681">
                <a:tc>
                  <a:txBody>
                    <a:bodyPr/>
                    <a:lstStyle/>
                    <a:p>
                      <a:pPr marL="0" indent="0" algn="l">
                        <a:buNone/>
                      </a:pPr>
                      <a:r>
                        <a:rPr lang="en-US" sz="1200" b="1" dirty="0">
                          <a:solidFill>
                            <a:srgbClr val="3D3838"/>
                          </a:solidFill>
                          <a:latin typeface="Source Sans 3" pitchFamily="34" charset="0"/>
                          <a:ea typeface="Source Sans 3" pitchFamily="34" charset="-122"/>
                          <a:cs typeface="Source Sans 3" pitchFamily="34" charset="-120"/>
                        </a:rPr>
                        <a:t>Paper / Study</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b="1" dirty="0">
                          <a:solidFill>
                            <a:srgbClr val="3D3838"/>
                          </a:solidFill>
                          <a:latin typeface="Source Sans 3" pitchFamily="34" charset="0"/>
                          <a:ea typeface="Source Sans 3" pitchFamily="34" charset="-122"/>
                          <a:cs typeface="Source Sans 3" pitchFamily="34" charset="-120"/>
                        </a:rPr>
                        <a:t>Year</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b="1" dirty="0">
                          <a:solidFill>
                            <a:srgbClr val="3D3838"/>
                          </a:solidFill>
                          <a:latin typeface="Source Sans 3" pitchFamily="34" charset="0"/>
                          <a:ea typeface="Source Sans 3" pitchFamily="34" charset="-122"/>
                          <a:cs typeface="Source Sans 3" pitchFamily="34" charset="-120"/>
                        </a:rPr>
                        <a:t>Approach / Main Contribution</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b="1" dirty="0">
                          <a:solidFill>
                            <a:srgbClr val="3D3838"/>
                          </a:solidFill>
                          <a:latin typeface="Source Sans 3" pitchFamily="34" charset="0"/>
                          <a:ea typeface="Source Sans 3" pitchFamily="34" charset="-122"/>
                          <a:cs typeface="Source Sans 3" pitchFamily="34" charset="-120"/>
                        </a:rPr>
                        <a:t>Limitation / Relevance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0"/>
                  </a:ext>
                </a:extLst>
              </a:tr>
              <a:tr h="921296">
                <a:tc>
                  <a:txBody>
                    <a:bodyPr/>
                    <a:lstStyle/>
                    <a:p>
                      <a:r>
                        <a:rPr lang="en-IN" sz="1400" b="0" i="0" kern="1200" dirty="0">
                          <a:solidFill>
                            <a:schemeClr val="tx1"/>
                          </a:solidFill>
                          <a:effectLst/>
                          <a:latin typeface="+mn-lt"/>
                          <a:ea typeface="+mn-ea"/>
                          <a:cs typeface="+mn-cs"/>
                        </a:rPr>
                        <a:t>A Machine Learning Based Bike Recommendation System Catering To User’s Travel Needs</a:t>
                      </a: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charset="0"/>
                          <a:cs typeface="Source Sans 3" charset="0"/>
                        </a:rPr>
                        <a:t>2020</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Survey of product recommendation algorithms (rule‑based, content‑based, collaborative).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General methods; limited to e‑commerce contexts.</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1"/>
                  </a:ext>
                </a:extLst>
              </a:tr>
              <a:tr h="1051889">
                <a:tc>
                  <a:txBody>
                    <a:bodyPr/>
                    <a:lstStyle/>
                    <a:p>
                      <a:r>
                        <a:rPr lang="en-IN" sz="1400" b="0" i="0" kern="1200" dirty="0">
                          <a:solidFill>
                            <a:schemeClr val="tx1"/>
                          </a:solidFill>
                          <a:effectLst/>
                          <a:latin typeface="+mn-lt"/>
                          <a:ea typeface="+mn-ea"/>
                          <a:cs typeface="+mn-cs"/>
                        </a:rPr>
                        <a:t>U-Park: A User-Centric Smart Parking Recommendation System for Electric Shared Micromobility Services</a:t>
                      </a: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charset="0"/>
                          <a:cs typeface="Source Sans 3" charset="0"/>
                        </a:rPr>
                        <a:t>2024</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Battery monitoring techniques for EVs and state‑of‑health indicators.</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Focus on battery management hardware; not integrated with user recommendations.</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2"/>
                  </a:ext>
                </a:extLst>
              </a:tr>
              <a:tr h="675488">
                <a:tc>
                  <a:txBody>
                    <a:bodyPr/>
                    <a:lstStyle/>
                    <a:p>
                      <a:r>
                        <a:rPr lang="en-IN" sz="1400" b="0" i="0" kern="1200" dirty="0">
                          <a:solidFill>
                            <a:schemeClr val="tx1"/>
                          </a:solidFill>
                          <a:effectLst/>
                          <a:latin typeface="+mn-lt"/>
                          <a:ea typeface="+mn-ea"/>
                          <a:cs typeface="+mn-cs"/>
                        </a:rPr>
                        <a:t>Smart Bike Monitoring System Using IoT</a:t>
                      </a: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charset="0"/>
                          <a:cs typeface="Source Sans 3" charset="0"/>
                        </a:rPr>
                        <a:t>2023</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IoT architectures for vehicle telemetry using lightweight MCUs and MQTT/HTTP.</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Prototype communication focus; limited discussion of explainability.</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3"/>
                  </a:ext>
                </a:extLst>
              </a:tr>
              <a:tr h="1051889">
                <a:tc>
                  <a:txBody>
                    <a:bodyPr/>
                    <a:lstStyle/>
                    <a:p>
                      <a:r>
                        <a:rPr lang="en-IN" sz="1400" b="0" i="0" kern="1200" dirty="0">
                          <a:solidFill>
                            <a:schemeClr val="tx1"/>
                          </a:solidFill>
                          <a:effectLst/>
                          <a:latin typeface="+mn-lt"/>
                          <a:ea typeface="+mn-ea"/>
                          <a:cs typeface="+mn-cs"/>
                        </a:rPr>
                        <a:t>Artificial Intelligence and IoT based Smart Battery Management System for Electric Vehicle</a:t>
                      </a: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charset="0"/>
                          <a:cs typeface="Source Sans 3" charset="0"/>
                        </a:rPr>
                        <a:t>2022</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Explainable recommendation frameworks for consumer products.</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Conceptual explanations; few real‑world e‑bike examples.</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4"/>
                  </a:ext>
                </a:extLst>
              </a:tr>
              <a:tr h="675488">
                <a:tc>
                  <a:txBody>
                    <a:bodyPr/>
                    <a:lstStyle/>
                    <a:p>
                      <a:r>
                        <a:rPr lang="en-IN" sz="1400" b="0" i="0" kern="1200" dirty="0">
                          <a:solidFill>
                            <a:schemeClr val="tx1"/>
                          </a:solidFill>
                          <a:effectLst/>
                          <a:latin typeface="+mn-lt"/>
                          <a:ea typeface="+mn-ea"/>
                          <a:cs typeface="+mn-cs"/>
                        </a:rPr>
                        <a:t>An IoT-Based Measurement Device for E-bike Tracking Performance Analysis</a:t>
                      </a: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charset="0"/>
                          <a:cs typeface="Source Sans 3" charset="0"/>
                        </a:rPr>
                        <a:t>2024</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Predictive maintenance approaches using vibration and temperature features.</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Requires labelled failure data; not always available for small fleets.</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5"/>
                  </a:ext>
                </a:extLst>
              </a:tr>
            </a:tbl>
          </a:graphicData>
        </a:graphic>
      </p:graphicFrame>
      <p:pic>
        <p:nvPicPr>
          <p:cNvPr id="9" name="Picture 8">
            <a:extLst>
              <a:ext uri="{FF2B5EF4-FFF2-40B4-BE49-F238E27FC236}">
                <a16:creationId xmlns:a16="http://schemas.microsoft.com/office/drawing/2014/main" id="{F36FB7A3-67DB-311D-30E9-2D99F3618FFC}"/>
              </a:ext>
            </a:extLst>
          </p:cNvPr>
          <p:cNvPicPr>
            <a:picLocks noChangeAspect="1"/>
          </p:cNvPicPr>
          <p:nvPr/>
        </p:nvPicPr>
        <p:blipFill>
          <a:blip r:embed="rId3"/>
          <a:stretch>
            <a:fillRect/>
          </a:stretch>
        </p:blipFill>
        <p:spPr>
          <a:xfrm>
            <a:off x="10856835" y="6554462"/>
            <a:ext cx="1335165" cy="2952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9814" y="811709"/>
            <a:ext cx="10752067" cy="408980"/>
          </a:xfrm>
          <a:prstGeom prst="rect">
            <a:avLst/>
          </a:prstGeom>
          <a:noFill/>
          <a:ln/>
        </p:spPr>
        <p:txBody>
          <a:bodyPr wrap="none" lIns="0" tIns="0" rIns="0" bIns="0" rtlCol="0" anchor="t"/>
          <a:lstStyle/>
          <a:p>
            <a:pPr marL="0" indent="0" algn="l">
              <a:lnSpc>
                <a:spcPct val="104000"/>
              </a:lnSpc>
              <a:buNone/>
            </a:pPr>
            <a:r>
              <a:rPr lang="en-US" sz="2550" b="1" kern="0" spc="-26" dirty="0">
                <a:solidFill>
                  <a:srgbClr val="000000"/>
                </a:solidFill>
                <a:latin typeface="Montserrat Bold" pitchFamily="34" charset="0"/>
                <a:ea typeface="Montserrat Bold" pitchFamily="34" charset="-122"/>
                <a:cs typeface="Montserrat Bold" pitchFamily="34" charset="-120"/>
              </a:rPr>
              <a:t>Research Gap</a:t>
            </a:r>
            <a:endParaRPr lang="en-US" sz="2550" dirty="0"/>
          </a:p>
        </p:txBody>
      </p:sp>
      <p:graphicFrame>
        <p:nvGraphicFramePr>
          <p:cNvPr id="7" name="Table 0"/>
          <p:cNvGraphicFramePr>
            <a:graphicFrameLocks noGrp="1"/>
          </p:cNvGraphicFramePr>
          <p:nvPr>
            <p:extLst>
              <p:ext uri="{D42A27DB-BD31-4B8C-83A1-F6EECF244321}">
                <p14:modId xmlns:p14="http://schemas.microsoft.com/office/powerpoint/2010/main" val="2523252686"/>
              </p:ext>
            </p:extLst>
          </p:nvPr>
        </p:nvGraphicFramePr>
        <p:xfrm>
          <a:off x="719813" y="1460599"/>
          <a:ext cx="10594509" cy="3610778"/>
        </p:xfrm>
        <a:graphic>
          <a:graphicData uri="http://schemas.openxmlformats.org/drawingml/2006/table">
            <a:tbl>
              <a:tblPr/>
              <a:tblGrid>
                <a:gridCol w="1910375">
                  <a:extLst>
                    <a:ext uri="{9D8B030D-6E8A-4147-A177-3AD203B41FA5}">
                      <a16:colId xmlns:a16="http://schemas.microsoft.com/office/drawing/2014/main" val="20000"/>
                    </a:ext>
                  </a:extLst>
                </a:gridCol>
                <a:gridCol w="1241744">
                  <a:extLst>
                    <a:ext uri="{9D8B030D-6E8A-4147-A177-3AD203B41FA5}">
                      <a16:colId xmlns:a16="http://schemas.microsoft.com/office/drawing/2014/main" val="20001"/>
                    </a:ext>
                  </a:extLst>
                </a:gridCol>
                <a:gridCol w="1846875">
                  <a:extLst>
                    <a:ext uri="{9D8B030D-6E8A-4147-A177-3AD203B41FA5}">
                      <a16:colId xmlns:a16="http://schemas.microsoft.com/office/drawing/2014/main" val="20002"/>
                    </a:ext>
                  </a:extLst>
                </a:gridCol>
                <a:gridCol w="1177752">
                  <a:extLst>
                    <a:ext uri="{9D8B030D-6E8A-4147-A177-3AD203B41FA5}">
                      <a16:colId xmlns:a16="http://schemas.microsoft.com/office/drawing/2014/main" val="20003"/>
                    </a:ext>
                  </a:extLst>
                </a:gridCol>
                <a:gridCol w="1114696">
                  <a:extLst>
                    <a:ext uri="{9D8B030D-6E8A-4147-A177-3AD203B41FA5}">
                      <a16:colId xmlns:a16="http://schemas.microsoft.com/office/drawing/2014/main" val="20004"/>
                    </a:ext>
                  </a:extLst>
                </a:gridCol>
                <a:gridCol w="1605234">
                  <a:extLst>
                    <a:ext uri="{9D8B030D-6E8A-4147-A177-3AD203B41FA5}">
                      <a16:colId xmlns:a16="http://schemas.microsoft.com/office/drawing/2014/main" val="20005"/>
                    </a:ext>
                  </a:extLst>
                </a:gridCol>
                <a:gridCol w="1697833">
                  <a:extLst>
                    <a:ext uri="{9D8B030D-6E8A-4147-A177-3AD203B41FA5}">
                      <a16:colId xmlns:a16="http://schemas.microsoft.com/office/drawing/2014/main" val="20006"/>
                    </a:ext>
                  </a:extLst>
                </a:gridCol>
              </a:tblGrid>
              <a:tr h="876871">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Approach</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Recommendation</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Multi‑brand</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Explainability</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IoT Monitoring</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Maintenance</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Integrated Platform</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0"/>
                  </a:ext>
                </a:extLst>
              </a:tr>
              <a:tr h="510460">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Traditional comparison</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1"/>
                  </a:ext>
                </a:extLst>
              </a:tr>
              <a:tr h="695264">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Basic recommendation</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Limited</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Limited</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2"/>
                  </a:ext>
                </a:extLst>
              </a:tr>
              <a:tr h="510460">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IoT monitoring</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Limited</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3"/>
                  </a:ext>
                </a:extLst>
              </a:tr>
              <a:tr h="510460">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Battery monitoring</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4"/>
                  </a:ext>
                </a:extLst>
              </a:tr>
              <a:tr h="507263">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Proposed system</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100" dirty="0">
                          <a:solidFill>
                            <a:srgbClr val="3D3838"/>
                          </a:solidFill>
                          <a:latin typeface="Source Sans 3" pitchFamily="34" charset="0"/>
                          <a:ea typeface="Source Sans 3" pitchFamily="34" charset="-122"/>
                          <a:cs typeface="Source Sans 3" pitchFamily="34" charset="-120"/>
                        </a:rPr>
                        <a:t>✓</a:t>
                      </a:r>
                      <a:endParaRPr lang="en-US" sz="1100" dirty="0">
                        <a:latin typeface="Source Sans 3" charset="0"/>
                        <a:ea typeface="Source Sans 3" charset="0"/>
                        <a:cs typeface="Source Sans 3" charset="0"/>
                      </a:endParaRPr>
                    </a:p>
                  </a:txBody>
                  <a:tcPr marL="143981" marR="14398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719814" y="5197475"/>
            <a:ext cx="5200421" cy="293688"/>
          </a:xfrm>
          <a:prstGeom prst="rect">
            <a:avLst/>
          </a:prstGeom>
          <a:noFill/>
          <a:ln/>
        </p:spPr>
        <p:txBody>
          <a:bodyPr wrap="square" lIns="0" tIns="0" rIns="0" bIns="0" rtlCol="0" anchor="t">
            <a:normAutofit/>
          </a:bodyPr>
          <a:lstStyle/>
          <a:p>
            <a:pPr marL="0" indent="0" algn="l">
              <a:lnSpc>
                <a:spcPct val="106000"/>
              </a:lnSpc>
              <a:buNone/>
            </a:pPr>
            <a:r>
              <a:rPr lang="en-US" sz="900" dirty="0">
                <a:solidFill>
                  <a:srgbClr val="3D3838"/>
                </a:solidFill>
                <a:latin typeface="Source Sans 3" pitchFamily="34" charset="0"/>
                <a:ea typeface="Source Sans 3" pitchFamily="34" charset="-122"/>
                <a:cs typeface="Source Sans 3" pitchFamily="34" charset="-120"/>
              </a:rPr>
              <a:t>Key observation: Existing work often covers either recommendation or monitoring. There is limited integration across recommendation, explainability and continuous IoT‑based health assessment.</a:t>
            </a:r>
            <a:endParaRPr lang="en-US" sz="900" dirty="0"/>
          </a:p>
        </p:txBody>
      </p:sp>
      <p:sp>
        <p:nvSpPr>
          <p:cNvPr id="3" name="Shape 3"/>
          <p:cNvSpPr/>
          <p:nvPr/>
        </p:nvSpPr>
        <p:spPr>
          <a:xfrm>
            <a:off x="719814" y="5731073"/>
            <a:ext cx="10752067" cy="19050"/>
          </a:xfrm>
          <a:prstGeom prst="roundRect">
            <a:avLst>
              <a:gd name="adj" fmla="val 49999"/>
            </a:avLst>
          </a:prstGeom>
          <a:solidFill>
            <a:srgbClr val="3D3838">
              <a:alpha val="50000"/>
            </a:srgbClr>
          </a:solidFill>
          <a:ln/>
        </p:spPr>
        <p:txBody>
          <a:bodyPr/>
          <a:lstStyle/>
          <a:p>
            <a:endParaRPr lang="en-IN"/>
          </a:p>
        </p:txBody>
      </p:sp>
      <p:sp>
        <p:nvSpPr>
          <p:cNvPr id="8" name="Text 4"/>
          <p:cNvSpPr/>
          <p:nvPr/>
        </p:nvSpPr>
        <p:spPr>
          <a:xfrm>
            <a:off x="719814" y="5899348"/>
            <a:ext cx="11361652" cy="146844"/>
          </a:xfrm>
          <a:prstGeom prst="rect">
            <a:avLst/>
          </a:prstGeom>
          <a:noFill/>
          <a:ln/>
        </p:spPr>
        <p:txBody>
          <a:bodyPr wrap="none" lIns="0" tIns="0" rIns="0" bIns="0" rtlCol="0" anchor="t"/>
          <a:lstStyle/>
          <a:p>
            <a:pPr marL="0" indent="0" algn="l">
              <a:lnSpc>
                <a:spcPct val="106000"/>
              </a:lnSpc>
              <a:buNone/>
            </a:pPr>
            <a:r>
              <a:rPr lang="en-US" sz="900" dirty="0">
                <a:solidFill>
                  <a:srgbClr val="3D3838"/>
                </a:solidFill>
                <a:latin typeface="Source Sans 3" pitchFamily="34" charset="0"/>
                <a:ea typeface="Source Sans 3" pitchFamily="34" charset="-122"/>
                <a:cs typeface="Source Sans 3" pitchFamily="34" charset="-120"/>
              </a:rPr>
              <a:t>Slide 6 • Professional comparison table</a:t>
            </a:r>
            <a:endParaRPr lang="en-US" sz="900" dirty="0"/>
          </a:p>
        </p:txBody>
      </p:sp>
      <p:pic>
        <p:nvPicPr>
          <p:cNvPr id="10" name="Picture 9">
            <a:extLst>
              <a:ext uri="{FF2B5EF4-FFF2-40B4-BE49-F238E27FC236}">
                <a16:creationId xmlns:a16="http://schemas.microsoft.com/office/drawing/2014/main" id="{9844B175-5E1F-5106-04BB-D8B6A82FF835}"/>
              </a:ext>
            </a:extLst>
          </p:cNvPr>
          <p:cNvPicPr>
            <a:picLocks noChangeAspect="1"/>
          </p:cNvPicPr>
          <p:nvPr/>
        </p:nvPicPr>
        <p:blipFill>
          <a:blip r:embed="rId3"/>
          <a:stretch>
            <a:fillRect/>
          </a:stretch>
        </p:blipFill>
        <p:spPr>
          <a:xfrm>
            <a:off x="11011072" y="6562725"/>
            <a:ext cx="1180928" cy="2952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19814" y="673695"/>
            <a:ext cx="10752067" cy="379809"/>
          </a:xfrm>
          <a:prstGeom prst="rect">
            <a:avLst/>
          </a:prstGeom>
          <a:noFill/>
          <a:ln/>
        </p:spPr>
        <p:txBody>
          <a:bodyPr wrap="none" lIns="0" tIns="0" rIns="0" bIns="0" rtlCol="0" anchor="t"/>
          <a:lstStyle/>
          <a:p>
            <a:pPr marL="0" indent="0" algn="l">
              <a:lnSpc>
                <a:spcPct val="104000"/>
              </a:lnSpc>
              <a:buNone/>
            </a:pPr>
            <a:r>
              <a:rPr lang="en-US" sz="3200" b="1" kern="0" spc="-24" dirty="0">
                <a:solidFill>
                  <a:srgbClr val="000000"/>
                </a:solidFill>
                <a:latin typeface="Montserrat Bold" pitchFamily="34" charset="0"/>
                <a:ea typeface="Montserrat Bold" pitchFamily="34" charset="-122"/>
                <a:cs typeface="Montserrat Bold" pitchFamily="34" charset="-120"/>
              </a:rPr>
              <a:t>Existing Systems</a:t>
            </a:r>
            <a:endParaRPr lang="en-US" sz="32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9814" y="1281509"/>
            <a:ext cx="334160" cy="334169"/>
          </a:xfrm>
          <a:prstGeom prst="rect">
            <a:avLst/>
          </a:prstGeom>
        </p:spPr>
      </p:pic>
      <p:sp>
        <p:nvSpPr>
          <p:cNvPr id="4" name="Text 1"/>
          <p:cNvSpPr/>
          <p:nvPr/>
        </p:nvSpPr>
        <p:spPr>
          <a:xfrm>
            <a:off x="719814" y="1724223"/>
            <a:ext cx="4105172" cy="189805"/>
          </a:xfrm>
          <a:prstGeom prst="rect">
            <a:avLst/>
          </a:prstGeom>
          <a:noFill/>
          <a:ln/>
        </p:spPr>
        <p:txBody>
          <a:bodyPr wrap="none" lIns="0" tIns="0" rIns="0" bIns="0" rtlCol="0" anchor="t"/>
          <a:lstStyle/>
          <a:p>
            <a:pPr marL="0" indent="0" algn="l">
              <a:lnSpc>
                <a:spcPct val="104000"/>
              </a:lnSpc>
              <a:buNone/>
            </a:pPr>
            <a:r>
              <a:rPr lang="en-US" sz="1600" b="1" kern="0" spc="-12" dirty="0">
                <a:solidFill>
                  <a:srgbClr val="3D3838"/>
                </a:solidFill>
                <a:latin typeface="Montserrat Bold" pitchFamily="34" charset="0"/>
                <a:ea typeface="Montserrat Bold" pitchFamily="34" charset="-122"/>
                <a:cs typeface="Montserrat Bold" pitchFamily="34" charset="-120"/>
              </a:rPr>
              <a:t>Brand‑specific websites</a:t>
            </a:r>
            <a:endParaRPr lang="en-US" sz="1600" dirty="0"/>
          </a:p>
        </p:txBody>
      </p:sp>
      <p:sp>
        <p:nvSpPr>
          <p:cNvPr id="5" name="Text 2"/>
          <p:cNvSpPr/>
          <p:nvPr/>
        </p:nvSpPr>
        <p:spPr>
          <a:xfrm>
            <a:off x="719814" y="2000845"/>
            <a:ext cx="4105172" cy="330994"/>
          </a:xfrm>
          <a:prstGeom prst="rect">
            <a:avLst/>
          </a:prstGeom>
          <a:noFill/>
          <a:ln/>
        </p:spPr>
        <p:txBody>
          <a:bodyPr wrap="square" lIns="0" tIns="0" rIns="0" bIns="0" rtlCol="0" anchor="t">
            <a:noAutofit/>
          </a:bodyPr>
          <a:lstStyle/>
          <a:p>
            <a:pPr marL="0" indent="0" algn="l">
              <a:lnSpc>
                <a:spcPct val="103000"/>
              </a:lnSpc>
              <a:buNone/>
            </a:pPr>
            <a:r>
              <a:rPr lang="en-US" sz="1400" dirty="0">
                <a:solidFill>
                  <a:srgbClr val="3D3838"/>
                </a:solidFill>
                <a:latin typeface="Source Sans 3" pitchFamily="34" charset="0"/>
                <a:ea typeface="Source Sans 3" pitchFamily="34" charset="-122"/>
                <a:cs typeface="Source Sans 3" pitchFamily="34" charset="-120"/>
              </a:rPr>
              <a:t>Provide product data but limited cross‑brand comparison and personalisation.</a:t>
            </a:r>
            <a:endParaRPr lang="en-US" sz="14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9814" y="2505571"/>
            <a:ext cx="334160" cy="334169"/>
          </a:xfrm>
          <a:prstGeom prst="rect">
            <a:avLst/>
          </a:prstGeom>
        </p:spPr>
      </p:pic>
      <p:sp>
        <p:nvSpPr>
          <p:cNvPr id="7" name="Text 3"/>
          <p:cNvSpPr/>
          <p:nvPr/>
        </p:nvSpPr>
        <p:spPr>
          <a:xfrm>
            <a:off x="719814" y="2948285"/>
            <a:ext cx="4105172" cy="189805"/>
          </a:xfrm>
          <a:prstGeom prst="rect">
            <a:avLst/>
          </a:prstGeom>
          <a:noFill/>
          <a:ln/>
        </p:spPr>
        <p:txBody>
          <a:bodyPr wrap="none" lIns="0" tIns="0" rIns="0" bIns="0" rtlCol="0" anchor="t"/>
          <a:lstStyle/>
          <a:p>
            <a:pPr marL="0" indent="0" algn="l">
              <a:lnSpc>
                <a:spcPct val="104000"/>
              </a:lnSpc>
              <a:buNone/>
            </a:pPr>
            <a:r>
              <a:rPr lang="en-US" sz="1600" b="1" kern="0" spc="-12" dirty="0">
                <a:solidFill>
                  <a:srgbClr val="3D3838"/>
                </a:solidFill>
                <a:latin typeface="Montserrat Bold" pitchFamily="34" charset="0"/>
                <a:ea typeface="Montserrat Bold" pitchFamily="34" charset="-122"/>
                <a:cs typeface="Montserrat Bold" pitchFamily="34" charset="-120"/>
              </a:rPr>
              <a:t>Generic comparison sites</a:t>
            </a:r>
            <a:endParaRPr lang="en-US" sz="1600" dirty="0"/>
          </a:p>
        </p:txBody>
      </p:sp>
      <p:sp>
        <p:nvSpPr>
          <p:cNvPr id="8" name="Text 4"/>
          <p:cNvSpPr/>
          <p:nvPr/>
        </p:nvSpPr>
        <p:spPr>
          <a:xfrm>
            <a:off x="719814" y="3224907"/>
            <a:ext cx="4105172" cy="165497"/>
          </a:xfrm>
          <a:prstGeom prst="rect">
            <a:avLst/>
          </a:prstGeom>
          <a:noFill/>
          <a:ln/>
        </p:spPr>
        <p:txBody>
          <a:bodyPr wrap="none" lIns="0" tIns="0" rIns="0" bIns="0" rtlCol="0" anchor="t"/>
          <a:lstStyle/>
          <a:p>
            <a:pPr marL="0" indent="0" algn="l">
              <a:lnSpc>
                <a:spcPct val="103000"/>
              </a:lnSpc>
              <a:buNone/>
            </a:pPr>
            <a:r>
              <a:rPr lang="en-US" sz="1400" dirty="0">
                <a:solidFill>
                  <a:srgbClr val="3D3838"/>
                </a:solidFill>
                <a:latin typeface="Source Sans 3" pitchFamily="34" charset="0"/>
                <a:ea typeface="Source Sans 3" pitchFamily="34" charset="-122"/>
                <a:cs typeface="Source Sans 3" pitchFamily="34" charset="-120"/>
              </a:rPr>
              <a:t>Display specifications; users perform manual comparisons.</a:t>
            </a:r>
            <a:endParaRPr lang="en-US" sz="14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9814" y="3564136"/>
            <a:ext cx="334160" cy="334169"/>
          </a:xfrm>
          <a:prstGeom prst="rect">
            <a:avLst/>
          </a:prstGeom>
        </p:spPr>
      </p:pic>
      <p:sp>
        <p:nvSpPr>
          <p:cNvPr id="10" name="Text 5"/>
          <p:cNvSpPr/>
          <p:nvPr/>
        </p:nvSpPr>
        <p:spPr>
          <a:xfrm>
            <a:off x="719814" y="4006850"/>
            <a:ext cx="4105172" cy="189805"/>
          </a:xfrm>
          <a:prstGeom prst="rect">
            <a:avLst/>
          </a:prstGeom>
          <a:noFill/>
          <a:ln/>
        </p:spPr>
        <p:txBody>
          <a:bodyPr wrap="none" lIns="0" tIns="0" rIns="0" bIns="0" rtlCol="0" anchor="t"/>
          <a:lstStyle/>
          <a:p>
            <a:pPr marL="0" indent="0" algn="l">
              <a:lnSpc>
                <a:spcPct val="104000"/>
              </a:lnSpc>
              <a:buNone/>
            </a:pPr>
            <a:r>
              <a:rPr lang="en-US" sz="1600" b="1" kern="0" spc="-12" dirty="0">
                <a:solidFill>
                  <a:srgbClr val="3D3838"/>
                </a:solidFill>
                <a:latin typeface="Montserrat Bold" pitchFamily="34" charset="0"/>
                <a:ea typeface="Montserrat Bold" pitchFamily="34" charset="-122"/>
                <a:cs typeface="Montserrat Bold" pitchFamily="34" charset="-120"/>
              </a:rPr>
              <a:t>Basic recommendation tools</a:t>
            </a:r>
            <a:endParaRPr lang="en-US" sz="1600" dirty="0"/>
          </a:p>
        </p:txBody>
      </p:sp>
      <p:sp>
        <p:nvSpPr>
          <p:cNvPr id="11" name="Text 6"/>
          <p:cNvSpPr/>
          <p:nvPr/>
        </p:nvSpPr>
        <p:spPr>
          <a:xfrm>
            <a:off x="719814" y="4283472"/>
            <a:ext cx="4105172" cy="165497"/>
          </a:xfrm>
          <a:prstGeom prst="rect">
            <a:avLst/>
          </a:prstGeom>
          <a:noFill/>
          <a:ln/>
        </p:spPr>
        <p:txBody>
          <a:bodyPr wrap="none" lIns="0" tIns="0" rIns="0" bIns="0" rtlCol="0" anchor="t"/>
          <a:lstStyle/>
          <a:p>
            <a:pPr marL="0" indent="0" algn="l">
              <a:lnSpc>
                <a:spcPct val="103000"/>
              </a:lnSpc>
              <a:buNone/>
            </a:pPr>
            <a:r>
              <a:rPr lang="en-US" sz="1400" dirty="0">
                <a:solidFill>
                  <a:srgbClr val="3D3838"/>
                </a:solidFill>
                <a:latin typeface="Source Sans 3" pitchFamily="34" charset="0"/>
                <a:ea typeface="Source Sans 3" pitchFamily="34" charset="-122"/>
                <a:cs typeface="Source Sans 3" pitchFamily="34" charset="-120"/>
              </a:rPr>
              <a:t>May suggest options but often lack transparent explanations.</a:t>
            </a:r>
            <a:endParaRPr lang="en-US" sz="14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9814" y="4622701"/>
            <a:ext cx="334160" cy="334169"/>
          </a:xfrm>
          <a:prstGeom prst="rect">
            <a:avLst/>
          </a:prstGeom>
        </p:spPr>
      </p:pic>
      <p:sp>
        <p:nvSpPr>
          <p:cNvPr id="13" name="Text 7"/>
          <p:cNvSpPr/>
          <p:nvPr/>
        </p:nvSpPr>
        <p:spPr>
          <a:xfrm>
            <a:off x="719814" y="5065415"/>
            <a:ext cx="4105172" cy="189805"/>
          </a:xfrm>
          <a:prstGeom prst="rect">
            <a:avLst/>
          </a:prstGeom>
          <a:noFill/>
          <a:ln/>
        </p:spPr>
        <p:txBody>
          <a:bodyPr wrap="none" lIns="0" tIns="0" rIns="0" bIns="0" rtlCol="0" anchor="t"/>
          <a:lstStyle/>
          <a:p>
            <a:pPr marL="0" indent="0" algn="l">
              <a:lnSpc>
                <a:spcPct val="104000"/>
              </a:lnSpc>
              <a:buNone/>
            </a:pPr>
            <a:r>
              <a:rPr lang="en-US" sz="1600" b="1" kern="0" spc="-12" dirty="0">
                <a:solidFill>
                  <a:srgbClr val="3D3838"/>
                </a:solidFill>
                <a:latin typeface="Montserrat Bold" pitchFamily="34" charset="0"/>
                <a:ea typeface="Montserrat Bold" pitchFamily="34" charset="-122"/>
                <a:cs typeface="Montserrat Bold" pitchFamily="34" charset="-120"/>
              </a:rPr>
              <a:t>Standalone IoT monitoring</a:t>
            </a:r>
            <a:endParaRPr lang="en-US" sz="1600" dirty="0"/>
          </a:p>
        </p:txBody>
      </p:sp>
      <p:sp>
        <p:nvSpPr>
          <p:cNvPr id="14" name="Text 8"/>
          <p:cNvSpPr/>
          <p:nvPr/>
        </p:nvSpPr>
        <p:spPr>
          <a:xfrm>
            <a:off x="719814" y="5342037"/>
            <a:ext cx="4105172" cy="330994"/>
          </a:xfrm>
          <a:prstGeom prst="rect">
            <a:avLst/>
          </a:prstGeom>
          <a:noFill/>
          <a:ln/>
        </p:spPr>
        <p:txBody>
          <a:bodyPr wrap="square" lIns="0" tIns="0" rIns="0" bIns="0" rtlCol="0" anchor="t">
            <a:noAutofit/>
          </a:bodyPr>
          <a:lstStyle/>
          <a:p>
            <a:pPr marL="0" indent="0" algn="l">
              <a:lnSpc>
                <a:spcPct val="103000"/>
              </a:lnSpc>
              <a:buNone/>
            </a:pPr>
            <a:r>
              <a:rPr lang="en-US" sz="1400" dirty="0">
                <a:solidFill>
                  <a:srgbClr val="3D3838"/>
                </a:solidFill>
                <a:latin typeface="Source Sans 3" pitchFamily="34" charset="0"/>
                <a:ea typeface="Source Sans 3" pitchFamily="34" charset="-122"/>
                <a:cs typeface="Source Sans 3" pitchFamily="34" charset="-120"/>
              </a:rPr>
              <a:t>Capture telemetry and show readings; limited integration with selection tools.</a:t>
            </a:r>
            <a:endParaRPr lang="en-US" sz="1400" dirty="0"/>
          </a:p>
        </p:txBody>
      </p:sp>
      <p:sp>
        <p:nvSpPr>
          <p:cNvPr id="15" name="Text 9"/>
          <p:cNvSpPr/>
          <p:nvPr/>
        </p:nvSpPr>
        <p:spPr>
          <a:xfrm>
            <a:off x="5157361" y="1806277"/>
            <a:ext cx="6320771" cy="896541"/>
          </a:xfrm>
          <a:prstGeom prst="rect">
            <a:avLst/>
          </a:prstGeom>
          <a:noFill/>
          <a:ln/>
        </p:spPr>
        <p:txBody>
          <a:bodyPr wrap="square" lIns="0" tIns="0" rIns="0" bIns="0" rtlCol="0" anchor="t"/>
          <a:lstStyle/>
          <a:p>
            <a:pPr marL="0" indent="0" algn="l">
              <a:lnSpc>
                <a:spcPct val="103000"/>
              </a:lnSpc>
              <a:spcAft>
                <a:spcPts val="600"/>
              </a:spcAft>
              <a:buNone/>
            </a:pPr>
            <a:r>
              <a:rPr lang="en-US" sz="1400" dirty="0">
                <a:solidFill>
                  <a:srgbClr val="3D3838"/>
                </a:solidFill>
                <a:latin typeface="Source Sans 3" pitchFamily="34" charset="0"/>
                <a:ea typeface="Source Sans 3" pitchFamily="34" charset="-122"/>
                <a:cs typeface="Source Sans 3" pitchFamily="34" charset="-120"/>
              </a:rPr>
              <a:t>Existing ecosystem components are largely fragmented:</a:t>
            </a:r>
            <a:endParaRPr lang="en-US" sz="1400" dirty="0"/>
          </a:p>
          <a:p>
            <a:pPr marL="0" indent="0" algn="l">
              <a:lnSpc>
                <a:spcPct val="103000"/>
              </a:lnSpc>
              <a:spcAft>
                <a:spcPts val="600"/>
              </a:spcAft>
              <a:buNone/>
            </a:pPr>
            <a:r>
              <a:rPr lang="en-US" sz="1400" b="1" dirty="0">
                <a:solidFill>
                  <a:srgbClr val="3D3838"/>
                </a:solidFill>
                <a:latin typeface="Source Sans 3 Bold" pitchFamily="34" charset="0"/>
                <a:ea typeface="Source Sans 3 Bold" pitchFamily="34" charset="-122"/>
                <a:cs typeface="Source Sans 3 Bold" pitchFamily="34" charset="-120"/>
              </a:rPr>
              <a:t>Brand websites + Comparison sites + Recommendation tools + IoT monitoring tools</a:t>
            </a:r>
            <a:endParaRPr lang="en-US" sz="1400" dirty="0"/>
          </a:p>
          <a:p>
            <a:pPr marL="0" indent="0" algn="l">
              <a:lnSpc>
                <a:spcPct val="103000"/>
              </a:lnSpc>
              <a:spcAft>
                <a:spcPts val="600"/>
              </a:spcAft>
              <a:buNone/>
            </a:pPr>
            <a:r>
              <a:rPr lang="en-US" sz="1400" dirty="0">
                <a:solidFill>
                  <a:srgbClr val="3D3838"/>
                </a:solidFill>
                <a:latin typeface="Source Sans 3" pitchFamily="34" charset="0"/>
                <a:ea typeface="Source Sans 3" pitchFamily="34" charset="-122"/>
                <a:cs typeface="Source Sans 3" pitchFamily="34" charset="-120"/>
              </a:rPr>
              <a:t>↓</a:t>
            </a:r>
            <a:endParaRPr lang="en-US" sz="1400" dirty="0"/>
          </a:p>
          <a:p>
            <a:pPr marL="0" indent="0" algn="l">
              <a:lnSpc>
                <a:spcPct val="103000"/>
              </a:lnSpc>
              <a:buNone/>
            </a:pPr>
            <a:r>
              <a:rPr lang="en-US" sz="1400" b="1" dirty="0">
                <a:solidFill>
                  <a:srgbClr val="3D3838"/>
                </a:solidFill>
                <a:latin typeface="Source Sans 3 Bold" pitchFamily="34" charset="0"/>
                <a:ea typeface="Source Sans 3 Bold" pitchFamily="34" charset="-122"/>
                <a:cs typeface="Source Sans 3 Bold" pitchFamily="34" charset="-120"/>
              </a:rPr>
              <a:t>Fragmented user experience</a:t>
            </a:r>
            <a:endParaRPr lang="en-US" sz="1400" dirty="0"/>
          </a:p>
        </p:txBody>
      </p:sp>
      <p:sp>
        <p:nvSpPr>
          <p:cNvPr id="17" name="Shape 10"/>
          <p:cNvSpPr/>
          <p:nvPr/>
        </p:nvSpPr>
        <p:spPr>
          <a:xfrm>
            <a:off x="719814" y="5901829"/>
            <a:ext cx="10752067" cy="19050"/>
          </a:xfrm>
          <a:prstGeom prst="roundRect">
            <a:avLst>
              <a:gd name="adj" fmla="val 49999"/>
            </a:avLst>
          </a:prstGeom>
          <a:solidFill>
            <a:srgbClr val="3D3838">
              <a:alpha val="50000"/>
            </a:srgbClr>
          </a:solidFill>
          <a:ln/>
        </p:spPr>
        <p:txBody>
          <a:bodyPr/>
          <a:lstStyle/>
          <a:p>
            <a:endParaRPr lang="en-IN" sz="2800"/>
          </a:p>
        </p:txBody>
      </p:sp>
      <p:sp>
        <p:nvSpPr>
          <p:cNvPr id="18" name="Text 11"/>
          <p:cNvSpPr/>
          <p:nvPr/>
        </p:nvSpPr>
        <p:spPr>
          <a:xfrm>
            <a:off x="719814" y="6051947"/>
            <a:ext cx="11361652" cy="132358"/>
          </a:xfrm>
          <a:prstGeom prst="rect">
            <a:avLst/>
          </a:prstGeom>
          <a:noFill/>
          <a:ln/>
        </p:spPr>
        <p:txBody>
          <a:bodyPr wrap="none" lIns="0" tIns="0" rIns="0" bIns="0" rtlCol="0" anchor="t"/>
          <a:lstStyle/>
          <a:p>
            <a:pPr marL="0" indent="0" algn="l">
              <a:lnSpc>
                <a:spcPct val="103000"/>
              </a:lnSpc>
              <a:buNone/>
            </a:pPr>
            <a:r>
              <a:rPr lang="en-US" sz="1050" dirty="0">
                <a:solidFill>
                  <a:srgbClr val="3D3838"/>
                </a:solidFill>
                <a:latin typeface="Source Sans 3" pitchFamily="34" charset="0"/>
                <a:ea typeface="Source Sans 3" pitchFamily="34" charset="-122"/>
                <a:cs typeface="Source Sans 3" pitchFamily="34" charset="-120"/>
              </a:rPr>
              <a:t>Slide 7 • Clear explanation of current approaches</a:t>
            </a:r>
            <a:endParaRPr lang="en-US" sz="1050" dirty="0"/>
          </a:p>
        </p:txBody>
      </p:sp>
      <p:pic>
        <p:nvPicPr>
          <p:cNvPr id="20" name="Picture 19">
            <a:extLst>
              <a:ext uri="{FF2B5EF4-FFF2-40B4-BE49-F238E27FC236}">
                <a16:creationId xmlns:a16="http://schemas.microsoft.com/office/drawing/2014/main" id="{A33ADA8E-E1BA-E5AA-740D-2EAEDA27B494}"/>
              </a:ext>
            </a:extLst>
          </p:cNvPr>
          <p:cNvPicPr>
            <a:picLocks noChangeAspect="1"/>
          </p:cNvPicPr>
          <p:nvPr/>
        </p:nvPicPr>
        <p:blipFill>
          <a:blip r:embed="rId7"/>
          <a:stretch>
            <a:fillRect/>
          </a:stretch>
        </p:blipFill>
        <p:spPr>
          <a:xfrm>
            <a:off x="10526329" y="6542981"/>
            <a:ext cx="1665671" cy="295275"/>
          </a:xfrm>
          <a:prstGeom prst="rect">
            <a:avLst/>
          </a:prstGeom>
        </p:spPr>
      </p:pic>
      <p:pic>
        <p:nvPicPr>
          <p:cNvPr id="22" name="Picture 21">
            <a:extLst>
              <a:ext uri="{FF2B5EF4-FFF2-40B4-BE49-F238E27FC236}">
                <a16:creationId xmlns:a16="http://schemas.microsoft.com/office/drawing/2014/main" id="{5155A7D8-E0A1-E5B8-1409-7A0A39E58B86}"/>
              </a:ext>
            </a:extLst>
          </p:cNvPr>
          <p:cNvPicPr>
            <a:picLocks noChangeAspect="1"/>
          </p:cNvPicPr>
          <p:nvPr/>
        </p:nvPicPr>
        <p:blipFill>
          <a:blip r:embed="rId8"/>
          <a:stretch>
            <a:fillRect/>
          </a:stretch>
        </p:blipFill>
        <p:spPr>
          <a:xfrm>
            <a:off x="4949105" y="2679108"/>
            <a:ext cx="6737282" cy="27755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4384" y="260350"/>
            <a:ext cx="10752067" cy="525859"/>
          </a:xfrm>
          <a:prstGeom prst="rect">
            <a:avLst/>
          </a:prstGeom>
          <a:noFill/>
          <a:ln/>
        </p:spPr>
        <p:txBody>
          <a:bodyPr wrap="none" lIns="0" tIns="0" rIns="0" bIns="0" rtlCol="0" anchor="t"/>
          <a:lstStyle/>
          <a:p>
            <a:pPr marL="0" indent="0" algn="l">
              <a:lnSpc>
                <a:spcPct val="104000"/>
              </a:lnSpc>
              <a:buNone/>
            </a:pPr>
            <a:r>
              <a:rPr lang="en-US" sz="3300" b="1" kern="0" spc="-33" dirty="0">
                <a:solidFill>
                  <a:srgbClr val="000000"/>
                </a:solidFill>
                <a:latin typeface="Montserrat Bold" pitchFamily="34" charset="0"/>
                <a:ea typeface="Montserrat Bold" pitchFamily="34" charset="-122"/>
                <a:cs typeface="Montserrat Bold" pitchFamily="34" charset="-120"/>
              </a:rPr>
              <a:t>Proposed System — Two Connected Stages</a:t>
            </a:r>
            <a:endParaRPr lang="en-US" sz="3300" dirty="0"/>
          </a:p>
        </p:txBody>
      </p:sp>
      <p:sp>
        <p:nvSpPr>
          <p:cNvPr id="16" name="Text 12"/>
          <p:cNvSpPr/>
          <p:nvPr/>
        </p:nvSpPr>
        <p:spPr>
          <a:xfrm>
            <a:off x="719814" y="5860752"/>
            <a:ext cx="11361652" cy="211038"/>
          </a:xfrm>
          <a:prstGeom prst="rect">
            <a:avLst/>
          </a:prstGeom>
          <a:noFill/>
          <a:ln/>
        </p:spPr>
        <p:txBody>
          <a:bodyPr wrap="none" lIns="0" tIns="0" rIns="0" bIns="0" rtlCol="0" anchor="t"/>
          <a:lstStyle/>
          <a:p>
            <a:pPr marL="0" indent="0" algn="l">
              <a:lnSpc>
                <a:spcPct val="119000"/>
              </a:lnSpc>
              <a:buNone/>
            </a:pPr>
            <a:r>
              <a:rPr lang="en-US" sz="1150" dirty="0">
                <a:solidFill>
                  <a:srgbClr val="3D3838"/>
                </a:solidFill>
                <a:latin typeface="Source Sans 3" pitchFamily="34" charset="0"/>
                <a:ea typeface="Source Sans 3" pitchFamily="34" charset="-122"/>
                <a:cs typeface="Source Sans 3" pitchFamily="34" charset="-120"/>
              </a:rPr>
              <a:t>Slide 8 • Concise two‑stage overview with engineering diagram</a:t>
            </a:r>
            <a:endParaRPr lang="en-US" sz="1150" dirty="0"/>
          </a:p>
        </p:txBody>
      </p:sp>
      <p:pic>
        <p:nvPicPr>
          <p:cNvPr id="18" name="Picture 17">
            <a:extLst>
              <a:ext uri="{FF2B5EF4-FFF2-40B4-BE49-F238E27FC236}">
                <a16:creationId xmlns:a16="http://schemas.microsoft.com/office/drawing/2014/main" id="{4A76F8BB-1CBB-74AF-533F-8EF6C7EEE635}"/>
              </a:ext>
            </a:extLst>
          </p:cNvPr>
          <p:cNvPicPr>
            <a:picLocks noChangeAspect="1"/>
          </p:cNvPicPr>
          <p:nvPr/>
        </p:nvPicPr>
        <p:blipFill>
          <a:blip r:embed="rId3"/>
          <a:stretch>
            <a:fillRect/>
          </a:stretch>
        </p:blipFill>
        <p:spPr>
          <a:xfrm>
            <a:off x="10900903" y="6562725"/>
            <a:ext cx="1291097" cy="295275"/>
          </a:xfrm>
          <a:prstGeom prst="rect">
            <a:avLst/>
          </a:prstGeom>
        </p:spPr>
      </p:pic>
      <p:pic>
        <p:nvPicPr>
          <p:cNvPr id="20" name="Picture 19">
            <a:extLst>
              <a:ext uri="{FF2B5EF4-FFF2-40B4-BE49-F238E27FC236}">
                <a16:creationId xmlns:a16="http://schemas.microsoft.com/office/drawing/2014/main" id="{D1602B70-EF54-0FDF-365B-501BEF64B35A}"/>
              </a:ext>
            </a:extLst>
          </p:cNvPr>
          <p:cNvPicPr>
            <a:picLocks noChangeAspect="1"/>
          </p:cNvPicPr>
          <p:nvPr/>
        </p:nvPicPr>
        <p:blipFill>
          <a:blip r:embed="rId4"/>
          <a:stretch>
            <a:fillRect/>
          </a:stretch>
        </p:blipFill>
        <p:spPr>
          <a:xfrm>
            <a:off x="110534" y="900753"/>
            <a:ext cx="11970932" cy="56619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63171" y="194222"/>
            <a:ext cx="10752067" cy="379809"/>
          </a:xfrm>
          <a:prstGeom prst="rect">
            <a:avLst/>
          </a:prstGeom>
          <a:noFill/>
          <a:ln/>
        </p:spPr>
        <p:txBody>
          <a:bodyPr wrap="none" lIns="0" tIns="0" rIns="0" bIns="0" rtlCol="0" anchor="t"/>
          <a:lstStyle/>
          <a:p>
            <a:pPr marL="0" indent="0" algn="ctr">
              <a:lnSpc>
                <a:spcPct val="104000"/>
              </a:lnSpc>
              <a:buNone/>
            </a:pPr>
            <a:r>
              <a:rPr lang="en-US" sz="2350" b="1" kern="0" spc="-24" dirty="0">
                <a:solidFill>
                  <a:srgbClr val="000000"/>
                </a:solidFill>
                <a:latin typeface="Montserrat Bold" pitchFamily="34" charset="0"/>
                <a:ea typeface="Montserrat Bold" pitchFamily="34" charset="-122"/>
                <a:cs typeface="Montserrat Bold" pitchFamily="34" charset="-120"/>
              </a:rPr>
              <a:t>System Architecture</a:t>
            </a:r>
            <a:endParaRPr lang="en-US" sz="2350" dirty="0"/>
          </a:p>
        </p:txBody>
      </p:sp>
      <p:sp>
        <p:nvSpPr>
          <p:cNvPr id="3" name="Text 1"/>
          <p:cNvSpPr/>
          <p:nvPr/>
        </p:nvSpPr>
        <p:spPr>
          <a:xfrm>
            <a:off x="719814" y="1339056"/>
            <a:ext cx="11361652" cy="165497"/>
          </a:xfrm>
          <a:prstGeom prst="rect">
            <a:avLst/>
          </a:prstGeom>
          <a:noFill/>
          <a:ln/>
        </p:spPr>
        <p:txBody>
          <a:bodyPr wrap="none" lIns="0" tIns="0" rIns="0" bIns="0" rtlCol="0" anchor="t"/>
          <a:lstStyle/>
          <a:p>
            <a:pPr marL="0" indent="0" algn="l">
              <a:lnSpc>
                <a:spcPct val="103000"/>
              </a:lnSpc>
              <a:buNone/>
            </a:pPr>
            <a:r>
              <a:rPr lang="en-US" sz="1050" dirty="0">
                <a:solidFill>
                  <a:srgbClr val="3D3838"/>
                </a:solidFill>
                <a:latin typeface="Source Sans 3" pitchFamily="34" charset="0"/>
                <a:ea typeface="Source Sans 3" pitchFamily="34" charset="-122"/>
                <a:cs typeface="Source Sans 3" pitchFamily="34" charset="-120"/>
              </a:rPr>
              <a:t>Clean technical architecture separated into hardware and software layers.</a:t>
            </a:r>
            <a:endParaRPr lang="en-US" sz="1050" dirty="0"/>
          </a:p>
        </p:txBody>
      </p:sp>
      <p:pic>
        <p:nvPicPr>
          <p:cNvPr id="4" name="Image 0" descr="preencoded.png"/>
          <p:cNvPicPr>
            <a:picLocks noChangeAspect="1"/>
          </p:cNvPicPr>
          <p:nvPr/>
        </p:nvPicPr>
        <p:blipFill>
          <a:blip r:embed="rId3"/>
          <a:stretch>
            <a:fillRect/>
          </a:stretch>
        </p:blipFill>
        <p:spPr>
          <a:xfrm>
            <a:off x="1632108" y="1700014"/>
            <a:ext cx="3388434" cy="1920081"/>
          </a:xfrm>
          <a:prstGeom prst="rect">
            <a:avLst/>
          </a:prstGeom>
        </p:spPr>
      </p:pic>
      <p:sp>
        <p:nvSpPr>
          <p:cNvPr id="5" name="Text 2"/>
          <p:cNvSpPr/>
          <p:nvPr/>
        </p:nvSpPr>
        <p:spPr>
          <a:xfrm>
            <a:off x="6265210" y="2527697"/>
            <a:ext cx="5213021" cy="264716"/>
          </a:xfrm>
          <a:prstGeom prst="rect">
            <a:avLst/>
          </a:prstGeom>
          <a:noFill/>
          <a:ln/>
        </p:spPr>
        <p:txBody>
          <a:bodyPr wrap="square" lIns="0" tIns="0" rIns="0" bIns="0" rtlCol="0" anchor="t">
            <a:normAutofit/>
          </a:bodyPr>
          <a:lstStyle/>
          <a:p>
            <a:pPr marL="0" indent="0" algn="l">
              <a:lnSpc>
                <a:spcPct val="103000"/>
              </a:lnSpc>
              <a:buNone/>
            </a:pPr>
            <a:r>
              <a:rPr lang="en-US" sz="800" dirty="0">
                <a:solidFill>
                  <a:srgbClr val="3D3838"/>
                </a:solidFill>
                <a:latin typeface="Source Sans 3" pitchFamily="34" charset="0"/>
                <a:ea typeface="Source Sans 3" pitchFamily="34" charset="-122"/>
                <a:cs typeface="Source Sans 3" pitchFamily="34" charset="-120"/>
              </a:rPr>
              <a:t>Recommendation flow: User requirements → Recommendation engine → Multi‑brand dataset → Compatibility score → Ranked results</a:t>
            </a:r>
            <a:endParaRPr lang="en-US" sz="800" dirty="0"/>
          </a:p>
        </p:txBody>
      </p:sp>
      <p:sp>
        <p:nvSpPr>
          <p:cNvPr id="6" name="Shape 3"/>
          <p:cNvSpPr/>
          <p:nvPr/>
        </p:nvSpPr>
        <p:spPr>
          <a:xfrm>
            <a:off x="719814" y="3815556"/>
            <a:ext cx="2622881" cy="1043781"/>
          </a:xfrm>
          <a:prstGeom prst="roundRect">
            <a:avLst>
              <a:gd name="adj" fmla="val 1921"/>
            </a:avLst>
          </a:prstGeom>
          <a:solidFill>
            <a:srgbClr val="FFFFFF"/>
          </a:solidFill>
          <a:ln w="19050">
            <a:solidFill>
              <a:srgbClr val="D8D4D4"/>
            </a:solidFill>
            <a:prstDash val="solid"/>
          </a:ln>
        </p:spPr>
        <p:txBody>
          <a:bodyPr/>
          <a:lstStyle/>
          <a:p>
            <a:endParaRPr lang="en-IN"/>
          </a:p>
        </p:txBody>
      </p:sp>
      <p:sp>
        <p:nvSpPr>
          <p:cNvPr id="7" name="Text 4"/>
          <p:cNvSpPr/>
          <p:nvPr/>
        </p:nvSpPr>
        <p:spPr>
          <a:xfrm>
            <a:off x="872508" y="3968254"/>
            <a:ext cx="2317494" cy="189805"/>
          </a:xfrm>
          <a:prstGeom prst="rect">
            <a:avLst/>
          </a:prstGeom>
          <a:noFill/>
          <a:ln/>
        </p:spPr>
        <p:txBody>
          <a:bodyPr wrap="none" lIns="0" tIns="0" rIns="0" bIns="0" rtlCol="0" anchor="t"/>
          <a:lstStyle/>
          <a:p>
            <a:pPr marL="0" indent="0" algn="l">
              <a:lnSpc>
                <a:spcPct val="104000"/>
              </a:lnSpc>
              <a:buNone/>
            </a:pPr>
            <a:r>
              <a:rPr lang="en-US" sz="1150" b="1" kern="0" spc="-12" dirty="0">
                <a:solidFill>
                  <a:srgbClr val="3D3838"/>
                </a:solidFill>
                <a:latin typeface="Montserrat Bold" pitchFamily="34" charset="0"/>
                <a:ea typeface="Montserrat Bold" pitchFamily="34" charset="-122"/>
                <a:cs typeface="Montserrat Bold" pitchFamily="34" charset="-120"/>
              </a:rPr>
              <a:t>Hardware layer</a:t>
            </a:r>
            <a:endParaRPr lang="en-US" sz="1150" dirty="0"/>
          </a:p>
        </p:txBody>
      </p:sp>
      <p:sp>
        <p:nvSpPr>
          <p:cNvPr id="8" name="Text 5"/>
          <p:cNvSpPr/>
          <p:nvPr/>
        </p:nvSpPr>
        <p:spPr>
          <a:xfrm>
            <a:off x="872508" y="4210149"/>
            <a:ext cx="2317494" cy="496491"/>
          </a:xfrm>
          <a:prstGeom prst="rect">
            <a:avLst/>
          </a:prstGeom>
          <a:noFill/>
          <a:ln/>
        </p:spPr>
        <p:txBody>
          <a:bodyPr wrap="square" lIns="0" tIns="0" rIns="0" bIns="0" rtlCol="0" anchor="t">
            <a:normAutofit/>
          </a:bodyPr>
          <a:lstStyle/>
          <a:p>
            <a:pPr marL="0" indent="0" algn="l">
              <a:lnSpc>
                <a:spcPct val="103000"/>
              </a:lnSpc>
              <a:buNone/>
            </a:pPr>
            <a:r>
              <a:rPr lang="en-US" sz="1050" dirty="0">
                <a:solidFill>
                  <a:srgbClr val="3D3838"/>
                </a:solidFill>
                <a:latin typeface="Source Sans 3" pitchFamily="34" charset="0"/>
                <a:ea typeface="Source Sans 3" pitchFamily="34" charset="-122"/>
                <a:cs typeface="Source Sans 3" pitchFamily="34" charset="-120"/>
              </a:rPr>
              <a:t>Temperature sensor, Battery voltage/current sensors, MPU6050 (vibration/tilt), optional GPS → ESP32</a:t>
            </a:r>
            <a:endParaRPr lang="en-US" sz="1050" dirty="0"/>
          </a:p>
        </p:txBody>
      </p:sp>
      <p:sp>
        <p:nvSpPr>
          <p:cNvPr id="9" name="Shape 6"/>
          <p:cNvSpPr/>
          <p:nvPr/>
        </p:nvSpPr>
        <p:spPr>
          <a:xfrm>
            <a:off x="3429510" y="3815556"/>
            <a:ext cx="2622881" cy="1043781"/>
          </a:xfrm>
          <a:prstGeom prst="roundRect">
            <a:avLst>
              <a:gd name="adj" fmla="val 1921"/>
            </a:avLst>
          </a:prstGeom>
          <a:solidFill>
            <a:srgbClr val="FFFFFF"/>
          </a:solidFill>
          <a:ln w="19050">
            <a:solidFill>
              <a:srgbClr val="D8D4D4"/>
            </a:solidFill>
            <a:prstDash val="solid"/>
          </a:ln>
        </p:spPr>
        <p:txBody>
          <a:bodyPr/>
          <a:lstStyle/>
          <a:p>
            <a:endParaRPr lang="en-IN"/>
          </a:p>
        </p:txBody>
      </p:sp>
      <p:sp>
        <p:nvSpPr>
          <p:cNvPr id="10" name="Text 7"/>
          <p:cNvSpPr/>
          <p:nvPr/>
        </p:nvSpPr>
        <p:spPr>
          <a:xfrm>
            <a:off x="3582203" y="3968254"/>
            <a:ext cx="2317494" cy="189805"/>
          </a:xfrm>
          <a:prstGeom prst="rect">
            <a:avLst/>
          </a:prstGeom>
          <a:noFill/>
          <a:ln/>
        </p:spPr>
        <p:txBody>
          <a:bodyPr wrap="none" lIns="0" tIns="0" rIns="0" bIns="0" rtlCol="0" anchor="t"/>
          <a:lstStyle/>
          <a:p>
            <a:pPr marL="0" indent="0" algn="l">
              <a:lnSpc>
                <a:spcPct val="104000"/>
              </a:lnSpc>
              <a:buNone/>
            </a:pPr>
            <a:r>
              <a:rPr lang="en-US" sz="1150" b="1" kern="0" spc="-12" dirty="0">
                <a:solidFill>
                  <a:srgbClr val="3D3838"/>
                </a:solidFill>
                <a:latin typeface="Montserrat Bold" pitchFamily="34" charset="0"/>
                <a:ea typeface="Montserrat Bold" pitchFamily="34" charset="-122"/>
                <a:cs typeface="Montserrat Bold" pitchFamily="34" charset="-120"/>
              </a:rPr>
              <a:t>Communication</a:t>
            </a:r>
            <a:endParaRPr lang="en-US" sz="1150" dirty="0"/>
          </a:p>
        </p:txBody>
      </p:sp>
      <p:sp>
        <p:nvSpPr>
          <p:cNvPr id="11" name="Text 8"/>
          <p:cNvSpPr/>
          <p:nvPr/>
        </p:nvSpPr>
        <p:spPr>
          <a:xfrm>
            <a:off x="3582203" y="4210149"/>
            <a:ext cx="2317494" cy="165497"/>
          </a:xfrm>
          <a:prstGeom prst="rect">
            <a:avLst/>
          </a:prstGeom>
          <a:noFill/>
          <a:ln/>
        </p:spPr>
        <p:txBody>
          <a:bodyPr wrap="none" lIns="0" tIns="0" rIns="0" bIns="0" rtlCol="0" anchor="t"/>
          <a:lstStyle/>
          <a:p>
            <a:pPr marL="0" indent="0" algn="l">
              <a:lnSpc>
                <a:spcPct val="103000"/>
              </a:lnSpc>
              <a:buNone/>
            </a:pPr>
            <a:r>
              <a:rPr lang="en-US" sz="1050" dirty="0">
                <a:solidFill>
                  <a:srgbClr val="3D3838"/>
                </a:solidFill>
                <a:latin typeface="Source Sans 3" pitchFamily="34" charset="0"/>
                <a:ea typeface="Source Sans 3" pitchFamily="34" charset="-122"/>
                <a:cs typeface="Source Sans 3" pitchFamily="34" charset="-120"/>
              </a:rPr>
              <a:t>ESP32 → Wi‑Fi / Internet (HTTP / MQTT)</a:t>
            </a:r>
            <a:endParaRPr lang="en-US" sz="1050" dirty="0"/>
          </a:p>
        </p:txBody>
      </p:sp>
      <p:sp>
        <p:nvSpPr>
          <p:cNvPr id="12" name="Shape 9"/>
          <p:cNvSpPr/>
          <p:nvPr/>
        </p:nvSpPr>
        <p:spPr>
          <a:xfrm>
            <a:off x="6139205" y="3815556"/>
            <a:ext cx="2622881" cy="1043781"/>
          </a:xfrm>
          <a:prstGeom prst="roundRect">
            <a:avLst>
              <a:gd name="adj" fmla="val 1921"/>
            </a:avLst>
          </a:prstGeom>
          <a:solidFill>
            <a:srgbClr val="FFFFFF"/>
          </a:solidFill>
          <a:ln w="19050">
            <a:solidFill>
              <a:srgbClr val="D8D4D4"/>
            </a:solidFill>
            <a:prstDash val="solid"/>
          </a:ln>
        </p:spPr>
        <p:txBody>
          <a:bodyPr/>
          <a:lstStyle/>
          <a:p>
            <a:endParaRPr lang="en-IN"/>
          </a:p>
        </p:txBody>
      </p:sp>
      <p:sp>
        <p:nvSpPr>
          <p:cNvPr id="13" name="Text 10"/>
          <p:cNvSpPr/>
          <p:nvPr/>
        </p:nvSpPr>
        <p:spPr>
          <a:xfrm>
            <a:off x="6291899" y="3968254"/>
            <a:ext cx="2317494" cy="189805"/>
          </a:xfrm>
          <a:prstGeom prst="rect">
            <a:avLst/>
          </a:prstGeom>
          <a:noFill/>
          <a:ln/>
        </p:spPr>
        <p:txBody>
          <a:bodyPr wrap="none" lIns="0" tIns="0" rIns="0" bIns="0" rtlCol="0" anchor="t"/>
          <a:lstStyle/>
          <a:p>
            <a:pPr marL="0" indent="0" algn="l">
              <a:lnSpc>
                <a:spcPct val="104000"/>
              </a:lnSpc>
              <a:buNone/>
            </a:pPr>
            <a:r>
              <a:rPr lang="en-US" sz="1150" b="1" kern="0" spc="-12" dirty="0">
                <a:solidFill>
                  <a:srgbClr val="3D3838"/>
                </a:solidFill>
                <a:latin typeface="Montserrat Bold" pitchFamily="34" charset="0"/>
                <a:ea typeface="Montserrat Bold" pitchFamily="34" charset="-122"/>
                <a:cs typeface="Montserrat Bold" pitchFamily="34" charset="-120"/>
              </a:rPr>
              <a:t>Backend</a:t>
            </a:r>
            <a:endParaRPr lang="en-US" sz="1150" dirty="0"/>
          </a:p>
        </p:txBody>
      </p:sp>
      <p:sp>
        <p:nvSpPr>
          <p:cNvPr id="14" name="Text 11"/>
          <p:cNvSpPr/>
          <p:nvPr/>
        </p:nvSpPr>
        <p:spPr>
          <a:xfrm>
            <a:off x="6291899" y="4210149"/>
            <a:ext cx="2317494" cy="330994"/>
          </a:xfrm>
          <a:prstGeom prst="rect">
            <a:avLst/>
          </a:prstGeom>
          <a:noFill/>
          <a:ln/>
        </p:spPr>
        <p:txBody>
          <a:bodyPr wrap="square" lIns="0" tIns="0" rIns="0" bIns="0" rtlCol="0" anchor="t">
            <a:normAutofit/>
          </a:bodyPr>
          <a:lstStyle/>
          <a:p>
            <a:pPr marL="0" indent="0" algn="l">
              <a:lnSpc>
                <a:spcPct val="103000"/>
              </a:lnSpc>
              <a:buNone/>
            </a:pPr>
            <a:r>
              <a:rPr lang="en-US" sz="1050" dirty="0">
                <a:solidFill>
                  <a:srgbClr val="3D3838"/>
                </a:solidFill>
                <a:latin typeface="Source Sans 3" pitchFamily="34" charset="0"/>
                <a:ea typeface="Source Sans 3" pitchFamily="34" charset="-122"/>
                <a:cs typeface="Source Sans 3" pitchFamily="34" charset="-120"/>
              </a:rPr>
              <a:t>API server → Database (product dataset &amp; telemetry store)</a:t>
            </a:r>
            <a:endParaRPr lang="en-US" sz="1050" dirty="0"/>
          </a:p>
        </p:txBody>
      </p:sp>
      <p:sp>
        <p:nvSpPr>
          <p:cNvPr id="15" name="Shape 12"/>
          <p:cNvSpPr/>
          <p:nvPr/>
        </p:nvSpPr>
        <p:spPr>
          <a:xfrm>
            <a:off x="8848901" y="3815556"/>
            <a:ext cx="2622980" cy="1043781"/>
          </a:xfrm>
          <a:prstGeom prst="roundRect">
            <a:avLst>
              <a:gd name="adj" fmla="val 1921"/>
            </a:avLst>
          </a:prstGeom>
          <a:solidFill>
            <a:srgbClr val="FFFFFF"/>
          </a:solidFill>
          <a:ln w="19050">
            <a:solidFill>
              <a:srgbClr val="D8D4D4"/>
            </a:solidFill>
            <a:prstDash val="solid"/>
          </a:ln>
        </p:spPr>
        <p:txBody>
          <a:bodyPr/>
          <a:lstStyle/>
          <a:p>
            <a:endParaRPr lang="en-IN"/>
          </a:p>
        </p:txBody>
      </p:sp>
      <p:sp>
        <p:nvSpPr>
          <p:cNvPr id="16" name="Text 13"/>
          <p:cNvSpPr/>
          <p:nvPr/>
        </p:nvSpPr>
        <p:spPr>
          <a:xfrm>
            <a:off x="9001594" y="3968254"/>
            <a:ext cx="2317593" cy="189805"/>
          </a:xfrm>
          <a:prstGeom prst="rect">
            <a:avLst/>
          </a:prstGeom>
          <a:noFill/>
          <a:ln/>
        </p:spPr>
        <p:txBody>
          <a:bodyPr wrap="none" lIns="0" tIns="0" rIns="0" bIns="0" rtlCol="0" anchor="t"/>
          <a:lstStyle/>
          <a:p>
            <a:pPr marL="0" indent="0" algn="l">
              <a:lnSpc>
                <a:spcPct val="104000"/>
              </a:lnSpc>
              <a:buNone/>
            </a:pPr>
            <a:r>
              <a:rPr lang="en-US" sz="1150" b="1" kern="0" spc="-12" dirty="0">
                <a:solidFill>
                  <a:srgbClr val="3D3838"/>
                </a:solidFill>
                <a:latin typeface="Montserrat Bold" pitchFamily="34" charset="0"/>
                <a:ea typeface="Montserrat Bold" pitchFamily="34" charset="-122"/>
                <a:cs typeface="Montserrat Bold" pitchFamily="34" charset="-120"/>
              </a:rPr>
              <a:t>Software &amp; UX</a:t>
            </a:r>
            <a:endParaRPr lang="en-US" sz="1150" dirty="0"/>
          </a:p>
        </p:txBody>
      </p:sp>
      <p:sp>
        <p:nvSpPr>
          <p:cNvPr id="17" name="Text 14"/>
          <p:cNvSpPr/>
          <p:nvPr/>
        </p:nvSpPr>
        <p:spPr>
          <a:xfrm>
            <a:off x="9001594" y="4210149"/>
            <a:ext cx="2317593" cy="496491"/>
          </a:xfrm>
          <a:prstGeom prst="rect">
            <a:avLst/>
          </a:prstGeom>
          <a:noFill/>
          <a:ln/>
        </p:spPr>
        <p:txBody>
          <a:bodyPr wrap="square" lIns="0" tIns="0" rIns="0" bIns="0" rtlCol="0" anchor="t">
            <a:normAutofit/>
          </a:bodyPr>
          <a:lstStyle/>
          <a:p>
            <a:pPr marL="0" indent="0" algn="l">
              <a:lnSpc>
                <a:spcPct val="103000"/>
              </a:lnSpc>
              <a:buNone/>
            </a:pPr>
            <a:r>
              <a:rPr lang="en-US" sz="1050" dirty="0">
                <a:solidFill>
                  <a:srgbClr val="3D3838"/>
                </a:solidFill>
                <a:latin typeface="Source Sans 3" pitchFamily="34" charset="0"/>
                <a:ea typeface="Source Sans 3" pitchFamily="34" charset="-122"/>
                <a:cs typeface="Source Sans 3" pitchFamily="34" charset="-120"/>
              </a:rPr>
              <a:t>Web app: Recommendation engine, Monitoring dashboard, Alerts &amp; Maintenance modules</a:t>
            </a:r>
            <a:endParaRPr lang="en-US" sz="1050" dirty="0"/>
          </a:p>
        </p:txBody>
      </p:sp>
      <p:sp>
        <p:nvSpPr>
          <p:cNvPr id="18" name="Shape 15"/>
          <p:cNvSpPr/>
          <p:nvPr/>
        </p:nvSpPr>
        <p:spPr>
          <a:xfrm>
            <a:off x="719814" y="4946154"/>
            <a:ext cx="10752067" cy="712788"/>
          </a:xfrm>
          <a:prstGeom prst="roundRect">
            <a:avLst>
              <a:gd name="adj" fmla="val 2814"/>
            </a:avLst>
          </a:prstGeom>
          <a:solidFill>
            <a:srgbClr val="FFFFFF"/>
          </a:solidFill>
          <a:ln w="19050">
            <a:solidFill>
              <a:srgbClr val="D8D4D4"/>
            </a:solidFill>
            <a:prstDash val="solid"/>
          </a:ln>
        </p:spPr>
        <p:txBody>
          <a:bodyPr/>
          <a:lstStyle/>
          <a:p>
            <a:endParaRPr lang="en-IN"/>
          </a:p>
        </p:txBody>
      </p:sp>
      <p:sp>
        <p:nvSpPr>
          <p:cNvPr id="19" name="Text 16"/>
          <p:cNvSpPr/>
          <p:nvPr/>
        </p:nvSpPr>
        <p:spPr>
          <a:xfrm>
            <a:off x="872508" y="5098852"/>
            <a:ext cx="10446679" cy="189805"/>
          </a:xfrm>
          <a:prstGeom prst="rect">
            <a:avLst/>
          </a:prstGeom>
          <a:noFill/>
          <a:ln/>
        </p:spPr>
        <p:txBody>
          <a:bodyPr wrap="none" lIns="0" tIns="0" rIns="0" bIns="0" rtlCol="0" anchor="t"/>
          <a:lstStyle/>
          <a:p>
            <a:pPr marL="0" indent="0" algn="l">
              <a:lnSpc>
                <a:spcPct val="104000"/>
              </a:lnSpc>
              <a:buNone/>
            </a:pPr>
            <a:r>
              <a:rPr lang="en-US" sz="1150" b="1" kern="0" spc="-12" dirty="0">
                <a:solidFill>
                  <a:srgbClr val="3D3838"/>
                </a:solidFill>
                <a:latin typeface="Montserrat Bold" pitchFamily="34" charset="0"/>
                <a:ea typeface="Montserrat Bold" pitchFamily="34" charset="-122"/>
                <a:cs typeface="Montserrat Bold" pitchFamily="34" charset="-120"/>
              </a:rPr>
              <a:t>User layer</a:t>
            </a:r>
            <a:endParaRPr lang="en-US" sz="1150" dirty="0"/>
          </a:p>
        </p:txBody>
      </p:sp>
      <p:sp>
        <p:nvSpPr>
          <p:cNvPr id="20" name="Text 17"/>
          <p:cNvSpPr/>
          <p:nvPr/>
        </p:nvSpPr>
        <p:spPr>
          <a:xfrm>
            <a:off x="872508" y="5340747"/>
            <a:ext cx="10446679" cy="165497"/>
          </a:xfrm>
          <a:prstGeom prst="rect">
            <a:avLst/>
          </a:prstGeom>
          <a:noFill/>
          <a:ln/>
        </p:spPr>
        <p:txBody>
          <a:bodyPr wrap="none" lIns="0" tIns="0" rIns="0" bIns="0" rtlCol="0" anchor="t"/>
          <a:lstStyle/>
          <a:p>
            <a:pPr marL="0" indent="0" algn="l">
              <a:lnSpc>
                <a:spcPct val="103000"/>
              </a:lnSpc>
              <a:buNone/>
            </a:pPr>
            <a:r>
              <a:rPr lang="en-US" sz="1050" dirty="0">
                <a:solidFill>
                  <a:srgbClr val="3D3838"/>
                </a:solidFill>
                <a:latin typeface="Source Sans 3" pitchFamily="34" charset="0"/>
                <a:ea typeface="Source Sans 3" pitchFamily="34" charset="-122"/>
                <a:cs typeface="Source Sans 3" pitchFamily="34" charset="-120"/>
              </a:rPr>
              <a:t>End user interacts via web interface for selection and monitoring</a:t>
            </a:r>
            <a:endParaRPr lang="en-US" sz="1050" dirty="0"/>
          </a:p>
        </p:txBody>
      </p:sp>
      <p:sp>
        <p:nvSpPr>
          <p:cNvPr id="21" name="Shape 18"/>
          <p:cNvSpPr/>
          <p:nvPr/>
        </p:nvSpPr>
        <p:spPr>
          <a:xfrm>
            <a:off x="719814" y="5790009"/>
            <a:ext cx="10752067" cy="19050"/>
          </a:xfrm>
          <a:prstGeom prst="roundRect">
            <a:avLst>
              <a:gd name="adj" fmla="val 49999"/>
            </a:avLst>
          </a:prstGeom>
          <a:solidFill>
            <a:srgbClr val="3D3838">
              <a:alpha val="50000"/>
            </a:srgbClr>
          </a:solidFill>
          <a:ln/>
        </p:spPr>
        <p:txBody>
          <a:bodyPr/>
          <a:lstStyle/>
          <a:p>
            <a:endParaRPr lang="en-IN"/>
          </a:p>
        </p:txBody>
      </p:sp>
      <p:sp>
        <p:nvSpPr>
          <p:cNvPr id="22" name="Text 19"/>
          <p:cNvSpPr/>
          <p:nvPr/>
        </p:nvSpPr>
        <p:spPr>
          <a:xfrm>
            <a:off x="719814" y="5940127"/>
            <a:ext cx="11361652" cy="132358"/>
          </a:xfrm>
          <a:prstGeom prst="rect">
            <a:avLst/>
          </a:prstGeom>
          <a:noFill/>
          <a:ln/>
        </p:spPr>
        <p:txBody>
          <a:bodyPr wrap="none" lIns="0" tIns="0" rIns="0" bIns="0" rtlCol="0" anchor="t"/>
          <a:lstStyle/>
          <a:p>
            <a:pPr marL="0" indent="0" algn="l">
              <a:lnSpc>
                <a:spcPct val="103000"/>
              </a:lnSpc>
              <a:buNone/>
            </a:pPr>
            <a:r>
              <a:rPr lang="en-US" sz="800" dirty="0">
                <a:solidFill>
                  <a:srgbClr val="3D3838"/>
                </a:solidFill>
                <a:latin typeface="Source Sans 3" pitchFamily="34" charset="0"/>
                <a:ea typeface="Source Sans 3" pitchFamily="34" charset="-122"/>
                <a:cs typeface="Source Sans 3" pitchFamily="34" charset="-120"/>
              </a:rPr>
              <a:t>Slide 9 • Engineering block diagram with software/hardware separation</a:t>
            </a:r>
            <a:endParaRPr lang="en-US" sz="800" dirty="0"/>
          </a:p>
        </p:txBody>
      </p:sp>
      <p:pic>
        <p:nvPicPr>
          <p:cNvPr id="24" name="Picture 23">
            <a:extLst>
              <a:ext uri="{FF2B5EF4-FFF2-40B4-BE49-F238E27FC236}">
                <a16:creationId xmlns:a16="http://schemas.microsoft.com/office/drawing/2014/main" id="{5D6A9844-7BE5-F497-E3EA-40CBDDB0DB6C}"/>
              </a:ext>
            </a:extLst>
          </p:cNvPr>
          <p:cNvPicPr>
            <a:picLocks noChangeAspect="1"/>
          </p:cNvPicPr>
          <p:nvPr/>
        </p:nvPicPr>
        <p:blipFill>
          <a:blip r:embed="rId4"/>
          <a:stretch>
            <a:fillRect/>
          </a:stretch>
        </p:blipFill>
        <p:spPr>
          <a:xfrm>
            <a:off x="10900903" y="6530285"/>
            <a:ext cx="1291097" cy="295275"/>
          </a:xfrm>
          <a:prstGeom prst="rect">
            <a:avLst/>
          </a:prstGeom>
        </p:spPr>
      </p:pic>
      <p:pic>
        <p:nvPicPr>
          <p:cNvPr id="26" name="Picture 25">
            <a:extLst>
              <a:ext uri="{FF2B5EF4-FFF2-40B4-BE49-F238E27FC236}">
                <a16:creationId xmlns:a16="http://schemas.microsoft.com/office/drawing/2014/main" id="{F0DE407C-B9B4-5224-D123-B07730622724}"/>
              </a:ext>
            </a:extLst>
          </p:cNvPr>
          <p:cNvPicPr>
            <a:picLocks noChangeAspect="1"/>
          </p:cNvPicPr>
          <p:nvPr/>
        </p:nvPicPr>
        <p:blipFill>
          <a:blip r:embed="rId5"/>
          <a:srcRect t="9011"/>
          <a:stretch>
            <a:fillRect/>
          </a:stretch>
        </p:blipFill>
        <p:spPr>
          <a:xfrm>
            <a:off x="0" y="785516"/>
            <a:ext cx="12192000" cy="60724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10" name="Shape 7"/>
          <p:cNvSpPr/>
          <p:nvPr/>
        </p:nvSpPr>
        <p:spPr>
          <a:xfrm>
            <a:off x="719814" y="5974556"/>
            <a:ext cx="10752067" cy="12700"/>
          </a:xfrm>
          <a:prstGeom prst="roundRect">
            <a:avLst>
              <a:gd name="adj" fmla="val 49999"/>
            </a:avLst>
          </a:prstGeom>
          <a:solidFill>
            <a:srgbClr val="3D3838">
              <a:alpha val="50000"/>
            </a:srgbClr>
          </a:solidFill>
          <a:ln/>
        </p:spPr>
        <p:txBody>
          <a:bodyPr/>
          <a:lstStyle/>
          <a:p>
            <a:endParaRPr lang="en-IN"/>
          </a:p>
        </p:txBody>
      </p:sp>
      <p:sp>
        <p:nvSpPr>
          <p:cNvPr id="11" name="Text 8"/>
          <p:cNvSpPr/>
          <p:nvPr/>
        </p:nvSpPr>
        <p:spPr>
          <a:xfrm>
            <a:off x="719814" y="6058991"/>
            <a:ext cx="10752067" cy="212626"/>
          </a:xfrm>
          <a:prstGeom prst="rect">
            <a:avLst/>
          </a:prstGeom>
          <a:noFill/>
          <a:ln/>
        </p:spPr>
        <p:txBody>
          <a:bodyPr wrap="square" lIns="0" tIns="0" rIns="0" bIns="0" rtlCol="0" anchor="t"/>
          <a:lstStyle/>
          <a:p>
            <a:pPr marL="0" indent="0" algn="l">
              <a:lnSpc>
                <a:spcPct val="91000"/>
              </a:lnSpc>
              <a:spcAft>
                <a:spcPts val="350"/>
              </a:spcAft>
              <a:buNone/>
            </a:pPr>
            <a:r>
              <a:rPr lang="en-US" sz="550" dirty="0">
                <a:solidFill>
                  <a:srgbClr val="3D3838"/>
                </a:solidFill>
                <a:latin typeface="Source Sans 3" pitchFamily="34" charset="0"/>
                <a:ea typeface="Source Sans 3" pitchFamily="34" charset="-122"/>
                <a:cs typeface="Source Sans 3" pitchFamily="34" charset="-120"/>
              </a:rPr>
              <a:t>Slide 10 • Methodology as a structured process flow suitable for faculty review</a:t>
            </a:r>
            <a:endParaRPr lang="en-US" sz="550" dirty="0"/>
          </a:p>
          <a:p>
            <a:pPr marL="0" indent="0" algn="l">
              <a:lnSpc>
                <a:spcPct val="91000"/>
              </a:lnSpc>
              <a:buNone/>
            </a:pPr>
            <a:r>
              <a:rPr lang="en-US" sz="550" dirty="0">
                <a:solidFill>
                  <a:srgbClr val="3D3838"/>
                </a:solidFill>
                <a:latin typeface="Source Sans 3" pitchFamily="34" charset="0"/>
                <a:ea typeface="Source Sans 3" pitchFamily="34" charset="-122"/>
                <a:cs typeface="Source Sans 3" pitchFamily="34" charset="-120"/>
              </a:rPr>
              <a:t>Footer: AI‑Powered Multi‑Brand E‑Bike Recommendation and Smart Monitoring System • Slide 10</a:t>
            </a:r>
            <a:endParaRPr lang="en-US" sz="550" dirty="0"/>
          </a:p>
        </p:txBody>
      </p:sp>
      <p:pic>
        <p:nvPicPr>
          <p:cNvPr id="15" name="Picture 14">
            <a:extLst>
              <a:ext uri="{FF2B5EF4-FFF2-40B4-BE49-F238E27FC236}">
                <a16:creationId xmlns:a16="http://schemas.microsoft.com/office/drawing/2014/main" id="{31225A52-D2A7-B437-BA63-2D6D126155FB}"/>
              </a:ext>
            </a:extLst>
          </p:cNvPr>
          <p:cNvPicPr>
            <a:picLocks noChangeAspect="1"/>
          </p:cNvPicPr>
          <p:nvPr/>
        </p:nvPicPr>
        <p:blipFill>
          <a:blip r:embed="rId3"/>
          <a:stretch>
            <a:fillRect/>
          </a:stretch>
        </p:blipFill>
        <p:spPr>
          <a:xfrm>
            <a:off x="10896600" y="6547763"/>
            <a:ext cx="1295400" cy="295275"/>
          </a:xfrm>
          <a:prstGeom prst="rect">
            <a:avLst/>
          </a:prstGeom>
        </p:spPr>
      </p:pic>
      <p:pic>
        <p:nvPicPr>
          <p:cNvPr id="17" name="Picture 16">
            <a:extLst>
              <a:ext uri="{FF2B5EF4-FFF2-40B4-BE49-F238E27FC236}">
                <a16:creationId xmlns:a16="http://schemas.microsoft.com/office/drawing/2014/main" id="{20FA4763-471E-2167-AE1B-8262D2E83815}"/>
              </a:ext>
            </a:extLst>
          </p:cNvPr>
          <p:cNvPicPr>
            <a:picLocks noChangeAspect="1"/>
          </p:cNvPicPr>
          <p:nvPr/>
        </p:nvPicPr>
        <p:blipFill>
          <a:blip r:embed="rId4"/>
          <a:stretch>
            <a:fillRect/>
          </a:stretch>
        </p:blipFill>
        <p:spPr>
          <a:xfrm>
            <a:off x="0" y="718076"/>
            <a:ext cx="12192000" cy="6124961"/>
          </a:xfrm>
          <a:prstGeom prst="rect">
            <a:avLst/>
          </a:prstGeom>
        </p:spPr>
      </p:pic>
      <p:sp>
        <p:nvSpPr>
          <p:cNvPr id="2" name="Text 0"/>
          <p:cNvSpPr/>
          <p:nvPr/>
        </p:nvSpPr>
        <p:spPr>
          <a:xfrm>
            <a:off x="792233" y="451078"/>
            <a:ext cx="10752067" cy="266998"/>
          </a:xfrm>
          <a:prstGeom prst="rect">
            <a:avLst/>
          </a:prstGeom>
          <a:noFill/>
          <a:ln/>
        </p:spPr>
        <p:txBody>
          <a:bodyPr wrap="none" lIns="0" tIns="0" rIns="0" bIns="0" rtlCol="0" anchor="t"/>
          <a:lstStyle/>
          <a:p>
            <a:pPr marL="0" indent="0" algn="ctr">
              <a:lnSpc>
                <a:spcPct val="104000"/>
              </a:lnSpc>
              <a:buNone/>
            </a:pPr>
            <a:r>
              <a:rPr lang="en-US" sz="2800" b="1" kern="0" spc="-17" dirty="0">
                <a:solidFill>
                  <a:srgbClr val="000000"/>
                </a:solidFill>
                <a:latin typeface="Montserrat Bold" pitchFamily="34" charset="0"/>
                <a:ea typeface="Montserrat Bold" pitchFamily="34" charset="-122"/>
                <a:cs typeface="Montserrat Bold" pitchFamily="34" charset="-120"/>
              </a:rPr>
              <a:t>Methodology — Prototype Workflow</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26164" y="370825"/>
            <a:ext cx="10752067" cy="355997"/>
          </a:xfrm>
          <a:prstGeom prst="rect">
            <a:avLst/>
          </a:prstGeom>
          <a:noFill/>
          <a:ln/>
        </p:spPr>
        <p:txBody>
          <a:bodyPr wrap="none" lIns="0" tIns="0" rIns="0" bIns="0" rtlCol="0" anchor="t"/>
          <a:lstStyle/>
          <a:p>
            <a:pPr marL="0" indent="0" algn="ctr">
              <a:lnSpc>
                <a:spcPct val="104000"/>
              </a:lnSpc>
              <a:buNone/>
            </a:pPr>
            <a:r>
              <a:rPr lang="en-US" sz="2200" b="1" kern="0" spc="-22" dirty="0">
                <a:solidFill>
                  <a:srgbClr val="000000"/>
                </a:solidFill>
                <a:latin typeface="Montserrat Bold" pitchFamily="34" charset="0"/>
                <a:ea typeface="Montserrat Bold" pitchFamily="34" charset="-122"/>
                <a:cs typeface="Montserrat Bold" pitchFamily="34" charset="-120"/>
              </a:rPr>
              <a:t>Technology Used</a:t>
            </a:r>
            <a:endParaRPr lang="en-US" sz="2200" dirty="0"/>
          </a:p>
        </p:txBody>
      </p:sp>
      <p:grpSp>
        <p:nvGrpSpPr>
          <p:cNvPr id="58" name="Group 57">
            <a:extLst>
              <a:ext uri="{FF2B5EF4-FFF2-40B4-BE49-F238E27FC236}">
                <a16:creationId xmlns:a16="http://schemas.microsoft.com/office/drawing/2014/main" id="{2A51CC9B-FC30-A875-CC46-B34EEF454B53}"/>
              </a:ext>
            </a:extLst>
          </p:cNvPr>
          <p:cNvGrpSpPr/>
          <p:nvPr/>
        </p:nvGrpSpPr>
        <p:grpSpPr>
          <a:xfrm>
            <a:off x="218364" y="873457"/>
            <a:ext cx="11823072" cy="5377218"/>
            <a:chOff x="719814" y="1558229"/>
            <a:chExt cx="11221657" cy="3207347"/>
          </a:xfrm>
        </p:grpSpPr>
        <p:sp>
          <p:nvSpPr>
            <p:cNvPr id="3" name="Text 1"/>
            <p:cNvSpPr/>
            <p:nvPr/>
          </p:nvSpPr>
          <p:spPr>
            <a:xfrm>
              <a:off x="719814" y="1558230"/>
              <a:ext cx="5223141" cy="284857"/>
            </a:xfrm>
            <a:prstGeom prst="rect">
              <a:avLst/>
            </a:prstGeom>
            <a:noFill/>
            <a:ln/>
          </p:spPr>
          <p:txBody>
            <a:bodyPr wrap="none" lIns="0" tIns="0" rIns="0" bIns="0" rtlCol="0" anchor="t"/>
            <a:lstStyle/>
            <a:p>
              <a:pPr marL="0" indent="0" algn="l">
                <a:lnSpc>
                  <a:spcPct val="104000"/>
                </a:lnSpc>
                <a:buNone/>
              </a:pPr>
              <a:r>
                <a:rPr lang="en-US" sz="1750" b="1" kern="0" spc="-18" dirty="0">
                  <a:solidFill>
                    <a:srgbClr val="000000"/>
                  </a:solidFill>
                  <a:latin typeface="Montserrat Bold" pitchFamily="34" charset="0"/>
                  <a:ea typeface="Montserrat Bold" pitchFamily="34" charset="-122"/>
                  <a:cs typeface="Montserrat Bold" pitchFamily="34" charset="-120"/>
                </a:rPr>
                <a:t>Software</a:t>
              </a:r>
              <a:endParaRPr lang="en-US" sz="1750" dirty="0"/>
            </a:p>
          </p:txBody>
        </p:sp>
        <p:pic>
          <p:nvPicPr>
            <p:cNvPr id="4" name="Image 0" descr="preencoded.png"/>
            <p:cNvPicPr>
              <a:picLocks noChangeAspect="1"/>
            </p:cNvPicPr>
            <p:nvPr/>
          </p:nvPicPr>
          <p:blipFill>
            <a:blip r:embed="rId3"/>
            <a:stretch>
              <a:fillRect/>
            </a:stretch>
          </p:blipFill>
          <p:spPr>
            <a:xfrm>
              <a:off x="719814" y="1929011"/>
              <a:ext cx="366604" cy="458192"/>
            </a:xfrm>
            <a:prstGeom prst="rect">
              <a:avLst/>
            </a:prstGeom>
          </p:spPr>
        </p:pic>
        <p:sp>
          <p:nvSpPr>
            <p:cNvPr id="5" name="Text 2"/>
            <p:cNvSpPr/>
            <p:nvPr/>
          </p:nvSpPr>
          <p:spPr>
            <a:xfrm>
              <a:off x="1181864" y="1929011"/>
              <a:ext cx="2101797"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HTML</a:t>
              </a:r>
              <a:endParaRPr lang="en-US" sz="1100" dirty="0"/>
            </a:p>
          </p:txBody>
        </p:sp>
        <p:sp>
          <p:nvSpPr>
            <p:cNvPr id="6" name="Text 3"/>
            <p:cNvSpPr/>
            <p:nvPr/>
          </p:nvSpPr>
          <p:spPr>
            <a:xfrm>
              <a:off x="1181864" y="2183408"/>
              <a:ext cx="2101797" cy="302419"/>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Structure the recommendation web interface and static pages.</a:t>
              </a:r>
              <a:endParaRPr lang="en-US" sz="950" dirty="0"/>
            </a:p>
          </p:txBody>
        </p:sp>
        <p:pic>
          <p:nvPicPr>
            <p:cNvPr id="7" name="Image 1" descr="preencoded.png"/>
            <p:cNvPicPr>
              <a:picLocks noChangeAspect="1"/>
            </p:cNvPicPr>
            <p:nvPr/>
          </p:nvPicPr>
          <p:blipFill>
            <a:blip r:embed="rId4"/>
            <a:stretch>
              <a:fillRect/>
            </a:stretch>
          </p:blipFill>
          <p:spPr>
            <a:xfrm>
              <a:off x="3379108" y="1929011"/>
              <a:ext cx="366604" cy="458192"/>
            </a:xfrm>
            <a:prstGeom prst="rect">
              <a:avLst/>
            </a:prstGeom>
          </p:spPr>
        </p:pic>
        <p:sp>
          <p:nvSpPr>
            <p:cNvPr id="8" name="Text 4"/>
            <p:cNvSpPr/>
            <p:nvPr/>
          </p:nvSpPr>
          <p:spPr>
            <a:xfrm>
              <a:off x="3841158" y="1929011"/>
              <a:ext cx="2101797"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CSS</a:t>
              </a:r>
              <a:endParaRPr lang="en-US" sz="1100" dirty="0"/>
            </a:p>
          </p:txBody>
        </p:sp>
        <p:sp>
          <p:nvSpPr>
            <p:cNvPr id="9" name="Text 5"/>
            <p:cNvSpPr/>
            <p:nvPr/>
          </p:nvSpPr>
          <p:spPr>
            <a:xfrm>
              <a:off x="3841158" y="2183408"/>
              <a:ext cx="2101797" cy="302419"/>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Visual styling to match academic theme and responsive layouts.</a:t>
              </a:r>
              <a:endParaRPr lang="en-US" sz="950" dirty="0"/>
            </a:p>
          </p:txBody>
        </p:sp>
        <p:pic>
          <p:nvPicPr>
            <p:cNvPr id="10" name="Image 2" descr="preencoded.png"/>
            <p:cNvPicPr>
              <a:picLocks noChangeAspect="1"/>
            </p:cNvPicPr>
            <p:nvPr/>
          </p:nvPicPr>
          <p:blipFill>
            <a:blip r:embed="rId5"/>
            <a:stretch>
              <a:fillRect/>
            </a:stretch>
          </p:blipFill>
          <p:spPr>
            <a:xfrm>
              <a:off x="719814" y="2638524"/>
              <a:ext cx="366604" cy="458192"/>
            </a:xfrm>
            <a:prstGeom prst="rect">
              <a:avLst/>
            </a:prstGeom>
          </p:spPr>
        </p:pic>
        <p:sp>
          <p:nvSpPr>
            <p:cNvPr id="11" name="Text 6"/>
            <p:cNvSpPr/>
            <p:nvPr/>
          </p:nvSpPr>
          <p:spPr>
            <a:xfrm>
              <a:off x="1181864" y="2638524"/>
              <a:ext cx="2101797"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JavaScript</a:t>
              </a:r>
              <a:endParaRPr lang="en-US" sz="1100" dirty="0"/>
            </a:p>
          </p:txBody>
        </p:sp>
        <p:sp>
          <p:nvSpPr>
            <p:cNvPr id="12" name="Text 7"/>
            <p:cNvSpPr/>
            <p:nvPr/>
          </p:nvSpPr>
          <p:spPr>
            <a:xfrm>
              <a:off x="1181864" y="2892921"/>
              <a:ext cx="2101797" cy="302419"/>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Client-side interactivity for forms and UI behaviour.</a:t>
              </a:r>
              <a:endParaRPr lang="en-US" sz="950" dirty="0"/>
            </a:p>
          </p:txBody>
        </p:sp>
        <p:pic>
          <p:nvPicPr>
            <p:cNvPr id="13" name="Image 3" descr="preencoded.png"/>
            <p:cNvPicPr>
              <a:picLocks noChangeAspect="1"/>
            </p:cNvPicPr>
            <p:nvPr/>
          </p:nvPicPr>
          <p:blipFill>
            <a:blip r:embed="rId6"/>
            <a:stretch>
              <a:fillRect/>
            </a:stretch>
          </p:blipFill>
          <p:spPr>
            <a:xfrm>
              <a:off x="3379108" y="2638524"/>
              <a:ext cx="366604" cy="458192"/>
            </a:xfrm>
            <a:prstGeom prst="rect">
              <a:avLst/>
            </a:prstGeom>
          </p:spPr>
        </p:pic>
        <p:sp>
          <p:nvSpPr>
            <p:cNvPr id="14" name="Text 8"/>
            <p:cNvSpPr/>
            <p:nvPr/>
          </p:nvSpPr>
          <p:spPr>
            <a:xfrm>
              <a:off x="3841158" y="2638524"/>
              <a:ext cx="2101797"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Recommendation algorithm</a:t>
              </a:r>
              <a:endParaRPr lang="en-US" sz="1100" dirty="0"/>
            </a:p>
          </p:txBody>
        </p:sp>
        <p:sp>
          <p:nvSpPr>
            <p:cNvPr id="15" name="Text 9"/>
            <p:cNvSpPr/>
            <p:nvPr/>
          </p:nvSpPr>
          <p:spPr>
            <a:xfrm>
              <a:off x="3841158" y="2892921"/>
              <a:ext cx="2101797" cy="302419"/>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Rule-based / similarity scoring to match users to e-bike specs.</a:t>
              </a:r>
              <a:endParaRPr lang="en-US" sz="950" dirty="0"/>
            </a:p>
          </p:txBody>
        </p:sp>
        <p:pic>
          <p:nvPicPr>
            <p:cNvPr id="16" name="Image 4" descr="preencoded.png"/>
            <p:cNvPicPr>
              <a:picLocks noChangeAspect="1"/>
            </p:cNvPicPr>
            <p:nvPr/>
          </p:nvPicPr>
          <p:blipFill>
            <a:blip r:embed="rId7"/>
            <a:stretch>
              <a:fillRect/>
            </a:stretch>
          </p:blipFill>
          <p:spPr>
            <a:xfrm>
              <a:off x="719814" y="3348038"/>
              <a:ext cx="366604" cy="458192"/>
            </a:xfrm>
            <a:prstGeom prst="rect">
              <a:avLst/>
            </a:prstGeom>
          </p:spPr>
        </p:pic>
        <p:sp>
          <p:nvSpPr>
            <p:cNvPr id="17" name="Text 10"/>
            <p:cNvSpPr/>
            <p:nvPr/>
          </p:nvSpPr>
          <p:spPr>
            <a:xfrm>
              <a:off x="1181864" y="3348038"/>
              <a:ext cx="2101797"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Web interface &amp; API</a:t>
              </a:r>
              <a:endParaRPr lang="en-US" sz="1100" dirty="0"/>
            </a:p>
          </p:txBody>
        </p:sp>
        <p:sp>
          <p:nvSpPr>
            <p:cNvPr id="18" name="Text 11"/>
            <p:cNvSpPr/>
            <p:nvPr/>
          </p:nvSpPr>
          <p:spPr>
            <a:xfrm>
              <a:off x="1181864" y="3602434"/>
              <a:ext cx="2101797" cy="453628"/>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Serves user inputs and recommendation results; backend integration point.</a:t>
              </a:r>
              <a:endParaRPr lang="en-US" sz="950" dirty="0"/>
            </a:p>
          </p:txBody>
        </p:sp>
        <p:pic>
          <p:nvPicPr>
            <p:cNvPr id="19" name="Image 5" descr="preencoded.png"/>
            <p:cNvPicPr>
              <a:picLocks noChangeAspect="1"/>
            </p:cNvPicPr>
            <p:nvPr/>
          </p:nvPicPr>
          <p:blipFill>
            <a:blip r:embed="rId8"/>
            <a:stretch>
              <a:fillRect/>
            </a:stretch>
          </p:blipFill>
          <p:spPr>
            <a:xfrm>
              <a:off x="3379108" y="3348038"/>
              <a:ext cx="366604" cy="458192"/>
            </a:xfrm>
            <a:prstGeom prst="rect">
              <a:avLst/>
            </a:prstGeom>
          </p:spPr>
        </p:pic>
        <p:sp>
          <p:nvSpPr>
            <p:cNvPr id="20" name="Text 12"/>
            <p:cNvSpPr/>
            <p:nvPr/>
          </p:nvSpPr>
          <p:spPr>
            <a:xfrm>
              <a:off x="3841158" y="3348038"/>
              <a:ext cx="2101797"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Database</a:t>
              </a:r>
              <a:endParaRPr lang="en-US" sz="1100" dirty="0"/>
            </a:p>
          </p:txBody>
        </p:sp>
        <p:sp>
          <p:nvSpPr>
            <p:cNvPr id="21" name="Text 13"/>
            <p:cNvSpPr/>
            <p:nvPr/>
          </p:nvSpPr>
          <p:spPr>
            <a:xfrm>
              <a:off x="3841158" y="3602434"/>
              <a:ext cx="2101797" cy="302419"/>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Stores structured e-bike specifications and user session data.</a:t>
              </a:r>
              <a:endParaRPr lang="en-US" sz="950" dirty="0"/>
            </a:p>
          </p:txBody>
        </p:sp>
        <p:pic>
          <p:nvPicPr>
            <p:cNvPr id="22" name="Image 6" descr="preencoded.png"/>
            <p:cNvPicPr>
              <a:picLocks noChangeAspect="1"/>
            </p:cNvPicPr>
            <p:nvPr/>
          </p:nvPicPr>
          <p:blipFill>
            <a:blip r:embed="rId9"/>
            <a:stretch>
              <a:fillRect/>
            </a:stretch>
          </p:blipFill>
          <p:spPr>
            <a:xfrm>
              <a:off x="719814" y="4208760"/>
              <a:ext cx="366604" cy="458192"/>
            </a:xfrm>
            <a:prstGeom prst="rect">
              <a:avLst/>
            </a:prstGeom>
          </p:spPr>
        </p:pic>
        <p:sp>
          <p:nvSpPr>
            <p:cNvPr id="23" name="Text 14"/>
            <p:cNvSpPr/>
            <p:nvPr/>
          </p:nvSpPr>
          <p:spPr>
            <a:xfrm>
              <a:off x="1181864" y="4208760"/>
              <a:ext cx="2101797"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Python / ML libraries</a:t>
              </a:r>
              <a:endParaRPr lang="en-US" sz="1100" dirty="0"/>
            </a:p>
          </p:txBody>
        </p:sp>
        <p:sp>
          <p:nvSpPr>
            <p:cNvPr id="24" name="Text 15"/>
            <p:cNvSpPr/>
            <p:nvPr/>
          </p:nvSpPr>
          <p:spPr>
            <a:xfrm>
              <a:off x="1181864" y="4463157"/>
              <a:ext cx="2101797" cy="302419"/>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Used only if ML models were implemented (scikit-learn, pandas).</a:t>
              </a:r>
              <a:endParaRPr lang="en-US" sz="950" dirty="0"/>
            </a:p>
          </p:txBody>
        </p:sp>
        <p:sp>
          <p:nvSpPr>
            <p:cNvPr id="25" name="Text 16"/>
            <p:cNvSpPr/>
            <p:nvPr/>
          </p:nvSpPr>
          <p:spPr>
            <a:xfrm>
              <a:off x="6713468" y="1558229"/>
              <a:ext cx="5223141" cy="284857"/>
            </a:xfrm>
            <a:prstGeom prst="rect">
              <a:avLst/>
            </a:prstGeom>
            <a:noFill/>
            <a:ln/>
          </p:spPr>
          <p:txBody>
            <a:bodyPr wrap="none" lIns="0" tIns="0" rIns="0" bIns="0" rtlCol="0" anchor="t"/>
            <a:lstStyle/>
            <a:p>
              <a:pPr marL="0" indent="0" algn="l">
                <a:lnSpc>
                  <a:spcPct val="104000"/>
                </a:lnSpc>
                <a:buNone/>
              </a:pPr>
              <a:r>
                <a:rPr lang="en-US" sz="1750" b="1" kern="0" spc="-18" dirty="0">
                  <a:solidFill>
                    <a:srgbClr val="000000"/>
                  </a:solidFill>
                  <a:latin typeface="Montserrat Bold" pitchFamily="34" charset="0"/>
                  <a:ea typeface="Montserrat Bold" pitchFamily="34" charset="-122"/>
                  <a:cs typeface="Montserrat Bold" pitchFamily="34" charset="-120"/>
                </a:rPr>
                <a:t>Hardware</a:t>
              </a:r>
              <a:endParaRPr lang="en-US" sz="1750" dirty="0"/>
            </a:p>
          </p:txBody>
        </p:sp>
        <p:grpSp>
          <p:nvGrpSpPr>
            <p:cNvPr id="50" name="Group 49">
              <a:extLst>
                <a:ext uri="{FF2B5EF4-FFF2-40B4-BE49-F238E27FC236}">
                  <a16:creationId xmlns:a16="http://schemas.microsoft.com/office/drawing/2014/main" id="{F671A790-DB39-34E3-E925-8AAEC0A9E825}"/>
                </a:ext>
              </a:extLst>
            </p:cNvPr>
            <p:cNvGrpSpPr/>
            <p:nvPr/>
          </p:nvGrpSpPr>
          <p:grpSpPr>
            <a:xfrm>
              <a:off x="6426088" y="1935017"/>
              <a:ext cx="2616433" cy="526256"/>
              <a:chOff x="719814" y="4937423"/>
              <a:chExt cx="2616433" cy="526256"/>
            </a:xfrm>
          </p:grpSpPr>
          <p:pic>
            <p:nvPicPr>
              <p:cNvPr id="27" name="Image 7" descr="preencoded.png"/>
              <p:cNvPicPr>
                <a:picLocks noChangeAspect="1"/>
              </p:cNvPicPr>
              <p:nvPr/>
            </p:nvPicPr>
            <p:blipFill>
              <a:blip r:embed="rId10"/>
              <a:stretch>
                <a:fillRect/>
              </a:stretch>
            </p:blipFill>
            <p:spPr>
              <a:xfrm>
                <a:off x="719814" y="4937423"/>
                <a:ext cx="374145" cy="467618"/>
              </a:xfrm>
              <a:prstGeom prst="rect">
                <a:avLst/>
              </a:prstGeom>
            </p:spPr>
          </p:pic>
          <p:sp>
            <p:nvSpPr>
              <p:cNvPr id="28" name="Text 18"/>
              <p:cNvSpPr/>
              <p:nvPr/>
            </p:nvSpPr>
            <p:spPr>
              <a:xfrm>
                <a:off x="1189405" y="4937423"/>
                <a:ext cx="2146842"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ESP32</a:t>
                </a:r>
                <a:endParaRPr lang="en-US" sz="1100" dirty="0"/>
              </a:p>
            </p:txBody>
          </p:sp>
          <p:sp>
            <p:nvSpPr>
              <p:cNvPr id="29" name="Text 19"/>
              <p:cNvSpPr/>
              <p:nvPr/>
            </p:nvSpPr>
            <p:spPr>
              <a:xfrm>
                <a:off x="1189405" y="5161260"/>
                <a:ext cx="2146842" cy="302419"/>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Microcontroller for sensor collection and network communication.</a:t>
                </a:r>
                <a:endParaRPr lang="en-US" sz="950" dirty="0"/>
              </a:p>
            </p:txBody>
          </p:sp>
        </p:grpSp>
        <p:grpSp>
          <p:nvGrpSpPr>
            <p:cNvPr id="51" name="Group 50">
              <a:extLst>
                <a:ext uri="{FF2B5EF4-FFF2-40B4-BE49-F238E27FC236}">
                  <a16:creationId xmlns:a16="http://schemas.microsoft.com/office/drawing/2014/main" id="{55E45483-4D34-15E1-07BD-C7278027C6A9}"/>
                </a:ext>
              </a:extLst>
            </p:cNvPr>
            <p:cNvGrpSpPr/>
            <p:nvPr/>
          </p:nvGrpSpPr>
          <p:grpSpPr>
            <a:xfrm>
              <a:off x="6426088" y="2633062"/>
              <a:ext cx="2616433" cy="526256"/>
              <a:chOff x="3431692" y="4937423"/>
              <a:chExt cx="2616433" cy="526256"/>
            </a:xfrm>
          </p:grpSpPr>
          <p:pic>
            <p:nvPicPr>
              <p:cNvPr id="30" name="Image 8" descr="preencoded.png"/>
              <p:cNvPicPr>
                <a:picLocks noChangeAspect="1"/>
              </p:cNvPicPr>
              <p:nvPr/>
            </p:nvPicPr>
            <p:blipFill>
              <a:blip r:embed="rId11"/>
              <a:stretch>
                <a:fillRect/>
              </a:stretch>
            </p:blipFill>
            <p:spPr>
              <a:xfrm>
                <a:off x="3431692" y="4937423"/>
                <a:ext cx="374145" cy="467618"/>
              </a:xfrm>
              <a:prstGeom prst="rect">
                <a:avLst/>
              </a:prstGeom>
            </p:spPr>
          </p:pic>
          <p:sp>
            <p:nvSpPr>
              <p:cNvPr id="31" name="Text 20"/>
              <p:cNvSpPr/>
              <p:nvPr/>
            </p:nvSpPr>
            <p:spPr>
              <a:xfrm>
                <a:off x="3901283" y="4937423"/>
                <a:ext cx="2146842"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Temperature sensor</a:t>
                </a:r>
                <a:endParaRPr lang="en-US" sz="1100" dirty="0"/>
              </a:p>
            </p:txBody>
          </p:sp>
          <p:sp>
            <p:nvSpPr>
              <p:cNvPr id="32" name="Text 21"/>
              <p:cNvSpPr/>
              <p:nvPr/>
            </p:nvSpPr>
            <p:spPr>
              <a:xfrm>
                <a:off x="3901283" y="5161260"/>
                <a:ext cx="2146842" cy="302419"/>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Monitors motor / ambient temperature for thermal alerts.</a:t>
                </a:r>
                <a:endParaRPr lang="en-US" sz="950" dirty="0"/>
              </a:p>
            </p:txBody>
          </p:sp>
        </p:grpSp>
        <p:grpSp>
          <p:nvGrpSpPr>
            <p:cNvPr id="52" name="Group 51">
              <a:extLst>
                <a:ext uri="{FF2B5EF4-FFF2-40B4-BE49-F238E27FC236}">
                  <a16:creationId xmlns:a16="http://schemas.microsoft.com/office/drawing/2014/main" id="{9AA0E921-913A-9481-045C-17C07647D74A}"/>
                </a:ext>
              </a:extLst>
            </p:cNvPr>
            <p:cNvGrpSpPr/>
            <p:nvPr/>
          </p:nvGrpSpPr>
          <p:grpSpPr>
            <a:xfrm>
              <a:off x="6426088" y="3348560"/>
              <a:ext cx="2616432" cy="526256"/>
              <a:chOff x="6143571" y="4937423"/>
              <a:chExt cx="2616432" cy="526256"/>
            </a:xfrm>
          </p:grpSpPr>
          <p:pic>
            <p:nvPicPr>
              <p:cNvPr id="33" name="Image 9" descr="preencoded.png"/>
              <p:cNvPicPr>
                <a:picLocks noChangeAspect="1"/>
              </p:cNvPicPr>
              <p:nvPr/>
            </p:nvPicPr>
            <p:blipFill>
              <a:blip r:embed="rId12"/>
              <a:stretch>
                <a:fillRect/>
              </a:stretch>
            </p:blipFill>
            <p:spPr>
              <a:xfrm>
                <a:off x="6143571" y="4937423"/>
                <a:ext cx="374145" cy="467618"/>
              </a:xfrm>
              <a:prstGeom prst="rect">
                <a:avLst/>
              </a:prstGeom>
            </p:spPr>
          </p:pic>
          <p:sp>
            <p:nvSpPr>
              <p:cNvPr id="34" name="Text 22"/>
              <p:cNvSpPr/>
              <p:nvPr/>
            </p:nvSpPr>
            <p:spPr>
              <a:xfrm>
                <a:off x="6613161" y="4937423"/>
                <a:ext cx="2146842"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MPU6050</a:t>
                </a:r>
                <a:endParaRPr lang="en-US" sz="1100" dirty="0"/>
              </a:p>
            </p:txBody>
          </p:sp>
          <p:sp>
            <p:nvSpPr>
              <p:cNvPr id="35" name="Text 23"/>
              <p:cNvSpPr/>
              <p:nvPr/>
            </p:nvSpPr>
            <p:spPr>
              <a:xfrm>
                <a:off x="6613161" y="5161260"/>
                <a:ext cx="2146842" cy="302419"/>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Measures acceleration and gyro for vibration, tilt and motion analysis.</a:t>
                </a:r>
                <a:endParaRPr lang="en-US" sz="950" dirty="0"/>
              </a:p>
            </p:txBody>
          </p:sp>
        </p:grpSp>
        <p:grpSp>
          <p:nvGrpSpPr>
            <p:cNvPr id="54" name="Group 53">
              <a:extLst>
                <a:ext uri="{FF2B5EF4-FFF2-40B4-BE49-F238E27FC236}">
                  <a16:creationId xmlns:a16="http://schemas.microsoft.com/office/drawing/2014/main" id="{6F6543B6-4F64-27A0-CF40-720AB86F4EBF}"/>
                </a:ext>
              </a:extLst>
            </p:cNvPr>
            <p:cNvGrpSpPr/>
            <p:nvPr/>
          </p:nvGrpSpPr>
          <p:grpSpPr>
            <a:xfrm>
              <a:off x="6426089" y="4200029"/>
              <a:ext cx="2616432" cy="526256"/>
              <a:chOff x="6426089" y="4079898"/>
              <a:chExt cx="2616432" cy="526256"/>
            </a:xfrm>
          </p:grpSpPr>
          <p:sp>
            <p:nvSpPr>
              <p:cNvPr id="37" name="Text 24"/>
              <p:cNvSpPr/>
              <p:nvPr/>
            </p:nvSpPr>
            <p:spPr>
              <a:xfrm>
                <a:off x="6895679" y="4109992"/>
                <a:ext cx="2146842"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Voltage / current sensor</a:t>
                </a:r>
                <a:endParaRPr lang="en-US" sz="1100" dirty="0"/>
              </a:p>
            </p:txBody>
          </p:sp>
          <p:grpSp>
            <p:nvGrpSpPr>
              <p:cNvPr id="53" name="Group 52">
                <a:extLst>
                  <a:ext uri="{FF2B5EF4-FFF2-40B4-BE49-F238E27FC236}">
                    <a16:creationId xmlns:a16="http://schemas.microsoft.com/office/drawing/2014/main" id="{E71E0787-0E3D-9BF5-06D6-EA9E33159C87}"/>
                  </a:ext>
                </a:extLst>
              </p:cNvPr>
              <p:cNvGrpSpPr/>
              <p:nvPr/>
            </p:nvGrpSpPr>
            <p:grpSpPr>
              <a:xfrm>
                <a:off x="6426089" y="4079898"/>
                <a:ext cx="2616432" cy="526256"/>
                <a:chOff x="8855449" y="4937423"/>
                <a:chExt cx="2616432" cy="526256"/>
              </a:xfrm>
            </p:grpSpPr>
            <p:pic>
              <p:nvPicPr>
                <p:cNvPr id="36" name="Image 10" descr="preencoded.png"/>
                <p:cNvPicPr>
                  <a:picLocks noChangeAspect="1"/>
                </p:cNvPicPr>
                <p:nvPr/>
              </p:nvPicPr>
              <p:blipFill>
                <a:blip r:embed="rId13"/>
                <a:stretch>
                  <a:fillRect/>
                </a:stretch>
              </p:blipFill>
              <p:spPr>
                <a:xfrm>
                  <a:off x="8855449" y="4937423"/>
                  <a:ext cx="374145" cy="467618"/>
                </a:xfrm>
                <a:prstGeom prst="rect">
                  <a:avLst/>
                </a:prstGeom>
              </p:spPr>
            </p:pic>
            <p:sp>
              <p:nvSpPr>
                <p:cNvPr id="38" name="Text 25"/>
                <p:cNvSpPr/>
                <p:nvPr/>
              </p:nvSpPr>
              <p:spPr>
                <a:xfrm>
                  <a:off x="9325039" y="5161260"/>
                  <a:ext cx="2146842" cy="302419"/>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Monitors battery electrical parameters for health and charging status.</a:t>
                  </a:r>
                  <a:endParaRPr lang="en-US" sz="950" dirty="0"/>
                </a:p>
              </p:txBody>
            </p:sp>
          </p:grpSp>
        </p:grpSp>
        <p:grpSp>
          <p:nvGrpSpPr>
            <p:cNvPr id="55" name="Group 54">
              <a:extLst>
                <a:ext uri="{FF2B5EF4-FFF2-40B4-BE49-F238E27FC236}">
                  <a16:creationId xmlns:a16="http://schemas.microsoft.com/office/drawing/2014/main" id="{379516F8-049B-C907-287A-8750CDBEDE11}"/>
                </a:ext>
              </a:extLst>
            </p:cNvPr>
            <p:cNvGrpSpPr/>
            <p:nvPr/>
          </p:nvGrpSpPr>
          <p:grpSpPr>
            <a:xfrm>
              <a:off x="9325038" y="1935017"/>
              <a:ext cx="2616433" cy="526256"/>
              <a:chOff x="719814" y="5616377"/>
              <a:chExt cx="2616433" cy="526256"/>
            </a:xfrm>
          </p:grpSpPr>
          <p:pic>
            <p:nvPicPr>
              <p:cNvPr id="39" name="Image 11" descr="preencoded.png"/>
              <p:cNvPicPr>
                <a:picLocks noChangeAspect="1"/>
              </p:cNvPicPr>
              <p:nvPr/>
            </p:nvPicPr>
            <p:blipFill>
              <a:blip r:embed="rId14"/>
              <a:stretch>
                <a:fillRect/>
              </a:stretch>
            </p:blipFill>
            <p:spPr>
              <a:xfrm>
                <a:off x="719814" y="5616377"/>
                <a:ext cx="374145" cy="467618"/>
              </a:xfrm>
              <a:prstGeom prst="rect">
                <a:avLst/>
              </a:prstGeom>
            </p:spPr>
          </p:pic>
          <p:sp>
            <p:nvSpPr>
              <p:cNvPr id="40" name="Text 26"/>
              <p:cNvSpPr/>
              <p:nvPr/>
            </p:nvSpPr>
            <p:spPr>
              <a:xfrm>
                <a:off x="1189405" y="5616377"/>
                <a:ext cx="2146842"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Buzzer</a:t>
                </a:r>
                <a:endParaRPr lang="en-US" sz="1100" dirty="0"/>
              </a:p>
            </p:txBody>
          </p:sp>
          <p:sp>
            <p:nvSpPr>
              <p:cNvPr id="41" name="Text 27"/>
              <p:cNvSpPr/>
              <p:nvPr/>
            </p:nvSpPr>
            <p:spPr>
              <a:xfrm>
                <a:off x="1189405" y="5840214"/>
                <a:ext cx="2146842" cy="302419"/>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Local audible warning for detected abnormal conditions.</a:t>
                </a:r>
                <a:endParaRPr lang="en-US" sz="950" dirty="0"/>
              </a:p>
            </p:txBody>
          </p:sp>
        </p:grpSp>
        <p:grpSp>
          <p:nvGrpSpPr>
            <p:cNvPr id="56" name="Group 55">
              <a:extLst>
                <a:ext uri="{FF2B5EF4-FFF2-40B4-BE49-F238E27FC236}">
                  <a16:creationId xmlns:a16="http://schemas.microsoft.com/office/drawing/2014/main" id="{1384403E-FCD0-31AC-4CA1-A781952F2566}"/>
                </a:ext>
              </a:extLst>
            </p:cNvPr>
            <p:cNvGrpSpPr/>
            <p:nvPr/>
          </p:nvGrpSpPr>
          <p:grpSpPr>
            <a:xfrm>
              <a:off x="9325038" y="2638524"/>
              <a:ext cx="2616433" cy="526256"/>
              <a:chOff x="3431692" y="5616377"/>
              <a:chExt cx="2616433" cy="526256"/>
            </a:xfrm>
          </p:grpSpPr>
          <p:pic>
            <p:nvPicPr>
              <p:cNvPr id="42" name="Image 12" descr="preencoded.png"/>
              <p:cNvPicPr>
                <a:picLocks noChangeAspect="1"/>
              </p:cNvPicPr>
              <p:nvPr/>
            </p:nvPicPr>
            <p:blipFill>
              <a:blip r:embed="rId15"/>
              <a:stretch>
                <a:fillRect/>
              </a:stretch>
            </p:blipFill>
            <p:spPr>
              <a:xfrm>
                <a:off x="3431692" y="5616377"/>
                <a:ext cx="374145" cy="467618"/>
              </a:xfrm>
              <a:prstGeom prst="rect">
                <a:avLst/>
              </a:prstGeom>
            </p:spPr>
          </p:pic>
          <p:sp>
            <p:nvSpPr>
              <p:cNvPr id="43" name="Text 28"/>
              <p:cNvSpPr/>
              <p:nvPr/>
            </p:nvSpPr>
            <p:spPr>
              <a:xfrm>
                <a:off x="3901283" y="5616377"/>
                <a:ext cx="2146842"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LEDs</a:t>
                </a:r>
                <a:endParaRPr lang="en-US" sz="1100" dirty="0"/>
              </a:p>
            </p:txBody>
          </p:sp>
          <p:sp>
            <p:nvSpPr>
              <p:cNvPr id="44" name="Text 29"/>
              <p:cNvSpPr/>
              <p:nvPr/>
            </p:nvSpPr>
            <p:spPr>
              <a:xfrm>
                <a:off x="3901283" y="5840214"/>
                <a:ext cx="2146842" cy="302419"/>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Visual status indicators (power, fault, connectivity).</a:t>
                </a:r>
                <a:endParaRPr lang="en-US" sz="950" dirty="0"/>
              </a:p>
            </p:txBody>
          </p:sp>
        </p:grpSp>
        <p:grpSp>
          <p:nvGrpSpPr>
            <p:cNvPr id="57" name="Group 56">
              <a:extLst>
                <a:ext uri="{FF2B5EF4-FFF2-40B4-BE49-F238E27FC236}">
                  <a16:creationId xmlns:a16="http://schemas.microsoft.com/office/drawing/2014/main" id="{CF962B75-819B-67FD-DE37-53F2EE0D06AE}"/>
                </a:ext>
              </a:extLst>
            </p:cNvPr>
            <p:cNvGrpSpPr/>
            <p:nvPr/>
          </p:nvGrpSpPr>
          <p:grpSpPr>
            <a:xfrm>
              <a:off x="9320177" y="3354867"/>
              <a:ext cx="2616432" cy="526256"/>
              <a:chOff x="6143571" y="5616377"/>
              <a:chExt cx="2616432" cy="526256"/>
            </a:xfrm>
          </p:grpSpPr>
          <p:pic>
            <p:nvPicPr>
              <p:cNvPr id="45" name="Image 13" descr="preencoded.png"/>
              <p:cNvPicPr>
                <a:picLocks noChangeAspect="1"/>
              </p:cNvPicPr>
              <p:nvPr/>
            </p:nvPicPr>
            <p:blipFill>
              <a:blip r:embed="rId16"/>
              <a:stretch>
                <a:fillRect/>
              </a:stretch>
            </p:blipFill>
            <p:spPr>
              <a:xfrm>
                <a:off x="6143571" y="5616377"/>
                <a:ext cx="374145" cy="467618"/>
              </a:xfrm>
              <a:prstGeom prst="rect">
                <a:avLst/>
              </a:prstGeom>
            </p:spPr>
          </p:pic>
          <p:sp>
            <p:nvSpPr>
              <p:cNvPr id="46" name="Text 30"/>
              <p:cNvSpPr/>
              <p:nvPr/>
            </p:nvSpPr>
            <p:spPr>
              <a:xfrm>
                <a:off x="6613161" y="5616377"/>
                <a:ext cx="2146842" cy="178098"/>
              </a:xfrm>
              <a:prstGeom prst="rect">
                <a:avLst/>
              </a:prstGeom>
              <a:noFill/>
              <a:ln/>
            </p:spPr>
            <p:txBody>
              <a:bodyPr wrap="none" lIns="0" tIns="0" rIns="0" bIns="0" rtlCol="0" anchor="t"/>
              <a:lstStyle/>
              <a:p>
                <a:pPr marL="0" indent="0" algn="l">
                  <a:lnSpc>
                    <a:spcPct val="104000"/>
                  </a:lnSpc>
                  <a:buNone/>
                </a:pPr>
                <a:r>
                  <a:rPr lang="en-US" sz="1100" b="1" kern="0" spc="-11" dirty="0">
                    <a:solidFill>
                      <a:srgbClr val="3D3838"/>
                    </a:solidFill>
                    <a:latin typeface="Montserrat Bold" pitchFamily="34" charset="0"/>
                    <a:ea typeface="Montserrat Bold" pitchFamily="34" charset="-122"/>
                    <a:cs typeface="Montserrat Bold" pitchFamily="34" charset="-120"/>
                  </a:rPr>
                  <a:t>Optional GPS</a:t>
                </a:r>
                <a:endParaRPr lang="en-US" sz="1100" dirty="0"/>
              </a:p>
            </p:txBody>
          </p:sp>
          <p:sp>
            <p:nvSpPr>
              <p:cNvPr id="47" name="Text 31"/>
              <p:cNvSpPr/>
              <p:nvPr/>
            </p:nvSpPr>
            <p:spPr>
              <a:xfrm>
                <a:off x="6613161" y="5840214"/>
                <a:ext cx="2146842" cy="302419"/>
              </a:xfrm>
              <a:prstGeom prst="rect">
                <a:avLst/>
              </a:prstGeom>
              <a:noFill/>
              <a:ln/>
            </p:spPr>
            <p:txBody>
              <a:bodyPr wrap="square" lIns="0" tIns="0" rIns="0" bIns="0" rtlCol="0" anchor="t">
                <a:normAutofit/>
              </a:bodyPr>
              <a:lstStyle/>
              <a:p>
                <a:pPr marL="0" indent="0" algn="l">
                  <a:lnSpc>
                    <a:spcPct val="101000"/>
                  </a:lnSpc>
                  <a:buNone/>
                </a:pPr>
                <a:r>
                  <a:rPr lang="en-US" sz="950" dirty="0">
                    <a:solidFill>
                      <a:srgbClr val="3D3838"/>
                    </a:solidFill>
                    <a:latin typeface="Source Sans 3" pitchFamily="34" charset="0"/>
                    <a:ea typeface="Source Sans 3" pitchFamily="34" charset="-122"/>
                    <a:cs typeface="Source Sans 3" pitchFamily="34" charset="-120"/>
                  </a:rPr>
                  <a:t>Location tracking if the hardware configuration includes it.</a:t>
                </a:r>
                <a:endParaRPr lang="en-US" sz="950" dirty="0"/>
              </a:p>
            </p:txBody>
          </p:sp>
        </p:grpSp>
      </p:grpSp>
      <p:pic>
        <p:nvPicPr>
          <p:cNvPr id="49" name="Picture 48">
            <a:extLst>
              <a:ext uri="{FF2B5EF4-FFF2-40B4-BE49-F238E27FC236}">
                <a16:creationId xmlns:a16="http://schemas.microsoft.com/office/drawing/2014/main" id="{56FCC25C-3190-9EFB-AFEB-821766D42BDD}"/>
              </a:ext>
            </a:extLst>
          </p:cNvPr>
          <p:cNvPicPr>
            <a:picLocks noChangeAspect="1"/>
          </p:cNvPicPr>
          <p:nvPr/>
        </p:nvPicPr>
        <p:blipFill>
          <a:blip r:embed="rId17"/>
          <a:stretch>
            <a:fillRect/>
          </a:stretch>
        </p:blipFill>
        <p:spPr>
          <a:xfrm>
            <a:off x="10830531" y="6562725"/>
            <a:ext cx="1295400" cy="2952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9814" y="603945"/>
            <a:ext cx="10752067" cy="438249"/>
          </a:xfrm>
          <a:prstGeom prst="rect">
            <a:avLst/>
          </a:prstGeom>
          <a:noFill/>
          <a:ln/>
        </p:spPr>
        <p:txBody>
          <a:bodyPr wrap="none" lIns="0" tIns="0" rIns="0" bIns="0" rtlCol="0" anchor="t"/>
          <a:lstStyle/>
          <a:p>
            <a:pPr marL="0" indent="0" algn="l">
              <a:lnSpc>
                <a:spcPct val="104000"/>
              </a:lnSpc>
              <a:buNone/>
            </a:pPr>
            <a:r>
              <a:rPr lang="en-US" sz="2750" b="1" kern="0" spc="-28" dirty="0">
                <a:solidFill>
                  <a:srgbClr val="000000"/>
                </a:solidFill>
                <a:latin typeface="Montserrat Bold" pitchFamily="34" charset="0"/>
                <a:ea typeface="Montserrat Bold" pitchFamily="34" charset="-122"/>
                <a:cs typeface="Montserrat Bold" pitchFamily="34" charset="-120"/>
              </a:rPr>
              <a:t>Dataset</a:t>
            </a:r>
            <a:endParaRPr lang="en-US" sz="2750" dirty="0"/>
          </a:p>
        </p:txBody>
      </p:sp>
      <p:sp>
        <p:nvSpPr>
          <p:cNvPr id="3" name="Text 1"/>
          <p:cNvSpPr/>
          <p:nvPr/>
        </p:nvSpPr>
        <p:spPr>
          <a:xfrm>
            <a:off x="719814" y="1273572"/>
            <a:ext cx="11361652" cy="202406"/>
          </a:xfrm>
          <a:prstGeom prst="rect">
            <a:avLst/>
          </a:prstGeom>
          <a:noFill/>
          <a:ln/>
        </p:spPr>
        <p:txBody>
          <a:bodyPr wrap="none" lIns="0" tIns="0" rIns="0" bIns="0" rtlCol="0" anchor="t"/>
          <a:lstStyle/>
          <a:p>
            <a:pPr marL="0" indent="0" algn="l">
              <a:lnSpc>
                <a:spcPct val="109000"/>
              </a:lnSpc>
              <a:buNone/>
            </a:pPr>
            <a:r>
              <a:rPr lang="en-US" sz="1200" dirty="0">
                <a:solidFill>
                  <a:srgbClr val="3D3838"/>
                </a:solidFill>
                <a:latin typeface="Source Sans 3" pitchFamily="34" charset="0"/>
                <a:ea typeface="Source Sans 3" pitchFamily="34" charset="-122"/>
                <a:cs typeface="Source Sans 3" pitchFamily="34" charset="-120"/>
              </a:rPr>
              <a:t>The recommendation engine compares user requirements against structured e‑bike specifications.</a:t>
            </a:r>
            <a:endParaRPr lang="en-US" sz="1200" dirty="0"/>
          </a:p>
        </p:txBody>
      </p:sp>
      <p:sp>
        <p:nvSpPr>
          <p:cNvPr id="4" name="Text 2"/>
          <p:cNvSpPr/>
          <p:nvPr/>
        </p:nvSpPr>
        <p:spPr>
          <a:xfrm>
            <a:off x="719814" y="1721743"/>
            <a:ext cx="5187919" cy="350540"/>
          </a:xfrm>
          <a:prstGeom prst="rect">
            <a:avLst/>
          </a:prstGeom>
          <a:noFill/>
          <a:ln/>
        </p:spPr>
        <p:txBody>
          <a:bodyPr wrap="none" lIns="0" tIns="0" rIns="0" bIns="0" rtlCol="0" anchor="t"/>
          <a:lstStyle/>
          <a:p>
            <a:pPr marL="0" indent="0" algn="l">
              <a:lnSpc>
                <a:spcPct val="104000"/>
              </a:lnSpc>
              <a:buNone/>
            </a:pPr>
            <a:r>
              <a:rPr lang="en-US" sz="2200" b="1" kern="0" spc="-22" dirty="0">
                <a:solidFill>
                  <a:srgbClr val="000000"/>
                </a:solidFill>
                <a:latin typeface="Montserrat Bold" pitchFamily="34" charset="0"/>
                <a:ea typeface="Montserrat Bold" pitchFamily="34" charset="-122"/>
                <a:cs typeface="Montserrat Bold" pitchFamily="34" charset="-120"/>
              </a:rPr>
              <a:t>A. E‑Bike Product Data</a:t>
            </a:r>
            <a:endParaRPr lang="en-US" sz="2200" dirty="0"/>
          </a:p>
        </p:txBody>
      </p:sp>
      <p:sp>
        <p:nvSpPr>
          <p:cNvPr id="5" name="Text 3"/>
          <p:cNvSpPr/>
          <p:nvPr/>
        </p:nvSpPr>
        <p:spPr>
          <a:xfrm>
            <a:off x="719814" y="2187972"/>
            <a:ext cx="5187919" cy="404813"/>
          </a:xfrm>
          <a:prstGeom prst="rect">
            <a:avLst/>
          </a:prstGeom>
          <a:noFill/>
          <a:ln/>
        </p:spPr>
        <p:txBody>
          <a:bodyPr wrap="square" lIns="0" tIns="0" rIns="0" bIns="0" rtlCol="0" anchor="t">
            <a:normAutofit/>
          </a:bodyPr>
          <a:lstStyle/>
          <a:p>
            <a:pPr marL="0" indent="0" algn="l">
              <a:lnSpc>
                <a:spcPct val="109000"/>
              </a:lnSpc>
              <a:buNone/>
            </a:pPr>
            <a:r>
              <a:rPr lang="en-US" sz="1200" dirty="0">
                <a:solidFill>
                  <a:srgbClr val="3D3838"/>
                </a:solidFill>
                <a:latin typeface="Source Sans 3" pitchFamily="34" charset="0"/>
                <a:ea typeface="Source Sans 3" pitchFamily="34" charset="-122"/>
                <a:cs typeface="Source Sans 3" pitchFamily="34" charset="-120"/>
              </a:rPr>
              <a:t>Prototype dataset — structured multi‑brand e‑bike specifications collected for demonstration.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19814" y="2722860"/>
          <a:ext cx="5187920" cy="3388237"/>
        </p:xfrm>
        <a:graphic>
          <a:graphicData uri="http://schemas.openxmlformats.org/drawingml/2006/table">
            <a:tbl>
              <a:tblPr/>
              <a:tblGrid>
                <a:gridCol w="1296980">
                  <a:extLst>
                    <a:ext uri="{9D8B030D-6E8A-4147-A177-3AD203B41FA5}">
                      <a16:colId xmlns:a16="http://schemas.microsoft.com/office/drawing/2014/main" val="20000"/>
                    </a:ext>
                  </a:extLst>
                </a:gridCol>
                <a:gridCol w="1296980">
                  <a:extLst>
                    <a:ext uri="{9D8B030D-6E8A-4147-A177-3AD203B41FA5}">
                      <a16:colId xmlns:a16="http://schemas.microsoft.com/office/drawing/2014/main" val="20001"/>
                    </a:ext>
                  </a:extLst>
                </a:gridCol>
                <a:gridCol w="1296980">
                  <a:extLst>
                    <a:ext uri="{9D8B030D-6E8A-4147-A177-3AD203B41FA5}">
                      <a16:colId xmlns:a16="http://schemas.microsoft.com/office/drawing/2014/main" val="20002"/>
                    </a:ext>
                  </a:extLst>
                </a:gridCol>
                <a:gridCol w="1296980">
                  <a:extLst>
                    <a:ext uri="{9D8B030D-6E8A-4147-A177-3AD203B41FA5}">
                      <a16:colId xmlns:a16="http://schemas.microsoft.com/office/drawing/2014/main" val="20003"/>
                    </a:ext>
                  </a:extLst>
                </a:gridCol>
              </a:tblGrid>
              <a:tr h="353805">
                <a:tc>
                  <a:txBody>
                    <a:bodyPr/>
                    <a:lstStyle/>
                    <a:p>
                      <a:pPr marL="0" indent="0" algn="l">
                        <a:buNone/>
                      </a:pPr>
                      <a:r>
                        <a:rPr lang="en-US" sz="1200" b="1" dirty="0">
                          <a:solidFill>
                            <a:srgbClr val="272525"/>
                          </a:solidFill>
                          <a:latin typeface="Source Sans 3" pitchFamily="34" charset="0"/>
                          <a:ea typeface="Source Sans 3" pitchFamily="34" charset="-122"/>
                          <a:cs typeface="Source Sans 3" pitchFamily="34" charset="-120"/>
                        </a:rPr>
                        <a:t>Attribute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2F2F2"/>
                    </a:solidFill>
                  </a:tcPr>
                </a:tc>
                <a:tc>
                  <a:txBody>
                    <a:bodyPr/>
                    <a:lstStyle/>
                    <a:p>
                      <a:pPr marL="0" indent="0" algn="l">
                        <a:buNone/>
                      </a:pPr>
                      <a:r>
                        <a:rPr lang="en-US" sz="1200" b="1" dirty="0">
                          <a:solidFill>
                            <a:srgbClr val="272525"/>
                          </a:solidFill>
                          <a:latin typeface="Source Sans 3" pitchFamily="34" charset="0"/>
                          <a:ea typeface="Source Sans 3" pitchFamily="34" charset="-122"/>
                          <a:cs typeface="Source Sans 3" pitchFamily="34" charset="-120"/>
                        </a:rPr>
                        <a:t>Example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2F2F2"/>
                    </a:solidFill>
                  </a:tcPr>
                </a:tc>
                <a:tc>
                  <a:txBody>
                    <a:bodyPr/>
                    <a:lstStyle/>
                    <a:p>
                      <a:pPr marL="0" indent="0" algn="l">
                        <a:buNone/>
                      </a:pPr>
                      <a:r>
                        <a:rPr lang="en-US" sz="1200" b="1" dirty="0">
                          <a:solidFill>
                            <a:srgbClr val="272525"/>
                          </a:solidFill>
                          <a:latin typeface="Source Sans 3" pitchFamily="34" charset="0"/>
                          <a:ea typeface="Source Sans 3" pitchFamily="34" charset="-122"/>
                          <a:cs typeface="Source Sans 3" pitchFamily="34" charset="-120"/>
                        </a:rPr>
                        <a:t>Type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2F2F2"/>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2F2F2"/>
                    </a:solidFill>
                  </a:tcPr>
                </a:tc>
                <a:tc>
                  <a:txBody>
                    <a:bodyPr/>
                    <a:lstStyle/>
                    <a:p>
                      <a:pPr marL="0" indent="0" algn="l">
                        <a:buNone/>
                      </a:pPr>
                      <a:r>
                        <a:rPr lang="en-US" sz="1200" b="1" dirty="0">
                          <a:solidFill>
                            <a:srgbClr val="272525"/>
                          </a:solidFill>
                          <a:latin typeface="Source Sans 3" pitchFamily="34" charset="0"/>
                          <a:ea typeface="Source Sans 3" pitchFamily="34" charset="-122"/>
                          <a:cs typeface="Source Sans 3" pitchFamily="34" charset="-120"/>
                        </a:rPr>
                        <a:t>Notes</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2F2F2"/>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758608">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Brand / Model</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BrandX Model Y</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String</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Identifier for matching and display</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1"/>
                  </a:ext>
                </a:extLst>
              </a:tr>
              <a:tr h="758608">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Price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Numeric</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Number</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Used for budget compatibility</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2"/>
                  </a:ext>
                </a:extLst>
              </a:tr>
              <a:tr h="758608">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Battery capacity / Claimed range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Wh / km</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Number</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Used to evaluate required range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3"/>
                  </a:ext>
                </a:extLst>
              </a:tr>
              <a:tr h="758608">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Motor power / Max load / Weight</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W / kg</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Number</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Relevance to terrain and rider</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4"/>
                  </a:ext>
                </a:extLst>
              </a:tr>
            </a:tbl>
          </a:graphicData>
        </a:graphic>
      </p:graphicFrame>
      <p:sp>
        <p:nvSpPr>
          <p:cNvPr id="7" name="Text 4"/>
          <p:cNvSpPr/>
          <p:nvPr/>
        </p:nvSpPr>
        <p:spPr>
          <a:xfrm>
            <a:off x="6290311" y="1721743"/>
            <a:ext cx="5187919" cy="350540"/>
          </a:xfrm>
          <a:prstGeom prst="rect">
            <a:avLst/>
          </a:prstGeom>
          <a:noFill/>
          <a:ln/>
        </p:spPr>
        <p:txBody>
          <a:bodyPr wrap="none" lIns="0" tIns="0" rIns="0" bIns="0" rtlCol="0" anchor="t"/>
          <a:lstStyle/>
          <a:p>
            <a:pPr marL="0" indent="0" algn="l">
              <a:lnSpc>
                <a:spcPct val="104000"/>
              </a:lnSpc>
              <a:buNone/>
            </a:pPr>
            <a:r>
              <a:rPr lang="en-US" sz="2200" b="1" kern="0" spc="-22" dirty="0">
                <a:solidFill>
                  <a:srgbClr val="000000"/>
                </a:solidFill>
                <a:latin typeface="Montserrat Bold" pitchFamily="34" charset="0"/>
                <a:ea typeface="Montserrat Bold" pitchFamily="34" charset="-122"/>
                <a:cs typeface="Montserrat Bold" pitchFamily="34" charset="-120"/>
              </a:rPr>
              <a:t>B. User Input Data</a:t>
            </a:r>
            <a:endParaRPr lang="en-US" sz="22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290311" y="2202359"/>
          <a:ext cx="5187920" cy="2730033"/>
        </p:xfrm>
        <a:graphic>
          <a:graphicData uri="http://schemas.openxmlformats.org/drawingml/2006/table">
            <a:tbl>
              <a:tblPr/>
              <a:tblGrid>
                <a:gridCol w="2593960">
                  <a:extLst>
                    <a:ext uri="{9D8B030D-6E8A-4147-A177-3AD203B41FA5}">
                      <a16:colId xmlns:a16="http://schemas.microsoft.com/office/drawing/2014/main" val="20000"/>
                    </a:ext>
                  </a:extLst>
                </a:gridCol>
                <a:gridCol w="2593960">
                  <a:extLst>
                    <a:ext uri="{9D8B030D-6E8A-4147-A177-3AD203B41FA5}">
                      <a16:colId xmlns:a16="http://schemas.microsoft.com/office/drawing/2014/main" val="20001"/>
                    </a:ext>
                  </a:extLst>
                </a:gridCol>
              </a:tblGrid>
              <a:tr h="353805">
                <a:tc>
                  <a:txBody>
                    <a:bodyPr/>
                    <a:lstStyle/>
                    <a:p>
                      <a:pPr marL="0" indent="0" algn="l">
                        <a:buNone/>
                      </a:pPr>
                      <a:r>
                        <a:rPr lang="en-US" sz="1200" b="1" dirty="0">
                          <a:solidFill>
                            <a:srgbClr val="272525"/>
                          </a:solidFill>
                          <a:latin typeface="Source Sans 3" pitchFamily="34" charset="0"/>
                          <a:ea typeface="Source Sans 3" pitchFamily="34" charset="-122"/>
                          <a:cs typeface="Source Sans 3" pitchFamily="34" charset="-120"/>
                        </a:rPr>
                        <a:t>Input</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2F2F2"/>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2F2F2"/>
                    </a:solidFill>
                  </a:tcPr>
                </a:tc>
                <a:tc>
                  <a:txBody>
                    <a:bodyPr/>
                    <a:lstStyle/>
                    <a:p>
                      <a:pPr marL="0" indent="0" algn="l">
                        <a:buNone/>
                      </a:pPr>
                      <a:r>
                        <a:rPr lang="en-US" sz="1200" b="1" dirty="0">
                          <a:solidFill>
                            <a:srgbClr val="272525"/>
                          </a:solidFill>
                          <a:latin typeface="Source Sans 3" pitchFamily="34" charset="0"/>
                          <a:ea typeface="Source Sans 3" pitchFamily="34" charset="-122"/>
                          <a:cs typeface="Source Sans 3" pitchFamily="34" charset="-120"/>
                        </a:rPr>
                        <a:t>Purpose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2F2F2"/>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2F2F2"/>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556206">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Budget</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Filter brands/models within user's price range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2F2F2"/>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1"/>
                  </a:ext>
                </a:extLst>
              </a:tr>
              <a:tr h="353805">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Daily distance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Estimate required battery range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2"/>
                  </a:ext>
                </a:extLst>
              </a:tr>
              <a:tr h="353805">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Height / Weight</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Assess rider fit and load capacity</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3"/>
                  </a:ext>
                </a:extLst>
              </a:tr>
              <a:tr h="556206">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Terrain / Purpose / Riding preference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Match motor, suspension, and frame suitability</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4"/>
                  </a:ext>
                </a:extLst>
              </a:tr>
              <a:tr h="556206">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Required range</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000000">
                        <a:alpha val="4000"/>
                      </a:srgbClr>
                    </a:solidFill>
                  </a:tcPr>
                </a:tc>
                <a:tc>
                  <a:txBody>
                    <a:bodyPr/>
                    <a:lstStyle/>
                    <a:p>
                      <a:pPr marL="0" indent="0" algn="l">
                        <a:buNone/>
                      </a:pPr>
                      <a:r>
                        <a:rPr lang="en-US" sz="1200" dirty="0">
                          <a:solidFill>
                            <a:srgbClr val="3D3838"/>
                          </a:solidFill>
                          <a:latin typeface="Source Sans 3" pitchFamily="34" charset="0"/>
                          <a:ea typeface="Source Sans 3" pitchFamily="34" charset="-122"/>
                          <a:cs typeface="Source Sans 3" pitchFamily="34" charset="-120"/>
                        </a:rPr>
                        <a:t>Directly compared to claimed range for compatibility scoring</a:t>
                      </a:r>
                      <a:endParaRPr lang="en-US" sz="1200" dirty="0">
                        <a:latin typeface="Source Sans 3" charset="0"/>
                        <a:ea typeface="Source Sans 3" charset="0"/>
                        <a:cs typeface="Source Sans 3" charset="0"/>
                      </a:endParaRPr>
                    </a:p>
                  </a:txBody>
                  <a:tcPr marL="154266" marR="154266"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5"/>
                  </a:ext>
                </a:extLst>
              </a:tr>
            </a:tbl>
          </a:graphicData>
        </a:graphic>
      </p:graphicFrame>
      <p:sp>
        <p:nvSpPr>
          <p:cNvPr id="9" name="Text 5"/>
          <p:cNvSpPr/>
          <p:nvPr/>
        </p:nvSpPr>
        <p:spPr>
          <a:xfrm>
            <a:off x="6290311" y="5075238"/>
            <a:ext cx="5797504" cy="161925"/>
          </a:xfrm>
          <a:prstGeom prst="rect">
            <a:avLst/>
          </a:prstGeom>
          <a:noFill/>
          <a:ln/>
        </p:spPr>
        <p:txBody>
          <a:bodyPr wrap="none" lIns="0" tIns="0" rIns="0" bIns="0" rtlCol="0" anchor="t"/>
          <a:lstStyle/>
          <a:p>
            <a:pPr marL="0" indent="0" algn="l">
              <a:lnSpc>
                <a:spcPct val="109000"/>
              </a:lnSpc>
              <a:buNone/>
            </a:pPr>
            <a:r>
              <a:rPr lang="en-US" sz="950" dirty="0">
                <a:solidFill>
                  <a:srgbClr val="3D3838"/>
                </a:solidFill>
                <a:latin typeface="Source Sans 3" pitchFamily="34" charset="0"/>
                <a:ea typeface="Source Sans 3" pitchFamily="34" charset="-122"/>
                <a:cs typeface="Source Sans 3" pitchFamily="34" charset="-120"/>
              </a:rPr>
              <a:t>If a production dataset is assembled later, add size, source and update cadence here.</a:t>
            </a:r>
            <a:endParaRPr lang="en-US" sz="950" dirty="0"/>
          </a:p>
        </p:txBody>
      </p:sp>
      <p:pic>
        <p:nvPicPr>
          <p:cNvPr id="11" name="Picture 10">
            <a:extLst>
              <a:ext uri="{FF2B5EF4-FFF2-40B4-BE49-F238E27FC236}">
                <a16:creationId xmlns:a16="http://schemas.microsoft.com/office/drawing/2014/main" id="{DF0F4587-8010-0FDC-F606-8986761F7C4E}"/>
              </a:ext>
            </a:extLst>
          </p:cNvPr>
          <p:cNvPicPr>
            <a:picLocks noChangeAspect="1"/>
          </p:cNvPicPr>
          <p:nvPr/>
        </p:nvPicPr>
        <p:blipFill>
          <a:blip r:embed="rId3"/>
          <a:stretch>
            <a:fillRect/>
          </a:stretch>
        </p:blipFill>
        <p:spPr>
          <a:xfrm>
            <a:off x="10830531" y="6562725"/>
            <a:ext cx="1295400" cy="2952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19814" y="587573"/>
            <a:ext cx="10752067" cy="272951"/>
          </a:xfrm>
          <a:prstGeom prst="rect">
            <a:avLst/>
          </a:prstGeom>
          <a:noFill/>
          <a:ln/>
        </p:spPr>
        <p:txBody>
          <a:bodyPr wrap="none" lIns="0" tIns="0" rIns="0" bIns="0" rtlCol="0" anchor="t"/>
          <a:lstStyle/>
          <a:p>
            <a:pPr marL="0" indent="0" algn="l">
              <a:lnSpc>
                <a:spcPct val="104000"/>
              </a:lnSpc>
              <a:buNone/>
            </a:pPr>
            <a:r>
              <a:rPr lang="en-US" sz="1700" b="1" kern="0" spc="-17" dirty="0">
                <a:solidFill>
                  <a:srgbClr val="000000"/>
                </a:solidFill>
                <a:latin typeface="Montserrat Bold" pitchFamily="34" charset="0"/>
                <a:ea typeface="Montserrat Bold" pitchFamily="34" charset="-122"/>
                <a:cs typeface="Montserrat Bold" pitchFamily="34" charset="-120"/>
              </a:rPr>
              <a:t>Implementation — System Modules</a:t>
            </a:r>
            <a:endParaRPr lang="en-US" sz="1700" dirty="0"/>
          </a:p>
        </p:txBody>
      </p:sp>
      <p:sp>
        <p:nvSpPr>
          <p:cNvPr id="3" name="Text 1"/>
          <p:cNvSpPr/>
          <p:nvPr/>
        </p:nvSpPr>
        <p:spPr>
          <a:xfrm>
            <a:off x="719814" y="950218"/>
            <a:ext cx="11361652" cy="105767"/>
          </a:xfrm>
          <a:prstGeom prst="rect">
            <a:avLst/>
          </a:prstGeom>
          <a:noFill/>
          <a:ln/>
        </p:spPr>
        <p:txBody>
          <a:bodyPr wrap="none" lIns="0" tIns="0" rIns="0" bIns="0" rtlCol="0" anchor="t"/>
          <a:lstStyle/>
          <a:p>
            <a:pPr marL="0" indent="0" algn="l">
              <a:lnSpc>
                <a:spcPct val="92000"/>
              </a:lnSpc>
              <a:buNone/>
            </a:pPr>
            <a:r>
              <a:rPr lang="en-US" sz="750" dirty="0">
                <a:solidFill>
                  <a:srgbClr val="3D3838"/>
                </a:solidFill>
                <a:latin typeface="Source Sans 3" pitchFamily="34" charset="0"/>
                <a:ea typeface="Source Sans 3" pitchFamily="34" charset="-122"/>
                <a:cs typeface="Source Sans 3" pitchFamily="34" charset="-120"/>
              </a:rPr>
              <a:t>System decomposed into discrete modules for clarity, testing and incremental development.</a:t>
            </a:r>
            <a:endParaRPr lang="en-US" sz="750" dirty="0"/>
          </a:p>
        </p:txBody>
      </p:sp>
      <p:pic>
        <p:nvPicPr>
          <p:cNvPr id="4" name="Image 0" descr="preencoded.png"/>
          <p:cNvPicPr>
            <a:picLocks noChangeAspect="1"/>
          </p:cNvPicPr>
          <p:nvPr/>
        </p:nvPicPr>
        <p:blipFill>
          <a:blip r:embed="rId3"/>
          <a:stretch>
            <a:fillRect/>
          </a:stretch>
        </p:blipFill>
        <p:spPr>
          <a:xfrm>
            <a:off x="2601451" y="1106488"/>
            <a:ext cx="6988794" cy="3282057"/>
          </a:xfrm>
          <a:prstGeom prst="rect">
            <a:avLst/>
          </a:prstGeom>
        </p:spPr>
      </p:pic>
      <p:sp>
        <p:nvSpPr>
          <p:cNvPr id="5" name="Text 2"/>
          <p:cNvSpPr/>
          <p:nvPr/>
        </p:nvSpPr>
        <p:spPr>
          <a:xfrm>
            <a:off x="3253673" y="3592845"/>
            <a:ext cx="1393945" cy="174221"/>
          </a:xfrm>
          <a:prstGeom prst="rect">
            <a:avLst/>
          </a:prstGeom>
          <a:noFill/>
          <a:ln/>
        </p:spPr>
        <p:txBody>
          <a:bodyPr wrap="none" lIns="0" tIns="0" rIns="0" bIns="0" rtlCol="0" anchor="t"/>
          <a:lstStyle/>
          <a:p>
            <a:pPr marL="0" indent="0" algn="r">
              <a:lnSpc>
                <a:spcPct val="104000"/>
              </a:lnSpc>
              <a:buNone/>
            </a:pPr>
            <a:r>
              <a:rPr lang="en-US" sz="1050" b="1" kern="0" spc="-11" dirty="0">
                <a:solidFill>
                  <a:srgbClr val="000000"/>
                </a:solidFill>
                <a:latin typeface="Montserrat Bold" pitchFamily="34" charset="0"/>
                <a:ea typeface="Montserrat Bold" pitchFamily="34" charset="-122"/>
                <a:cs typeface="Montserrat Bold" pitchFamily="34" charset="-120"/>
              </a:rPr>
              <a:t>User Input</a:t>
            </a:r>
            <a:endParaRPr lang="en-US" sz="1050" dirty="0"/>
          </a:p>
        </p:txBody>
      </p:sp>
      <p:sp>
        <p:nvSpPr>
          <p:cNvPr id="6" name="Text 3"/>
          <p:cNvSpPr/>
          <p:nvPr/>
        </p:nvSpPr>
        <p:spPr>
          <a:xfrm>
            <a:off x="2766591" y="3821590"/>
            <a:ext cx="1881028" cy="112456"/>
          </a:xfrm>
          <a:prstGeom prst="rect">
            <a:avLst/>
          </a:prstGeom>
          <a:noFill/>
          <a:ln/>
        </p:spPr>
        <p:txBody>
          <a:bodyPr wrap="none" lIns="0" tIns="0" rIns="0" bIns="0" rtlCol="0" anchor="t"/>
          <a:lstStyle/>
          <a:p>
            <a:pPr marL="0" indent="0" algn="r">
              <a:lnSpc>
                <a:spcPct val="76000"/>
              </a:lnSpc>
              <a:buNone/>
            </a:pPr>
            <a:r>
              <a:rPr lang="en-US" sz="950" dirty="0">
                <a:solidFill>
                  <a:srgbClr val="3D3838"/>
                </a:solidFill>
                <a:latin typeface="Source Sans 3" pitchFamily="34" charset="0"/>
                <a:ea typeface="Source Sans 3" pitchFamily="34" charset="-122"/>
                <a:cs typeface="Source Sans 3" pitchFamily="34" charset="-120"/>
              </a:rPr>
              <a:t>Collect rider preferences and data</a:t>
            </a:r>
            <a:endParaRPr lang="en-US" sz="950" dirty="0"/>
          </a:p>
        </p:txBody>
      </p:sp>
      <p:sp>
        <p:nvSpPr>
          <p:cNvPr id="7" name="Text 4"/>
          <p:cNvSpPr/>
          <p:nvPr/>
        </p:nvSpPr>
        <p:spPr>
          <a:xfrm>
            <a:off x="7591730" y="3057829"/>
            <a:ext cx="1393945" cy="174221"/>
          </a:xfrm>
          <a:prstGeom prst="rect">
            <a:avLst/>
          </a:prstGeom>
          <a:noFill/>
          <a:ln/>
        </p:spPr>
        <p:txBody>
          <a:bodyPr wrap="none" lIns="0" tIns="0" rIns="0" bIns="0" rtlCol="0" anchor="t"/>
          <a:lstStyle/>
          <a:p>
            <a:pPr marL="0" indent="0" algn="l">
              <a:lnSpc>
                <a:spcPct val="104000"/>
              </a:lnSpc>
              <a:buNone/>
            </a:pPr>
            <a:r>
              <a:rPr lang="en-US" sz="1050" b="1" kern="0" spc="-11" dirty="0">
                <a:solidFill>
                  <a:srgbClr val="000000"/>
                </a:solidFill>
                <a:latin typeface="Montserrat Bold" pitchFamily="34" charset="0"/>
                <a:ea typeface="Montserrat Bold" pitchFamily="34" charset="-122"/>
                <a:cs typeface="Montserrat Bold" pitchFamily="34" charset="-120"/>
              </a:rPr>
              <a:t>E-Bike Database</a:t>
            </a:r>
            <a:endParaRPr lang="en-US" sz="1050" dirty="0"/>
          </a:p>
        </p:txBody>
      </p:sp>
      <p:sp>
        <p:nvSpPr>
          <p:cNvPr id="8" name="Text 5"/>
          <p:cNvSpPr/>
          <p:nvPr/>
        </p:nvSpPr>
        <p:spPr>
          <a:xfrm>
            <a:off x="7591730" y="3286574"/>
            <a:ext cx="1833321" cy="112456"/>
          </a:xfrm>
          <a:prstGeom prst="rect">
            <a:avLst/>
          </a:prstGeom>
          <a:noFill/>
          <a:ln/>
        </p:spPr>
        <p:txBody>
          <a:bodyPr wrap="none" lIns="0" tIns="0" rIns="0" bIns="0" rtlCol="0" anchor="t"/>
          <a:lstStyle/>
          <a:p>
            <a:pPr marL="0" indent="0" algn="l">
              <a:lnSpc>
                <a:spcPct val="76000"/>
              </a:lnSpc>
              <a:buNone/>
            </a:pPr>
            <a:r>
              <a:rPr lang="en-US" sz="950" dirty="0">
                <a:solidFill>
                  <a:srgbClr val="3D3838"/>
                </a:solidFill>
                <a:latin typeface="Source Sans 3" pitchFamily="34" charset="0"/>
                <a:ea typeface="Source Sans 3" pitchFamily="34" charset="-122"/>
                <a:cs typeface="Source Sans 3" pitchFamily="34" charset="-120"/>
              </a:rPr>
              <a:t>Store bike specs and usage logs</a:t>
            </a:r>
            <a:endParaRPr lang="en-US" sz="950" dirty="0"/>
          </a:p>
        </p:txBody>
      </p:sp>
      <p:sp>
        <p:nvSpPr>
          <p:cNvPr id="9" name="Text 6"/>
          <p:cNvSpPr/>
          <p:nvPr/>
        </p:nvSpPr>
        <p:spPr>
          <a:xfrm>
            <a:off x="2810252" y="2570522"/>
            <a:ext cx="1837261" cy="174221"/>
          </a:xfrm>
          <a:prstGeom prst="rect">
            <a:avLst/>
          </a:prstGeom>
          <a:noFill/>
          <a:ln/>
        </p:spPr>
        <p:txBody>
          <a:bodyPr wrap="none" lIns="0" tIns="0" rIns="0" bIns="0" rtlCol="0" anchor="t"/>
          <a:lstStyle/>
          <a:p>
            <a:pPr marL="0" indent="0" algn="r">
              <a:lnSpc>
                <a:spcPct val="104000"/>
              </a:lnSpc>
              <a:buNone/>
            </a:pPr>
            <a:r>
              <a:rPr lang="en-US" sz="1050" b="1" kern="0" spc="-11" dirty="0">
                <a:solidFill>
                  <a:srgbClr val="000000"/>
                </a:solidFill>
                <a:latin typeface="Montserrat Bold" pitchFamily="34" charset="0"/>
                <a:ea typeface="Montserrat Bold" pitchFamily="34" charset="-122"/>
                <a:cs typeface="Montserrat Bold" pitchFamily="34" charset="-120"/>
              </a:rPr>
              <a:t>Recommendation Engine</a:t>
            </a:r>
            <a:endParaRPr lang="en-US" sz="1050" dirty="0"/>
          </a:p>
        </p:txBody>
      </p:sp>
      <p:sp>
        <p:nvSpPr>
          <p:cNvPr id="10" name="Text 7"/>
          <p:cNvSpPr/>
          <p:nvPr/>
        </p:nvSpPr>
        <p:spPr>
          <a:xfrm>
            <a:off x="2766485" y="2799266"/>
            <a:ext cx="1881028" cy="112456"/>
          </a:xfrm>
          <a:prstGeom prst="rect">
            <a:avLst/>
          </a:prstGeom>
          <a:noFill/>
          <a:ln/>
        </p:spPr>
        <p:txBody>
          <a:bodyPr wrap="none" lIns="0" tIns="0" rIns="0" bIns="0" rtlCol="0" anchor="t"/>
          <a:lstStyle/>
          <a:p>
            <a:pPr marL="0" indent="0" algn="r">
              <a:lnSpc>
                <a:spcPct val="76000"/>
              </a:lnSpc>
              <a:buNone/>
            </a:pPr>
            <a:r>
              <a:rPr lang="en-US" sz="950" dirty="0">
                <a:solidFill>
                  <a:srgbClr val="3D3838"/>
                </a:solidFill>
                <a:latin typeface="Source Sans 3" pitchFamily="34" charset="0"/>
                <a:ea typeface="Source Sans 3" pitchFamily="34" charset="-122"/>
                <a:cs typeface="Source Sans 3" pitchFamily="34" charset="-120"/>
              </a:rPr>
              <a:t>Generate personalized suggestions</a:t>
            </a:r>
            <a:endParaRPr lang="en-US" sz="950" dirty="0"/>
          </a:p>
        </p:txBody>
      </p:sp>
      <p:sp>
        <p:nvSpPr>
          <p:cNvPr id="11" name="Text 8"/>
          <p:cNvSpPr/>
          <p:nvPr/>
        </p:nvSpPr>
        <p:spPr>
          <a:xfrm>
            <a:off x="7591730" y="1994613"/>
            <a:ext cx="1393945" cy="174221"/>
          </a:xfrm>
          <a:prstGeom prst="rect">
            <a:avLst/>
          </a:prstGeom>
          <a:noFill/>
          <a:ln/>
        </p:spPr>
        <p:txBody>
          <a:bodyPr wrap="none" lIns="0" tIns="0" rIns="0" bIns="0" rtlCol="0" anchor="t"/>
          <a:lstStyle/>
          <a:p>
            <a:pPr marL="0" indent="0" algn="l">
              <a:lnSpc>
                <a:spcPct val="104000"/>
              </a:lnSpc>
              <a:buNone/>
            </a:pPr>
            <a:r>
              <a:rPr lang="en-US" sz="1050" b="1" kern="0" spc="-11" dirty="0">
                <a:solidFill>
                  <a:srgbClr val="000000"/>
                </a:solidFill>
                <a:latin typeface="Montserrat Bold" pitchFamily="34" charset="0"/>
                <a:ea typeface="Montserrat Bold" pitchFamily="34" charset="-122"/>
                <a:cs typeface="Montserrat Bold" pitchFamily="34" charset="-120"/>
              </a:rPr>
              <a:t>Explainability</a:t>
            </a:r>
            <a:endParaRPr lang="en-US" sz="1050" dirty="0"/>
          </a:p>
        </p:txBody>
      </p:sp>
      <p:sp>
        <p:nvSpPr>
          <p:cNvPr id="12" name="Text 9"/>
          <p:cNvSpPr/>
          <p:nvPr/>
        </p:nvSpPr>
        <p:spPr>
          <a:xfrm>
            <a:off x="7591730" y="2223358"/>
            <a:ext cx="1833321" cy="112456"/>
          </a:xfrm>
          <a:prstGeom prst="rect">
            <a:avLst/>
          </a:prstGeom>
          <a:noFill/>
          <a:ln/>
        </p:spPr>
        <p:txBody>
          <a:bodyPr wrap="none" lIns="0" tIns="0" rIns="0" bIns="0" rtlCol="0" anchor="t"/>
          <a:lstStyle/>
          <a:p>
            <a:pPr marL="0" indent="0" algn="l">
              <a:lnSpc>
                <a:spcPct val="76000"/>
              </a:lnSpc>
              <a:buNone/>
            </a:pPr>
            <a:r>
              <a:rPr lang="en-US" sz="950" dirty="0">
                <a:solidFill>
                  <a:srgbClr val="3D3838"/>
                </a:solidFill>
                <a:latin typeface="Source Sans 3" pitchFamily="34" charset="0"/>
                <a:ea typeface="Source Sans 3" pitchFamily="34" charset="-122"/>
                <a:cs typeface="Source Sans 3" pitchFamily="34" charset="-120"/>
              </a:rPr>
              <a:t>Provide transparent rationale</a:t>
            </a:r>
            <a:endParaRPr lang="en-US" sz="950" dirty="0"/>
          </a:p>
        </p:txBody>
      </p:sp>
      <p:sp>
        <p:nvSpPr>
          <p:cNvPr id="13" name="Text 10"/>
          <p:cNvSpPr/>
          <p:nvPr/>
        </p:nvSpPr>
        <p:spPr>
          <a:xfrm>
            <a:off x="3253673" y="1548198"/>
            <a:ext cx="1393945" cy="174221"/>
          </a:xfrm>
          <a:prstGeom prst="rect">
            <a:avLst/>
          </a:prstGeom>
          <a:noFill/>
          <a:ln/>
        </p:spPr>
        <p:txBody>
          <a:bodyPr wrap="none" lIns="0" tIns="0" rIns="0" bIns="0" rtlCol="0" anchor="t"/>
          <a:lstStyle/>
          <a:p>
            <a:pPr marL="0" indent="0" algn="r">
              <a:lnSpc>
                <a:spcPct val="104000"/>
              </a:lnSpc>
              <a:buNone/>
            </a:pPr>
            <a:r>
              <a:rPr lang="en-US" sz="1050" b="1" kern="0" spc="-11" dirty="0">
                <a:solidFill>
                  <a:srgbClr val="000000"/>
                </a:solidFill>
                <a:latin typeface="Montserrat Bold" pitchFamily="34" charset="0"/>
                <a:ea typeface="Montserrat Bold" pitchFamily="34" charset="-122"/>
                <a:cs typeface="Montserrat Bold" pitchFamily="34" charset="-120"/>
              </a:rPr>
              <a:t>IoT Monitoring</a:t>
            </a:r>
            <a:endParaRPr lang="en-US" sz="1050" dirty="0"/>
          </a:p>
        </p:txBody>
      </p:sp>
      <p:sp>
        <p:nvSpPr>
          <p:cNvPr id="14" name="Text 11"/>
          <p:cNvSpPr/>
          <p:nvPr/>
        </p:nvSpPr>
        <p:spPr>
          <a:xfrm>
            <a:off x="2766591" y="1776943"/>
            <a:ext cx="1881028" cy="112456"/>
          </a:xfrm>
          <a:prstGeom prst="rect">
            <a:avLst/>
          </a:prstGeom>
          <a:noFill/>
          <a:ln/>
        </p:spPr>
        <p:txBody>
          <a:bodyPr wrap="none" lIns="0" tIns="0" rIns="0" bIns="0" rtlCol="0" anchor="t"/>
          <a:lstStyle/>
          <a:p>
            <a:pPr marL="0" indent="0" algn="r">
              <a:lnSpc>
                <a:spcPct val="76000"/>
              </a:lnSpc>
              <a:buNone/>
            </a:pPr>
            <a:r>
              <a:rPr lang="en-US" sz="950" dirty="0">
                <a:solidFill>
                  <a:srgbClr val="3D3838"/>
                </a:solidFill>
                <a:latin typeface="Source Sans 3" pitchFamily="34" charset="0"/>
                <a:ea typeface="Source Sans 3" pitchFamily="34" charset="-122"/>
                <a:cs typeface="Source Sans 3" pitchFamily="34" charset="-120"/>
              </a:rPr>
              <a:t>Stream telemetry from devices</a:t>
            </a:r>
            <a:endParaRPr lang="en-US" sz="950" dirty="0"/>
          </a:p>
        </p:txBody>
      </p:sp>
      <p:sp>
        <p:nvSpPr>
          <p:cNvPr id="15" name="Text 12"/>
          <p:cNvSpPr/>
          <p:nvPr/>
        </p:nvSpPr>
        <p:spPr>
          <a:xfrm>
            <a:off x="719814" y="4439047"/>
            <a:ext cx="11361652" cy="105767"/>
          </a:xfrm>
          <a:prstGeom prst="rect">
            <a:avLst/>
          </a:prstGeom>
          <a:noFill/>
          <a:ln/>
        </p:spPr>
        <p:txBody>
          <a:bodyPr wrap="none" lIns="0" tIns="0" rIns="0" bIns="0" rtlCol="0" anchor="t"/>
          <a:lstStyle/>
          <a:p>
            <a:pPr marL="0" indent="0" algn="l">
              <a:lnSpc>
                <a:spcPct val="92000"/>
              </a:lnSpc>
              <a:buNone/>
            </a:pPr>
            <a:r>
              <a:rPr lang="en-US" sz="750" dirty="0">
                <a:solidFill>
                  <a:srgbClr val="3D3838"/>
                </a:solidFill>
                <a:latin typeface="Source Sans 3" pitchFamily="34" charset="0"/>
                <a:ea typeface="Source Sans 3" pitchFamily="34" charset="-122"/>
                <a:cs typeface="Source Sans 3" pitchFamily="34" charset="-120"/>
              </a:rPr>
              <a:t>Diagram: arrows indicate data flow from User Input → Recommendation Engine → Web Dashboard; IoT Monitoring feeds Alerts and Dashboard.</a:t>
            </a:r>
            <a:endParaRPr lang="en-US" sz="750"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9814" y="4595316"/>
            <a:ext cx="2654333" cy="867966"/>
          </a:xfrm>
          <a:prstGeom prst="rect">
            <a:avLst/>
          </a:prstGeom>
        </p:spPr>
      </p:pic>
      <p:sp>
        <p:nvSpPr>
          <p:cNvPr id="17" name="Text 13"/>
          <p:cNvSpPr/>
          <p:nvPr/>
        </p:nvSpPr>
        <p:spPr>
          <a:xfrm>
            <a:off x="1989237" y="4667349"/>
            <a:ext cx="115289" cy="144066"/>
          </a:xfrm>
          <a:prstGeom prst="rect">
            <a:avLst/>
          </a:prstGeom>
          <a:noFill/>
          <a:ln/>
        </p:spPr>
        <p:txBody>
          <a:bodyPr wrap="none" lIns="0" tIns="0" rIns="0" bIns="0" rtlCol="0" anchor="ctr"/>
          <a:lstStyle/>
          <a:p>
            <a:pPr marL="0" indent="0" algn="ctr">
              <a:lnSpc>
                <a:spcPct val="100000"/>
              </a:lnSpc>
              <a:buNone/>
            </a:pPr>
            <a:r>
              <a:rPr lang="en-US" sz="900" b="1" kern="0" spc="-8" dirty="0">
                <a:solidFill>
                  <a:srgbClr val="FFFFFF"/>
                </a:solidFill>
                <a:latin typeface="Montserrat Bold" pitchFamily="34" charset="0"/>
                <a:ea typeface="Montserrat Bold" pitchFamily="34" charset="-122"/>
                <a:cs typeface="Montserrat Bold" pitchFamily="34" charset="-120"/>
              </a:rPr>
              <a:t>1</a:t>
            </a:r>
            <a:endParaRPr lang="en-US" sz="900" dirty="0"/>
          </a:p>
        </p:txBody>
      </p:sp>
      <p:sp>
        <p:nvSpPr>
          <p:cNvPr id="18" name="Text 14"/>
          <p:cNvSpPr/>
          <p:nvPr/>
        </p:nvSpPr>
        <p:spPr>
          <a:xfrm>
            <a:off x="828555" y="4979591"/>
            <a:ext cx="2436851" cy="136525"/>
          </a:xfrm>
          <a:prstGeom prst="rect">
            <a:avLst/>
          </a:prstGeom>
          <a:noFill/>
          <a:ln/>
        </p:spPr>
        <p:txBody>
          <a:bodyPr wrap="none" lIns="0" tIns="0" rIns="0" bIns="0" rtlCol="0" anchor="t"/>
          <a:lstStyle/>
          <a:p>
            <a:pPr marL="0" indent="0" algn="l">
              <a:lnSpc>
                <a:spcPct val="104000"/>
              </a:lnSpc>
              <a:buNone/>
            </a:pPr>
            <a:r>
              <a:rPr lang="en-US" sz="850" b="1" kern="0" spc="-9" dirty="0">
                <a:solidFill>
                  <a:srgbClr val="3D3838"/>
                </a:solidFill>
                <a:latin typeface="Montserrat Bold" pitchFamily="34" charset="0"/>
                <a:ea typeface="Montserrat Bold" pitchFamily="34" charset="-122"/>
                <a:cs typeface="Montserrat Bold" pitchFamily="34" charset="-120"/>
              </a:rPr>
              <a:t>Module 1: User Input</a:t>
            </a:r>
            <a:endParaRPr lang="en-US" sz="850" dirty="0"/>
          </a:p>
        </p:txBody>
      </p:sp>
      <p:sp>
        <p:nvSpPr>
          <p:cNvPr id="19" name="Text 15"/>
          <p:cNvSpPr/>
          <p:nvPr/>
        </p:nvSpPr>
        <p:spPr>
          <a:xfrm>
            <a:off x="828555" y="5143004"/>
            <a:ext cx="2436851" cy="211534"/>
          </a:xfrm>
          <a:prstGeom prst="rect">
            <a:avLst/>
          </a:prstGeom>
          <a:noFill/>
          <a:ln/>
        </p:spPr>
        <p:txBody>
          <a:bodyPr wrap="square" lIns="0" tIns="0" rIns="0" bIns="0" rtlCol="0" anchor="t">
            <a:normAutofit lnSpcReduction="10000"/>
          </a:bodyPr>
          <a:lstStyle/>
          <a:p>
            <a:pPr marL="0" indent="0" algn="l">
              <a:lnSpc>
                <a:spcPct val="92000"/>
              </a:lnSpc>
              <a:buNone/>
            </a:pPr>
            <a:r>
              <a:rPr lang="en-US" sz="750" dirty="0">
                <a:solidFill>
                  <a:srgbClr val="3D3838"/>
                </a:solidFill>
                <a:latin typeface="Source Sans 3" pitchFamily="34" charset="0"/>
                <a:ea typeface="Source Sans 3" pitchFamily="34" charset="-122"/>
                <a:cs typeface="Source Sans 3" pitchFamily="34" charset="-120"/>
              </a:rPr>
              <a:t>Collects Budget, Distance, Height, Weight, Terrain, Purpose, Range, Preference.</a:t>
            </a:r>
            <a:endParaRPr lang="en-US" sz="750" dirty="0"/>
          </a:p>
        </p:txBody>
      </p:sp>
      <p:pic>
        <p:nvPicPr>
          <p:cNvPr id="2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18993" y="4595316"/>
            <a:ext cx="2654432" cy="867966"/>
          </a:xfrm>
          <a:prstGeom prst="rect">
            <a:avLst/>
          </a:prstGeom>
        </p:spPr>
      </p:pic>
      <p:sp>
        <p:nvSpPr>
          <p:cNvPr id="21" name="Text 16"/>
          <p:cNvSpPr/>
          <p:nvPr/>
        </p:nvSpPr>
        <p:spPr>
          <a:xfrm>
            <a:off x="4688514" y="4667349"/>
            <a:ext cx="115289" cy="144066"/>
          </a:xfrm>
          <a:prstGeom prst="rect">
            <a:avLst/>
          </a:prstGeom>
          <a:noFill/>
          <a:ln/>
        </p:spPr>
        <p:txBody>
          <a:bodyPr wrap="none" lIns="0" tIns="0" rIns="0" bIns="0" rtlCol="0" anchor="ctr"/>
          <a:lstStyle/>
          <a:p>
            <a:pPr marL="0" indent="0" algn="ctr">
              <a:lnSpc>
                <a:spcPct val="100000"/>
              </a:lnSpc>
              <a:buNone/>
            </a:pPr>
            <a:r>
              <a:rPr lang="en-US" sz="900" b="1" kern="0" spc="-8" dirty="0">
                <a:solidFill>
                  <a:srgbClr val="FFFFFF"/>
                </a:solidFill>
                <a:latin typeface="Montserrat Bold" pitchFamily="34" charset="0"/>
                <a:ea typeface="Montserrat Bold" pitchFamily="34" charset="-122"/>
                <a:cs typeface="Montserrat Bold" pitchFamily="34" charset="-120"/>
              </a:rPr>
              <a:t>2</a:t>
            </a:r>
            <a:endParaRPr lang="en-US" sz="900" dirty="0"/>
          </a:p>
        </p:txBody>
      </p:sp>
      <p:sp>
        <p:nvSpPr>
          <p:cNvPr id="22" name="Text 17"/>
          <p:cNvSpPr/>
          <p:nvPr/>
        </p:nvSpPr>
        <p:spPr>
          <a:xfrm>
            <a:off x="3527734" y="4979591"/>
            <a:ext cx="2436950" cy="136525"/>
          </a:xfrm>
          <a:prstGeom prst="rect">
            <a:avLst/>
          </a:prstGeom>
          <a:noFill/>
          <a:ln/>
        </p:spPr>
        <p:txBody>
          <a:bodyPr wrap="none" lIns="0" tIns="0" rIns="0" bIns="0" rtlCol="0" anchor="t"/>
          <a:lstStyle/>
          <a:p>
            <a:pPr marL="0" indent="0" algn="l">
              <a:lnSpc>
                <a:spcPct val="104000"/>
              </a:lnSpc>
              <a:buNone/>
            </a:pPr>
            <a:r>
              <a:rPr lang="en-US" sz="850" b="1" kern="0" spc="-9" dirty="0">
                <a:solidFill>
                  <a:srgbClr val="3D3838"/>
                </a:solidFill>
                <a:latin typeface="Montserrat Bold" pitchFamily="34" charset="0"/>
                <a:ea typeface="Montserrat Bold" pitchFamily="34" charset="-122"/>
                <a:cs typeface="Montserrat Bold" pitchFamily="34" charset="-120"/>
              </a:rPr>
              <a:t>Module 2: E‑Bike Database</a:t>
            </a:r>
            <a:endParaRPr lang="en-US" sz="850" dirty="0"/>
          </a:p>
        </p:txBody>
      </p:sp>
      <p:sp>
        <p:nvSpPr>
          <p:cNvPr id="23" name="Text 18"/>
          <p:cNvSpPr/>
          <p:nvPr/>
        </p:nvSpPr>
        <p:spPr>
          <a:xfrm>
            <a:off x="3527734" y="5143004"/>
            <a:ext cx="2436950" cy="211534"/>
          </a:xfrm>
          <a:prstGeom prst="rect">
            <a:avLst/>
          </a:prstGeom>
          <a:noFill/>
          <a:ln/>
        </p:spPr>
        <p:txBody>
          <a:bodyPr wrap="square" lIns="0" tIns="0" rIns="0" bIns="0" rtlCol="0" anchor="t">
            <a:normAutofit lnSpcReduction="10000"/>
          </a:bodyPr>
          <a:lstStyle/>
          <a:p>
            <a:pPr marL="0" indent="0" algn="l">
              <a:lnSpc>
                <a:spcPct val="92000"/>
              </a:lnSpc>
              <a:buNone/>
            </a:pPr>
            <a:r>
              <a:rPr lang="en-US" sz="750" dirty="0">
                <a:solidFill>
                  <a:srgbClr val="3D3838"/>
                </a:solidFill>
                <a:latin typeface="Source Sans 3" pitchFamily="34" charset="0"/>
                <a:ea typeface="Source Sans 3" pitchFamily="34" charset="-122"/>
                <a:cs typeface="Source Sans 3" pitchFamily="34" charset="-120"/>
              </a:rPr>
              <a:t>Stores Brand, Model, Price, Range, Motor, Battery, Weight, Terrain suitability.</a:t>
            </a:r>
            <a:endParaRPr lang="en-US" sz="750" dirty="0"/>
          </a:p>
        </p:txBody>
      </p:sp>
      <p:pic>
        <p:nvPicPr>
          <p:cNvPr id="24"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18270" y="4595316"/>
            <a:ext cx="2654333" cy="867966"/>
          </a:xfrm>
          <a:prstGeom prst="rect">
            <a:avLst/>
          </a:prstGeom>
        </p:spPr>
      </p:pic>
      <p:sp>
        <p:nvSpPr>
          <p:cNvPr id="25" name="Text 19"/>
          <p:cNvSpPr/>
          <p:nvPr/>
        </p:nvSpPr>
        <p:spPr>
          <a:xfrm>
            <a:off x="7387693" y="4667349"/>
            <a:ext cx="115289" cy="144066"/>
          </a:xfrm>
          <a:prstGeom prst="rect">
            <a:avLst/>
          </a:prstGeom>
          <a:noFill/>
          <a:ln/>
        </p:spPr>
        <p:txBody>
          <a:bodyPr wrap="none" lIns="0" tIns="0" rIns="0" bIns="0" rtlCol="0" anchor="ctr"/>
          <a:lstStyle/>
          <a:p>
            <a:pPr marL="0" indent="0" algn="ctr">
              <a:lnSpc>
                <a:spcPct val="100000"/>
              </a:lnSpc>
              <a:buNone/>
            </a:pPr>
            <a:r>
              <a:rPr lang="en-US" sz="900" b="1" kern="0" spc="-8" dirty="0">
                <a:solidFill>
                  <a:srgbClr val="FFFFFF"/>
                </a:solidFill>
                <a:latin typeface="Montserrat Bold" pitchFamily="34" charset="0"/>
                <a:ea typeface="Montserrat Bold" pitchFamily="34" charset="-122"/>
                <a:cs typeface="Montserrat Bold" pitchFamily="34" charset="-120"/>
              </a:rPr>
              <a:t>3</a:t>
            </a:r>
            <a:endParaRPr lang="en-US" sz="900" dirty="0"/>
          </a:p>
        </p:txBody>
      </p:sp>
      <p:sp>
        <p:nvSpPr>
          <p:cNvPr id="26" name="Text 20"/>
          <p:cNvSpPr/>
          <p:nvPr/>
        </p:nvSpPr>
        <p:spPr>
          <a:xfrm>
            <a:off x="6227011" y="4979591"/>
            <a:ext cx="2436851" cy="136525"/>
          </a:xfrm>
          <a:prstGeom prst="rect">
            <a:avLst/>
          </a:prstGeom>
          <a:noFill/>
          <a:ln/>
        </p:spPr>
        <p:txBody>
          <a:bodyPr wrap="none" lIns="0" tIns="0" rIns="0" bIns="0" rtlCol="0" anchor="t"/>
          <a:lstStyle/>
          <a:p>
            <a:pPr marL="0" indent="0" algn="l">
              <a:lnSpc>
                <a:spcPct val="104000"/>
              </a:lnSpc>
              <a:buNone/>
            </a:pPr>
            <a:r>
              <a:rPr lang="en-US" sz="850" b="1" kern="0" spc="-9" dirty="0">
                <a:solidFill>
                  <a:srgbClr val="3D3838"/>
                </a:solidFill>
                <a:latin typeface="Montserrat Bold" pitchFamily="34" charset="0"/>
                <a:ea typeface="Montserrat Bold" pitchFamily="34" charset="-122"/>
                <a:cs typeface="Montserrat Bold" pitchFamily="34" charset="-120"/>
              </a:rPr>
              <a:t>Module 3: Recommendation Engine</a:t>
            </a:r>
            <a:endParaRPr lang="en-US" sz="850" dirty="0"/>
          </a:p>
        </p:txBody>
      </p:sp>
      <p:sp>
        <p:nvSpPr>
          <p:cNvPr id="27" name="Text 21"/>
          <p:cNvSpPr/>
          <p:nvPr/>
        </p:nvSpPr>
        <p:spPr>
          <a:xfrm>
            <a:off x="6227011" y="5143004"/>
            <a:ext cx="2436851" cy="211534"/>
          </a:xfrm>
          <a:prstGeom prst="rect">
            <a:avLst/>
          </a:prstGeom>
          <a:noFill/>
          <a:ln/>
        </p:spPr>
        <p:txBody>
          <a:bodyPr wrap="square" lIns="0" tIns="0" rIns="0" bIns="0" rtlCol="0" anchor="t">
            <a:normAutofit lnSpcReduction="10000"/>
          </a:bodyPr>
          <a:lstStyle/>
          <a:p>
            <a:pPr marL="0" indent="0" algn="l">
              <a:lnSpc>
                <a:spcPct val="92000"/>
              </a:lnSpc>
              <a:buNone/>
            </a:pPr>
            <a:r>
              <a:rPr lang="en-US" sz="750" dirty="0">
                <a:solidFill>
                  <a:srgbClr val="3D3838"/>
                </a:solidFill>
                <a:latin typeface="Source Sans 3" pitchFamily="34" charset="0"/>
                <a:ea typeface="Source Sans 3" pitchFamily="34" charset="-122"/>
                <a:cs typeface="Source Sans 3" pitchFamily="34" charset="-120"/>
              </a:rPr>
              <a:t>Computes compatibility scores, rankings and recommendations.</a:t>
            </a:r>
            <a:endParaRPr lang="en-US" sz="750" dirty="0"/>
          </a:p>
        </p:txBody>
      </p:sp>
      <p:pic>
        <p:nvPicPr>
          <p:cNvPr id="28"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17449" y="4595316"/>
            <a:ext cx="2654432" cy="867966"/>
          </a:xfrm>
          <a:prstGeom prst="rect">
            <a:avLst/>
          </a:prstGeom>
        </p:spPr>
      </p:pic>
      <p:sp>
        <p:nvSpPr>
          <p:cNvPr id="29" name="Text 22"/>
          <p:cNvSpPr/>
          <p:nvPr/>
        </p:nvSpPr>
        <p:spPr>
          <a:xfrm>
            <a:off x="10086971" y="4667349"/>
            <a:ext cx="115289" cy="144066"/>
          </a:xfrm>
          <a:prstGeom prst="rect">
            <a:avLst/>
          </a:prstGeom>
          <a:noFill/>
          <a:ln/>
        </p:spPr>
        <p:txBody>
          <a:bodyPr wrap="none" lIns="0" tIns="0" rIns="0" bIns="0" rtlCol="0" anchor="ctr"/>
          <a:lstStyle/>
          <a:p>
            <a:pPr marL="0" indent="0" algn="ctr">
              <a:lnSpc>
                <a:spcPct val="100000"/>
              </a:lnSpc>
              <a:buNone/>
            </a:pPr>
            <a:r>
              <a:rPr lang="en-US" sz="900" b="1" kern="0" spc="-8" dirty="0">
                <a:solidFill>
                  <a:srgbClr val="FFFFFF"/>
                </a:solidFill>
                <a:latin typeface="Montserrat Bold" pitchFamily="34" charset="0"/>
                <a:ea typeface="Montserrat Bold" pitchFamily="34" charset="-122"/>
                <a:cs typeface="Montserrat Bold" pitchFamily="34" charset="-120"/>
              </a:rPr>
              <a:t>4</a:t>
            </a:r>
            <a:endParaRPr lang="en-US" sz="900" dirty="0"/>
          </a:p>
        </p:txBody>
      </p:sp>
      <p:sp>
        <p:nvSpPr>
          <p:cNvPr id="30" name="Text 23"/>
          <p:cNvSpPr/>
          <p:nvPr/>
        </p:nvSpPr>
        <p:spPr>
          <a:xfrm>
            <a:off x="8926190" y="4979591"/>
            <a:ext cx="2436950" cy="136525"/>
          </a:xfrm>
          <a:prstGeom prst="rect">
            <a:avLst/>
          </a:prstGeom>
          <a:noFill/>
          <a:ln/>
        </p:spPr>
        <p:txBody>
          <a:bodyPr wrap="none" lIns="0" tIns="0" rIns="0" bIns="0" rtlCol="0" anchor="t"/>
          <a:lstStyle/>
          <a:p>
            <a:pPr marL="0" indent="0" algn="l">
              <a:lnSpc>
                <a:spcPct val="104000"/>
              </a:lnSpc>
              <a:buNone/>
            </a:pPr>
            <a:r>
              <a:rPr lang="en-US" sz="850" b="1" kern="0" spc="-9" dirty="0">
                <a:solidFill>
                  <a:srgbClr val="3D3838"/>
                </a:solidFill>
                <a:latin typeface="Montserrat Bold" pitchFamily="34" charset="0"/>
                <a:ea typeface="Montserrat Bold" pitchFamily="34" charset="-122"/>
                <a:cs typeface="Montserrat Bold" pitchFamily="34" charset="-120"/>
              </a:rPr>
              <a:t>Module 4: Explainability</a:t>
            </a:r>
            <a:endParaRPr lang="en-US" sz="850" dirty="0"/>
          </a:p>
        </p:txBody>
      </p:sp>
      <p:sp>
        <p:nvSpPr>
          <p:cNvPr id="31" name="Text 24"/>
          <p:cNvSpPr/>
          <p:nvPr/>
        </p:nvSpPr>
        <p:spPr>
          <a:xfrm>
            <a:off x="8926190" y="5143004"/>
            <a:ext cx="2436950" cy="211534"/>
          </a:xfrm>
          <a:prstGeom prst="rect">
            <a:avLst/>
          </a:prstGeom>
          <a:noFill/>
          <a:ln/>
        </p:spPr>
        <p:txBody>
          <a:bodyPr wrap="square" lIns="0" tIns="0" rIns="0" bIns="0" rtlCol="0" anchor="t">
            <a:normAutofit lnSpcReduction="10000"/>
          </a:bodyPr>
          <a:lstStyle/>
          <a:p>
            <a:pPr marL="0" indent="0" algn="l">
              <a:lnSpc>
                <a:spcPct val="92000"/>
              </a:lnSpc>
              <a:buNone/>
            </a:pPr>
            <a:r>
              <a:rPr lang="en-US" sz="750" dirty="0">
                <a:solidFill>
                  <a:srgbClr val="3D3838"/>
                </a:solidFill>
                <a:latin typeface="Source Sans 3" pitchFamily="34" charset="0"/>
                <a:ea typeface="Source Sans 3" pitchFamily="34" charset="-122"/>
                <a:cs typeface="Source Sans 3" pitchFamily="34" charset="-120"/>
              </a:rPr>
              <a:t>Generates human‑readable reasons (budget, range, terrain suitability).</a:t>
            </a:r>
            <a:endParaRPr lang="en-US" sz="750" dirty="0"/>
          </a:p>
        </p:txBody>
      </p:sp>
      <p:pic>
        <p:nvPicPr>
          <p:cNvPr id="32" name="Image 5"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9814" y="5508129"/>
            <a:ext cx="3554125" cy="762198"/>
          </a:xfrm>
          <a:prstGeom prst="rect">
            <a:avLst/>
          </a:prstGeom>
        </p:spPr>
      </p:pic>
      <p:sp>
        <p:nvSpPr>
          <p:cNvPr id="33" name="Text 25"/>
          <p:cNvSpPr/>
          <p:nvPr/>
        </p:nvSpPr>
        <p:spPr>
          <a:xfrm>
            <a:off x="2439182" y="5580162"/>
            <a:ext cx="115289" cy="144066"/>
          </a:xfrm>
          <a:prstGeom prst="rect">
            <a:avLst/>
          </a:prstGeom>
          <a:noFill/>
          <a:ln/>
        </p:spPr>
        <p:txBody>
          <a:bodyPr wrap="none" lIns="0" tIns="0" rIns="0" bIns="0" rtlCol="0" anchor="ctr"/>
          <a:lstStyle/>
          <a:p>
            <a:pPr marL="0" indent="0" algn="ctr">
              <a:lnSpc>
                <a:spcPct val="100000"/>
              </a:lnSpc>
              <a:buNone/>
            </a:pPr>
            <a:r>
              <a:rPr lang="en-US" sz="900" b="1" kern="0" spc="-8" dirty="0">
                <a:solidFill>
                  <a:srgbClr val="FFFFFF"/>
                </a:solidFill>
                <a:latin typeface="Montserrat Bold" pitchFamily="34" charset="0"/>
                <a:ea typeface="Montserrat Bold" pitchFamily="34" charset="-122"/>
                <a:cs typeface="Montserrat Bold" pitchFamily="34" charset="-120"/>
              </a:rPr>
              <a:t>5</a:t>
            </a:r>
            <a:endParaRPr lang="en-US" sz="900" dirty="0"/>
          </a:p>
        </p:txBody>
      </p:sp>
      <p:sp>
        <p:nvSpPr>
          <p:cNvPr id="34" name="Text 26"/>
          <p:cNvSpPr/>
          <p:nvPr/>
        </p:nvSpPr>
        <p:spPr>
          <a:xfrm>
            <a:off x="828555" y="5892403"/>
            <a:ext cx="3336643" cy="136525"/>
          </a:xfrm>
          <a:prstGeom prst="rect">
            <a:avLst/>
          </a:prstGeom>
          <a:noFill/>
          <a:ln/>
        </p:spPr>
        <p:txBody>
          <a:bodyPr wrap="none" lIns="0" tIns="0" rIns="0" bIns="0" rtlCol="0" anchor="t"/>
          <a:lstStyle/>
          <a:p>
            <a:pPr marL="0" indent="0" algn="l">
              <a:lnSpc>
                <a:spcPct val="104000"/>
              </a:lnSpc>
              <a:buNone/>
            </a:pPr>
            <a:r>
              <a:rPr lang="en-US" sz="850" b="1" kern="0" spc="-9" dirty="0">
                <a:solidFill>
                  <a:srgbClr val="3D3838"/>
                </a:solidFill>
                <a:latin typeface="Montserrat Bold" pitchFamily="34" charset="0"/>
                <a:ea typeface="Montserrat Bold" pitchFamily="34" charset="-122"/>
                <a:cs typeface="Montserrat Bold" pitchFamily="34" charset="-120"/>
              </a:rPr>
              <a:t>Module 5: IoT Monitoring</a:t>
            </a:r>
            <a:endParaRPr lang="en-US" sz="850" dirty="0"/>
          </a:p>
        </p:txBody>
      </p:sp>
      <p:sp>
        <p:nvSpPr>
          <p:cNvPr id="35" name="Text 27"/>
          <p:cNvSpPr/>
          <p:nvPr/>
        </p:nvSpPr>
        <p:spPr>
          <a:xfrm>
            <a:off x="828555" y="6055816"/>
            <a:ext cx="3336643" cy="105767"/>
          </a:xfrm>
          <a:prstGeom prst="rect">
            <a:avLst/>
          </a:prstGeom>
          <a:noFill/>
          <a:ln/>
        </p:spPr>
        <p:txBody>
          <a:bodyPr wrap="none" lIns="0" tIns="0" rIns="0" bIns="0" rtlCol="0" anchor="t"/>
          <a:lstStyle/>
          <a:p>
            <a:pPr marL="0" indent="0" algn="l">
              <a:lnSpc>
                <a:spcPct val="92000"/>
              </a:lnSpc>
              <a:buNone/>
            </a:pPr>
            <a:r>
              <a:rPr lang="en-US" sz="750" dirty="0">
                <a:solidFill>
                  <a:srgbClr val="3D3838"/>
                </a:solidFill>
                <a:latin typeface="Source Sans 3" pitchFamily="34" charset="0"/>
                <a:ea typeface="Source Sans 3" pitchFamily="34" charset="-122"/>
                <a:cs typeface="Source Sans 3" pitchFamily="34" charset="-120"/>
              </a:rPr>
              <a:t>Collects temperature, voltage/current, vibration, motion, tilt and other sensors.</a:t>
            </a:r>
            <a:endParaRPr lang="en-US" sz="750" dirty="0"/>
          </a:p>
        </p:txBody>
      </p:sp>
      <p:pic>
        <p:nvPicPr>
          <p:cNvPr id="36" name="Image 6"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18785" y="5508129"/>
            <a:ext cx="3554125" cy="762198"/>
          </a:xfrm>
          <a:prstGeom prst="rect">
            <a:avLst/>
          </a:prstGeom>
        </p:spPr>
      </p:pic>
      <p:sp>
        <p:nvSpPr>
          <p:cNvPr id="37" name="Text 28"/>
          <p:cNvSpPr/>
          <p:nvPr/>
        </p:nvSpPr>
        <p:spPr>
          <a:xfrm>
            <a:off x="6038153" y="5580162"/>
            <a:ext cx="115289" cy="144066"/>
          </a:xfrm>
          <a:prstGeom prst="rect">
            <a:avLst/>
          </a:prstGeom>
          <a:noFill/>
          <a:ln/>
        </p:spPr>
        <p:txBody>
          <a:bodyPr wrap="none" lIns="0" tIns="0" rIns="0" bIns="0" rtlCol="0" anchor="ctr"/>
          <a:lstStyle/>
          <a:p>
            <a:pPr marL="0" indent="0" algn="ctr">
              <a:lnSpc>
                <a:spcPct val="100000"/>
              </a:lnSpc>
              <a:buNone/>
            </a:pPr>
            <a:r>
              <a:rPr lang="en-US" sz="900" b="1" kern="0" spc="-8" dirty="0">
                <a:solidFill>
                  <a:srgbClr val="FFFFFF"/>
                </a:solidFill>
                <a:latin typeface="Montserrat Bold" pitchFamily="34" charset="0"/>
                <a:ea typeface="Montserrat Bold" pitchFamily="34" charset="-122"/>
                <a:cs typeface="Montserrat Bold" pitchFamily="34" charset="-120"/>
              </a:rPr>
              <a:t>6</a:t>
            </a:r>
            <a:endParaRPr lang="en-US" sz="900" dirty="0"/>
          </a:p>
        </p:txBody>
      </p:sp>
      <p:sp>
        <p:nvSpPr>
          <p:cNvPr id="38" name="Text 29"/>
          <p:cNvSpPr/>
          <p:nvPr/>
        </p:nvSpPr>
        <p:spPr>
          <a:xfrm>
            <a:off x="4427526" y="5892403"/>
            <a:ext cx="3336643" cy="136525"/>
          </a:xfrm>
          <a:prstGeom prst="rect">
            <a:avLst/>
          </a:prstGeom>
          <a:noFill/>
          <a:ln/>
        </p:spPr>
        <p:txBody>
          <a:bodyPr wrap="none" lIns="0" tIns="0" rIns="0" bIns="0" rtlCol="0" anchor="t"/>
          <a:lstStyle/>
          <a:p>
            <a:pPr marL="0" indent="0" algn="l">
              <a:lnSpc>
                <a:spcPct val="104000"/>
              </a:lnSpc>
              <a:buNone/>
            </a:pPr>
            <a:r>
              <a:rPr lang="en-US" sz="850" b="1" kern="0" spc="-9" dirty="0">
                <a:solidFill>
                  <a:srgbClr val="3D3838"/>
                </a:solidFill>
                <a:latin typeface="Montserrat Bold" pitchFamily="34" charset="0"/>
                <a:ea typeface="Montserrat Bold" pitchFamily="34" charset="-122"/>
                <a:cs typeface="Montserrat Bold" pitchFamily="34" charset="-120"/>
              </a:rPr>
              <a:t>Module 6: Alert &amp; Maintenance</a:t>
            </a:r>
            <a:endParaRPr lang="en-US" sz="850" dirty="0"/>
          </a:p>
        </p:txBody>
      </p:sp>
      <p:sp>
        <p:nvSpPr>
          <p:cNvPr id="39" name="Text 30"/>
          <p:cNvSpPr/>
          <p:nvPr/>
        </p:nvSpPr>
        <p:spPr>
          <a:xfrm>
            <a:off x="4427526" y="6055816"/>
            <a:ext cx="3336643" cy="105767"/>
          </a:xfrm>
          <a:prstGeom prst="rect">
            <a:avLst/>
          </a:prstGeom>
          <a:noFill/>
          <a:ln/>
        </p:spPr>
        <p:txBody>
          <a:bodyPr wrap="none" lIns="0" tIns="0" rIns="0" bIns="0" rtlCol="0" anchor="t"/>
          <a:lstStyle/>
          <a:p>
            <a:pPr marL="0" indent="0" algn="l">
              <a:lnSpc>
                <a:spcPct val="92000"/>
              </a:lnSpc>
              <a:buNone/>
            </a:pPr>
            <a:r>
              <a:rPr lang="en-US" sz="750" dirty="0">
                <a:solidFill>
                  <a:srgbClr val="3D3838"/>
                </a:solidFill>
                <a:latin typeface="Source Sans 3" pitchFamily="34" charset="0"/>
                <a:ea typeface="Source Sans 3" pitchFamily="34" charset="-122"/>
                <a:cs typeface="Source Sans 3" pitchFamily="34" charset="-120"/>
              </a:rPr>
              <a:t>Detects abnormalities and issues warnings, maintenance suggestions.</a:t>
            </a:r>
            <a:endParaRPr lang="en-US" sz="750" dirty="0"/>
          </a:p>
        </p:txBody>
      </p:sp>
      <p:pic>
        <p:nvPicPr>
          <p:cNvPr id="40" name="Image 7"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17756" y="5508129"/>
            <a:ext cx="3554125" cy="762198"/>
          </a:xfrm>
          <a:prstGeom prst="rect">
            <a:avLst/>
          </a:prstGeom>
        </p:spPr>
      </p:pic>
      <p:sp>
        <p:nvSpPr>
          <p:cNvPr id="41" name="Text 31"/>
          <p:cNvSpPr/>
          <p:nvPr/>
        </p:nvSpPr>
        <p:spPr>
          <a:xfrm>
            <a:off x="9637124" y="5580162"/>
            <a:ext cx="115289" cy="144066"/>
          </a:xfrm>
          <a:prstGeom prst="rect">
            <a:avLst/>
          </a:prstGeom>
          <a:noFill/>
          <a:ln/>
        </p:spPr>
        <p:txBody>
          <a:bodyPr wrap="none" lIns="0" tIns="0" rIns="0" bIns="0" rtlCol="0" anchor="ctr"/>
          <a:lstStyle/>
          <a:p>
            <a:pPr marL="0" indent="0" algn="ctr">
              <a:lnSpc>
                <a:spcPct val="100000"/>
              </a:lnSpc>
              <a:buNone/>
            </a:pPr>
            <a:r>
              <a:rPr lang="en-US" sz="900" b="1" kern="0" spc="-8" dirty="0">
                <a:solidFill>
                  <a:srgbClr val="FFFFFF"/>
                </a:solidFill>
                <a:latin typeface="Montserrat Bold" pitchFamily="34" charset="0"/>
                <a:ea typeface="Montserrat Bold" pitchFamily="34" charset="-122"/>
                <a:cs typeface="Montserrat Bold" pitchFamily="34" charset="-120"/>
              </a:rPr>
              <a:t>7</a:t>
            </a:r>
            <a:endParaRPr lang="en-US" sz="900" dirty="0"/>
          </a:p>
        </p:txBody>
      </p:sp>
      <p:sp>
        <p:nvSpPr>
          <p:cNvPr id="42" name="Text 32"/>
          <p:cNvSpPr/>
          <p:nvPr/>
        </p:nvSpPr>
        <p:spPr>
          <a:xfrm>
            <a:off x="8026497" y="5892403"/>
            <a:ext cx="3336643" cy="136525"/>
          </a:xfrm>
          <a:prstGeom prst="rect">
            <a:avLst/>
          </a:prstGeom>
          <a:noFill/>
          <a:ln/>
        </p:spPr>
        <p:txBody>
          <a:bodyPr wrap="none" lIns="0" tIns="0" rIns="0" bIns="0" rtlCol="0" anchor="t"/>
          <a:lstStyle/>
          <a:p>
            <a:pPr marL="0" indent="0" algn="l">
              <a:lnSpc>
                <a:spcPct val="104000"/>
              </a:lnSpc>
              <a:buNone/>
            </a:pPr>
            <a:r>
              <a:rPr lang="en-US" sz="850" b="1" kern="0" spc="-9" dirty="0">
                <a:solidFill>
                  <a:srgbClr val="3D3838"/>
                </a:solidFill>
                <a:latin typeface="Montserrat Bold" pitchFamily="34" charset="0"/>
                <a:ea typeface="Montserrat Bold" pitchFamily="34" charset="-122"/>
                <a:cs typeface="Montserrat Bold" pitchFamily="34" charset="-120"/>
              </a:rPr>
              <a:t>Module 7: Web Dashboard</a:t>
            </a:r>
            <a:endParaRPr lang="en-US" sz="850" dirty="0"/>
          </a:p>
        </p:txBody>
      </p:sp>
      <p:sp>
        <p:nvSpPr>
          <p:cNvPr id="43" name="Text 33"/>
          <p:cNvSpPr/>
          <p:nvPr/>
        </p:nvSpPr>
        <p:spPr>
          <a:xfrm>
            <a:off x="8026497" y="6055816"/>
            <a:ext cx="3336643" cy="105767"/>
          </a:xfrm>
          <a:prstGeom prst="rect">
            <a:avLst/>
          </a:prstGeom>
          <a:noFill/>
          <a:ln/>
        </p:spPr>
        <p:txBody>
          <a:bodyPr wrap="none" lIns="0" tIns="0" rIns="0" bIns="0" rtlCol="0" anchor="t"/>
          <a:lstStyle/>
          <a:p>
            <a:pPr marL="0" indent="0" algn="l">
              <a:lnSpc>
                <a:spcPct val="92000"/>
              </a:lnSpc>
              <a:buNone/>
            </a:pPr>
            <a:r>
              <a:rPr lang="en-US" sz="750" dirty="0">
                <a:solidFill>
                  <a:srgbClr val="3D3838"/>
                </a:solidFill>
                <a:latin typeface="Source Sans 3" pitchFamily="34" charset="0"/>
                <a:ea typeface="Source Sans 3" pitchFamily="34" charset="-122"/>
                <a:cs typeface="Source Sans 3" pitchFamily="34" charset="-120"/>
              </a:rPr>
              <a:t>Displays recommendations, sensor readings, health status and alerts.</a:t>
            </a:r>
            <a:endParaRPr lang="en-US" sz="750" dirty="0"/>
          </a:p>
        </p:txBody>
      </p:sp>
      <p:pic>
        <p:nvPicPr>
          <p:cNvPr id="45" name="Picture 44">
            <a:extLst>
              <a:ext uri="{FF2B5EF4-FFF2-40B4-BE49-F238E27FC236}">
                <a16:creationId xmlns:a16="http://schemas.microsoft.com/office/drawing/2014/main" id="{4B027865-C895-29D0-0108-2DF544EBF77E}"/>
              </a:ext>
            </a:extLst>
          </p:cNvPr>
          <p:cNvPicPr>
            <a:picLocks noChangeAspect="1"/>
          </p:cNvPicPr>
          <p:nvPr/>
        </p:nvPicPr>
        <p:blipFill>
          <a:blip r:embed="rId6"/>
          <a:stretch>
            <a:fillRect/>
          </a:stretch>
        </p:blipFill>
        <p:spPr>
          <a:xfrm>
            <a:off x="10824181" y="6506963"/>
            <a:ext cx="1295400" cy="2952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495759" y="760164"/>
            <a:ext cx="11324467" cy="658219"/>
          </a:xfrm>
          <a:prstGeom prst="rect">
            <a:avLst/>
          </a:prstGeom>
          <a:noFill/>
          <a:ln/>
        </p:spPr>
        <p:txBody>
          <a:bodyPr wrap="none" lIns="0" tIns="0" rIns="0" bIns="0" rtlCol="0" anchor="t"/>
          <a:lstStyle/>
          <a:p>
            <a:pPr marL="0" indent="0" algn="l">
              <a:lnSpc>
                <a:spcPct val="104000"/>
              </a:lnSpc>
              <a:buNone/>
            </a:pPr>
            <a:r>
              <a:rPr lang="en-US" sz="3300" b="1" kern="0" spc="-33" dirty="0">
                <a:solidFill>
                  <a:srgbClr val="000000"/>
                </a:solidFill>
                <a:latin typeface="Montserrat Bold" pitchFamily="34" charset="0"/>
                <a:ea typeface="Montserrat Bold" pitchFamily="34" charset="-122"/>
                <a:cs typeface="Montserrat Bold" pitchFamily="34" charset="-120"/>
              </a:rPr>
              <a:t>Results — Current Progress</a:t>
            </a:r>
            <a:endParaRPr lang="en-US" sz="3300" dirty="0"/>
          </a:p>
        </p:txBody>
      </p:sp>
      <p:sp>
        <p:nvSpPr>
          <p:cNvPr id="4" name="Text 1"/>
          <p:cNvSpPr/>
          <p:nvPr/>
        </p:nvSpPr>
        <p:spPr>
          <a:xfrm>
            <a:off x="495759" y="1939618"/>
            <a:ext cx="3182450" cy="658219"/>
          </a:xfrm>
          <a:prstGeom prst="rect">
            <a:avLst/>
          </a:prstGeom>
          <a:noFill/>
          <a:ln/>
        </p:spPr>
        <p:txBody>
          <a:bodyPr wrap="square" lIns="0" tIns="0" rIns="0" bIns="0" rtlCol="0" anchor="t">
            <a:normAutofit/>
          </a:bodyPr>
          <a:lstStyle/>
          <a:p>
            <a:pPr marL="0" indent="0" algn="l">
              <a:lnSpc>
                <a:spcPct val="104000"/>
              </a:lnSpc>
              <a:buNone/>
            </a:pPr>
            <a:r>
              <a:rPr lang="en-US" sz="1650" b="1" kern="0" spc="-17" dirty="0">
                <a:solidFill>
                  <a:srgbClr val="000000"/>
                </a:solidFill>
                <a:latin typeface="Montserrat Bold" pitchFamily="34" charset="0"/>
                <a:ea typeface="Montserrat Bold" pitchFamily="34" charset="-122"/>
                <a:cs typeface="Montserrat Bold" pitchFamily="34" charset="-120"/>
              </a:rPr>
              <a:t>Software Progress</a:t>
            </a:r>
            <a:endParaRPr lang="en-US" sz="1650" dirty="0"/>
          </a:p>
        </p:txBody>
      </p:sp>
      <p:sp>
        <p:nvSpPr>
          <p:cNvPr id="5" name="Text 2"/>
          <p:cNvSpPr/>
          <p:nvPr/>
        </p:nvSpPr>
        <p:spPr>
          <a:xfrm>
            <a:off x="495759" y="2806358"/>
            <a:ext cx="3182450" cy="990683"/>
          </a:xfrm>
          <a:prstGeom prst="rect">
            <a:avLst/>
          </a:prstGeom>
          <a:noFill/>
          <a:ln/>
        </p:spPr>
        <p:txBody>
          <a:bodyPr wrap="square" lIns="0" tIns="0" rIns="0" bIns="0" rtlCol="0" anchor="t">
            <a:normAutofit/>
          </a:bodyPr>
          <a:lstStyle/>
          <a:p>
            <a:pPr marL="0" indent="0" algn="l">
              <a:lnSpc>
                <a:spcPct val="119000"/>
              </a:lnSpc>
              <a:buNone/>
            </a:pPr>
            <a:r>
              <a:rPr lang="en-US" sz="1450" dirty="0">
                <a:solidFill>
                  <a:srgbClr val="3D3838"/>
                </a:solidFill>
                <a:latin typeface="Source Sans 3" pitchFamily="34" charset="0"/>
                <a:ea typeface="Source Sans 3" pitchFamily="34" charset="-122"/>
                <a:cs typeface="Source Sans 3" pitchFamily="34" charset="-120"/>
              </a:rPr>
              <a:t>[INSERT ACTUAL WEBSITE SCREENSHOT]</a:t>
            </a:r>
            <a:endParaRPr lang="en-US" sz="1450" dirty="0"/>
          </a:p>
        </p:txBody>
      </p:sp>
      <p:sp>
        <p:nvSpPr>
          <p:cNvPr id="6" name="Text 3"/>
          <p:cNvSpPr/>
          <p:nvPr/>
        </p:nvSpPr>
        <p:spPr>
          <a:xfrm>
            <a:off x="495759" y="3984695"/>
            <a:ext cx="3182450" cy="1584944"/>
          </a:xfrm>
          <a:prstGeom prst="rect">
            <a:avLst/>
          </a:prstGeom>
          <a:noFill/>
          <a:ln/>
        </p:spPr>
        <p:txBody>
          <a:bodyPr wrap="square" lIns="0" tIns="0" rIns="0" bIns="0" rtlCol="0" anchor="t">
            <a:normAutofit/>
          </a:bodyPr>
          <a:lstStyle/>
          <a:p>
            <a:pPr marL="0" indent="0" algn="l">
              <a:lnSpc>
                <a:spcPct val="119000"/>
              </a:lnSpc>
              <a:buNone/>
            </a:pPr>
            <a:r>
              <a:rPr lang="en-US" sz="1150" dirty="0">
                <a:solidFill>
                  <a:srgbClr val="3D3838"/>
                </a:solidFill>
                <a:latin typeface="Source Sans 3" pitchFamily="34" charset="0"/>
                <a:ea typeface="Source Sans 3" pitchFamily="34" charset="-122"/>
                <a:cs typeface="Source Sans 3" pitchFamily="34" charset="-120"/>
              </a:rPr>
              <a:t>Visible: user input form, recommendation output, match percentage and ranked list (replace placeholder with real screenshot).</a:t>
            </a:r>
            <a:endParaRPr lang="en-US" sz="1150" dirty="0"/>
          </a:p>
        </p:txBody>
      </p:sp>
      <p:sp>
        <p:nvSpPr>
          <p:cNvPr id="7" name="Text 4"/>
          <p:cNvSpPr/>
          <p:nvPr/>
        </p:nvSpPr>
        <p:spPr>
          <a:xfrm>
            <a:off x="4517409" y="1939618"/>
            <a:ext cx="3182450" cy="658219"/>
          </a:xfrm>
          <a:prstGeom prst="rect">
            <a:avLst/>
          </a:prstGeom>
          <a:noFill/>
          <a:ln/>
        </p:spPr>
        <p:txBody>
          <a:bodyPr wrap="square" lIns="0" tIns="0" rIns="0" bIns="0" rtlCol="0" anchor="t">
            <a:normAutofit/>
          </a:bodyPr>
          <a:lstStyle/>
          <a:p>
            <a:pPr marL="0" indent="0" algn="l">
              <a:lnSpc>
                <a:spcPct val="104000"/>
              </a:lnSpc>
              <a:buNone/>
            </a:pPr>
            <a:r>
              <a:rPr lang="en-US" sz="1650" b="1" kern="0" spc="-17" dirty="0">
                <a:solidFill>
                  <a:srgbClr val="000000"/>
                </a:solidFill>
                <a:latin typeface="Montserrat Bold" pitchFamily="34" charset="0"/>
                <a:ea typeface="Montserrat Bold" pitchFamily="34" charset="-122"/>
                <a:cs typeface="Montserrat Bold" pitchFamily="34" charset="-120"/>
              </a:rPr>
              <a:t>Hardware Progress</a:t>
            </a:r>
            <a:endParaRPr lang="en-US" sz="1650" dirty="0"/>
          </a:p>
        </p:txBody>
      </p:sp>
      <p:sp>
        <p:nvSpPr>
          <p:cNvPr id="8" name="Text 5"/>
          <p:cNvSpPr/>
          <p:nvPr/>
        </p:nvSpPr>
        <p:spPr>
          <a:xfrm>
            <a:off x="4517409" y="2806358"/>
            <a:ext cx="3182450" cy="990683"/>
          </a:xfrm>
          <a:prstGeom prst="rect">
            <a:avLst/>
          </a:prstGeom>
          <a:noFill/>
          <a:ln/>
        </p:spPr>
        <p:txBody>
          <a:bodyPr wrap="square" lIns="0" tIns="0" rIns="0" bIns="0" rtlCol="0" anchor="t">
            <a:normAutofit/>
          </a:bodyPr>
          <a:lstStyle/>
          <a:p>
            <a:pPr marL="0" indent="0" algn="l">
              <a:lnSpc>
                <a:spcPct val="119000"/>
              </a:lnSpc>
              <a:buNone/>
            </a:pPr>
            <a:r>
              <a:rPr lang="en-US" sz="1450" dirty="0">
                <a:solidFill>
                  <a:srgbClr val="3D3838"/>
                </a:solidFill>
                <a:latin typeface="Source Sans 3" pitchFamily="34" charset="0"/>
                <a:ea typeface="Source Sans 3" pitchFamily="34" charset="-122"/>
                <a:cs typeface="Source Sans 3" pitchFamily="34" charset="-120"/>
              </a:rPr>
              <a:t>[INSERT ACTUAL ESP32 + SENSOR PHOTOGRAPH]</a:t>
            </a:r>
            <a:endParaRPr lang="en-US" sz="1450" dirty="0"/>
          </a:p>
        </p:txBody>
      </p:sp>
      <p:sp>
        <p:nvSpPr>
          <p:cNvPr id="9" name="Text 6"/>
          <p:cNvSpPr/>
          <p:nvPr/>
        </p:nvSpPr>
        <p:spPr>
          <a:xfrm>
            <a:off x="4517409" y="3984695"/>
            <a:ext cx="3182450" cy="1320785"/>
          </a:xfrm>
          <a:prstGeom prst="rect">
            <a:avLst/>
          </a:prstGeom>
          <a:noFill/>
          <a:ln/>
        </p:spPr>
        <p:txBody>
          <a:bodyPr wrap="square" lIns="0" tIns="0" rIns="0" bIns="0" rtlCol="0" anchor="t">
            <a:normAutofit/>
          </a:bodyPr>
          <a:lstStyle/>
          <a:p>
            <a:pPr marL="0" indent="0" algn="l">
              <a:lnSpc>
                <a:spcPct val="119000"/>
              </a:lnSpc>
              <a:buNone/>
            </a:pPr>
            <a:r>
              <a:rPr lang="en-US" sz="1150" dirty="0">
                <a:solidFill>
                  <a:srgbClr val="3D3838"/>
                </a:solidFill>
                <a:latin typeface="Source Sans 3" pitchFamily="34" charset="0"/>
                <a:ea typeface="Source Sans 3" pitchFamily="34" charset="-122"/>
                <a:cs typeface="Source Sans 3" pitchFamily="34" charset="-120"/>
              </a:rPr>
              <a:t>Photograph should show ESP32 connected to sensors and wiring; label components in the figure caption.</a:t>
            </a:r>
            <a:endParaRPr lang="en-US" sz="1150" dirty="0"/>
          </a:p>
        </p:txBody>
      </p:sp>
      <p:sp>
        <p:nvSpPr>
          <p:cNvPr id="10" name="Text 7"/>
          <p:cNvSpPr/>
          <p:nvPr/>
        </p:nvSpPr>
        <p:spPr>
          <a:xfrm>
            <a:off x="8539058" y="1939618"/>
            <a:ext cx="3304075" cy="658219"/>
          </a:xfrm>
          <a:prstGeom prst="rect">
            <a:avLst/>
          </a:prstGeom>
          <a:noFill/>
          <a:ln/>
        </p:spPr>
        <p:txBody>
          <a:bodyPr wrap="square" lIns="0" tIns="0" rIns="0" bIns="0" rtlCol="0" anchor="t">
            <a:normAutofit/>
          </a:bodyPr>
          <a:lstStyle/>
          <a:p>
            <a:pPr marL="0" indent="0" algn="l">
              <a:lnSpc>
                <a:spcPct val="104000"/>
              </a:lnSpc>
              <a:buNone/>
            </a:pPr>
            <a:r>
              <a:rPr lang="en-US" sz="1650" b="1" kern="0" spc="-17" dirty="0">
                <a:solidFill>
                  <a:srgbClr val="000000"/>
                </a:solidFill>
                <a:latin typeface="Montserrat Bold" pitchFamily="34" charset="0"/>
                <a:ea typeface="Montserrat Bold" pitchFamily="34" charset="-122"/>
                <a:cs typeface="Montserrat Bold" pitchFamily="34" charset="-120"/>
              </a:rPr>
              <a:t>Monitoring Progress</a:t>
            </a:r>
            <a:endParaRPr lang="en-US" sz="1650" dirty="0"/>
          </a:p>
        </p:txBody>
      </p:sp>
      <p:sp>
        <p:nvSpPr>
          <p:cNvPr id="11" name="Text 8"/>
          <p:cNvSpPr/>
          <p:nvPr/>
        </p:nvSpPr>
        <p:spPr>
          <a:xfrm>
            <a:off x="8539058" y="2806358"/>
            <a:ext cx="3304075" cy="990683"/>
          </a:xfrm>
          <a:prstGeom prst="rect">
            <a:avLst/>
          </a:prstGeom>
          <a:noFill/>
          <a:ln/>
        </p:spPr>
        <p:txBody>
          <a:bodyPr wrap="square" lIns="0" tIns="0" rIns="0" bIns="0" rtlCol="0" anchor="t">
            <a:normAutofit/>
          </a:bodyPr>
          <a:lstStyle/>
          <a:p>
            <a:pPr marL="0" indent="0" algn="l">
              <a:lnSpc>
                <a:spcPct val="119000"/>
              </a:lnSpc>
              <a:buNone/>
            </a:pPr>
            <a:r>
              <a:rPr lang="en-US" sz="1450" dirty="0">
                <a:solidFill>
                  <a:srgbClr val="3D3838"/>
                </a:solidFill>
                <a:latin typeface="Source Sans 3" pitchFamily="34" charset="0"/>
                <a:ea typeface="Source Sans 3" pitchFamily="34" charset="-122"/>
                <a:cs typeface="Source Sans 3" pitchFamily="34" charset="-120"/>
              </a:rPr>
              <a:t>[INSERT ACTUAL DASHBOARD SCREENSHOT]</a:t>
            </a:r>
            <a:endParaRPr lang="en-US" sz="1450" dirty="0"/>
          </a:p>
        </p:txBody>
      </p:sp>
      <p:sp>
        <p:nvSpPr>
          <p:cNvPr id="12" name="Text 9"/>
          <p:cNvSpPr/>
          <p:nvPr/>
        </p:nvSpPr>
        <p:spPr>
          <a:xfrm>
            <a:off x="8539058" y="3984695"/>
            <a:ext cx="3304075" cy="1849100"/>
          </a:xfrm>
          <a:prstGeom prst="rect">
            <a:avLst/>
          </a:prstGeom>
          <a:noFill/>
          <a:ln/>
        </p:spPr>
        <p:txBody>
          <a:bodyPr wrap="square" lIns="0" tIns="0" rIns="0" bIns="0" rtlCol="0" anchor="t">
            <a:normAutofit/>
          </a:bodyPr>
          <a:lstStyle/>
          <a:p>
            <a:pPr marL="0" indent="0" algn="l">
              <a:lnSpc>
                <a:spcPct val="119000"/>
              </a:lnSpc>
              <a:buNone/>
            </a:pPr>
            <a:r>
              <a:rPr lang="en-US" sz="1150" dirty="0">
                <a:solidFill>
                  <a:srgbClr val="3D3838"/>
                </a:solidFill>
                <a:latin typeface="Source Sans 3" pitchFamily="34" charset="0"/>
                <a:ea typeface="Source Sans 3" pitchFamily="34" charset="-122"/>
                <a:cs typeface="Source Sans 3" pitchFamily="34" charset="-120"/>
              </a:rPr>
              <a:t>Dashboard panels: Temperature, Battery Voltage, Current, Vibration, System Status. If prototype lacks real readings, label as “Prototype / simulated demonstration”.</a:t>
            </a:r>
            <a:endParaRPr lang="en-US" sz="1150" dirty="0"/>
          </a:p>
        </p:txBody>
      </p:sp>
      <p:sp>
        <p:nvSpPr>
          <p:cNvPr id="13" name="Shape 10"/>
          <p:cNvSpPr/>
          <p:nvPr/>
        </p:nvSpPr>
        <p:spPr>
          <a:xfrm>
            <a:off x="495759" y="6313923"/>
            <a:ext cx="11324467" cy="31793"/>
          </a:xfrm>
          <a:prstGeom prst="roundRect">
            <a:avLst>
              <a:gd name="adj" fmla="val 49999"/>
            </a:avLst>
          </a:prstGeom>
          <a:solidFill>
            <a:srgbClr val="3D3838">
              <a:alpha val="50000"/>
            </a:srgbClr>
          </a:solidFill>
          <a:ln/>
        </p:spPr>
        <p:txBody>
          <a:bodyPr/>
          <a:lstStyle/>
          <a:p>
            <a:endParaRPr lang="en-IN"/>
          </a:p>
        </p:txBody>
      </p:sp>
      <p:pic>
        <p:nvPicPr>
          <p:cNvPr id="16" name="Picture 15">
            <a:extLst>
              <a:ext uri="{FF2B5EF4-FFF2-40B4-BE49-F238E27FC236}">
                <a16:creationId xmlns:a16="http://schemas.microsoft.com/office/drawing/2014/main" id="{0A3C6932-83FC-1724-3EE4-0F059AD36D72}"/>
              </a:ext>
            </a:extLst>
          </p:cNvPr>
          <p:cNvPicPr>
            <a:picLocks noChangeAspect="1"/>
          </p:cNvPicPr>
          <p:nvPr/>
        </p:nvPicPr>
        <p:blipFill>
          <a:blip r:embed="rId3"/>
          <a:stretch>
            <a:fillRect/>
          </a:stretch>
        </p:blipFill>
        <p:spPr>
          <a:xfrm>
            <a:off x="10824181" y="6561060"/>
            <a:ext cx="1295400" cy="295275"/>
          </a:xfrm>
          <a:prstGeom prst="rect">
            <a:avLst/>
          </a:prstGeom>
        </p:spPr>
      </p:pic>
      <p:pic>
        <p:nvPicPr>
          <p:cNvPr id="14" name="Picture 13">
            <a:extLst>
              <a:ext uri="{FF2B5EF4-FFF2-40B4-BE49-F238E27FC236}">
                <a16:creationId xmlns:a16="http://schemas.microsoft.com/office/drawing/2014/main" id="{ED06C647-13E4-555A-7227-BE07CADD6E65}"/>
              </a:ext>
            </a:extLst>
          </p:cNvPr>
          <p:cNvPicPr>
            <a:picLocks noChangeAspect="1"/>
          </p:cNvPicPr>
          <p:nvPr/>
        </p:nvPicPr>
        <p:blipFill>
          <a:blip r:embed="rId4"/>
          <a:stretch>
            <a:fillRect/>
          </a:stretch>
        </p:blipFill>
        <p:spPr>
          <a:xfrm>
            <a:off x="163772" y="2426826"/>
            <a:ext cx="3860385" cy="2812841"/>
          </a:xfrm>
          <a:prstGeom prst="rect">
            <a:avLst/>
          </a:prstGeom>
        </p:spPr>
      </p:pic>
      <p:pic>
        <p:nvPicPr>
          <p:cNvPr id="17" name="Picture 16">
            <a:extLst>
              <a:ext uri="{FF2B5EF4-FFF2-40B4-BE49-F238E27FC236}">
                <a16:creationId xmlns:a16="http://schemas.microsoft.com/office/drawing/2014/main" id="{ECA1C852-5D88-6D94-B40E-51C2B6EB1869}"/>
              </a:ext>
            </a:extLst>
          </p:cNvPr>
          <p:cNvPicPr>
            <a:picLocks noChangeAspect="1"/>
          </p:cNvPicPr>
          <p:nvPr/>
        </p:nvPicPr>
        <p:blipFill>
          <a:blip r:embed="rId5"/>
          <a:stretch>
            <a:fillRect/>
          </a:stretch>
        </p:blipFill>
        <p:spPr>
          <a:xfrm>
            <a:off x="8324391" y="2268727"/>
            <a:ext cx="3371850" cy="3829109"/>
          </a:xfrm>
          <a:prstGeom prst="rect">
            <a:avLst/>
          </a:prstGeom>
        </p:spPr>
      </p:pic>
      <p:pic>
        <p:nvPicPr>
          <p:cNvPr id="19" name="Picture 18">
            <a:extLst>
              <a:ext uri="{FF2B5EF4-FFF2-40B4-BE49-F238E27FC236}">
                <a16:creationId xmlns:a16="http://schemas.microsoft.com/office/drawing/2014/main" id="{F3F73B1F-8217-AA1E-8E20-A15157C8042A}"/>
              </a:ext>
            </a:extLst>
          </p:cNvPr>
          <p:cNvPicPr>
            <a:picLocks noChangeAspect="1"/>
          </p:cNvPicPr>
          <p:nvPr/>
        </p:nvPicPr>
        <p:blipFill>
          <a:blip r:embed="rId6"/>
          <a:srcRect t="14745"/>
          <a:stretch>
            <a:fillRect/>
          </a:stretch>
        </p:blipFill>
        <p:spPr>
          <a:xfrm rot="16200000">
            <a:off x="4779904" y="1860479"/>
            <a:ext cx="2846861" cy="397955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719814" y="838597"/>
            <a:ext cx="6180181" cy="408980"/>
          </a:xfrm>
          <a:prstGeom prst="rect">
            <a:avLst/>
          </a:prstGeom>
          <a:noFill/>
          <a:ln/>
        </p:spPr>
        <p:txBody>
          <a:bodyPr wrap="none" lIns="0" tIns="0" rIns="0" bIns="0" rtlCol="0" anchor="t"/>
          <a:lstStyle/>
          <a:p>
            <a:pPr marL="0" indent="0" algn="l">
              <a:lnSpc>
                <a:spcPct val="104000"/>
              </a:lnSpc>
              <a:buNone/>
            </a:pPr>
            <a:r>
              <a:rPr lang="en-US" sz="2550" b="1" kern="0" spc="-26" dirty="0">
                <a:solidFill>
                  <a:srgbClr val="000000"/>
                </a:solidFill>
                <a:latin typeface="Montserrat Bold" pitchFamily="34" charset="0"/>
                <a:ea typeface="Montserrat Bold" pitchFamily="34" charset="-122"/>
                <a:cs typeface="Montserrat Bold" pitchFamily="34" charset="-120"/>
              </a:rPr>
              <a:t>Future Enhancements — Roadmap</a:t>
            </a:r>
            <a:endParaRPr lang="en-US" sz="2550" dirty="0"/>
          </a:p>
        </p:txBody>
      </p:sp>
      <p:pic>
        <p:nvPicPr>
          <p:cNvPr id="57" name="Picture 56">
            <a:extLst>
              <a:ext uri="{FF2B5EF4-FFF2-40B4-BE49-F238E27FC236}">
                <a16:creationId xmlns:a16="http://schemas.microsoft.com/office/drawing/2014/main" id="{A0FE779F-33C8-B58D-251C-EB16CE92F7B9}"/>
              </a:ext>
            </a:extLst>
          </p:cNvPr>
          <p:cNvPicPr>
            <a:picLocks noChangeAspect="1"/>
          </p:cNvPicPr>
          <p:nvPr/>
        </p:nvPicPr>
        <p:blipFill>
          <a:blip r:embed="rId3"/>
          <a:stretch>
            <a:fillRect/>
          </a:stretch>
        </p:blipFill>
        <p:spPr>
          <a:xfrm>
            <a:off x="10823154" y="6562725"/>
            <a:ext cx="1295400" cy="295275"/>
          </a:xfrm>
          <a:prstGeom prst="rect">
            <a:avLst/>
          </a:prstGeom>
        </p:spPr>
      </p:pic>
      <p:pic>
        <p:nvPicPr>
          <p:cNvPr id="59" name="Picture 58">
            <a:extLst>
              <a:ext uri="{FF2B5EF4-FFF2-40B4-BE49-F238E27FC236}">
                <a16:creationId xmlns:a16="http://schemas.microsoft.com/office/drawing/2014/main" id="{88BBDA42-23CB-D591-C9C3-15969C78A69D}"/>
              </a:ext>
            </a:extLst>
          </p:cNvPr>
          <p:cNvPicPr>
            <a:picLocks noChangeAspect="1"/>
          </p:cNvPicPr>
          <p:nvPr/>
        </p:nvPicPr>
        <p:blipFill>
          <a:blip r:embed="rId4"/>
          <a:stretch>
            <a:fillRect/>
          </a:stretch>
        </p:blipFill>
        <p:spPr>
          <a:xfrm>
            <a:off x="719813" y="1639104"/>
            <a:ext cx="11112279" cy="492362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5291700" y="684907"/>
            <a:ext cx="6180181" cy="496689"/>
          </a:xfrm>
          <a:prstGeom prst="rect">
            <a:avLst/>
          </a:prstGeom>
          <a:noFill/>
          <a:ln/>
        </p:spPr>
        <p:txBody>
          <a:bodyPr wrap="none" lIns="0" tIns="0" rIns="0" bIns="0" rtlCol="0" anchor="t"/>
          <a:lstStyle/>
          <a:p>
            <a:pPr marL="0" indent="0" algn="l">
              <a:lnSpc>
                <a:spcPct val="104000"/>
              </a:lnSpc>
              <a:buNone/>
            </a:pPr>
            <a:r>
              <a:rPr lang="en-US" sz="3100" b="1" kern="0" spc="-31" dirty="0">
                <a:solidFill>
                  <a:srgbClr val="000000"/>
                </a:solidFill>
                <a:latin typeface="Montserrat Bold" pitchFamily="34" charset="0"/>
                <a:ea typeface="Montserrat Bold" pitchFamily="34" charset="-122"/>
                <a:cs typeface="Montserrat Bold" pitchFamily="34" charset="-120"/>
              </a:rPr>
              <a:t>Conclusion</a:t>
            </a:r>
            <a:endParaRPr lang="en-US" sz="3100" dirty="0"/>
          </a:p>
        </p:txBody>
      </p:sp>
      <p:sp>
        <p:nvSpPr>
          <p:cNvPr id="4" name="Text 1"/>
          <p:cNvSpPr/>
          <p:nvPr/>
        </p:nvSpPr>
        <p:spPr>
          <a:xfrm>
            <a:off x="5291700" y="1404441"/>
            <a:ext cx="6180181" cy="484981"/>
          </a:xfrm>
          <a:prstGeom prst="rect">
            <a:avLst/>
          </a:prstGeom>
          <a:noFill/>
          <a:ln/>
        </p:spPr>
        <p:txBody>
          <a:bodyPr wrap="square" lIns="0" tIns="0" rIns="0" bIns="0" rtlCol="0" anchor="t">
            <a:normAutofit/>
          </a:bodyPr>
          <a:lstStyle/>
          <a:p>
            <a:pPr marL="0" indent="0" algn="l">
              <a:lnSpc>
                <a:spcPct val="116000"/>
              </a:lnSpc>
              <a:buNone/>
            </a:pPr>
            <a:r>
              <a:rPr lang="en-US" sz="1350" dirty="0">
                <a:solidFill>
                  <a:srgbClr val="3D3838"/>
                </a:solidFill>
                <a:latin typeface="Source Sans 3" pitchFamily="34" charset="0"/>
                <a:ea typeface="Source Sans 3" pitchFamily="34" charset="-122"/>
                <a:cs typeface="Source Sans 3" pitchFamily="34" charset="-120"/>
              </a:rPr>
              <a:t>The project integrates pre‑purchase intelligence with post‑purchase monitoring to produce a unified e‑bike platform.</a:t>
            </a:r>
            <a:endParaRPr lang="en-US" sz="1350" dirty="0"/>
          </a:p>
        </p:txBody>
      </p:sp>
      <p:sp>
        <p:nvSpPr>
          <p:cNvPr id="5" name="Text 2"/>
          <p:cNvSpPr/>
          <p:nvPr/>
        </p:nvSpPr>
        <p:spPr>
          <a:xfrm>
            <a:off x="5291700" y="2056606"/>
            <a:ext cx="6180181" cy="3464322"/>
          </a:xfrm>
          <a:prstGeom prst="rect">
            <a:avLst/>
          </a:prstGeom>
          <a:noFill/>
          <a:ln/>
        </p:spPr>
        <p:txBody>
          <a:bodyPr wrap="square" lIns="0" tIns="0" rIns="0" bIns="0" rtlCol="0" anchor="t">
            <a:normAutofit/>
          </a:bodyPr>
          <a:lstStyle/>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The recommendation module helps users identify e‑bikes based on individual requirements.</a:t>
            </a:r>
            <a:endParaRPr lang="en-US" sz="1350" dirty="0"/>
          </a:p>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Multi‑brand comparison reduces manual specification comparison effort.</a:t>
            </a:r>
            <a:endParaRPr lang="en-US" sz="1350" dirty="0"/>
          </a:p>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Explainable compatibility scoring provides transparent reasons for each recommendation.</a:t>
            </a:r>
            <a:endParaRPr lang="en-US" sz="1350" dirty="0"/>
          </a:p>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The IoT module enables continuous monitoring of temperature, electrical parameters and motion.</a:t>
            </a:r>
            <a:endParaRPr lang="en-US" sz="1350" dirty="0"/>
          </a:p>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ESP32 bridges onboard sensors to the software dashboard for near‑real‑time visibility.</a:t>
            </a:r>
            <a:endParaRPr lang="en-US" sz="1350" dirty="0"/>
          </a:p>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The monitoring system can detect abnormal conditions and issue alerts for maintenance.</a:t>
            </a:r>
            <a:endParaRPr lang="en-US" sz="1350" dirty="0"/>
          </a:p>
          <a:p>
            <a:pPr marL="274320" indent="-274320" algn="l">
              <a:lnSpc>
                <a:spcPct val="116000"/>
              </a:lnSpc>
              <a:buSzPct val="100000"/>
              <a:buChar char="•"/>
            </a:pPr>
            <a:r>
              <a:rPr lang="en-US" sz="1350" dirty="0">
                <a:solidFill>
                  <a:srgbClr val="3D3838"/>
                </a:solidFill>
                <a:latin typeface="Source Sans 3" pitchFamily="34" charset="0"/>
                <a:ea typeface="Source Sans 3" pitchFamily="34" charset="-122"/>
                <a:cs typeface="Source Sans 3" pitchFamily="34" charset="-120"/>
              </a:rPr>
              <a:t>The prototype establishes a foundation for future ML models and predictive‑maintenance features.</a:t>
            </a:r>
            <a:endParaRPr lang="en-US" sz="1350" dirty="0"/>
          </a:p>
        </p:txBody>
      </p:sp>
      <p:sp>
        <p:nvSpPr>
          <p:cNvPr id="6" name="Text 3"/>
          <p:cNvSpPr/>
          <p:nvPr/>
        </p:nvSpPr>
        <p:spPr>
          <a:xfrm>
            <a:off x="5291700" y="5688112"/>
            <a:ext cx="6180181" cy="484981"/>
          </a:xfrm>
          <a:prstGeom prst="rect">
            <a:avLst/>
          </a:prstGeom>
          <a:noFill/>
          <a:ln/>
        </p:spPr>
        <p:txBody>
          <a:bodyPr wrap="square" lIns="0" tIns="0" rIns="0" bIns="0" rtlCol="0" anchor="t">
            <a:normAutofit/>
          </a:bodyPr>
          <a:lstStyle/>
          <a:p>
            <a:pPr marL="0" indent="0" algn="l">
              <a:lnSpc>
                <a:spcPct val="116000"/>
              </a:lnSpc>
              <a:buNone/>
            </a:pPr>
            <a:r>
              <a:rPr lang="en-US" sz="1350" b="1" dirty="0">
                <a:solidFill>
                  <a:srgbClr val="3D3838"/>
                </a:solidFill>
                <a:latin typeface="Source Sans 3 Bold" pitchFamily="34" charset="0"/>
                <a:ea typeface="Source Sans 3 Bold" pitchFamily="34" charset="-122"/>
                <a:cs typeface="Source Sans 3 Bold" pitchFamily="34" charset="-120"/>
              </a:rPr>
              <a:t>Thus, the proposed system connects e‑bike selection with post‑purchase intelligent monitoring within a single platform.</a:t>
            </a:r>
            <a:endParaRPr lang="en-US" sz="1350" dirty="0"/>
          </a:p>
        </p:txBody>
      </p:sp>
      <p:pic>
        <p:nvPicPr>
          <p:cNvPr id="8" name="Picture 7">
            <a:extLst>
              <a:ext uri="{FF2B5EF4-FFF2-40B4-BE49-F238E27FC236}">
                <a16:creationId xmlns:a16="http://schemas.microsoft.com/office/drawing/2014/main" id="{EC991210-0590-4BC9-5320-D92CC88181ED}"/>
              </a:ext>
            </a:extLst>
          </p:cNvPr>
          <p:cNvPicPr>
            <a:picLocks noChangeAspect="1"/>
          </p:cNvPicPr>
          <p:nvPr/>
        </p:nvPicPr>
        <p:blipFill>
          <a:blip r:embed="rId3"/>
          <a:stretch>
            <a:fillRect/>
          </a:stretch>
        </p:blipFill>
        <p:spPr>
          <a:xfrm>
            <a:off x="10824181" y="6532429"/>
            <a:ext cx="1295400" cy="295275"/>
          </a:xfrm>
          <a:prstGeom prst="rect">
            <a:avLst/>
          </a:prstGeom>
        </p:spPr>
      </p:pic>
      <p:pic>
        <p:nvPicPr>
          <p:cNvPr id="10" name="Picture 9">
            <a:extLst>
              <a:ext uri="{FF2B5EF4-FFF2-40B4-BE49-F238E27FC236}">
                <a16:creationId xmlns:a16="http://schemas.microsoft.com/office/drawing/2014/main" id="{DF137944-89D4-2BE8-343E-F365D8325876}"/>
              </a:ext>
            </a:extLst>
          </p:cNvPr>
          <p:cNvPicPr>
            <a:picLocks noChangeAspect="1"/>
          </p:cNvPicPr>
          <p:nvPr/>
        </p:nvPicPr>
        <p:blipFill>
          <a:blip r:embed="rId4"/>
          <a:srcRect l="7700" t="1774" r="7764"/>
          <a:stretch>
            <a:fillRect/>
          </a:stretch>
        </p:blipFill>
        <p:spPr>
          <a:xfrm>
            <a:off x="72420" y="1002534"/>
            <a:ext cx="5006356" cy="505674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785802" y="498145"/>
            <a:ext cx="8699721" cy="1168797"/>
          </a:xfrm>
          <a:prstGeom prst="rect">
            <a:avLst/>
          </a:prstGeom>
          <a:noFill/>
          <a:ln/>
        </p:spPr>
        <p:txBody>
          <a:bodyPr wrap="square" lIns="0" tIns="0" rIns="0" bIns="0" rtlCol="0" anchor="t">
            <a:normAutofit/>
          </a:bodyPr>
          <a:lstStyle/>
          <a:p>
            <a:pPr marL="0" indent="0" algn="l">
              <a:lnSpc>
                <a:spcPct val="104000"/>
              </a:lnSpc>
              <a:buNone/>
            </a:pPr>
            <a:r>
              <a:rPr lang="en-US" sz="3650" b="1" kern="0" spc="-37" dirty="0">
                <a:solidFill>
                  <a:srgbClr val="000000"/>
                </a:solidFill>
                <a:latin typeface="Montserrat Bold" pitchFamily="34" charset="0"/>
                <a:ea typeface="Montserrat Bold" pitchFamily="34" charset="-122"/>
                <a:cs typeface="Montserrat Bold" pitchFamily="34" charset="-120"/>
              </a:rPr>
              <a:t>Gantt Chart — Project Timeline</a:t>
            </a:r>
            <a:endParaRPr lang="en-US" sz="3650" dirty="0"/>
          </a:p>
        </p:txBody>
      </p:sp>
      <p:pic>
        <p:nvPicPr>
          <p:cNvPr id="7" name="Picture 6">
            <a:extLst>
              <a:ext uri="{FF2B5EF4-FFF2-40B4-BE49-F238E27FC236}">
                <a16:creationId xmlns:a16="http://schemas.microsoft.com/office/drawing/2014/main" id="{EAA87AFC-D385-28CD-A00F-85AC2780A961}"/>
              </a:ext>
            </a:extLst>
          </p:cNvPr>
          <p:cNvPicPr>
            <a:picLocks noChangeAspect="1"/>
          </p:cNvPicPr>
          <p:nvPr/>
        </p:nvPicPr>
        <p:blipFill>
          <a:blip r:embed="rId3"/>
          <a:stretch>
            <a:fillRect/>
          </a:stretch>
        </p:blipFill>
        <p:spPr>
          <a:xfrm>
            <a:off x="10896600" y="6562725"/>
            <a:ext cx="1295400" cy="295275"/>
          </a:xfrm>
          <a:prstGeom prst="rect">
            <a:avLst/>
          </a:prstGeom>
        </p:spPr>
      </p:pic>
      <p:pic>
        <p:nvPicPr>
          <p:cNvPr id="9" name="Picture 8">
            <a:extLst>
              <a:ext uri="{FF2B5EF4-FFF2-40B4-BE49-F238E27FC236}">
                <a16:creationId xmlns:a16="http://schemas.microsoft.com/office/drawing/2014/main" id="{A5761904-C92D-D356-C53A-46DDC367BDC9}"/>
              </a:ext>
            </a:extLst>
          </p:cNvPr>
          <p:cNvPicPr>
            <a:picLocks noChangeAspect="1"/>
          </p:cNvPicPr>
          <p:nvPr/>
        </p:nvPicPr>
        <p:blipFill>
          <a:blip r:embed="rId4"/>
          <a:stretch>
            <a:fillRect/>
          </a:stretch>
        </p:blipFill>
        <p:spPr>
          <a:xfrm>
            <a:off x="785802" y="1230756"/>
            <a:ext cx="10620396" cy="562724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9814" y="839490"/>
            <a:ext cx="10752067" cy="584398"/>
          </a:xfrm>
          <a:prstGeom prst="rect">
            <a:avLst/>
          </a:prstGeom>
          <a:noFill/>
          <a:ln/>
        </p:spPr>
        <p:txBody>
          <a:bodyPr wrap="none" lIns="0" tIns="0" rIns="0" bIns="0" rtlCol="0" anchor="t"/>
          <a:lstStyle/>
          <a:p>
            <a:pPr marL="0" indent="0" algn="ctr">
              <a:lnSpc>
                <a:spcPct val="104000"/>
              </a:lnSpc>
              <a:buNone/>
            </a:pPr>
            <a:r>
              <a:rPr lang="en-US" sz="3650" b="1" kern="0" spc="-37" dirty="0">
                <a:solidFill>
                  <a:srgbClr val="000000"/>
                </a:solidFill>
                <a:latin typeface="Montserrat Bold" pitchFamily="34" charset="0"/>
                <a:ea typeface="Montserrat Bold" pitchFamily="34" charset="-122"/>
                <a:cs typeface="Montserrat Bold" pitchFamily="34" charset="-120"/>
              </a:rPr>
              <a:t>THANK YOU</a:t>
            </a:r>
            <a:endParaRPr lang="en-US" sz="3650" dirty="0"/>
          </a:p>
        </p:txBody>
      </p:sp>
      <p:sp>
        <p:nvSpPr>
          <p:cNvPr id="3" name="Text 1"/>
          <p:cNvSpPr/>
          <p:nvPr/>
        </p:nvSpPr>
        <p:spPr>
          <a:xfrm>
            <a:off x="719814" y="1732359"/>
            <a:ext cx="10752067" cy="806351"/>
          </a:xfrm>
          <a:prstGeom prst="rect">
            <a:avLst/>
          </a:prstGeom>
          <a:noFill/>
          <a:ln/>
        </p:spPr>
        <p:txBody>
          <a:bodyPr wrap="none" lIns="0" tIns="0" rIns="0" bIns="0" rtlCol="0" anchor="t"/>
          <a:lstStyle/>
          <a:p>
            <a:pPr marL="0" indent="0" algn="ctr">
              <a:lnSpc>
                <a:spcPct val="104000"/>
              </a:lnSpc>
              <a:buNone/>
            </a:pPr>
            <a:r>
              <a:rPr lang="en-US" sz="5050" b="1" kern="0" spc="-51" dirty="0">
                <a:solidFill>
                  <a:srgbClr val="000000"/>
                </a:solidFill>
                <a:latin typeface="Montserrat Bold" pitchFamily="34" charset="0"/>
                <a:ea typeface="Montserrat Bold" pitchFamily="34" charset="-122"/>
                <a:cs typeface="Montserrat Bold" pitchFamily="34" charset="-120"/>
              </a:rPr>
              <a:t>Questions &amp; Discussion</a:t>
            </a:r>
            <a:endParaRPr lang="en-US" sz="5050" dirty="0"/>
          </a:p>
        </p:txBody>
      </p:sp>
      <p:sp>
        <p:nvSpPr>
          <p:cNvPr id="4" name="Text 2"/>
          <p:cNvSpPr/>
          <p:nvPr/>
        </p:nvSpPr>
        <p:spPr>
          <a:xfrm>
            <a:off x="719814" y="2847181"/>
            <a:ext cx="10752067" cy="848320"/>
          </a:xfrm>
          <a:prstGeom prst="rect">
            <a:avLst/>
          </a:prstGeom>
          <a:noFill/>
          <a:ln/>
        </p:spPr>
        <p:txBody>
          <a:bodyPr wrap="square" lIns="0" tIns="0" rIns="0" bIns="0" rtlCol="0" anchor="t"/>
          <a:lstStyle/>
          <a:p>
            <a:pPr marL="0" indent="0" algn="ctr">
              <a:lnSpc>
                <a:spcPct val="125000"/>
              </a:lnSpc>
              <a:spcAft>
                <a:spcPts val="1800"/>
              </a:spcAft>
              <a:buNone/>
            </a:pPr>
            <a:r>
              <a:rPr lang="en-US" sz="1600" dirty="0">
                <a:solidFill>
                  <a:srgbClr val="3D3838"/>
                </a:solidFill>
                <a:latin typeface="Source Sans 3" pitchFamily="34" charset="0"/>
                <a:ea typeface="Source Sans 3" pitchFamily="34" charset="-122"/>
                <a:cs typeface="Source Sans 3" pitchFamily="34" charset="-120"/>
              </a:rPr>
              <a:t>AI‑Powered Multi‑Brand E‑Bike Recommendation and Smart Monitoring System</a:t>
            </a:r>
            <a:endParaRPr lang="en-US" sz="1600" dirty="0"/>
          </a:p>
        </p:txBody>
      </p:sp>
      <p:pic>
        <p:nvPicPr>
          <p:cNvPr id="8" name="Picture 7">
            <a:extLst>
              <a:ext uri="{FF2B5EF4-FFF2-40B4-BE49-F238E27FC236}">
                <a16:creationId xmlns:a16="http://schemas.microsoft.com/office/drawing/2014/main" id="{0BE20ABC-F82F-D8A6-15AE-61199235DDA1}"/>
              </a:ext>
            </a:extLst>
          </p:cNvPr>
          <p:cNvPicPr>
            <a:picLocks noChangeAspect="1"/>
          </p:cNvPicPr>
          <p:nvPr/>
        </p:nvPicPr>
        <p:blipFill>
          <a:blip r:embed="rId3"/>
          <a:stretch>
            <a:fillRect/>
          </a:stretch>
        </p:blipFill>
        <p:spPr>
          <a:xfrm>
            <a:off x="10830432" y="6562725"/>
            <a:ext cx="1295400" cy="2952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1828</Words>
  <Application>Microsoft Office PowerPoint</Application>
  <PresentationFormat>Widescreen</PresentationFormat>
  <Paragraphs>288</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Source Sans 3</vt:lpstr>
      <vt:lpstr>Source Sans 3 Bold</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lastModifiedBy>DELL</cp:lastModifiedBy>
  <cp:revision>3</cp:revision>
  <dcterms:created xsi:type="dcterms:W3CDTF">2026-09-27T18:19:06Z</dcterms:created>
  <dcterms:modified xsi:type="dcterms:W3CDTF">2026-09-28T07:25:26Z</dcterms:modified>
</cp:coreProperties>
</file>